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76" r:id="rId21"/>
    <p:sldId id="278" r:id="rId22"/>
    <p:sldId id="279" r:id="rId23"/>
    <p:sldId id="280" r:id="rId24"/>
    <p:sldId id="287"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2221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framing. This session takes a complete beginner from 'what is big data' to understanding how the Databricks Lakehouse is architected. Set expectations: three modules — Big Data fundamentals, an introduction to Databricks, and Databricks architecture. Tell the audience the goal is intuition first, then the technical detail, all in plain language. Ask the room who works as a data engineer, analyst, scientist, or architect so you can pitch examples to them.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slide. Walk left to right. Module 1 builds shared vocabulary so nobody is lost later. Module 2 introduces Databricks as the product that solves big-data pain. Module 3 opens the hood on the architecture. Reassure beginners: each module starts simple. Tell engineers and architects the depth ramps up in Module 3. Keep this to about a minute.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opener. Pause here. One line: the reason 'big data' became a discipline is that ordinary databases and single servers simply stopped coping with the size, speed, and shape of modern data. In the next few slides we'll quantify that and give it a shared vocabulary — the 5 Vs.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Establish stakes with three callouts. Don't read the numbers robotically — use them to land one idea: scale has changed by orders of magnitude. Concrete examples: a single connected car or factory line emits data continuously; a retailer logs every click and scan. Tie it forward: this is exactly the volume, speed, and variety that traditional databases were never built for, which is the next slide. Be honest that the figures are estimates that move around — they're for intuition.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plain-English definition and let it breathe. The three drivers on the right are the 'why traditional tools break' summary: size, speed, shape. A relatable analogy: one very strong librarian can manage a small library, but to run a national archive you need many librarians working in parallel — that's a cluster. This sets up the 5 Vs, which formalise these ideas.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anchor concept of Module 1. Explain each V with one enterprise example: Volume — every card swipe at a bank; Velocity — fraud must be caught in milliseconds, not overnight; Variety — call recordings and PDFs alongside tables; Veracity — duplicate or wrong addresses break analytics; Value — none of it matters unless it drives a decision. Stress that Value is the point of the other four. Many people learn '3 Vs' first (Volume, Velocity, Variety) — note that Veracity and Value were added later.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contrast to make big data concrete. The two ideas that matter most: structure (big data embraces messy formats, not just tables) and scaling (scale OUT by adding cheap machines, instead of scaling UP to one expensive supercomputer). Schema-on-read means you can land raw data first and decide its shape later — flexible, but you trade some upfront discipline. End by saying: these capabilities are exactly what platforms like Databricks provide out of the box.</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these as the problems any big-data platform must solve — and a checklist we'll return to when we evaluate Databricks. Tie each to a business consequence: slow processing delays decisions; poor quality erodes trust in dashboards; weak governance risks fines. The punchline going into Module 2: stitching separate tools together to solve all six is painful, which is the gap Databricks set out to close.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mental model the audience can reuse for any data project. Teal stages capture and move data; red stages refine and use it. Walk one example end-to-end: a retailer's app and store sensors (Sources) stream events (Ingestion) into a data lake (Storage), Spark cleans and joins them (Processing), data scientists and analysts model and query (Analytics), and leaders see it in a dashboard (Visualization). Key message: Databricks can run every one of these stages on a single platform — the focus of Module 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theory in outcomes your audience cares about. Pick the one or two industries closest to the room and expand. Common thread across all four: combine many data sources, process at scale, and act quickly — often with machine learning. This closes Module 1: we know what big data is, why it's hard, and what it's worth. Module 2 introduces the platform built to deliver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opener. Bridge from Module 1: every big-data challenge we listed — storage, processing, integration, quality, governance, cost — has traditionally needed a different tool. Databricks' big idea is to put them on one platform on top of your data. We'll define it, explain why it exists, and introduce the Lakehouse.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definition slowly — every word counts: unified (one place), cloud-based, Lakehouse (next slides), and it spans the whole lifecycle. The four pillars on the right are the kinds of work it supports. The credibility line matters: the people who built Databricks created Apache Spark at UC Berkeley and open-sourced Delta Lake and MLflow — so the platform is built on technologies they invented. Avoid weak phrasing like 'just a cloud analytics tool' — that undersells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concept in the deck. Use the equation: warehouses gave us reliable, fast SQL but were rigid and expensive; lakes gave us cheap, flexible storage but no reliability or guarantees. The Lakehouse merges them — you get warehouse-grade reliability and performance directly on cheap, open data-lake storage. The four chips are how it delivers that: ACID transactions for reliability, open formats so you're not locked in, BI and AI on the same data, and one copy so there are no silos. Delta Lake (Module 3) is the technology that makes it work.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'unified' visually. Four very different roles — engineer, analyst, scientist, ML engineer — all work on the SAME platform sitting on ONE copy of data in cheap cloud storage. Contrast with the old world where each role had its own tool and its own copy. The payoff: collaboration with no data movement, and consistent governance. Name the cloud stores (S3, ADLS, GCS) so people know Databricks runs on all major clouds. This previews the components we'll detail next: Workspace, Spark, Delta, ML, Unity Catalog.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tour of the toolkit — one sentence each, no deep dives yet. Workspace is where people actually work (notebooks). Spark is the engine doing heavy lifting. Delta Lake is the reliable storage format. MLflow manages the machine-learning lifecycle. Unity Catalog governs and secures everything. Tell the audience: Spark, Delta Lake and Unity Catalog return in Module 3 with their own architecture slides. This is the map before the detail.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six benefits straight back to the six big-data challenges from Module 1 — that's the satisfying payoff. Storage cost → cost-efficient; processing → elastic scale; integration → unified; quality/trust → governed and Delta reliability; governance → Unity Catalog; skills → one platform instead of many tools to learn. 'Open' is worth emphasising for architects worried about lock-in. Then transition: now that we know what and why, let's open the hood — Module 3.</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opener — the technical heart of the session. Set the tone for a mixed audience: we'll start with the big architectural picture (control vs compute plane), then zoom into Spark, clusters, Delta Lake, the medallion pattern, governance, and finally trace data end to end. Tell beginners to focus on the shapes and arrows; tell engineers and architects the detail they want is coming.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architectural keystone. Two planes. The CONTROL PLANE is run by Databricks and holds the things you click and manage — the web UI, notebooks, job scheduler, cluster manager and Unity Catalog. It contains no customer data; it orchestrates. The COMPUTE PLANE is where processing happens: clusters made of a Driver plus Workers running Spark. Crucially, your data lives in YOUR cloud storage and is read by compute — it doesn't get shipped to Databricks. Note terminology: the compute plane was historically called the 'data plane'; Databricks now says compute plane, with two flavours — classic (runs in your cloud VPC) and serverless (Databricks manages the machines). This separation is why Databricks is secure and scalable.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Spark with the orchestra analogy: the Driver is the conductor with the score (the plan); the Cluster Manager hands out chairs and instruments (resources); the Executors are the players performing in parallel. The key intuition for beginners is parallelism — Spark splits a huge dataset into partitions and works on many at once, which is why it's fast on data a single machine couldn't handle. The right-hand steps trace one job end to end. Tie back: this Driver-plus-Workers cluster is exactly what sits in the compute plane from the previous slide.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Delta Lake is the technology that makes the Lakehouse possible — keep that link explicit. A Delta table is just normal Parquet data files PLUS a transaction log (the _delta_log folder) that records every change. That log is what turns a messy data lake into something reliable: ACID transactions (no half-written results), time travel (query yesterday's version or undo a bad load), schema enforcement (reject malformed data), and one table that serves both streaming and batch. And it all sits on cheap, open cloud storage — no proprietary database required. If someone asks 'why not just a warehouse?', this is the answer: warehouse reliability on open lake storage.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clusters — they're just rented cloud machines running Spark, and the skill is turning them on and off wisely. Two main types: an ALL-PURPOSE cluster is interactive and shared — you and your teammates attach notebooks to it and explore; it stays warm while you work. A JOB cluster is created on demand for a single scheduled job and destroyed the moment it finishes — that's the cheap, clean way to run production pipelines. Autoscaling means you set a minimum and maximum number of workers and Databricks adds or removes machines with the workload, so you don't pay for idle capacity. Finally, classic vs serverless: classic compute runs inside your own cloud account and takes a few minutes to spin up; serverless is managed by Databricks and starts in seconds. Land the cost tip — auto-terminate and job clusters are the two easiest ways to control spend.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Unity Catalog is Databricks' governance layer — the single place you control and track data, no matter how many workspaces you run. First, the three-level namespace: every object is addressed as catalog.schema.table (for example main.sales.orders). A catalog is a top-level container — often one per team or per environment like dev/prod; a schema groups related tables and views; and tables or views hold the actual data. Because everything lives in one model, you get four things for free: fine-grained access control (grant permissions right down to specific rows and columns), automatic data lineage (a map of where each table came from and what depends on it — invaluable when something breaks or for audits), audit logs (who queried what and when), and discovery (one searchable catalog so people find trusted data instead of re-inventing it). The headline: define a rule once and it applies everywhere.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capstone — take a breath and connect every dot from the day. Read the top row left to right: data starts in SOURCES (operational databases, apps, files, streaming events). It's INGESTED in batch or real time, then refined through BRONZE → SILVER → GOLD — the medallion pattern. Finally it's CONSUMED by dashboards, SQL and machine learning. Now the three layers underneath, which is the architecture story: APACHE SPARK running on clusters is the engine that does the ingesting and transforming at every stage. DELTA LAKE is where each layer physically lives — open Delta tables sitting on your own cheap cloud storage. And UNITY CATALOG wraps the whole thing in one consistent layer of security, lineage and audit. So: Spark is the muscle, Delta is the storage, Unity Catalog is the rulebook, and the medallion flow is how data climbs from raw to valuable. If someone remembers only one slide, make it this one.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congratulating the audience and recapping the six pillars shown as icons. Point to the self-study resources — the official docs, Databricks Academy (free role-based learning paths and certifications), and the free Community Edition / Express tier where they can practice hands-on. Invite questions and offer to go deeper on any architecture topic. If this is part of a series, preview the next session (e.g., hands-on notebooks, Delta Live Tables / Lakeflow, or Mosaic AI).</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50959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4.png"/><Relationship Id="rId7"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8.png"/><Relationship Id="rId7"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9.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7.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32.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2.png"/><Relationship Id="rId7"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31.png"/><Relationship Id="rId10" Type="http://schemas.openxmlformats.org/officeDocument/2006/relationships/image" Target="../media/image5.png"/><Relationship Id="rId4" Type="http://schemas.openxmlformats.org/officeDocument/2006/relationships/image" Target="../media/image22.png"/><Relationship Id="rId9" Type="http://schemas.openxmlformats.org/officeDocument/2006/relationships/image" Target="../media/image9.png"/></Relationships>
</file>

<file path=ppt/slides/_rels/slide21.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7.png"/><Relationship Id="rId7"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2.png"/><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22.png"/><Relationship Id="rId4" Type="http://schemas.openxmlformats.org/officeDocument/2006/relationships/image" Target="../media/image41.png"/><Relationship Id="rId9" Type="http://schemas.openxmlformats.org/officeDocument/2006/relationships/image" Target="../media/image44.png"/></Relationships>
</file>

<file path=ppt/slides/_rels/slide2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45.png"/><Relationship Id="rId7"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7.png"/><Relationship Id="rId11" Type="http://schemas.openxmlformats.org/officeDocument/2006/relationships/image" Target="../media/image9.png"/><Relationship Id="rId5" Type="http://schemas.openxmlformats.org/officeDocument/2006/relationships/image" Target="../media/image15.png"/><Relationship Id="rId10" Type="http://schemas.openxmlformats.org/officeDocument/2006/relationships/image" Target="../media/image27.png"/><Relationship Id="rId4" Type="http://schemas.openxmlformats.org/officeDocument/2006/relationships/image" Target="../media/image46.png"/><Relationship Id="rId9" Type="http://schemas.openxmlformats.org/officeDocument/2006/relationships/image" Target="../media/image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24"/>
        </a:solidFill>
        <a:effectLst/>
      </p:bgPr>
    </p:bg>
    <p:spTree>
      <p:nvGrpSpPr>
        <p:cNvPr id="1" name=""/>
        <p:cNvGrpSpPr/>
        <p:nvPr/>
      </p:nvGrpSpPr>
      <p:grpSpPr>
        <a:xfrm>
          <a:off x="0" y="0"/>
          <a:ext cx="0" cy="0"/>
          <a:chOff x="0" y="0"/>
          <a:chExt cx="0" cy="0"/>
        </a:xfrm>
      </p:grpSpPr>
      <p:sp>
        <p:nvSpPr>
          <p:cNvPr id="2" name="Shape 0"/>
          <p:cNvSpPr/>
          <p:nvPr/>
        </p:nvSpPr>
        <p:spPr>
          <a:xfrm>
            <a:off x="8823960" y="1051560"/>
            <a:ext cx="841248" cy="841248"/>
          </a:xfrm>
          <a:prstGeom prst="roundRect">
            <a:avLst>
              <a:gd name="adj" fmla="val 8696"/>
            </a:avLst>
          </a:prstGeom>
          <a:solidFill>
            <a:srgbClr val="FF3621">
              <a:alpha val="82000"/>
            </a:srgbClr>
          </a:solidFill>
          <a:ln/>
        </p:spPr>
        <p:txBody>
          <a:bodyPr/>
          <a:lstStyle/>
          <a:p>
            <a:endParaRPr lang="en-US"/>
          </a:p>
        </p:txBody>
      </p:sp>
      <p:sp>
        <p:nvSpPr>
          <p:cNvPr id="3" name="Shape 1"/>
          <p:cNvSpPr/>
          <p:nvPr/>
        </p:nvSpPr>
        <p:spPr>
          <a:xfrm>
            <a:off x="9921240" y="1051560"/>
            <a:ext cx="841248" cy="841248"/>
          </a:xfrm>
          <a:prstGeom prst="roundRect">
            <a:avLst>
              <a:gd name="adj" fmla="val 8696"/>
            </a:avLst>
          </a:prstGeom>
          <a:solidFill>
            <a:srgbClr val="0E1B24"/>
          </a:solidFill>
          <a:ln w="15875">
            <a:solidFill>
              <a:srgbClr val="20404C"/>
            </a:solidFill>
            <a:prstDash val="solid"/>
          </a:ln>
        </p:spPr>
        <p:txBody>
          <a:bodyPr/>
          <a:lstStyle/>
          <a:p>
            <a:endParaRPr lang="en-US"/>
          </a:p>
        </p:txBody>
      </p:sp>
      <p:sp>
        <p:nvSpPr>
          <p:cNvPr id="4" name="Shape 2"/>
          <p:cNvSpPr/>
          <p:nvPr/>
        </p:nvSpPr>
        <p:spPr>
          <a:xfrm>
            <a:off x="11018520" y="1051560"/>
            <a:ext cx="841248" cy="841248"/>
          </a:xfrm>
          <a:prstGeom prst="roundRect">
            <a:avLst>
              <a:gd name="adj" fmla="val 8696"/>
            </a:avLst>
          </a:prstGeom>
          <a:solidFill>
            <a:srgbClr val="0E7C8B">
              <a:alpha val="70000"/>
            </a:srgbClr>
          </a:solidFill>
          <a:ln/>
        </p:spPr>
        <p:txBody>
          <a:bodyPr/>
          <a:lstStyle/>
          <a:p>
            <a:endParaRPr lang="en-US"/>
          </a:p>
        </p:txBody>
      </p:sp>
      <p:sp>
        <p:nvSpPr>
          <p:cNvPr id="5" name="Shape 3"/>
          <p:cNvSpPr/>
          <p:nvPr/>
        </p:nvSpPr>
        <p:spPr>
          <a:xfrm>
            <a:off x="8823960" y="2148840"/>
            <a:ext cx="841248" cy="841248"/>
          </a:xfrm>
          <a:prstGeom prst="roundRect">
            <a:avLst>
              <a:gd name="adj" fmla="val 8696"/>
            </a:avLst>
          </a:prstGeom>
          <a:solidFill>
            <a:srgbClr val="0E1B24"/>
          </a:solidFill>
          <a:ln w="15875">
            <a:solidFill>
              <a:srgbClr val="20404C"/>
            </a:solidFill>
            <a:prstDash val="solid"/>
          </a:ln>
        </p:spPr>
        <p:txBody>
          <a:bodyPr/>
          <a:lstStyle/>
          <a:p>
            <a:endParaRPr lang="en-US"/>
          </a:p>
        </p:txBody>
      </p:sp>
      <p:sp>
        <p:nvSpPr>
          <p:cNvPr id="6" name="Shape 4"/>
          <p:cNvSpPr/>
          <p:nvPr/>
        </p:nvSpPr>
        <p:spPr>
          <a:xfrm>
            <a:off x="9921240" y="2148840"/>
            <a:ext cx="841248" cy="841248"/>
          </a:xfrm>
          <a:prstGeom prst="roundRect">
            <a:avLst>
              <a:gd name="adj" fmla="val 8696"/>
            </a:avLst>
          </a:prstGeom>
          <a:solidFill>
            <a:srgbClr val="0E7C8B">
              <a:alpha val="70000"/>
            </a:srgbClr>
          </a:solidFill>
          <a:ln/>
        </p:spPr>
        <p:txBody>
          <a:bodyPr/>
          <a:lstStyle/>
          <a:p>
            <a:endParaRPr lang="en-US"/>
          </a:p>
        </p:txBody>
      </p:sp>
      <p:sp>
        <p:nvSpPr>
          <p:cNvPr id="7" name="Shape 5"/>
          <p:cNvSpPr/>
          <p:nvPr/>
        </p:nvSpPr>
        <p:spPr>
          <a:xfrm>
            <a:off x="11018520" y="2148840"/>
            <a:ext cx="841248" cy="841248"/>
          </a:xfrm>
          <a:prstGeom prst="roundRect">
            <a:avLst>
              <a:gd name="adj" fmla="val 8696"/>
            </a:avLst>
          </a:prstGeom>
          <a:solidFill>
            <a:srgbClr val="FF3621">
              <a:alpha val="82000"/>
            </a:srgbClr>
          </a:solidFill>
          <a:ln/>
        </p:spPr>
        <p:txBody>
          <a:bodyPr/>
          <a:lstStyle/>
          <a:p>
            <a:endParaRPr lang="en-US"/>
          </a:p>
        </p:txBody>
      </p:sp>
      <p:sp>
        <p:nvSpPr>
          <p:cNvPr id="8" name="Shape 6"/>
          <p:cNvSpPr/>
          <p:nvPr/>
        </p:nvSpPr>
        <p:spPr>
          <a:xfrm>
            <a:off x="8823960" y="3246120"/>
            <a:ext cx="841248" cy="841248"/>
          </a:xfrm>
          <a:prstGeom prst="roundRect">
            <a:avLst>
              <a:gd name="adj" fmla="val 8696"/>
            </a:avLst>
          </a:prstGeom>
          <a:solidFill>
            <a:srgbClr val="0E7C8B">
              <a:alpha val="70000"/>
            </a:srgbClr>
          </a:solidFill>
          <a:ln/>
        </p:spPr>
        <p:txBody>
          <a:bodyPr/>
          <a:lstStyle/>
          <a:p>
            <a:endParaRPr lang="en-US"/>
          </a:p>
        </p:txBody>
      </p:sp>
      <p:sp>
        <p:nvSpPr>
          <p:cNvPr id="9" name="Shape 7"/>
          <p:cNvSpPr/>
          <p:nvPr/>
        </p:nvSpPr>
        <p:spPr>
          <a:xfrm>
            <a:off x="9921240" y="3246120"/>
            <a:ext cx="841248" cy="841248"/>
          </a:xfrm>
          <a:prstGeom prst="roundRect">
            <a:avLst>
              <a:gd name="adj" fmla="val 8696"/>
            </a:avLst>
          </a:prstGeom>
          <a:solidFill>
            <a:srgbClr val="FF3621">
              <a:alpha val="82000"/>
            </a:srgbClr>
          </a:solidFill>
          <a:ln/>
        </p:spPr>
        <p:txBody>
          <a:bodyPr/>
          <a:lstStyle/>
          <a:p>
            <a:endParaRPr lang="en-US"/>
          </a:p>
        </p:txBody>
      </p:sp>
      <p:sp>
        <p:nvSpPr>
          <p:cNvPr id="10" name="Shape 8"/>
          <p:cNvSpPr/>
          <p:nvPr/>
        </p:nvSpPr>
        <p:spPr>
          <a:xfrm>
            <a:off x="11018520" y="3246120"/>
            <a:ext cx="841248" cy="841248"/>
          </a:xfrm>
          <a:prstGeom prst="roundRect">
            <a:avLst>
              <a:gd name="adj" fmla="val 8696"/>
            </a:avLst>
          </a:prstGeom>
          <a:solidFill>
            <a:srgbClr val="0E1B24"/>
          </a:solidFill>
          <a:ln w="15875">
            <a:solidFill>
              <a:srgbClr val="20404C"/>
            </a:solidFill>
            <a:prstDash val="solid"/>
          </a:ln>
        </p:spPr>
        <p:txBody>
          <a:bodyPr/>
          <a:lstStyle/>
          <a:p>
            <a:endParaRPr lang="en-US"/>
          </a:p>
        </p:txBody>
      </p:sp>
      <p:sp>
        <p:nvSpPr>
          <p:cNvPr id="11" name="Shape 9"/>
          <p:cNvSpPr/>
          <p:nvPr/>
        </p:nvSpPr>
        <p:spPr>
          <a:xfrm>
            <a:off x="548640" y="2212848"/>
            <a:ext cx="457200" cy="155448"/>
          </a:xfrm>
          <a:prstGeom prst="rect">
            <a:avLst/>
          </a:prstGeom>
          <a:solidFill>
            <a:srgbClr val="FF3621"/>
          </a:solidFill>
          <a:ln/>
        </p:spPr>
        <p:txBody>
          <a:bodyPr/>
          <a:lstStyle/>
          <a:p>
            <a:endParaRPr lang="en-US"/>
          </a:p>
        </p:txBody>
      </p:sp>
      <p:sp>
        <p:nvSpPr>
          <p:cNvPr id="13" name="Text 11"/>
          <p:cNvSpPr/>
          <p:nvPr/>
        </p:nvSpPr>
        <p:spPr>
          <a:xfrm>
            <a:off x="472799" y="2542032"/>
            <a:ext cx="7685083" cy="1828800"/>
          </a:xfrm>
          <a:prstGeom prst="rect">
            <a:avLst/>
          </a:prstGeom>
          <a:noFill/>
          <a:ln/>
        </p:spPr>
        <p:txBody>
          <a:bodyPr wrap="square" lIns="0" tIns="0" rIns="0" bIns="0" rtlCol="0" anchor="ctr"/>
          <a:lstStyle/>
          <a:p>
            <a:pPr marL="0" indent="0">
              <a:lnSpc>
                <a:spcPct val="98000"/>
              </a:lnSpc>
              <a:buNone/>
            </a:pPr>
            <a:r>
              <a:rPr lang="en-US" sz="5000" b="1" dirty="0">
                <a:solidFill>
                  <a:srgbClr val="FFFFFF"/>
                </a:solidFill>
                <a:latin typeface="Trebuchet MS" pitchFamily="34" charset="0"/>
                <a:ea typeface="Trebuchet MS" pitchFamily="34" charset="-122"/>
                <a:cs typeface="Trebuchet MS" pitchFamily="34" charset="-120"/>
              </a:rPr>
              <a:t>Big Data Fundamentals &amp;
</a:t>
            </a:r>
            <a:endParaRPr lang="en-US" sz="5000" dirty="0"/>
          </a:p>
          <a:p>
            <a:pPr marL="0" indent="0">
              <a:lnSpc>
                <a:spcPct val="98000"/>
              </a:lnSpc>
              <a:buNone/>
            </a:pPr>
            <a:r>
              <a:rPr lang="en-US" sz="5000" b="1" dirty="0">
                <a:solidFill>
                  <a:srgbClr val="FF3621"/>
                </a:solidFill>
                <a:latin typeface="Trebuchet MS" pitchFamily="34" charset="0"/>
                <a:ea typeface="Trebuchet MS" pitchFamily="34" charset="-122"/>
                <a:cs typeface="Trebuchet MS" pitchFamily="34" charset="-120"/>
              </a:rPr>
              <a:t>Databricks</a:t>
            </a:r>
            <a:endParaRPr lang="en-US" sz="5000" dirty="0"/>
          </a:p>
        </p:txBody>
      </p:sp>
      <p:sp>
        <p:nvSpPr>
          <p:cNvPr id="14" name="Text 12"/>
          <p:cNvSpPr/>
          <p:nvPr/>
        </p:nvSpPr>
        <p:spPr>
          <a:xfrm>
            <a:off x="548640" y="4498848"/>
            <a:ext cx="7498080" cy="548640"/>
          </a:xfrm>
          <a:prstGeom prst="rect">
            <a:avLst/>
          </a:prstGeom>
          <a:noFill/>
          <a:ln/>
        </p:spPr>
        <p:txBody>
          <a:bodyPr wrap="square" lIns="0" tIns="0" rIns="0" bIns="0" rtlCol="0" anchor="ctr"/>
          <a:lstStyle/>
          <a:p>
            <a:pPr marL="0" indent="0">
              <a:buNone/>
            </a:pPr>
            <a:r>
              <a:rPr lang="en-US" sz="1600" dirty="0">
                <a:solidFill>
                  <a:srgbClr val="C7D2D8"/>
                </a:solidFill>
                <a:latin typeface="Calibri" pitchFamily="34" charset="0"/>
                <a:ea typeface="Calibri" pitchFamily="34" charset="-122"/>
                <a:cs typeface="Calibri" pitchFamily="34" charset="-120"/>
              </a:rPr>
              <a:t>Foundations of Big Data, the Databricks platform, and modern data architecture.</a:t>
            </a:r>
            <a:endParaRPr lang="en-US" sz="1600" dirty="0"/>
          </a:p>
        </p:txBody>
      </p:sp>
      <p:sp>
        <p:nvSpPr>
          <p:cNvPr id="15" name="Shape 13"/>
          <p:cNvSpPr/>
          <p:nvPr/>
        </p:nvSpPr>
        <p:spPr>
          <a:xfrm>
            <a:off x="548640" y="5440680"/>
            <a:ext cx="7040880" cy="0"/>
          </a:xfrm>
          <a:prstGeom prst="line">
            <a:avLst/>
          </a:prstGeom>
          <a:noFill/>
          <a:ln w="12700">
            <a:solidFill>
              <a:srgbClr val="20404C"/>
            </a:solidFill>
            <a:prstDash val="solid"/>
          </a:ln>
        </p:spPr>
        <p:txBody>
          <a:bodyPr/>
          <a:lstStyle/>
          <a:p>
            <a:endParaRPr lang="en-US"/>
          </a:p>
        </p:txBody>
      </p:sp>
      <p:sp>
        <p:nvSpPr>
          <p:cNvPr id="16" name="Text 14"/>
          <p:cNvSpPr/>
          <p:nvPr/>
        </p:nvSpPr>
        <p:spPr>
          <a:xfrm>
            <a:off x="548640" y="5596128"/>
            <a:ext cx="105156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3 Modules</a:t>
            </a:r>
            <a:r>
              <a:rPr lang="en-US" sz="1300" dirty="0">
                <a:solidFill>
                  <a:srgbClr val="8597A0"/>
                </a:solidFill>
                <a:latin typeface="Calibri" pitchFamily="34" charset="0"/>
                <a:ea typeface="Calibri" pitchFamily="34" charset="-122"/>
                <a:cs typeface="Calibri" pitchFamily="34" charset="-120"/>
              </a:rPr>
              <a:t>   ·   Beginner → Intermediate   ·   Data Engineers · Analysts · Scientists · Architects</a:t>
            </a:r>
            <a:endParaRPr lang="en-US" sz="1300" dirty="0"/>
          </a:p>
        </p:txBody>
      </p:sp>
      <p:sp>
        <p:nvSpPr>
          <p:cNvPr id="17" name="Text 15"/>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8597A0"/>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18" name="Text 16"/>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8597A0"/>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WHAT WE'LL COVER</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Three modules, one data journey</a:t>
            </a:r>
            <a:endParaRPr lang="en-US" sz="2900" dirty="0"/>
          </a:p>
        </p:txBody>
      </p:sp>
      <p:sp>
        <p:nvSpPr>
          <p:cNvPr id="5" name="Shape 3"/>
          <p:cNvSpPr/>
          <p:nvPr/>
        </p:nvSpPr>
        <p:spPr>
          <a:xfrm>
            <a:off x="548640" y="1783080"/>
            <a:ext cx="3456432" cy="4160520"/>
          </a:xfrm>
          <a:prstGeom prst="roundRect">
            <a:avLst>
              <a:gd name="adj" fmla="val 2646"/>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6" name="Shape 4"/>
          <p:cNvSpPr/>
          <p:nvPr/>
        </p:nvSpPr>
        <p:spPr>
          <a:xfrm>
            <a:off x="548640" y="1783080"/>
            <a:ext cx="3456432" cy="109728"/>
          </a:xfrm>
          <a:prstGeom prst="rect">
            <a:avLst/>
          </a:prstGeom>
          <a:solidFill>
            <a:srgbClr val="FF3621"/>
          </a:solidFill>
          <a:ln/>
        </p:spPr>
        <p:txBody>
          <a:bodyPr/>
          <a:lstStyle/>
          <a:p>
            <a:endParaRPr lang="en-US"/>
          </a:p>
        </p:txBody>
      </p:sp>
      <p:sp>
        <p:nvSpPr>
          <p:cNvPr id="7" name="Shape 5"/>
          <p:cNvSpPr/>
          <p:nvPr/>
        </p:nvSpPr>
        <p:spPr>
          <a:xfrm>
            <a:off x="960120" y="2240280"/>
            <a:ext cx="841248" cy="841248"/>
          </a:xfrm>
          <a:prstGeom prst="ellipse">
            <a:avLst/>
          </a:prstGeom>
          <a:solidFill>
            <a:srgbClr val="0E1B24"/>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170432" y="2450592"/>
            <a:ext cx="420624" cy="420624"/>
          </a:xfrm>
          <a:prstGeom prst="rect">
            <a:avLst/>
          </a:prstGeom>
        </p:spPr>
      </p:pic>
      <p:sp>
        <p:nvSpPr>
          <p:cNvPr id="9" name="Shape 6"/>
          <p:cNvSpPr/>
          <p:nvPr/>
        </p:nvSpPr>
        <p:spPr>
          <a:xfrm>
            <a:off x="3090672" y="2240280"/>
            <a:ext cx="548640" cy="548640"/>
          </a:xfrm>
          <a:prstGeom prst="ellipse">
            <a:avLst/>
          </a:prstGeom>
          <a:solidFill>
            <a:srgbClr val="F2F5F6"/>
          </a:solidFill>
          <a:ln w="12700">
            <a:solidFill>
              <a:srgbClr val="DDE4E7"/>
            </a:solidFill>
            <a:prstDash val="solid"/>
          </a:ln>
        </p:spPr>
        <p:txBody>
          <a:bodyPr/>
          <a:lstStyle/>
          <a:p>
            <a:endParaRPr lang="en-US"/>
          </a:p>
        </p:txBody>
      </p:sp>
      <p:sp>
        <p:nvSpPr>
          <p:cNvPr id="10" name="Text 7"/>
          <p:cNvSpPr/>
          <p:nvPr/>
        </p:nvSpPr>
        <p:spPr>
          <a:xfrm>
            <a:off x="3090672" y="2240280"/>
            <a:ext cx="548640" cy="548640"/>
          </a:xfrm>
          <a:prstGeom prst="rect">
            <a:avLst/>
          </a:prstGeom>
          <a:noFill/>
          <a:ln/>
        </p:spPr>
        <p:txBody>
          <a:bodyPr wrap="square" lIns="0" tIns="0" rIns="0" bIns="0" rtlCol="0" anchor="ctr"/>
          <a:lstStyle/>
          <a:p>
            <a:pPr marL="0" indent="0" algn="ctr">
              <a:buNone/>
            </a:pPr>
            <a:r>
              <a:rPr lang="en-US" sz="2200" b="1" dirty="0">
                <a:solidFill>
                  <a:srgbClr val="FF3621"/>
                </a:solidFill>
                <a:latin typeface="Trebuchet MS" pitchFamily="34" charset="0"/>
                <a:ea typeface="Trebuchet MS" pitchFamily="34" charset="-122"/>
                <a:cs typeface="Trebuchet MS" pitchFamily="34" charset="-120"/>
              </a:rPr>
              <a:t>1</a:t>
            </a:r>
            <a:endParaRPr lang="en-US" sz="2200" dirty="0"/>
          </a:p>
        </p:txBody>
      </p:sp>
      <p:sp>
        <p:nvSpPr>
          <p:cNvPr id="11" name="Text 8"/>
          <p:cNvSpPr/>
          <p:nvPr/>
        </p:nvSpPr>
        <p:spPr>
          <a:xfrm>
            <a:off x="960120" y="3264408"/>
            <a:ext cx="2724912" cy="256032"/>
          </a:xfrm>
          <a:prstGeom prst="rect">
            <a:avLst/>
          </a:prstGeom>
          <a:noFill/>
          <a:ln/>
        </p:spPr>
        <p:txBody>
          <a:bodyPr wrap="square" lIns="0" tIns="0" rIns="0" bIns="0" rtlCol="0" anchor="ctr"/>
          <a:lstStyle/>
          <a:p>
            <a:pPr marL="0" indent="0">
              <a:buNone/>
            </a:pPr>
            <a:r>
              <a:rPr lang="en-US" sz="1100" b="1" kern="0" spc="200" dirty="0">
                <a:solidFill>
                  <a:srgbClr val="7C8A91"/>
                </a:solidFill>
                <a:latin typeface="Calibri" pitchFamily="34" charset="0"/>
                <a:ea typeface="Calibri" pitchFamily="34" charset="-122"/>
                <a:cs typeface="Calibri" pitchFamily="34" charset="-120"/>
              </a:rPr>
              <a:t>MODULE 1</a:t>
            </a:r>
            <a:endParaRPr lang="en-US" sz="1100" dirty="0"/>
          </a:p>
        </p:txBody>
      </p:sp>
      <p:sp>
        <p:nvSpPr>
          <p:cNvPr id="12" name="Text 9"/>
          <p:cNvSpPr/>
          <p:nvPr/>
        </p:nvSpPr>
        <p:spPr>
          <a:xfrm>
            <a:off x="960120" y="3520440"/>
            <a:ext cx="2724912" cy="713232"/>
          </a:xfrm>
          <a:prstGeom prst="rect">
            <a:avLst/>
          </a:prstGeom>
          <a:noFill/>
          <a:ln/>
        </p:spPr>
        <p:txBody>
          <a:bodyPr wrap="square" lIns="0" tIns="0" rIns="0" bIns="0" rtlCol="0" anchor="ctr"/>
          <a:lstStyle/>
          <a:p>
            <a:pPr marL="0" indent="0">
              <a:buNone/>
            </a:pPr>
            <a:r>
              <a:rPr lang="en-US" sz="1900" b="1" dirty="0">
                <a:solidFill>
                  <a:srgbClr val="13242E"/>
                </a:solidFill>
                <a:latin typeface="Trebuchet MS" pitchFamily="34" charset="0"/>
                <a:ea typeface="Trebuchet MS" pitchFamily="34" charset="-122"/>
                <a:cs typeface="Trebuchet MS" pitchFamily="34" charset="-120"/>
              </a:rPr>
              <a:t>Big Data Fundamentals</a:t>
            </a:r>
            <a:endParaRPr lang="en-US" sz="1900" dirty="0"/>
          </a:p>
        </p:txBody>
      </p:sp>
      <p:sp>
        <p:nvSpPr>
          <p:cNvPr id="13" name="Text 10"/>
          <p:cNvSpPr/>
          <p:nvPr/>
        </p:nvSpPr>
        <p:spPr>
          <a:xfrm>
            <a:off x="1005840" y="4325112"/>
            <a:ext cx="2633472" cy="1463040"/>
          </a:xfrm>
          <a:prstGeom prst="rect">
            <a:avLst/>
          </a:prstGeom>
          <a:noFill/>
          <a:ln/>
        </p:spPr>
        <p:txBody>
          <a:bodyPr wrap="square" lIns="0" tIns="0" rIns="0" bIns="0" rtlCol="0" anchor="ctr"/>
          <a:lstStyle/>
          <a:p>
            <a:pPr marL="177800" indent="-177800">
              <a:spcAft>
                <a:spcPts val="700"/>
              </a:spcAft>
              <a:buSzPct val="100000"/>
              <a:buChar char="•"/>
            </a:pPr>
            <a:r>
              <a:rPr lang="en-US" sz="1250" dirty="0">
                <a:solidFill>
                  <a:srgbClr val="38474F"/>
                </a:solidFill>
                <a:latin typeface="Calibri" pitchFamily="34" charset="0"/>
                <a:ea typeface="Calibri" pitchFamily="34" charset="-122"/>
                <a:cs typeface="Calibri" pitchFamily="34" charset="-120"/>
              </a:rPr>
              <a:t>What Big Data really means</a:t>
            </a:r>
            <a:endParaRPr lang="en-US" sz="1250" dirty="0"/>
          </a:p>
          <a:p>
            <a:pPr marL="177800" indent="-177800">
              <a:spcAft>
                <a:spcPts val="700"/>
              </a:spcAft>
              <a:buSzPct val="100000"/>
              <a:buChar char="•"/>
            </a:pPr>
            <a:r>
              <a:rPr lang="en-US" sz="1250" dirty="0">
                <a:solidFill>
                  <a:srgbClr val="38474F"/>
                </a:solidFill>
                <a:latin typeface="Calibri" pitchFamily="34" charset="0"/>
                <a:ea typeface="Calibri" pitchFamily="34" charset="-122"/>
                <a:cs typeface="Calibri" pitchFamily="34" charset="-120"/>
              </a:rPr>
              <a:t>The 5 Vs that define it</a:t>
            </a:r>
            <a:endParaRPr lang="en-US" sz="1250" dirty="0"/>
          </a:p>
          <a:p>
            <a:pPr marL="177800" indent="-177800">
              <a:spcAft>
                <a:spcPts val="700"/>
              </a:spcAft>
              <a:buSzPct val="100000"/>
              <a:buChar char="•"/>
            </a:pPr>
            <a:r>
              <a:rPr lang="en-US" sz="1250" dirty="0">
                <a:solidFill>
                  <a:srgbClr val="38474F"/>
                </a:solidFill>
                <a:latin typeface="Calibri" pitchFamily="34" charset="0"/>
                <a:ea typeface="Calibri" pitchFamily="34" charset="-122"/>
                <a:cs typeface="Calibri" pitchFamily="34" charset="-120"/>
              </a:rPr>
              <a:t>Traditional data vs Big Data</a:t>
            </a:r>
            <a:endParaRPr lang="en-US" sz="1250" dirty="0"/>
          </a:p>
          <a:p>
            <a:pPr marL="177800" indent="-177800">
              <a:spcAft>
                <a:spcPts val="700"/>
              </a:spcAft>
              <a:buSzPct val="100000"/>
              <a:buChar char="•"/>
            </a:pPr>
            <a:r>
              <a:rPr lang="en-US" sz="1250" dirty="0">
                <a:solidFill>
                  <a:srgbClr val="38474F"/>
                </a:solidFill>
                <a:latin typeface="Calibri" pitchFamily="34" charset="0"/>
                <a:ea typeface="Calibri" pitchFamily="34" charset="-122"/>
                <a:cs typeface="Calibri" pitchFamily="34" charset="-120"/>
              </a:rPr>
              <a:t>Challenges &amp; the ecosystem</a:t>
            </a:r>
            <a:endParaRPr lang="en-US" sz="1250" dirty="0"/>
          </a:p>
        </p:txBody>
      </p:sp>
      <p:sp>
        <p:nvSpPr>
          <p:cNvPr id="14" name="Shape 11"/>
          <p:cNvSpPr/>
          <p:nvPr/>
        </p:nvSpPr>
        <p:spPr>
          <a:xfrm>
            <a:off x="4367632" y="1783080"/>
            <a:ext cx="3456432" cy="4160520"/>
          </a:xfrm>
          <a:prstGeom prst="roundRect">
            <a:avLst>
              <a:gd name="adj" fmla="val 2646"/>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5" name="Shape 12"/>
          <p:cNvSpPr/>
          <p:nvPr/>
        </p:nvSpPr>
        <p:spPr>
          <a:xfrm>
            <a:off x="4367632" y="1783080"/>
            <a:ext cx="3456432" cy="109728"/>
          </a:xfrm>
          <a:prstGeom prst="rect">
            <a:avLst/>
          </a:prstGeom>
          <a:solidFill>
            <a:srgbClr val="FF3621"/>
          </a:solidFill>
          <a:ln/>
        </p:spPr>
        <p:txBody>
          <a:bodyPr/>
          <a:lstStyle/>
          <a:p>
            <a:endParaRPr lang="en-US"/>
          </a:p>
        </p:txBody>
      </p:sp>
      <p:sp>
        <p:nvSpPr>
          <p:cNvPr id="16" name="Shape 13"/>
          <p:cNvSpPr/>
          <p:nvPr/>
        </p:nvSpPr>
        <p:spPr>
          <a:xfrm>
            <a:off x="4779112" y="2240280"/>
            <a:ext cx="841248" cy="841248"/>
          </a:xfrm>
          <a:prstGeom prst="ellipse">
            <a:avLst/>
          </a:prstGeom>
          <a:solidFill>
            <a:srgbClr val="0E1B24"/>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4989424" y="2450592"/>
            <a:ext cx="420624" cy="420624"/>
          </a:xfrm>
          <a:prstGeom prst="rect">
            <a:avLst/>
          </a:prstGeom>
        </p:spPr>
      </p:pic>
      <p:sp>
        <p:nvSpPr>
          <p:cNvPr id="18" name="Shape 14"/>
          <p:cNvSpPr/>
          <p:nvPr/>
        </p:nvSpPr>
        <p:spPr>
          <a:xfrm>
            <a:off x="6909664" y="2240280"/>
            <a:ext cx="548640" cy="548640"/>
          </a:xfrm>
          <a:prstGeom prst="ellipse">
            <a:avLst/>
          </a:prstGeom>
          <a:solidFill>
            <a:srgbClr val="F2F5F6"/>
          </a:solidFill>
          <a:ln w="12700">
            <a:solidFill>
              <a:srgbClr val="DDE4E7"/>
            </a:solidFill>
            <a:prstDash val="solid"/>
          </a:ln>
        </p:spPr>
        <p:txBody>
          <a:bodyPr/>
          <a:lstStyle/>
          <a:p>
            <a:endParaRPr lang="en-US"/>
          </a:p>
        </p:txBody>
      </p:sp>
      <p:sp>
        <p:nvSpPr>
          <p:cNvPr id="19" name="Text 15"/>
          <p:cNvSpPr/>
          <p:nvPr/>
        </p:nvSpPr>
        <p:spPr>
          <a:xfrm>
            <a:off x="6909664" y="2240280"/>
            <a:ext cx="548640" cy="548640"/>
          </a:xfrm>
          <a:prstGeom prst="rect">
            <a:avLst/>
          </a:prstGeom>
          <a:noFill/>
          <a:ln/>
        </p:spPr>
        <p:txBody>
          <a:bodyPr wrap="square" lIns="0" tIns="0" rIns="0" bIns="0" rtlCol="0" anchor="ctr"/>
          <a:lstStyle/>
          <a:p>
            <a:pPr marL="0" indent="0" algn="ctr">
              <a:buNone/>
            </a:pPr>
            <a:r>
              <a:rPr lang="en-US" sz="2200" b="1" dirty="0">
                <a:solidFill>
                  <a:srgbClr val="FF3621"/>
                </a:solidFill>
                <a:latin typeface="Trebuchet MS" pitchFamily="34" charset="0"/>
                <a:ea typeface="Trebuchet MS" pitchFamily="34" charset="-122"/>
                <a:cs typeface="Trebuchet MS" pitchFamily="34" charset="-120"/>
              </a:rPr>
              <a:t>2</a:t>
            </a:r>
            <a:endParaRPr lang="en-US" sz="2200" dirty="0"/>
          </a:p>
        </p:txBody>
      </p:sp>
      <p:sp>
        <p:nvSpPr>
          <p:cNvPr id="20" name="Text 16"/>
          <p:cNvSpPr/>
          <p:nvPr/>
        </p:nvSpPr>
        <p:spPr>
          <a:xfrm>
            <a:off x="4779112" y="3264408"/>
            <a:ext cx="2724912" cy="256032"/>
          </a:xfrm>
          <a:prstGeom prst="rect">
            <a:avLst/>
          </a:prstGeom>
          <a:noFill/>
          <a:ln/>
        </p:spPr>
        <p:txBody>
          <a:bodyPr wrap="square" lIns="0" tIns="0" rIns="0" bIns="0" rtlCol="0" anchor="ctr"/>
          <a:lstStyle/>
          <a:p>
            <a:pPr marL="0" indent="0">
              <a:buNone/>
            </a:pPr>
            <a:r>
              <a:rPr lang="en-US" sz="1100" b="1" kern="0" spc="200" dirty="0">
                <a:solidFill>
                  <a:srgbClr val="7C8A91"/>
                </a:solidFill>
                <a:latin typeface="Calibri" pitchFamily="34" charset="0"/>
                <a:ea typeface="Calibri" pitchFamily="34" charset="-122"/>
                <a:cs typeface="Calibri" pitchFamily="34" charset="-120"/>
              </a:rPr>
              <a:t>MODULE 2</a:t>
            </a:r>
            <a:endParaRPr lang="en-US" sz="1100" dirty="0"/>
          </a:p>
        </p:txBody>
      </p:sp>
      <p:sp>
        <p:nvSpPr>
          <p:cNvPr id="21" name="Text 17"/>
          <p:cNvSpPr/>
          <p:nvPr/>
        </p:nvSpPr>
        <p:spPr>
          <a:xfrm>
            <a:off x="4779112" y="3520440"/>
            <a:ext cx="2724912" cy="713232"/>
          </a:xfrm>
          <a:prstGeom prst="rect">
            <a:avLst/>
          </a:prstGeom>
          <a:noFill/>
          <a:ln/>
        </p:spPr>
        <p:txBody>
          <a:bodyPr wrap="square" lIns="0" tIns="0" rIns="0" bIns="0" rtlCol="0" anchor="ctr"/>
          <a:lstStyle/>
          <a:p>
            <a:pPr marL="0" indent="0">
              <a:buNone/>
            </a:pPr>
            <a:r>
              <a:rPr lang="en-US" sz="1900" b="1" dirty="0">
                <a:solidFill>
                  <a:srgbClr val="13242E"/>
                </a:solidFill>
                <a:latin typeface="Trebuchet MS" pitchFamily="34" charset="0"/>
                <a:ea typeface="Trebuchet MS" pitchFamily="34" charset="-122"/>
                <a:cs typeface="Trebuchet MS" pitchFamily="34" charset="-120"/>
              </a:rPr>
              <a:t>Introduction to Databricks</a:t>
            </a:r>
            <a:endParaRPr lang="en-US" sz="1900" dirty="0"/>
          </a:p>
        </p:txBody>
      </p:sp>
      <p:sp>
        <p:nvSpPr>
          <p:cNvPr id="22" name="Text 18"/>
          <p:cNvSpPr/>
          <p:nvPr/>
        </p:nvSpPr>
        <p:spPr>
          <a:xfrm>
            <a:off x="4824832" y="4325112"/>
            <a:ext cx="2633472" cy="1463040"/>
          </a:xfrm>
          <a:prstGeom prst="rect">
            <a:avLst/>
          </a:prstGeom>
          <a:noFill/>
          <a:ln/>
        </p:spPr>
        <p:txBody>
          <a:bodyPr wrap="square" lIns="0" tIns="0" rIns="0" bIns="0" rtlCol="0" anchor="ctr"/>
          <a:lstStyle/>
          <a:p>
            <a:pPr marL="177800" indent="-177800">
              <a:spcAft>
                <a:spcPts val="700"/>
              </a:spcAft>
              <a:buSzPct val="100000"/>
              <a:buChar char="•"/>
            </a:pPr>
            <a:r>
              <a:rPr lang="en-US" sz="1250" dirty="0">
                <a:solidFill>
                  <a:srgbClr val="38474F"/>
                </a:solidFill>
                <a:latin typeface="Calibri" pitchFamily="34" charset="0"/>
                <a:ea typeface="Calibri" pitchFamily="34" charset="-122"/>
                <a:cs typeface="Calibri" pitchFamily="34" charset="-120"/>
              </a:rPr>
              <a:t>What Databricks is &amp; why</a:t>
            </a:r>
            <a:endParaRPr lang="en-US" sz="1250" dirty="0"/>
          </a:p>
          <a:p>
            <a:pPr marL="177800" indent="-177800">
              <a:spcAft>
                <a:spcPts val="700"/>
              </a:spcAft>
              <a:buSzPct val="100000"/>
              <a:buChar char="•"/>
            </a:pPr>
            <a:r>
              <a:rPr lang="en-US" sz="1250" dirty="0">
                <a:solidFill>
                  <a:srgbClr val="38474F"/>
                </a:solidFill>
                <a:latin typeface="Calibri" pitchFamily="34" charset="0"/>
                <a:ea typeface="Calibri" pitchFamily="34" charset="-122"/>
                <a:cs typeface="Calibri" pitchFamily="34" charset="-120"/>
              </a:rPr>
              <a:t>The Lakehouse concept</a:t>
            </a:r>
            <a:endParaRPr lang="en-US" sz="1250" dirty="0"/>
          </a:p>
          <a:p>
            <a:pPr marL="177800" indent="-177800">
              <a:spcAft>
                <a:spcPts val="700"/>
              </a:spcAft>
              <a:buSzPct val="100000"/>
              <a:buChar char="•"/>
            </a:pPr>
            <a:r>
              <a:rPr lang="en-US" sz="1250" dirty="0">
                <a:solidFill>
                  <a:srgbClr val="38474F"/>
                </a:solidFill>
                <a:latin typeface="Calibri" pitchFamily="34" charset="0"/>
                <a:ea typeface="Calibri" pitchFamily="34" charset="-122"/>
                <a:cs typeface="Calibri" pitchFamily="34" charset="-120"/>
              </a:rPr>
              <a:t>One platform, every persona</a:t>
            </a:r>
            <a:endParaRPr lang="en-US" sz="1250" dirty="0"/>
          </a:p>
          <a:p>
            <a:pPr marL="177800" indent="-177800">
              <a:spcAft>
                <a:spcPts val="700"/>
              </a:spcAft>
              <a:buSzPct val="100000"/>
              <a:buChar char="•"/>
            </a:pPr>
            <a:r>
              <a:rPr lang="en-US" sz="1250" dirty="0">
                <a:solidFill>
                  <a:srgbClr val="38474F"/>
                </a:solidFill>
                <a:latin typeface="Calibri" pitchFamily="34" charset="0"/>
                <a:ea typeface="Calibri" pitchFamily="34" charset="-122"/>
                <a:cs typeface="Calibri" pitchFamily="34" charset="-120"/>
              </a:rPr>
              <a:t>Core components &amp; benefits</a:t>
            </a:r>
            <a:endParaRPr lang="en-US" sz="1250" dirty="0"/>
          </a:p>
        </p:txBody>
      </p:sp>
      <p:sp>
        <p:nvSpPr>
          <p:cNvPr id="23" name="Shape 19"/>
          <p:cNvSpPr/>
          <p:nvPr/>
        </p:nvSpPr>
        <p:spPr>
          <a:xfrm>
            <a:off x="8186623" y="1783080"/>
            <a:ext cx="3456432" cy="4160520"/>
          </a:xfrm>
          <a:prstGeom prst="roundRect">
            <a:avLst>
              <a:gd name="adj" fmla="val 2646"/>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4" name="Shape 20"/>
          <p:cNvSpPr/>
          <p:nvPr/>
        </p:nvSpPr>
        <p:spPr>
          <a:xfrm>
            <a:off x="8186623" y="1783080"/>
            <a:ext cx="3456432" cy="109728"/>
          </a:xfrm>
          <a:prstGeom prst="rect">
            <a:avLst/>
          </a:prstGeom>
          <a:solidFill>
            <a:srgbClr val="FF3621"/>
          </a:solidFill>
          <a:ln/>
        </p:spPr>
        <p:txBody>
          <a:bodyPr/>
          <a:lstStyle/>
          <a:p>
            <a:endParaRPr lang="en-US"/>
          </a:p>
        </p:txBody>
      </p:sp>
      <p:sp>
        <p:nvSpPr>
          <p:cNvPr id="25" name="Shape 21"/>
          <p:cNvSpPr/>
          <p:nvPr/>
        </p:nvSpPr>
        <p:spPr>
          <a:xfrm>
            <a:off x="8598103" y="2240280"/>
            <a:ext cx="841248" cy="841248"/>
          </a:xfrm>
          <a:prstGeom prst="ellipse">
            <a:avLst/>
          </a:prstGeom>
          <a:solidFill>
            <a:srgbClr val="0E1B24"/>
          </a:solidFill>
          <a:ln/>
        </p:spPr>
        <p:txBody>
          <a:bodyPr/>
          <a:lstStyle/>
          <a:p>
            <a:endParaRPr lang="en-US"/>
          </a:p>
        </p:txBody>
      </p:sp>
      <p:pic>
        <p:nvPicPr>
          <p:cNvPr id="26" name="Image 2" descr="preencoded.png"/>
          <p:cNvPicPr>
            <a:picLocks noChangeAspect="1"/>
          </p:cNvPicPr>
          <p:nvPr/>
        </p:nvPicPr>
        <p:blipFill>
          <a:blip r:embed="rId5"/>
          <a:stretch>
            <a:fillRect/>
          </a:stretch>
        </p:blipFill>
        <p:spPr>
          <a:xfrm>
            <a:off x="8808415" y="2450592"/>
            <a:ext cx="420624" cy="420624"/>
          </a:xfrm>
          <a:prstGeom prst="rect">
            <a:avLst/>
          </a:prstGeom>
        </p:spPr>
      </p:pic>
      <p:sp>
        <p:nvSpPr>
          <p:cNvPr id="27" name="Shape 22"/>
          <p:cNvSpPr/>
          <p:nvPr/>
        </p:nvSpPr>
        <p:spPr>
          <a:xfrm>
            <a:off x="10728655" y="2240280"/>
            <a:ext cx="548640" cy="548640"/>
          </a:xfrm>
          <a:prstGeom prst="ellipse">
            <a:avLst/>
          </a:prstGeom>
          <a:solidFill>
            <a:srgbClr val="F2F5F6"/>
          </a:solidFill>
          <a:ln w="12700">
            <a:solidFill>
              <a:srgbClr val="DDE4E7"/>
            </a:solidFill>
            <a:prstDash val="solid"/>
          </a:ln>
        </p:spPr>
        <p:txBody>
          <a:bodyPr/>
          <a:lstStyle/>
          <a:p>
            <a:endParaRPr lang="en-US"/>
          </a:p>
        </p:txBody>
      </p:sp>
      <p:sp>
        <p:nvSpPr>
          <p:cNvPr id="28" name="Text 23"/>
          <p:cNvSpPr/>
          <p:nvPr/>
        </p:nvSpPr>
        <p:spPr>
          <a:xfrm>
            <a:off x="10728655" y="2240280"/>
            <a:ext cx="548640" cy="548640"/>
          </a:xfrm>
          <a:prstGeom prst="rect">
            <a:avLst/>
          </a:prstGeom>
          <a:noFill/>
          <a:ln/>
        </p:spPr>
        <p:txBody>
          <a:bodyPr wrap="square" lIns="0" tIns="0" rIns="0" bIns="0" rtlCol="0" anchor="ctr"/>
          <a:lstStyle/>
          <a:p>
            <a:pPr marL="0" indent="0" algn="ctr">
              <a:buNone/>
            </a:pPr>
            <a:r>
              <a:rPr lang="en-US" sz="2200" b="1" dirty="0">
                <a:solidFill>
                  <a:srgbClr val="FF3621"/>
                </a:solidFill>
                <a:latin typeface="Trebuchet MS" pitchFamily="34" charset="0"/>
                <a:ea typeface="Trebuchet MS" pitchFamily="34" charset="-122"/>
                <a:cs typeface="Trebuchet MS" pitchFamily="34" charset="-120"/>
              </a:rPr>
              <a:t>3</a:t>
            </a:r>
            <a:endParaRPr lang="en-US" sz="2200" dirty="0"/>
          </a:p>
        </p:txBody>
      </p:sp>
      <p:sp>
        <p:nvSpPr>
          <p:cNvPr id="29" name="Text 24"/>
          <p:cNvSpPr/>
          <p:nvPr/>
        </p:nvSpPr>
        <p:spPr>
          <a:xfrm>
            <a:off x="8598103" y="3264408"/>
            <a:ext cx="2724912" cy="256032"/>
          </a:xfrm>
          <a:prstGeom prst="rect">
            <a:avLst/>
          </a:prstGeom>
          <a:noFill/>
          <a:ln/>
        </p:spPr>
        <p:txBody>
          <a:bodyPr wrap="square" lIns="0" tIns="0" rIns="0" bIns="0" rtlCol="0" anchor="ctr"/>
          <a:lstStyle/>
          <a:p>
            <a:pPr marL="0" indent="0">
              <a:buNone/>
            </a:pPr>
            <a:r>
              <a:rPr lang="en-US" sz="1100" b="1" kern="0" spc="200" dirty="0">
                <a:solidFill>
                  <a:srgbClr val="7C8A91"/>
                </a:solidFill>
                <a:latin typeface="Calibri" pitchFamily="34" charset="0"/>
                <a:ea typeface="Calibri" pitchFamily="34" charset="-122"/>
                <a:cs typeface="Calibri" pitchFamily="34" charset="-120"/>
              </a:rPr>
              <a:t>MODULE 3</a:t>
            </a:r>
            <a:endParaRPr lang="en-US" sz="1100" dirty="0"/>
          </a:p>
        </p:txBody>
      </p:sp>
      <p:sp>
        <p:nvSpPr>
          <p:cNvPr id="30" name="Text 25"/>
          <p:cNvSpPr/>
          <p:nvPr/>
        </p:nvSpPr>
        <p:spPr>
          <a:xfrm>
            <a:off x="8598103" y="3520440"/>
            <a:ext cx="2724912" cy="713232"/>
          </a:xfrm>
          <a:prstGeom prst="rect">
            <a:avLst/>
          </a:prstGeom>
          <a:noFill/>
          <a:ln/>
        </p:spPr>
        <p:txBody>
          <a:bodyPr wrap="square" lIns="0" tIns="0" rIns="0" bIns="0" rtlCol="0" anchor="ctr"/>
          <a:lstStyle/>
          <a:p>
            <a:pPr marL="0" indent="0">
              <a:buNone/>
            </a:pPr>
            <a:r>
              <a:rPr lang="en-US" sz="1900" b="1" dirty="0">
                <a:solidFill>
                  <a:srgbClr val="13242E"/>
                </a:solidFill>
                <a:latin typeface="Trebuchet MS" pitchFamily="34" charset="0"/>
                <a:ea typeface="Trebuchet MS" pitchFamily="34" charset="-122"/>
                <a:cs typeface="Trebuchet MS" pitchFamily="34" charset="-120"/>
              </a:rPr>
              <a:t>Databricks Architecture</a:t>
            </a:r>
            <a:endParaRPr lang="en-US" sz="1900" dirty="0"/>
          </a:p>
        </p:txBody>
      </p:sp>
      <p:sp>
        <p:nvSpPr>
          <p:cNvPr id="31" name="Text 26"/>
          <p:cNvSpPr/>
          <p:nvPr/>
        </p:nvSpPr>
        <p:spPr>
          <a:xfrm>
            <a:off x="8643823" y="4325112"/>
            <a:ext cx="2633472" cy="1463040"/>
          </a:xfrm>
          <a:prstGeom prst="rect">
            <a:avLst/>
          </a:prstGeom>
          <a:noFill/>
          <a:ln/>
        </p:spPr>
        <p:txBody>
          <a:bodyPr wrap="square" lIns="0" tIns="0" rIns="0" bIns="0" rtlCol="0" anchor="ctr"/>
          <a:lstStyle/>
          <a:p>
            <a:pPr marL="177800" indent="-177800">
              <a:spcAft>
                <a:spcPts val="700"/>
              </a:spcAft>
              <a:buSzPct val="100000"/>
              <a:buChar char="•"/>
            </a:pPr>
            <a:r>
              <a:rPr lang="en-US" sz="1250" dirty="0">
                <a:solidFill>
                  <a:srgbClr val="38474F"/>
                </a:solidFill>
                <a:latin typeface="Calibri" pitchFamily="34" charset="0"/>
                <a:ea typeface="Calibri" pitchFamily="34" charset="-122"/>
                <a:cs typeface="Calibri" pitchFamily="34" charset="-120"/>
              </a:rPr>
              <a:t>Control &amp; compute plane</a:t>
            </a:r>
            <a:endParaRPr lang="en-US" sz="1250" dirty="0"/>
          </a:p>
          <a:p>
            <a:pPr marL="177800" indent="-177800">
              <a:spcAft>
                <a:spcPts val="700"/>
              </a:spcAft>
              <a:buSzPct val="100000"/>
              <a:buChar char="•"/>
            </a:pPr>
            <a:r>
              <a:rPr lang="en-US" sz="1250" dirty="0">
                <a:solidFill>
                  <a:srgbClr val="38474F"/>
                </a:solidFill>
                <a:latin typeface="Calibri" pitchFamily="34" charset="0"/>
                <a:ea typeface="Calibri" pitchFamily="34" charset="-122"/>
                <a:cs typeface="Calibri" pitchFamily="34" charset="-120"/>
              </a:rPr>
              <a:t>Spark engine &amp; clusters</a:t>
            </a:r>
            <a:endParaRPr lang="en-US" sz="1250" dirty="0"/>
          </a:p>
          <a:p>
            <a:pPr marL="177800" indent="-177800">
              <a:spcAft>
                <a:spcPts val="700"/>
              </a:spcAft>
              <a:buSzPct val="100000"/>
              <a:buChar char="•"/>
            </a:pPr>
            <a:r>
              <a:rPr lang="en-US" sz="1250" dirty="0">
                <a:solidFill>
                  <a:srgbClr val="38474F"/>
                </a:solidFill>
                <a:latin typeface="Calibri" pitchFamily="34" charset="0"/>
                <a:ea typeface="Calibri" pitchFamily="34" charset="-122"/>
                <a:cs typeface="Calibri" pitchFamily="34" charset="-120"/>
              </a:rPr>
              <a:t>Delta Lake &amp; Medallion</a:t>
            </a:r>
            <a:endParaRPr lang="en-US" sz="1250" dirty="0"/>
          </a:p>
          <a:p>
            <a:pPr marL="177800" indent="-177800">
              <a:spcAft>
                <a:spcPts val="700"/>
              </a:spcAft>
              <a:buSzPct val="100000"/>
              <a:buChar char="•"/>
            </a:pPr>
            <a:r>
              <a:rPr lang="en-US" sz="1250" dirty="0">
                <a:solidFill>
                  <a:srgbClr val="38474F"/>
                </a:solidFill>
                <a:latin typeface="Calibri" pitchFamily="34" charset="0"/>
                <a:ea typeface="Calibri" pitchFamily="34" charset="-122"/>
                <a:cs typeface="Calibri" pitchFamily="34" charset="-120"/>
              </a:rPr>
              <a:t>Unity Catalog &amp; data flow</a:t>
            </a:r>
            <a:endParaRPr lang="en-US" sz="1250" dirty="0"/>
          </a:p>
        </p:txBody>
      </p:sp>
      <p:sp>
        <p:nvSpPr>
          <p:cNvPr id="32" name="Text 27"/>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33" name="Text 28"/>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B24"/>
        </a:solidFill>
        <a:effectLst/>
      </p:bgPr>
    </p:bg>
    <p:spTree>
      <p:nvGrpSpPr>
        <p:cNvPr id="1" name=""/>
        <p:cNvGrpSpPr/>
        <p:nvPr/>
      </p:nvGrpSpPr>
      <p:grpSpPr>
        <a:xfrm>
          <a:off x="0" y="0"/>
          <a:ext cx="0" cy="0"/>
          <a:chOff x="0" y="0"/>
          <a:chExt cx="0" cy="0"/>
        </a:xfrm>
      </p:grpSpPr>
      <p:sp>
        <p:nvSpPr>
          <p:cNvPr id="2" name="Text 0"/>
          <p:cNvSpPr/>
          <p:nvPr/>
        </p:nvSpPr>
        <p:spPr>
          <a:xfrm>
            <a:off x="7680960" y="914400"/>
            <a:ext cx="4572000" cy="4572000"/>
          </a:xfrm>
          <a:prstGeom prst="rect">
            <a:avLst/>
          </a:prstGeom>
          <a:noFill/>
          <a:ln/>
        </p:spPr>
        <p:txBody>
          <a:bodyPr wrap="square" lIns="0" tIns="0" rIns="0" bIns="0" rtlCol="0" anchor="ctr"/>
          <a:lstStyle/>
          <a:p>
            <a:pPr marL="0" indent="0" algn="r">
              <a:buNone/>
            </a:pPr>
            <a:r>
              <a:rPr lang="en-US" sz="30000" b="1" dirty="0">
                <a:solidFill>
                  <a:srgbClr val="172D38"/>
                </a:solidFill>
                <a:latin typeface="Trebuchet MS" pitchFamily="34" charset="0"/>
                <a:ea typeface="Trebuchet MS" pitchFamily="34" charset="-122"/>
                <a:cs typeface="Trebuchet MS" pitchFamily="34" charset="-120"/>
              </a:rPr>
              <a:t>01</a:t>
            </a:r>
            <a:endParaRPr lang="en-US" sz="30000" dirty="0"/>
          </a:p>
        </p:txBody>
      </p:sp>
      <p:sp>
        <p:nvSpPr>
          <p:cNvPr id="3" name="Shape 1"/>
          <p:cNvSpPr/>
          <p:nvPr/>
        </p:nvSpPr>
        <p:spPr>
          <a:xfrm>
            <a:off x="548640" y="2651760"/>
            <a:ext cx="548640" cy="164592"/>
          </a:xfrm>
          <a:prstGeom prst="rect">
            <a:avLst/>
          </a:prstGeom>
          <a:solidFill>
            <a:srgbClr val="FF3621"/>
          </a:solidFill>
          <a:ln/>
        </p:spPr>
        <p:txBody>
          <a:bodyPr/>
          <a:lstStyle/>
          <a:p>
            <a:endParaRPr lang="en-US"/>
          </a:p>
        </p:txBody>
      </p:sp>
      <p:sp>
        <p:nvSpPr>
          <p:cNvPr id="4" name="Text 2"/>
          <p:cNvSpPr/>
          <p:nvPr/>
        </p:nvSpPr>
        <p:spPr>
          <a:xfrm>
            <a:off x="1225296" y="2578608"/>
            <a:ext cx="5486400" cy="310896"/>
          </a:xfrm>
          <a:prstGeom prst="rect">
            <a:avLst/>
          </a:prstGeom>
          <a:noFill/>
          <a:ln/>
        </p:spPr>
        <p:txBody>
          <a:bodyPr wrap="square" lIns="0" tIns="0" rIns="0" bIns="0" rtlCol="0" anchor="ctr"/>
          <a:lstStyle/>
          <a:p>
            <a:pPr marL="0" indent="0">
              <a:buNone/>
            </a:pPr>
            <a:r>
              <a:rPr lang="en-US" sz="1400" b="1" kern="0" spc="300" dirty="0">
                <a:solidFill>
                  <a:srgbClr val="FF6F4D"/>
                </a:solidFill>
                <a:latin typeface="Calibri" pitchFamily="34" charset="0"/>
                <a:ea typeface="Calibri" pitchFamily="34" charset="-122"/>
                <a:cs typeface="Calibri" pitchFamily="34" charset="-120"/>
              </a:rPr>
              <a:t>MODULE 01</a:t>
            </a:r>
            <a:endParaRPr lang="en-US" sz="1400" dirty="0"/>
          </a:p>
        </p:txBody>
      </p:sp>
      <p:sp>
        <p:nvSpPr>
          <p:cNvPr id="5" name="Text 3"/>
          <p:cNvSpPr/>
          <p:nvPr/>
        </p:nvSpPr>
        <p:spPr>
          <a:xfrm>
            <a:off x="548640" y="2999232"/>
            <a:ext cx="8229600" cy="914400"/>
          </a:xfrm>
          <a:prstGeom prst="rect">
            <a:avLst/>
          </a:prstGeom>
          <a:noFill/>
          <a:ln/>
        </p:spPr>
        <p:txBody>
          <a:bodyPr wrap="square" lIns="0" tIns="0" rIns="0" bIns="0" rtlCol="0" anchor="ctr"/>
          <a:lstStyle/>
          <a:p>
            <a:pPr marL="0" indent="0">
              <a:buNone/>
            </a:pPr>
            <a:r>
              <a:rPr lang="en-US" sz="4600" b="1" dirty="0">
                <a:solidFill>
                  <a:srgbClr val="FFFFFF"/>
                </a:solidFill>
                <a:latin typeface="Trebuchet MS" pitchFamily="34" charset="0"/>
                <a:ea typeface="Trebuchet MS" pitchFamily="34" charset="-122"/>
                <a:cs typeface="Trebuchet MS" pitchFamily="34" charset="-120"/>
              </a:rPr>
              <a:t>Big Data Fundamentals</a:t>
            </a:r>
            <a:endParaRPr lang="en-US" sz="4600" dirty="0"/>
          </a:p>
        </p:txBody>
      </p:sp>
      <p:sp>
        <p:nvSpPr>
          <p:cNvPr id="6" name="Text 4"/>
          <p:cNvSpPr/>
          <p:nvPr/>
        </p:nvSpPr>
        <p:spPr>
          <a:xfrm>
            <a:off x="548640" y="4041648"/>
            <a:ext cx="7132320" cy="548640"/>
          </a:xfrm>
          <a:prstGeom prst="rect">
            <a:avLst/>
          </a:prstGeom>
          <a:noFill/>
          <a:ln/>
        </p:spPr>
        <p:txBody>
          <a:bodyPr wrap="square" lIns="0" tIns="0" rIns="0" bIns="0" rtlCol="0" anchor="ctr"/>
          <a:lstStyle/>
          <a:p>
            <a:pPr marL="0" indent="0">
              <a:buNone/>
            </a:pPr>
            <a:r>
              <a:rPr lang="en-US" sz="1600" dirty="0">
                <a:solidFill>
                  <a:srgbClr val="C7D2D8"/>
                </a:solidFill>
                <a:latin typeface="Calibri" pitchFamily="34" charset="0"/>
                <a:ea typeface="Calibri" pitchFamily="34" charset="-122"/>
                <a:cs typeface="Calibri" pitchFamily="34" charset="-120"/>
              </a:rPr>
              <a:t>Why data outgrew traditional tools — and the language we use to describe it.</a:t>
            </a:r>
            <a:endParaRPr lang="en-US" sz="1600" dirty="0"/>
          </a:p>
        </p:txBody>
      </p:sp>
      <p:sp>
        <p:nvSpPr>
          <p:cNvPr id="7" name="Text 5"/>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8597A0"/>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8" name="Text 6"/>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8597A0"/>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01 · THE CASE</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Why Big Data matters now</a:t>
            </a:r>
            <a:endParaRPr lang="en-US" sz="2900" dirty="0"/>
          </a:p>
        </p:txBody>
      </p:sp>
      <p:sp>
        <p:nvSpPr>
          <p:cNvPr id="5" name="Text 3"/>
          <p:cNvSpPr/>
          <p:nvPr/>
        </p:nvSpPr>
        <p:spPr>
          <a:xfrm>
            <a:off x="548640" y="1737360"/>
            <a:ext cx="11094415" cy="731520"/>
          </a:xfrm>
          <a:prstGeom prst="rect">
            <a:avLst/>
          </a:prstGeom>
          <a:noFill/>
          <a:ln/>
        </p:spPr>
        <p:txBody>
          <a:bodyPr wrap="square" lIns="0" tIns="0" rIns="0" bIns="0" rtlCol="0" anchor="ctr"/>
          <a:lstStyle/>
          <a:p>
            <a:pPr marL="0" indent="0">
              <a:buNone/>
            </a:pPr>
            <a:r>
              <a:rPr lang="en-US" sz="1450" dirty="0">
                <a:solidFill>
                  <a:srgbClr val="38474F"/>
                </a:solidFill>
                <a:latin typeface="Calibri" pitchFamily="34" charset="0"/>
                <a:ea typeface="Calibri" pitchFamily="34" charset="-122"/>
                <a:cs typeface="Calibri" pitchFamily="34" charset="-120"/>
              </a:rPr>
              <a:t>Data is being created faster than ever — from phones, sensors, apps, and machines. The organisations that can store, process, and learn from it move faster, serve customers better, and power modern AI.</a:t>
            </a:r>
            <a:endParaRPr lang="en-US" sz="1450" dirty="0"/>
          </a:p>
        </p:txBody>
      </p:sp>
      <p:sp>
        <p:nvSpPr>
          <p:cNvPr id="6" name="Shape 4"/>
          <p:cNvSpPr/>
          <p:nvPr/>
        </p:nvSpPr>
        <p:spPr>
          <a:xfrm>
            <a:off x="548640" y="2697480"/>
            <a:ext cx="3456432" cy="2331720"/>
          </a:xfrm>
          <a:prstGeom prst="roundRect">
            <a:avLst>
              <a:gd name="adj" fmla="val 3922"/>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7" name="Shape 5"/>
          <p:cNvSpPr/>
          <p:nvPr/>
        </p:nvSpPr>
        <p:spPr>
          <a:xfrm>
            <a:off x="960120" y="3081528"/>
            <a:ext cx="713232" cy="713232"/>
          </a:xfrm>
          <a:prstGeom prst="ellipse">
            <a:avLst/>
          </a:prstGeom>
          <a:solidFill>
            <a:srgbClr val="FF3621"/>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138428" y="3259836"/>
            <a:ext cx="356616" cy="356616"/>
          </a:xfrm>
          <a:prstGeom prst="rect">
            <a:avLst/>
          </a:prstGeom>
        </p:spPr>
      </p:pic>
      <p:sp>
        <p:nvSpPr>
          <p:cNvPr id="9" name="Text 6"/>
          <p:cNvSpPr/>
          <p:nvPr/>
        </p:nvSpPr>
        <p:spPr>
          <a:xfrm>
            <a:off x="932688" y="3813048"/>
            <a:ext cx="2724912" cy="640080"/>
          </a:xfrm>
          <a:prstGeom prst="rect">
            <a:avLst/>
          </a:prstGeom>
          <a:noFill/>
          <a:ln/>
        </p:spPr>
        <p:txBody>
          <a:bodyPr wrap="square" lIns="0" tIns="0" rIns="0" bIns="0" rtlCol="0" anchor="ctr"/>
          <a:lstStyle/>
          <a:p>
            <a:pPr marL="0" indent="0">
              <a:buNone/>
            </a:pPr>
            <a:r>
              <a:rPr lang="en-US" sz="3800" b="1" dirty="0">
                <a:solidFill>
                  <a:srgbClr val="13242E"/>
                </a:solidFill>
                <a:latin typeface="Trebuchet MS" pitchFamily="34" charset="0"/>
                <a:ea typeface="Trebuchet MS" pitchFamily="34" charset="-122"/>
                <a:cs typeface="Trebuchet MS" pitchFamily="34" charset="-120"/>
              </a:rPr>
              <a:t>330M+ TB</a:t>
            </a:r>
            <a:endParaRPr lang="en-US" sz="3800" dirty="0"/>
          </a:p>
        </p:txBody>
      </p:sp>
      <p:sp>
        <p:nvSpPr>
          <p:cNvPr id="10" name="Text 7"/>
          <p:cNvSpPr/>
          <p:nvPr/>
        </p:nvSpPr>
        <p:spPr>
          <a:xfrm>
            <a:off x="960120" y="4453128"/>
            <a:ext cx="2679192" cy="502920"/>
          </a:xfrm>
          <a:prstGeom prst="rect">
            <a:avLst/>
          </a:prstGeom>
          <a:noFill/>
          <a:ln/>
        </p:spPr>
        <p:txBody>
          <a:bodyPr wrap="square" lIns="0" tIns="0" rIns="0" bIns="0" rtlCol="0" anchor="ctr"/>
          <a:lstStyle/>
          <a:p>
            <a:pPr marL="0" indent="0">
              <a:buNone/>
            </a:pPr>
            <a:r>
              <a:rPr lang="en-US" sz="1250" dirty="0">
                <a:solidFill>
                  <a:srgbClr val="38474F"/>
                </a:solidFill>
                <a:latin typeface="Calibri" pitchFamily="34" charset="0"/>
                <a:ea typeface="Calibri" pitchFamily="34" charset="-122"/>
                <a:cs typeface="Calibri" pitchFamily="34" charset="-120"/>
              </a:rPr>
              <a:t>new data created every day worldwide (est.)</a:t>
            </a:r>
            <a:endParaRPr lang="en-US" sz="1250" dirty="0"/>
          </a:p>
        </p:txBody>
      </p:sp>
      <p:sp>
        <p:nvSpPr>
          <p:cNvPr id="11" name="Shape 8"/>
          <p:cNvSpPr/>
          <p:nvPr/>
        </p:nvSpPr>
        <p:spPr>
          <a:xfrm>
            <a:off x="4367632" y="2697480"/>
            <a:ext cx="3456432" cy="2331720"/>
          </a:xfrm>
          <a:prstGeom prst="roundRect">
            <a:avLst>
              <a:gd name="adj" fmla="val 3922"/>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2" name="Shape 9"/>
          <p:cNvSpPr/>
          <p:nvPr/>
        </p:nvSpPr>
        <p:spPr>
          <a:xfrm>
            <a:off x="4779112" y="3081528"/>
            <a:ext cx="713232" cy="713232"/>
          </a:xfrm>
          <a:prstGeom prst="ellipse">
            <a:avLst/>
          </a:prstGeom>
          <a:solidFill>
            <a:srgbClr val="FF3621"/>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957420" y="3259836"/>
            <a:ext cx="356616" cy="356616"/>
          </a:xfrm>
          <a:prstGeom prst="rect">
            <a:avLst/>
          </a:prstGeom>
        </p:spPr>
      </p:pic>
      <p:sp>
        <p:nvSpPr>
          <p:cNvPr id="14" name="Text 10"/>
          <p:cNvSpPr/>
          <p:nvPr/>
        </p:nvSpPr>
        <p:spPr>
          <a:xfrm>
            <a:off x="4751680" y="3813048"/>
            <a:ext cx="2724912" cy="640080"/>
          </a:xfrm>
          <a:prstGeom prst="rect">
            <a:avLst/>
          </a:prstGeom>
          <a:noFill/>
          <a:ln/>
        </p:spPr>
        <p:txBody>
          <a:bodyPr wrap="square" lIns="0" tIns="0" rIns="0" bIns="0" rtlCol="0" anchor="ctr"/>
          <a:lstStyle/>
          <a:p>
            <a:pPr marL="0" indent="0">
              <a:buNone/>
            </a:pPr>
            <a:r>
              <a:rPr lang="en-US" sz="3800" b="1" dirty="0">
                <a:solidFill>
                  <a:srgbClr val="13242E"/>
                </a:solidFill>
                <a:latin typeface="Trebuchet MS" pitchFamily="34" charset="0"/>
                <a:ea typeface="Trebuchet MS" pitchFamily="34" charset="-122"/>
                <a:cs typeface="Trebuchet MS" pitchFamily="34" charset="-120"/>
              </a:rPr>
              <a:t>~90%</a:t>
            </a:r>
            <a:endParaRPr lang="en-US" sz="3800" dirty="0"/>
          </a:p>
        </p:txBody>
      </p:sp>
      <p:sp>
        <p:nvSpPr>
          <p:cNvPr id="15" name="Text 11"/>
          <p:cNvSpPr/>
          <p:nvPr/>
        </p:nvSpPr>
        <p:spPr>
          <a:xfrm>
            <a:off x="4779112" y="4453128"/>
            <a:ext cx="2679192" cy="502920"/>
          </a:xfrm>
          <a:prstGeom prst="rect">
            <a:avLst/>
          </a:prstGeom>
          <a:noFill/>
          <a:ln/>
        </p:spPr>
        <p:txBody>
          <a:bodyPr wrap="square" lIns="0" tIns="0" rIns="0" bIns="0" rtlCol="0" anchor="ctr"/>
          <a:lstStyle/>
          <a:p>
            <a:pPr marL="0" indent="0">
              <a:buNone/>
            </a:pPr>
            <a:r>
              <a:rPr lang="en-US" sz="1250" dirty="0">
                <a:solidFill>
                  <a:srgbClr val="38474F"/>
                </a:solidFill>
                <a:latin typeface="Calibri" pitchFamily="34" charset="0"/>
                <a:ea typeface="Calibri" pitchFamily="34" charset="-122"/>
                <a:cs typeface="Calibri" pitchFamily="34" charset="-120"/>
              </a:rPr>
              <a:t>of all data was generated in just the last few years</a:t>
            </a:r>
            <a:endParaRPr lang="en-US" sz="1250" dirty="0"/>
          </a:p>
        </p:txBody>
      </p:sp>
      <p:sp>
        <p:nvSpPr>
          <p:cNvPr id="16" name="Shape 12"/>
          <p:cNvSpPr/>
          <p:nvPr/>
        </p:nvSpPr>
        <p:spPr>
          <a:xfrm>
            <a:off x="8186623" y="2697480"/>
            <a:ext cx="3456432" cy="2331720"/>
          </a:xfrm>
          <a:prstGeom prst="roundRect">
            <a:avLst>
              <a:gd name="adj" fmla="val 3922"/>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7" name="Shape 13"/>
          <p:cNvSpPr/>
          <p:nvPr/>
        </p:nvSpPr>
        <p:spPr>
          <a:xfrm>
            <a:off x="8598103" y="3081528"/>
            <a:ext cx="713232" cy="713232"/>
          </a:xfrm>
          <a:prstGeom prst="ellipse">
            <a:avLst/>
          </a:prstGeom>
          <a:solidFill>
            <a:srgbClr val="FF3621"/>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8776411" y="3259836"/>
            <a:ext cx="356616" cy="356616"/>
          </a:xfrm>
          <a:prstGeom prst="rect">
            <a:avLst/>
          </a:prstGeom>
        </p:spPr>
      </p:pic>
      <p:sp>
        <p:nvSpPr>
          <p:cNvPr id="19" name="Text 14"/>
          <p:cNvSpPr/>
          <p:nvPr/>
        </p:nvSpPr>
        <p:spPr>
          <a:xfrm>
            <a:off x="8570671" y="3813048"/>
            <a:ext cx="2724912" cy="640080"/>
          </a:xfrm>
          <a:prstGeom prst="rect">
            <a:avLst/>
          </a:prstGeom>
          <a:noFill/>
          <a:ln/>
        </p:spPr>
        <p:txBody>
          <a:bodyPr wrap="square" lIns="0" tIns="0" rIns="0" bIns="0" rtlCol="0" anchor="ctr"/>
          <a:lstStyle/>
          <a:p>
            <a:pPr marL="0" indent="0">
              <a:buNone/>
            </a:pPr>
            <a:r>
              <a:rPr lang="en-US" sz="3800" b="1" dirty="0">
                <a:solidFill>
                  <a:srgbClr val="13242E"/>
                </a:solidFill>
                <a:latin typeface="Trebuchet MS" pitchFamily="34" charset="0"/>
                <a:ea typeface="Trebuchet MS" pitchFamily="34" charset="-122"/>
                <a:cs typeface="Trebuchet MS" pitchFamily="34" charset="-120"/>
              </a:rPr>
              <a:t>15B+</a:t>
            </a:r>
            <a:endParaRPr lang="en-US" sz="3800" dirty="0"/>
          </a:p>
        </p:txBody>
      </p:sp>
      <p:sp>
        <p:nvSpPr>
          <p:cNvPr id="20" name="Text 15"/>
          <p:cNvSpPr/>
          <p:nvPr/>
        </p:nvSpPr>
        <p:spPr>
          <a:xfrm>
            <a:off x="8598103" y="4453128"/>
            <a:ext cx="2679192" cy="502920"/>
          </a:xfrm>
          <a:prstGeom prst="rect">
            <a:avLst/>
          </a:prstGeom>
          <a:noFill/>
          <a:ln/>
        </p:spPr>
        <p:txBody>
          <a:bodyPr wrap="square" lIns="0" tIns="0" rIns="0" bIns="0" rtlCol="0" anchor="ctr"/>
          <a:lstStyle/>
          <a:p>
            <a:pPr marL="0" indent="0">
              <a:buNone/>
            </a:pPr>
            <a:r>
              <a:rPr lang="en-US" sz="1250" dirty="0">
                <a:solidFill>
                  <a:srgbClr val="38474F"/>
                </a:solidFill>
                <a:latin typeface="Calibri" pitchFamily="34" charset="0"/>
                <a:ea typeface="Calibri" pitchFamily="34" charset="-122"/>
                <a:cs typeface="Calibri" pitchFamily="34" charset="-120"/>
              </a:rPr>
              <a:t>connected IoT devices streaming data (est.)</a:t>
            </a:r>
            <a:endParaRPr lang="en-US" sz="1250" dirty="0"/>
          </a:p>
        </p:txBody>
      </p:sp>
      <p:sp>
        <p:nvSpPr>
          <p:cNvPr id="21" name="Text 16"/>
          <p:cNvSpPr/>
          <p:nvPr/>
        </p:nvSpPr>
        <p:spPr>
          <a:xfrm>
            <a:off x="548640" y="5212080"/>
            <a:ext cx="11094415" cy="274320"/>
          </a:xfrm>
          <a:prstGeom prst="rect">
            <a:avLst/>
          </a:prstGeom>
          <a:noFill/>
          <a:ln/>
        </p:spPr>
        <p:txBody>
          <a:bodyPr wrap="square" lIns="0" tIns="0" rIns="0" bIns="0" rtlCol="0" anchor="ctr"/>
          <a:lstStyle/>
          <a:p>
            <a:pPr marL="0" indent="0">
              <a:buNone/>
            </a:pPr>
            <a:r>
              <a:rPr lang="en-US" sz="1050" i="1" dirty="0">
                <a:solidFill>
                  <a:srgbClr val="7C8A91"/>
                </a:solidFill>
                <a:latin typeface="Calibri" pitchFamily="34" charset="0"/>
                <a:ea typeface="Calibri" pitchFamily="34" charset="-122"/>
                <a:cs typeface="Calibri" pitchFamily="34" charset="-120"/>
              </a:rPr>
              <a:t>Figures are widely-cited industry estimates and vary by source — use them to convey scale, not precision.</a:t>
            </a:r>
            <a:endParaRPr lang="en-US" sz="1050" dirty="0"/>
          </a:p>
        </p:txBody>
      </p:sp>
      <p:sp>
        <p:nvSpPr>
          <p:cNvPr id="22" name="Text 17"/>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23" name="Text 18"/>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01 · DEFINITION</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What exactly is Big Data?</a:t>
            </a:r>
            <a:endParaRPr lang="en-US" sz="2900" dirty="0"/>
          </a:p>
        </p:txBody>
      </p:sp>
      <p:sp>
        <p:nvSpPr>
          <p:cNvPr id="5" name="Shape 3"/>
          <p:cNvSpPr/>
          <p:nvPr/>
        </p:nvSpPr>
        <p:spPr>
          <a:xfrm>
            <a:off x="548640" y="1783080"/>
            <a:ext cx="6400800" cy="3886200"/>
          </a:xfrm>
          <a:prstGeom prst="roundRect">
            <a:avLst>
              <a:gd name="adj" fmla="val 2353"/>
            </a:avLst>
          </a:prstGeom>
          <a:solidFill>
            <a:srgbClr val="0E1B24"/>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6" name="Text 4"/>
          <p:cNvSpPr/>
          <p:nvPr/>
        </p:nvSpPr>
        <p:spPr>
          <a:xfrm>
            <a:off x="777240" y="1783080"/>
            <a:ext cx="1097280" cy="1097280"/>
          </a:xfrm>
          <a:prstGeom prst="rect">
            <a:avLst/>
          </a:prstGeom>
          <a:noFill/>
          <a:ln/>
        </p:spPr>
        <p:txBody>
          <a:bodyPr wrap="square" lIns="0" tIns="0" rIns="0" bIns="0" rtlCol="0" anchor="ctr"/>
          <a:lstStyle/>
          <a:p>
            <a:pPr marL="0" indent="0">
              <a:buNone/>
            </a:pPr>
            <a:r>
              <a:rPr lang="en-US" sz="9000" b="1" dirty="0">
                <a:solidFill>
                  <a:srgbClr val="FF3621"/>
                </a:solidFill>
                <a:latin typeface="Georgia" pitchFamily="34" charset="0"/>
                <a:ea typeface="Georgia" pitchFamily="34" charset="-122"/>
                <a:cs typeface="Georgia" pitchFamily="34" charset="-120"/>
              </a:rPr>
              <a:t>“</a:t>
            </a:r>
            <a:endParaRPr lang="en-US" sz="9000" dirty="0"/>
          </a:p>
        </p:txBody>
      </p:sp>
      <p:sp>
        <p:nvSpPr>
          <p:cNvPr id="7" name="Text 5"/>
          <p:cNvSpPr/>
          <p:nvPr/>
        </p:nvSpPr>
        <p:spPr>
          <a:xfrm>
            <a:off x="1051560" y="2697480"/>
            <a:ext cx="5486400" cy="1554480"/>
          </a:xfrm>
          <a:prstGeom prst="rect">
            <a:avLst/>
          </a:prstGeom>
          <a:noFill/>
          <a:ln/>
        </p:spPr>
        <p:txBody>
          <a:bodyPr wrap="square" lIns="0" tIns="0" rIns="0" bIns="0" rtlCol="0" anchor="ctr"/>
          <a:lstStyle/>
          <a:p>
            <a:pPr marL="0" indent="0">
              <a:lnSpc>
                <a:spcPct val="104000"/>
              </a:lnSpc>
              <a:buNone/>
            </a:pPr>
            <a:r>
              <a:rPr lang="en-US" sz="2100" b="1" dirty="0">
                <a:solidFill>
                  <a:srgbClr val="FFFFFF"/>
                </a:solidFill>
                <a:latin typeface="Trebuchet MS" pitchFamily="34" charset="0"/>
                <a:ea typeface="Trebuchet MS" pitchFamily="34" charset="-122"/>
                <a:cs typeface="Trebuchet MS" pitchFamily="34" charset="-120"/>
              </a:rPr>
              <a:t>Big Data is data so large, fast-moving and varied that traditional databases and a single machine can no longer store or process it in a reasonable time.</a:t>
            </a:r>
            <a:endParaRPr lang="en-US" sz="2100" dirty="0"/>
          </a:p>
        </p:txBody>
      </p:sp>
      <p:sp>
        <p:nvSpPr>
          <p:cNvPr id="8" name="Text 6"/>
          <p:cNvSpPr/>
          <p:nvPr/>
        </p:nvSpPr>
        <p:spPr>
          <a:xfrm>
            <a:off x="1051560" y="4526280"/>
            <a:ext cx="5486400" cy="822960"/>
          </a:xfrm>
          <a:prstGeom prst="rect">
            <a:avLst/>
          </a:prstGeom>
          <a:noFill/>
          <a:ln/>
        </p:spPr>
        <p:txBody>
          <a:bodyPr wrap="square" lIns="0" tIns="0" rIns="0" bIns="0" rtlCol="0" anchor="ctr"/>
          <a:lstStyle/>
          <a:p>
            <a:pPr marL="0" indent="0">
              <a:buNone/>
            </a:pPr>
            <a:r>
              <a:rPr lang="en-US" sz="1400" dirty="0">
                <a:solidFill>
                  <a:srgbClr val="C7D2D8"/>
                </a:solidFill>
                <a:latin typeface="Calibri" pitchFamily="34" charset="0"/>
                <a:ea typeface="Calibri" pitchFamily="34" charset="-122"/>
                <a:cs typeface="Calibri" pitchFamily="34" charset="-120"/>
              </a:rPr>
              <a:t>So instead of one bigger computer, we spread the work across many — a distributed cluster.</a:t>
            </a:r>
            <a:endParaRPr lang="en-US" sz="1400" dirty="0"/>
          </a:p>
        </p:txBody>
      </p:sp>
      <p:sp>
        <p:nvSpPr>
          <p:cNvPr id="9" name="Shape 7"/>
          <p:cNvSpPr/>
          <p:nvPr/>
        </p:nvSpPr>
        <p:spPr>
          <a:xfrm>
            <a:off x="7269480" y="1783080"/>
            <a:ext cx="4373575" cy="1188720"/>
          </a:xfrm>
          <a:prstGeom prst="roundRect">
            <a:avLst>
              <a:gd name="adj" fmla="val 7692"/>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0" name="Shape 8"/>
          <p:cNvSpPr/>
          <p:nvPr/>
        </p:nvSpPr>
        <p:spPr>
          <a:xfrm>
            <a:off x="7562088" y="2075688"/>
            <a:ext cx="603504" cy="603504"/>
          </a:xfrm>
          <a:prstGeom prst="ellipse">
            <a:avLst/>
          </a:prstGeom>
          <a:solidFill>
            <a:srgbClr val="FF3621"/>
          </a:solidFill>
          <a:ln/>
        </p:spPr>
        <p:txBody>
          <a:bodyPr/>
          <a:lstStyle/>
          <a:p>
            <a:endParaRPr lang="en-US"/>
          </a:p>
        </p:txBody>
      </p:sp>
      <p:pic>
        <p:nvPicPr>
          <p:cNvPr id="11" name="Image 0" descr="preencoded.png"/>
          <p:cNvPicPr>
            <a:picLocks noChangeAspect="1"/>
          </p:cNvPicPr>
          <p:nvPr/>
        </p:nvPicPr>
        <p:blipFill>
          <a:blip r:embed="rId3"/>
          <a:stretch>
            <a:fillRect/>
          </a:stretch>
        </p:blipFill>
        <p:spPr>
          <a:xfrm>
            <a:off x="7712964" y="2226564"/>
            <a:ext cx="301752" cy="301752"/>
          </a:xfrm>
          <a:prstGeom prst="rect">
            <a:avLst/>
          </a:prstGeom>
        </p:spPr>
      </p:pic>
      <p:sp>
        <p:nvSpPr>
          <p:cNvPr id="12" name="Text 9"/>
          <p:cNvSpPr/>
          <p:nvPr/>
        </p:nvSpPr>
        <p:spPr>
          <a:xfrm>
            <a:off x="8321040" y="1984248"/>
            <a:ext cx="3093415" cy="365760"/>
          </a:xfrm>
          <a:prstGeom prst="rect">
            <a:avLst/>
          </a:prstGeom>
          <a:noFill/>
          <a:ln/>
        </p:spPr>
        <p:txBody>
          <a:bodyPr wrap="square" lIns="0" tIns="0" rIns="0" bIns="0" rtlCol="0" anchor="ctr"/>
          <a:lstStyle/>
          <a:p>
            <a:pPr marL="0" indent="0">
              <a:buNone/>
            </a:pPr>
            <a:r>
              <a:rPr lang="en-US" sz="1450" b="1" dirty="0">
                <a:solidFill>
                  <a:srgbClr val="13242E"/>
                </a:solidFill>
                <a:latin typeface="Trebuchet MS" pitchFamily="34" charset="0"/>
                <a:ea typeface="Trebuchet MS" pitchFamily="34" charset="-122"/>
                <a:cs typeface="Trebuchet MS" pitchFamily="34" charset="-120"/>
              </a:rPr>
              <a:t>Too big for one server</a:t>
            </a:r>
            <a:endParaRPr lang="en-US" sz="1450" dirty="0"/>
          </a:p>
        </p:txBody>
      </p:sp>
      <p:sp>
        <p:nvSpPr>
          <p:cNvPr id="13" name="Text 10"/>
          <p:cNvSpPr/>
          <p:nvPr/>
        </p:nvSpPr>
        <p:spPr>
          <a:xfrm>
            <a:off x="8321040" y="2331720"/>
            <a:ext cx="3093415" cy="54864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Datasets outgrow the disk and memory of any single machine.</a:t>
            </a:r>
            <a:endParaRPr lang="en-US" sz="1150" dirty="0"/>
          </a:p>
        </p:txBody>
      </p:sp>
      <p:sp>
        <p:nvSpPr>
          <p:cNvPr id="14" name="Shape 11"/>
          <p:cNvSpPr/>
          <p:nvPr/>
        </p:nvSpPr>
        <p:spPr>
          <a:xfrm>
            <a:off x="7269480" y="3131820"/>
            <a:ext cx="4373575" cy="1188720"/>
          </a:xfrm>
          <a:prstGeom prst="roundRect">
            <a:avLst>
              <a:gd name="adj" fmla="val 7692"/>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5" name="Shape 12"/>
          <p:cNvSpPr/>
          <p:nvPr/>
        </p:nvSpPr>
        <p:spPr>
          <a:xfrm>
            <a:off x="7562088" y="3424428"/>
            <a:ext cx="603504" cy="603504"/>
          </a:xfrm>
          <a:prstGeom prst="ellipse">
            <a:avLst/>
          </a:prstGeom>
          <a:solidFill>
            <a:srgbClr val="FF3621"/>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7712964" y="3575304"/>
            <a:ext cx="301752" cy="301752"/>
          </a:xfrm>
          <a:prstGeom prst="rect">
            <a:avLst/>
          </a:prstGeom>
        </p:spPr>
      </p:pic>
      <p:sp>
        <p:nvSpPr>
          <p:cNvPr id="17" name="Text 13"/>
          <p:cNvSpPr/>
          <p:nvPr/>
        </p:nvSpPr>
        <p:spPr>
          <a:xfrm>
            <a:off x="8321040" y="3332988"/>
            <a:ext cx="3093415" cy="365760"/>
          </a:xfrm>
          <a:prstGeom prst="rect">
            <a:avLst/>
          </a:prstGeom>
          <a:noFill/>
          <a:ln/>
        </p:spPr>
        <p:txBody>
          <a:bodyPr wrap="square" lIns="0" tIns="0" rIns="0" bIns="0" rtlCol="0" anchor="ctr"/>
          <a:lstStyle/>
          <a:p>
            <a:pPr marL="0" indent="0">
              <a:buNone/>
            </a:pPr>
            <a:r>
              <a:rPr lang="en-US" sz="1450" b="1" dirty="0">
                <a:solidFill>
                  <a:srgbClr val="13242E"/>
                </a:solidFill>
                <a:latin typeface="Trebuchet MS" pitchFamily="34" charset="0"/>
                <a:ea typeface="Trebuchet MS" pitchFamily="34" charset="-122"/>
                <a:cs typeface="Trebuchet MS" pitchFamily="34" charset="-120"/>
              </a:rPr>
              <a:t>Arrives too fast</a:t>
            </a:r>
            <a:endParaRPr lang="en-US" sz="1450" dirty="0"/>
          </a:p>
        </p:txBody>
      </p:sp>
      <p:sp>
        <p:nvSpPr>
          <p:cNvPr id="18" name="Text 14"/>
          <p:cNvSpPr/>
          <p:nvPr/>
        </p:nvSpPr>
        <p:spPr>
          <a:xfrm>
            <a:off x="8321040" y="3680460"/>
            <a:ext cx="3093415" cy="54864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Streams pour in continuously — too quick for overnight batches.</a:t>
            </a:r>
            <a:endParaRPr lang="en-US" sz="1150" dirty="0"/>
          </a:p>
        </p:txBody>
      </p:sp>
      <p:sp>
        <p:nvSpPr>
          <p:cNvPr id="19" name="Shape 15"/>
          <p:cNvSpPr/>
          <p:nvPr/>
        </p:nvSpPr>
        <p:spPr>
          <a:xfrm>
            <a:off x="7269480" y="4480560"/>
            <a:ext cx="4373575" cy="1188720"/>
          </a:xfrm>
          <a:prstGeom prst="roundRect">
            <a:avLst>
              <a:gd name="adj" fmla="val 7692"/>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0" name="Shape 16"/>
          <p:cNvSpPr/>
          <p:nvPr/>
        </p:nvSpPr>
        <p:spPr>
          <a:xfrm>
            <a:off x="7562088" y="4773168"/>
            <a:ext cx="603504" cy="603504"/>
          </a:xfrm>
          <a:prstGeom prst="ellipse">
            <a:avLst/>
          </a:prstGeom>
          <a:solidFill>
            <a:srgbClr val="FF3621"/>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7712964" y="4924044"/>
            <a:ext cx="301752" cy="301752"/>
          </a:xfrm>
          <a:prstGeom prst="rect">
            <a:avLst/>
          </a:prstGeom>
        </p:spPr>
      </p:pic>
      <p:sp>
        <p:nvSpPr>
          <p:cNvPr id="22" name="Text 17"/>
          <p:cNvSpPr/>
          <p:nvPr/>
        </p:nvSpPr>
        <p:spPr>
          <a:xfrm>
            <a:off x="8321040" y="4681728"/>
            <a:ext cx="3093415" cy="365760"/>
          </a:xfrm>
          <a:prstGeom prst="rect">
            <a:avLst/>
          </a:prstGeom>
          <a:noFill/>
          <a:ln/>
        </p:spPr>
        <p:txBody>
          <a:bodyPr wrap="square" lIns="0" tIns="0" rIns="0" bIns="0" rtlCol="0" anchor="ctr"/>
          <a:lstStyle/>
          <a:p>
            <a:pPr marL="0" indent="0">
              <a:buNone/>
            </a:pPr>
            <a:r>
              <a:rPr lang="en-US" sz="1450" b="1" dirty="0">
                <a:solidFill>
                  <a:srgbClr val="13242E"/>
                </a:solidFill>
                <a:latin typeface="Trebuchet MS" pitchFamily="34" charset="0"/>
                <a:ea typeface="Trebuchet MS" pitchFamily="34" charset="-122"/>
                <a:cs typeface="Trebuchet MS" pitchFamily="34" charset="-120"/>
              </a:rPr>
              <a:t>Too many shapes</a:t>
            </a:r>
            <a:endParaRPr lang="en-US" sz="1450" dirty="0"/>
          </a:p>
        </p:txBody>
      </p:sp>
      <p:sp>
        <p:nvSpPr>
          <p:cNvPr id="23" name="Text 18"/>
          <p:cNvSpPr/>
          <p:nvPr/>
        </p:nvSpPr>
        <p:spPr>
          <a:xfrm>
            <a:off x="8321040" y="5029200"/>
            <a:ext cx="3093415" cy="54864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Tables, JSON, text, images, video — not just neat rows.</a:t>
            </a:r>
            <a:endParaRPr lang="en-US" sz="1150" dirty="0"/>
          </a:p>
        </p:txBody>
      </p:sp>
      <p:sp>
        <p:nvSpPr>
          <p:cNvPr id="24" name="Text 19"/>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25" name="Text 20"/>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01 · CORE CONCEPT</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The 5 Vs of Big Data</a:t>
            </a:r>
            <a:endParaRPr lang="en-US" sz="2900" dirty="0"/>
          </a:p>
        </p:txBody>
      </p:sp>
      <p:sp>
        <p:nvSpPr>
          <p:cNvPr id="5" name="Text 3"/>
          <p:cNvSpPr/>
          <p:nvPr/>
        </p:nvSpPr>
        <p:spPr>
          <a:xfrm>
            <a:off x="548640" y="1627632"/>
            <a:ext cx="11094415" cy="320040"/>
          </a:xfrm>
          <a:prstGeom prst="rect">
            <a:avLst/>
          </a:prstGeom>
          <a:noFill/>
          <a:ln/>
        </p:spPr>
        <p:txBody>
          <a:bodyPr wrap="square" lIns="0" tIns="0" rIns="0" bIns="0" rtlCol="0" anchor="ctr"/>
          <a:lstStyle/>
          <a:p>
            <a:pPr marL="0" indent="0">
              <a:buNone/>
            </a:pPr>
            <a:r>
              <a:rPr lang="en-US" sz="1400" dirty="0">
                <a:solidFill>
                  <a:srgbClr val="7C8A91"/>
                </a:solidFill>
                <a:latin typeface="Calibri" pitchFamily="34" charset="0"/>
                <a:ea typeface="Calibri" pitchFamily="34" charset="-122"/>
                <a:cs typeface="Calibri" pitchFamily="34" charset="-120"/>
              </a:rPr>
              <a:t>The five characteristics that define a big-data problem.</a:t>
            </a:r>
            <a:endParaRPr lang="en-US" sz="1400" dirty="0"/>
          </a:p>
        </p:txBody>
      </p:sp>
      <p:sp>
        <p:nvSpPr>
          <p:cNvPr id="6" name="Shape 4"/>
          <p:cNvSpPr/>
          <p:nvPr/>
        </p:nvSpPr>
        <p:spPr>
          <a:xfrm>
            <a:off x="548640" y="2331720"/>
            <a:ext cx="1993392" cy="3246120"/>
          </a:xfrm>
          <a:prstGeom prst="roundRect">
            <a:avLst>
              <a:gd name="adj" fmla="val 4587"/>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7" name="Shape 5"/>
          <p:cNvSpPr/>
          <p:nvPr/>
        </p:nvSpPr>
        <p:spPr>
          <a:xfrm>
            <a:off x="548640" y="2331720"/>
            <a:ext cx="1993392" cy="91440"/>
          </a:xfrm>
          <a:prstGeom prst="rect">
            <a:avLst/>
          </a:prstGeom>
          <a:solidFill>
            <a:srgbClr val="FF3621"/>
          </a:solidFill>
          <a:ln/>
        </p:spPr>
        <p:txBody>
          <a:bodyPr/>
          <a:lstStyle/>
          <a:p>
            <a:endParaRPr lang="en-US"/>
          </a:p>
        </p:txBody>
      </p:sp>
      <p:sp>
        <p:nvSpPr>
          <p:cNvPr id="8" name="Shape 6"/>
          <p:cNvSpPr/>
          <p:nvPr/>
        </p:nvSpPr>
        <p:spPr>
          <a:xfrm>
            <a:off x="1124712" y="2697480"/>
            <a:ext cx="841248" cy="841248"/>
          </a:xfrm>
          <a:prstGeom prst="ellipse">
            <a:avLst/>
          </a:prstGeom>
          <a:solidFill>
            <a:srgbClr val="FF3621"/>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1335024" y="2907792"/>
            <a:ext cx="420624" cy="420624"/>
          </a:xfrm>
          <a:prstGeom prst="rect">
            <a:avLst/>
          </a:prstGeom>
        </p:spPr>
      </p:pic>
      <p:sp>
        <p:nvSpPr>
          <p:cNvPr id="10" name="Text 7"/>
          <p:cNvSpPr/>
          <p:nvPr/>
        </p:nvSpPr>
        <p:spPr>
          <a:xfrm>
            <a:off x="640080" y="3657600"/>
            <a:ext cx="1810512" cy="274320"/>
          </a:xfrm>
          <a:prstGeom prst="rect">
            <a:avLst/>
          </a:prstGeom>
          <a:noFill/>
          <a:ln/>
        </p:spPr>
        <p:txBody>
          <a:bodyPr wrap="square" lIns="0" tIns="0" rIns="0" bIns="0" rtlCol="0" anchor="ctr"/>
          <a:lstStyle/>
          <a:p>
            <a:pPr marL="0" indent="0" algn="ctr">
              <a:buNone/>
            </a:pPr>
            <a:r>
              <a:rPr lang="en-US" sz="1100" b="1" kern="0" spc="200" dirty="0">
                <a:solidFill>
                  <a:srgbClr val="7C8A91"/>
                </a:solidFill>
                <a:latin typeface="Calibri" pitchFamily="34" charset="0"/>
                <a:ea typeface="Calibri" pitchFamily="34" charset="-122"/>
                <a:cs typeface="Calibri" pitchFamily="34" charset="-120"/>
              </a:rPr>
              <a:t>01</a:t>
            </a:r>
            <a:endParaRPr lang="en-US" sz="1100" dirty="0"/>
          </a:p>
        </p:txBody>
      </p:sp>
      <p:sp>
        <p:nvSpPr>
          <p:cNvPr id="11" name="Text 8"/>
          <p:cNvSpPr/>
          <p:nvPr/>
        </p:nvSpPr>
        <p:spPr>
          <a:xfrm>
            <a:off x="640080" y="3913632"/>
            <a:ext cx="1810512" cy="411480"/>
          </a:xfrm>
          <a:prstGeom prst="rect">
            <a:avLst/>
          </a:prstGeom>
          <a:noFill/>
          <a:ln/>
        </p:spPr>
        <p:txBody>
          <a:bodyPr wrap="square" lIns="0" tIns="0" rIns="0" bIns="0" rtlCol="0" anchor="ctr"/>
          <a:lstStyle/>
          <a:p>
            <a:pPr marL="0" indent="0" algn="ctr">
              <a:buNone/>
            </a:pPr>
            <a:r>
              <a:rPr lang="en-US" sz="1900" b="1" dirty="0">
                <a:solidFill>
                  <a:srgbClr val="13242E"/>
                </a:solidFill>
                <a:latin typeface="Trebuchet MS" pitchFamily="34" charset="0"/>
                <a:ea typeface="Trebuchet MS" pitchFamily="34" charset="-122"/>
                <a:cs typeface="Trebuchet MS" pitchFamily="34" charset="-120"/>
              </a:rPr>
              <a:t>Volume</a:t>
            </a:r>
            <a:endParaRPr lang="en-US" sz="1900" dirty="0"/>
          </a:p>
        </p:txBody>
      </p:sp>
      <p:sp>
        <p:nvSpPr>
          <p:cNvPr id="12" name="Text 9"/>
          <p:cNvSpPr/>
          <p:nvPr/>
        </p:nvSpPr>
        <p:spPr>
          <a:xfrm>
            <a:off x="749808" y="4416552"/>
            <a:ext cx="1591056" cy="1005840"/>
          </a:xfrm>
          <a:prstGeom prst="rect">
            <a:avLst/>
          </a:prstGeom>
          <a:noFill/>
          <a:ln/>
        </p:spPr>
        <p:txBody>
          <a:bodyPr wrap="square" lIns="0" tIns="0" rIns="0" bIns="0" rtlCol="0" anchor="ctr"/>
          <a:lstStyle/>
          <a:p>
            <a:pPr marL="0" indent="0" algn="ctr">
              <a:buNone/>
            </a:pPr>
            <a:r>
              <a:rPr lang="en-US" sz="1100" dirty="0">
                <a:solidFill>
                  <a:srgbClr val="38474F"/>
                </a:solidFill>
                <a:latin typeface="Calibri" pitchFamily="34" charset="0"/>
                <a:ea typeface="Calibri" pitchFamily="34" charset="-122"/>
                <a:cs typeface="Calibri" pitchFamily="34" charset="-120"/>
              </a:rPr>
              <a:t>Massive scale — terabytes to petabytes and beyond.</a:t>
            </a:r>
            <a:endParaRPr lang="en-US" sz="1100" dirty="0"/>
          </a:p>
        </p:txBody>
      </p:sp>
      <p:sp>
        <p:nvSpPr>
          <p:cNvPr id="13" name="Shape 10"/>
          <p:cNvSpPr/>
          <p:nvPr/>
        </p:nvSpPr>
        <p:spPr>
          <a:xfrm>
            <a:off x="2527516" y="3842857"/>
            <a:ext cx="310896" cy="223845"/>
          </a:xfrm>
          <a:prstGeom prst="chevron">
            <a:avLst/>
          </a:prstGeom>
          <a:solidFill>
            <a:srgbClr val="FF3621"/>
          </a:solidFill>
          <a:ln/>
        </p:spPr>
        <p:txBody>
          <a:bodyPr/>
          <a:lstStyle/>
          <a:p>
            <a:endParaRPr lang="en-US"/>
          </a:p>
        </p:txBody>
      </p:sp>
      <p:sp>
        <p:nvSpPr>
          <p:cNvPr id="14" name="Shape 11"/>
          <p:cNvSpPr/>
          <p:nvPr/>
        </p:nvSpPr>
        <p:spPr>
          <a:xfrm>
            <a:off x="2823896" y="2331720"/>
            <a:ext cx="1993392" cy="3246120"/>
          </a:xfrm>
          <a:prstGeom prst="roundRect">
            <a:avLst>
              <a:gd name="adj" fmla="val 4587"/>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5" name="Shape 12"/>
          <p:cNvSpPr/>
          <p:nvPr/>
        </p:nvSpPr>
        <p:spPr>
          <a:xfrm>
            <a:off x="2823896" y="2331720"/>
            <a:ext cx="1993392" cy="91440"/>
          </a:xfrm>
          <a:prstGeom prst="rect">
            <a:avLst/>
          </a:prstGeom>
          <a:solidFill>
            <a:srgbClr val="FF3621"/>
          </a:solidFill>
          <a:ln/>
        </p:spPr>
        <p:txBody>
          <a:bodyPr/>
          <a:lstStyle/>
          <a:p>
            <a:endParaRPr lang="en-US"/>
          </a:p>
        </p:txBody>
      </p:sp>
      <p:sp>
        <p:nvSpPr>
          <p:cNvPr id="16" name="Shape 13"/>
          <p:cNvSpPr/>
          <p:nvPr/>
        </p:nvSpPr>
        <p:spPr>
          <a:xfrm>
            <a:off x="3399968" y="2697480"/>
            <a:ext cx="841248" cy="841248"/>
          </a:xfrm>
          <a:prstGeom prst="ellipse">
            <a:avLst/>
          </a:prstGeom>
          <a:solidFill>
            <a:srgbClr val="FF3621"/>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3610280" y="2907792"/>
            <a:ext cx="420624" cy="420624"/>
          </a:xfrm>
          <a:prstGeom prst="rect">
            <a:avLst/>
          </a:prstGeom>
        </p:spPr>
      </p:pic>
      <p:sp>
        <p:nvSpPr>
          <p:cNvPr id="18" name="Text 14"/>
          <p:cNvSpPr/>
          <p:nvPr/>
        </p:nvSpPr>
        <p:spPr>
          <a:xfrm>
            <a:off x="2915336" y="3657600"/>
            <a:ext cx="1810512" cy="274320"/>
          </a:xfrm>
          <a:prstGeom prst="rect">
            <a:avLst/>
          </a:prstGeom>
          <a:noFill/>
          <a:ln/>
        </p:spPr>
        <p:txBody>
          <a:bodyPr wrap="square" lIns="0" tIns="0" rIns="0" bIns="0" rtlCol="0" anchor="ctr"/>
          <a:lstStyle/>
          <a:p>
            <a:pPr marL="0" indent="0" algn="ctr">
              <a:buNone/>
            </a:pPr>
            <a:r>
              <a:rPr lang="en-US" sz="1100" b="1" kern="0" spc="200" dirty="0">
                <a:solidFill>
                  <a:srgbClr val="7C8A91"/>
                </a:solidFill>
                <a:latin typeface="Calibri" pitchFamily="34" charset="0"/>
                <a:ea typeface="Calibri" pitchFamily="34" charset="-122"/>
                <a:cs typeface="Calibri" pitchFamily="34" charset="-120"/>
              </a:rPr>
              <a:t>02</a:t>
            </a:r>
            <a:endParaRPr lang="en-US" sz="1100" dirty="0"/>
          </a:p>
        </p:txBody>
      </p:sp>
      <p:sp>
        <p:nvSpPr>
          <p:cNvPr id="19" name="Text 15"/>
          <p:cNvSpPr/>
          <p:nvPr/>
        </p:nvSpPr>
        <p:spPr>
          <a:xfrm>
            <a:off x="2915336" y="3913632"/>
            <a:ext cx="1810512" cy="411480"/>
          </a:xfrm>
          <a:prstGeom prst="rect">
            <a:avLst/>
          </a:prstGeom>
          <a:noFill/>
          <a:ln/>
        </p:spPr>
        <p:txBody>
          <a:bodyPr wrap="square" lIns="0" tIns="0" rIns="0" bIns="0" rtlCol="0" anchor="ctr"/>
          <a:lstStyle/>
          <a:p>
            <a:pPr marL="0" indent="0" algn="ctr">
              <a:buNone/>
            </a:pPr>
            <a:r>
              <a:rPr lang="en-US" sz="1900" b="1" dirty="0">
                <a:solidFill>
                  <a:srgbClr val="13242E"/>
                </a:solidFill>
                <a:latin typeface="Trebuchet MS" pitchFamily="34" charset="0"/>
                <a:ea typeface="Trebuchet MS" pitchFamily="34" charset="-122"/>
                <a:cs typeface="Trebuchet MS" pitchFamily="34" charset="-120"/>
              </a:rPr>
              <a:t>Velocity</a:t>
            </a:r>
            <a:endParaRPr lang="en-US" sz="1900" dirty="0"/>
          </a:p>
        </p:txBody>
      </p:sp>
      <p:sp>
        <p:nvSpPr>
          <p:cNvPr id="20" name="Text 16"/>
          <p:cNvSpPr/>
          <p:nvPr/>
        </p:nvSpPr>
        <p:spPr>
          <a:xfrm>
            <a:off x="3025064" y="4416552"/>
            <a:ext cx="1591056" cy="1005840"/>
          </a:xfrm>
          <a:prstGeom prst="rect">
            <a:avLst/>
          </a:prstGeom>
          <a:noFill/>
          <a:ln/>
        </p:spPr>
        <p:txBody>
          <a:bodyPr wrap="square" lIns="0" tIns="0" rIns="0" bIns="0" rtlCol="0" anchor="ctr"/>
          <a:lstStyle/>
          <a:p>
            <a:pPr marL="0" indent="0" algn="ctr">
              <a:buNone/>
            </a:pPr>
            <a:r>
              <a:rPr lang="en-US" sz="1100" dirty="0">
                <a:solidFill>
                  <a:srgbClr val="38474F"/>
                </a:solidFill>
                <a:latin typeface="Calibri" pitchFamily="34" charset="0"/>
                <a:ea typeface="Calibri" pitchFamily="34" charset="-122"/>
                <a:cs typeface="Calibri" pitchFamily="34" charset="-120"/>
              </a:rPr>
              <a:t>Speed of arrival — streaming and near real-time.</a:t>
            </a:r>
            <a:endParaRPr lang="en-US" sz="1100" dirty="0"/>
          </a:p>
        </p:txBody>
      </p:sp>
      <p:sp>
        <p:nvSpPr>
          <p:cNvPr id="21" name="Shape 17"/>
          <p:cNvSpPr/>
          <p:nvPr/>
        </p:nvSpPr>
        <p:spPr>
          <a:xfrm>
            <a:off x="4802772" y="3842857"/>
            <a:ext cx="310896" cy="223845"/>
          </a:xfrm>
          <a:prstGeom prst="chevron">
            <a:avLst/>
          </a:prstGeom>
          <a:solidFill>
            <a:srgbClr val="FF3621"/>
          </a:solidFill>
          <a:ln/>
        </p:spPr>
        <p:txBody>
          <a:bodyPr/>
          <a:lstStyle/>
          <a:p>
            <a:endParaRPr lang="en-US"/>
          </a:p>
        </p:txBody>
      </p:sp>
      <p:sp>
        <p:nvSpPr>
          <p:cNvPr id="22" name="Shape 18"/>
          <p:cNvSpPr/>
          <p:nvPr/>
        </p:nvSpPr>
        <p:spPr>
          <a:xfrm>
            <a:off x="5099152" y="2331720"/>
            <a:ext cx="1993392" cy="3246120"/>
          </a:xfrm>
          <a:prstGeom prst="roundRect">
            <a:avLst>
              <a:gd name="adj" fmla="val 4587"/>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3" name="Shape 19"/>
          <p:cNvSpPr/>
          <p:nvPr/>
        </p:nvSpPr>
        <p:spPr>
          <a:xfrm>
            <a:off x="5099152" y="2331720"/>
            <a:ext cx="1993392" cy="91440"/>
          </a:xfrm>
          <a:prstGeom prst="rect">
            <a:avLst/>
          </a:prstGeom>
          <a:solidFill>
            <a:srgbClr val="FF3621"/>
          </a:solidFill>
          <a:ln/>
        </p:spPr>
        <p:txBody>
          <a:bodyPr/>
          <a:lstStyle/>
          <a:p>
            <a:endParaRPr lang="en-US"/>
          </a:p>
        </p:txBody>
      </p:sp>
      <p:sp>
        <p:nvSpPr>
          <p:cNvPr id="24" name="Shape 20"/>
          <p:cNvSpPr/>
          <p:nvPr/>
        </p:nvSpPr>
        <p:spPr>
          <a:xfrm>
            <a:off x="5675224" y="2697480"/>
            <a:ext cx="841248" cy="841248"/>
          </a:xfrm>
          <a:prstGeom prst="ellipse">
            <a:avLst/>
          </a:prstGeom>
          <a:solidFill>
            <a:srgbClr val="FF3621"/>
          </a:solidFill>
          <a:ln/>
        </p:spPr>
        <p:txBody>
          <a:bodyPr/>
          <a:lstStyle/>
          <a:p>
            <a:endParaRPr lang="en-US"/>
          </a:p>
        </p:txBody>
      </p:sp>
      <p:pic>
        <p:nvPicPr>
          <p:cNvPr id="25" name="Image 2" descr="preencoded.png"/>
          <p:cNvPicPr>
            <a:picLocks noChangeAspect="1"/>
          </p:cNvPicPr>
          <p:nvPr/>
        </p:nvPicPr>
        <p:blipFill>
          <a:blip r:embed="rId5"/>
          <a:stretch>
            <a:fillRect/>
          </a:stretch>
        </p:blipFill>
        <p:spPr>
          <a:xfrm>
            <a:off x="5885536" y="2907792"/>
            <a:ext cx="420624" cy="420624"/>
          </a:xfrm>
          <a:prstGeom prst="rect">
            <a:avLst/>
          </a:prstGeom>
        </p:spPr>
      </p:pic>
      <p:sp>
        <p:nvSpPr>
          <p:cNvPr id="26" name="Text 21"/>
          <p:cNvSpPr/>
          <p:nvPr/>
        </p:nvSpPr>
        <p:spPr>
          <a:xfrm>
            <a:off x="5190592" y="3657600"/>
            <a:ext cx="1810512" cy="274320"/>
          </a:xfrm>
          <a:prstGeom prst="rect">
            <a:avLst/>
          </a:prstGeom>
          <a:noFill/>
          <a:ln/>
        </p:spPr>
        <p:txBody>
          <a:bodyPr wrap="square" lIns="0" tIns="0" rIns="0" bIns="0" rtlCol="0" anchor="ctr"/>
          <a:lstStyle/>
          <a:p>
            <a:pPr marL="0" indent="0" algn="ctr">
              <a:buNone/>
            </a:pPr>
            <a:r>
              <a:rPr lang="en-US" sz="1100" b="1" kern="0" spc="200" dirty="0">
                <a:solidFill>
                  <a:srgbClr val="7C8A91"/>
                </a:solidFill>
                <a:latin typeface="Calibri" pitchFamily="34" charset="0"/>
                <a:ea typeface="Calibri" pitchFamily="34" charset="-122"/>
                <a:cs typeface="Calibri" pitchFamily="34" charset="-120"/>
              </a:rPr>
              <a:t>03</a:t>
            </a:r>
            <a:endParaRPr lang="en-US" sz="1100" dirty="0"/>
          </a:p>
        </p:txBody>
      </p:sp>
      <p:sp>
        <p:nvSpPr>
          <p:cNvPr id="27" name="Text 22"/>
          <p:cNvSpPr/>
          <p:nvPr/>
        </p:nvSpPr>
        <p:spPr>
          <a:xfrm>
            <a:off x="5190592" y="3913632"/>
            <a:ext cx="1810512" cy="411480"/>
          </a:xfrm>
          <a:prstGeom prst="rect">
            <a:avLst/>
          </a:prstGeom>
          <a:noFill/>
          <a:ln/>
        </p:spPr>
        <p:txBody>
          <a:bodyPr wrap="square" lIns="0" tIns="0" rIns="0" bIns="0" rtlCol="0" anchor="ctr"/>
          <a:lstStyle/>
          <a:p>
            <a:pPr marL="0" indent="0" algn="ctr">
              <a:buNone/>
            </a:pPr>
            <a:r>
              <a:rPr lang="en-US" sz="1900" b="1" dirty="0">
                <a:solidFill>
                  <a:srgbClr val="13242E"/>
                </a:solidFill>
                <a:latin typeface="Trebuchet MS" pitchFamily="34" charset="0"/>
                <a:ea typeface="Trebuchet MS" pitchFamily="34" charset="-122"/>
                <a:cs typeface="Trebuchet MS" pitchFamily="34" charset="-120"/>
              </a:rPr>
              <a:t>Variety</a:t>
            </a:r>
            <a:endParaRPr lang="en-US" sz="1900" dirty="0"/>
          </a:p>
        </p:txBody>
      </p:sp>
      <p:sp>
        <p:nvSpPr>
          <p:cNvPr id="28" name="Text 23"/>
          <p:cNvSpPr/>
          <p:nvPr/>
        </p:nvSpPr>
        <p:spPr>
          <a:xfrm>
            <a:off x="5300320" y="4416552"/>
            <a:ext cx="1591056" cy="1005840"/>
          </a:xfrm>
          <a:prstGeom prst="rect">
            <a:avLst/>
          </a:prstGeom>
          <a:noFill/>
          <a:ln/>
        </p:spPr>
        <p:txBody>
          <a:bodyPr wrap="square" lIns="0" tIns="0" rIns="0" bIns="0" rtlCol="0" anchor="ctr"/>
          <a:lstStyle/>
          <a:p>
            <a:pPr marL="0" indent="0" algn="ctr">
              <a:buNone/>
            </a:pPr>
            <a:r>
              <a:rPr lang="en-US" sz="1100" dirty="0">
                <a:solidFill>
                  <a:srgbClr val="38474F"/>
                </a:solidFill>
                <a:latin typeface="Calibri" pitchFamily="34" charset="0"/>
                <a:ea typeface="Calibri" pitchFamily="34" charset="-122"/>
                <a:cs typeface="Calibri" pitchFamily="34" charset="-120"/>
              </a:rPr>
              <a:t>Many formats — structured, text, images, video.</a:t>
            </a:r>
            <a:endParaRPr lang="en-US" sz="1100" dirty="0"/>
          </a:p>
        </p:txBody>
      </p:sp>
      <p:sp>
        <p:nvSpPr>
          <p:cNvPr id="29" name="Shape 24"/>
          <p:cNvSpPr/>
          <p:nvPr/>
        </p:nvSpPr>
        <p:spPr>
          <a:xfrm>
            <a:off x="7078028" y="3842857"/>
            <a:ext cx="310896" cy="223845"/>
          </a:xfrm>
          <a:prstGeom prst="chevron">
            <a:avLst/>
          </a:prstGeom>
          <a:solidFill>
            <a:srgbClr val="FF3621"/>
          </a:solidFill>
          <a:ln/>
        </p:spPr>
        <p:txBody>
          <a:bodyPr/>
          <a:lstStyle/>
          <a:p>
            <a:endParaRPr lang="en-US"/>
          </a:p>
        </p:txBody>
      </p:sp>
      <p:sp>
        <p:nvSpPr>
          <p:cNvPr id="30" name="Shape 25"/>
          <p:cNvSpPr/>
          <p:nvPr/>
        </p:nvSpPr>
        <p:spPr>
          <a:xfrm>
            <a:off x="7374407" y="2331720"/>
            <a:ext cx="1993392" cy="3246120"/>
          </a:xfrm>
          <a:prstGeom prst="roundRect">
            <a:avLst>
              <a:gd name="adj" fmla="val 4587"/>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1" name="Shape 26"/>
          <p:cNvSpPr/>
          <p:nvPr/>
        </p:nvSpPr>
        <p:spPr>
          <a:xfrm>
            <a:off x="7374407" y="2331720"/>
            <a:ext cx="1993392" cy="91440"/>
          </a:xfrm>
          <a:prstGeom prst="rect">
            <a:avLst/>
          </a:prstGeom>
          <a:solidFill>
            <a:srgbClr val="FF3621"/>
          </a:solidFill>
          <a:ln/>
        </p:spPr>
        <p:txBody>
          <a:bodyPr/>
          <a:lstStyle/>
          <a:p>
            <a:endParaRPr lang="en-US"/>
          </a:p>
        </p:txBody>
      </p:sp>
      <p:sp>
        <p:nvSpPr>
          <p:cNvPr id="32" name="Shape 27"/>
          <p:cNvSpPr/>
          <p:nvPr/>
        </p:nvSpPr>
        <p:spPr>
          <a:xfrm>
            <a:off x="7950479" y="2697480"/>
            <a:ext cx="841248" cy="841248"/>
          </a:xfrm>
          <a:prstGeom prst="ellipse">
            <a:avLst/>
          </a:prstGeom>
          <a:solidFill>
            <a:srgbClr val="FF3621"/>
          </a:solidFill>
          <a:ln/>
        </p:spPr>
        <p:txBody>
          <a:bodyPr/>
          <a:lstStyle/>
          <a:p>
            <a:endParaRPr lang="en-US"/>
          </a:p>
        </p:txBody>
      </p:sp>
      <p:pic>
        <p:nvPicPr>
          <p:cNvPr id="33" name="Image 3" descr="preencoded.png"/>
          <p:cNvPicPr>
            <a:picLocks noChangeAspect="1"/>
          </p:cNvPicPr>
          <p:nvPr/>
        </p:nvPicPr>
        <p:blipFill>
          <a:blip r:embed="rId6"/>
          <a:stretch>
            <a:fillRect/>
          </a:stretch>
        </p:blipFill>
        <p:spPr>
          <a:xfrm>
            <a:off x="8160791" y="2907792"/>
            <a:ext cx="420624" cy="420624"/>
          </a:xfrm>
          <a:prstGeom prst="rect">
            <a:avLst/>
          </a:prstGeom>
        </p:spPr>
      </p:pic>
      <p:sp>
        <p:nvSpPr>
          <p:cNvPr id="34" name="Text 28"/>
          <p:cNvSpPr/>
          <p:nvPr/>
        </p:nvSpPr>
        <p:spPr>
          <a:xfrm>
            <a:off x="7465847" y="3657600"/>
            <a:ext cx="1810512" cy="274320"/>
          </a:xfrm>
          <a:prstGeom prst="rect">
            <a:avLst/>
          </a:prstGeom>
          <a:noFill/>
          <a:ln/>
        </p:spPr>
        <p:txBody>
          <a:bodyPr wrap="square" lIns="0" tIns="0" rIns="0" bIns="0" rtlCol="0" anchor="ctr"/>
          <a:lstStyle/>
          <a:p>
            <a:pPr marL="0" indent="0" algn="ctr">
              <a:buNone/>
            </a:pPr>
            <a:r>
              <a:rPr lang="en-US" sz="1100" b="1" kern="0" spc="200" dirty="0">
                <a:solidFill>
                  <a:srgbClr val="7C8A91"/>
                </a:solidFill>
                <a:latin typeface="Calibri" pitchFamily="34" charset="0"/>
                <a:ea typeface="Calibri" pitchFamily="34" charset="-122"/>
                <a:cs typeface="Calibri" pitchFamily="34" charset="-120"/>
              </a:rPr>
              <a:t>04</a:t>
            </a:r>
            <a:endParaRPr lang="en-US" sz="1100" dirty="0"/>
          </a:p>
        </p:txBody>
      </p:sp>
      <p:sp>
        <p:nvSpPr>
          <p:cNvPr id="35" name="Text 29"/>
          <p:cNvSpPr/>
          <p:nvPr/>
        </p:nvSpPr>
        <p:spPr>
          <a:xfrm>
            <a:off x="7465847" y="3913632"/>
            <a:ext cx="1810512" cy="411480"/>
          </a:xfrm>
          <a:prstGeom prst="rect">
            <a:avLst/>
          </a:prstGeom>
          <a:noFill/>
          <a:ln/>
        </p:spPr>
        <p:txBody>
          <a:bodyPr wrap="square" lIns="0" tIns="0" rIns="0" bIns="0" rtlCol="0" anchor="ctr"/>
          <a:lstStyle/>
          <a:p>
            <a:pPr marL="0" indent="0" algn="ctr">
              <a:buNone/>
            </a:pPr>
            <a:r>
              <a:rPr lang="en-US" sz="1900" b="1" dirty="0">
                <a:solidFill>
                  <a:srgbClr val="13242E"/>
                </a:solidFill>
                <a:latin typeface="Trebuchet MS" pitchFamily="34" charset="0"/>
                <a:ea typeface="Trebuchet MS" pitchFamily="34" charset="-122"/>
                <a:cs typeface="Trebuchet MS" pitchFamily="34" charset="-120"/>
              </a:rPr>
              <a:t>Veracity</a:t>
            </a:r>
            <a:endParaRPr lang="en-US" sz="1900" dirty="0"/>
          </a:p>
        </p:txBody>
      </p:sp>
      <p:sp>
        <p:nvSpPr>
          <p:cNvPr id="36" name="Text 30"/>
          <p:cNvSpPr/>
          <p:nvPr/>
        </p:nvSpPr>
        <p:spPr>
          <a:xfrm>
            <a:off x="7575575" y="4416552"/>
            <a:ext cx="1591056" cy="1005840"/>
          </a:xfrm>
          <a:prstGeom prst="rect">
            <a:avLst/>
          </a:prstGeom>
          <a:noFill/>
          <a:ln/>
        </p:spPr>
        <p:txBody>
          <a:bodyPr wrap="square" lIns="0" tIns="0" rIns="0" bIns="0" rtlCol="0" anchor="ctr"/>
          <a:lstStyle/>
          <a:p>
            <a:pPr marL="0" indent="0" algn="ctr">
              <a:buNone/>
            </a:pPr>
            <a:r>
              <a:rPr lang="en-US" sz="1100" dirty="0">
                <a:solidFill>
                  <a:srgbClr val="38474F"/>
                </a:solidFill>
                <a:latin typeface="Calibri" pitchFamily="34" charset="0"/>
                <a:ea typeface="Calibri" pitchFamily="34" charset="-122"/>
                <a:cs typeface="Calibri" pitchFamily="34" charset="-120"/>
              </a:rPr>
              <a:t>Trustworthiness — quality, accuracy and noise.</a:t>
            </a:r>
            <a:endParaRPr lang="en-US" sz="1100" dirty="0"/>
          </a:p>
        </p:txBody>
      </p:sp>
      <p:sp>
        <p:nvSpPr>
          <p:cNvPr id="37" name="Shape 31"/>
          <p:cNvSpPr/>
          <p:nvPr/>
        </p:nvSpPr>
        <p:spPr>
          <a:xfrm>
            <a:off x="9353283" y="3842857"/>
            <a:ext cx="310896" cy="223845"/>
          </a:xfrm>
          <a:prstGeom prst="chevron">
            <a:avLst/>
          </a:prstGeom>
          <a:solidFill>
            <a:srgbClr val="FF3621"/>
          </a:solidFill>
          <a:ln/>
        </p:spPr>
        <p:txBody>
          <a:bodyPr/>
          <a:lstStyle/>
          <a:p>
            <a:endParaRPr lang="en-US"/>
          </a:p>
        </p:txBody>
      </p:sp>
      <p:sp>
        <p:nvSpPr>
          <p:cNvPr id="38" name="Shape 32"/>
          <p:cNvSpPr/>
          <p:nvPr/>
        </p:nvSpPr>
        <p:spPr>
          <a:xfrm>
            <a:off x="9649663" y="2331720"/>
            <a:ext cx="1993392" cy="3246120"/>
          </a:xfrm>
          <a:prstGeom prst="roundRect">
            <a:avLst>
              <a:gd name="adj" fmla="val 4587"/>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9" name="Shape 33"/>
          <p:cNvSpPr/>
          <p:nvPr/>
        </p:nvSpPr>
        <p:spPr>
          <a:xfrm>
            <a:off x="9649663" y="2331720"/>
            <a:ext cx="1993392" cy="91440"/>
          </a:xfrm>
          <a:prstGeom prst="rect">
            <a:avLst/>
          </a:prstGeom>
          <a:solidFill>
            <a:srgbClr val="FF3621"/>
          </a:solidFill>
          <a:ln/>
        </p:spPr>
        <p:txBody>
          <a:bodyPr/>
          <a:lstStyle/>
          <a:p>
            <a:endParaRPr lang="en-US"/>
          </a:p>
        </p:txBody>
      </p:sp>
      <p:sp>
        <p:nvSpPr>
          <p:cNvPr id="40" name="Shape 34"/>
          <p:cNvSpPr/>
          <p:nvPr/>
        </p:nvSpPr>
        <p:spPr>
          <a:xfrm>
            <a:off x="10225735" y="2697480"/>
            <a:ext cx="841248" cy="841248"/>
          </a:xfrm>
          <a:prstGeom prst="ellipse">
            <a:avLst/>
          </a:prstGeom>
          <a:solidFill>
            <a:srgbClr val="FF3621"/>
          </a:solidFill>
          <a:ln/>
        </p:spPr>
        <p:txBody>
          <a:bodyPr/>
          <a:lstStyle/>
          <a:p>
            <a:endParaRPr lang="en-US"/>
          </a:p>
        </p:txBody>
      </p:sp>
      <p:pic>
        <p:nvPicPr>
          <p:cNvPr id="41" name="Image 4" descr="preencoded.png"/>
          <p:cNvPicPr>
            <a:picLocks noChangeAspect="1"/>
          </p:cNvPicPr>
          <p:nvPr/>
        </p:nvPicPr>
        <p:blipFill>
          <a:blip r:embed="rId7"/>
          <a:stretch>
            <a:fillRect/>
          </a:stretch>
        </p:blipFill>
        <p:spPr>
          <a:xfrm>
            <a:off x="10436047" y="2907792"/>
            <a:ext cx="420624" cy="420624"/>
          </a:xfrm>
          <a:prstGeom prst="rect">
            <a:avLst/>
          </a:prstGeom>
        </p:spPr>
      </p:pic>
      <p:sp>
        <p:nvSpPr>
          <p:cNvPr id="42" name="Text 35"/>
          <p:cNvSpPr/>
          <p:nvPr/>
        </p:nvSpPr>
        <p:spPr>
          <a:xfrm>
            <a:off x="9741103" y="3657600"/>
            <a:ext cx="1810512" cy="274320"/>
          </a:xfrm>
          <a:prstGeom prst="rect">
            <a:avLst/>
          </a:prstGeom>
          <a:noFill/>
          <a:ln/>
        </p:spPr>
        <p:txBody>
          <a:bodyPr wrap="square" lIns="0" tIns="0" rIns="0" bIns="0" rtlCol="0" anchor="ctr"/>
          <a:lstStyle/>
          <a:p>
            <a:pPr marL="0" indent="0" algn="ctr">
              <a:buNone/>
            </a:pPr>
            <a:r>
              <a:rPr lang="en-US" sz="1100" b="1" kern="0" spc="200" dirty="0">
                <a:solidFill>
                  <a:srgbClr val="7C8A91"/>
                </a:solidFill>
                <a:latin typeface="Calibri" pitchFamily="34" charset="0"/>
                <a:ea typeface="Calibri" pitchFamily="34" charset="-122"/>
                <a:cs typeface="Calibri" pitchFamily="34" charset="-120"/>
              </a:rPr>
              <a:t>05</a:t>
            </a:r>
            <a:endParaRPr lang="en-US" sz="1100" dirty="0"/>
          </a:p>
        </p:txBody>
      </p:sp>
      <p:sp>
        <p:nvSpPr>
          <p:cNvPr id="43" name="Text 36"/>
          <p:cNvSpPr/>
          <p:nvPr/>
        </p:nvSpPr>
        <p:spPr>
          <a:xfrm>
            <a:off x="9741103" y="3913632"/>
            <a:ext cx="1810512" cy="411480"/>
          </a:xfrm>
          <a:prstGeom prst="rect">
            <a:avLst/>
          </a:prstGeom>
          <a:noFill/>
          <a:ln/>
        </p:spPr>
        <p:txBody>
          <a:bodyPr wrap="square" lIns="0" tIns="0" rIns="0" bIns="0" rtlCol="0" anchor="ctr"/>
          <a:lstStyle/>
          <a:p>
            <a:pPr marL="0" indent="0" algn="ctr">
              <a:buNone/>
            </a:pPr>
            <a:r>
              <a:rPr lang="en-US" sz="1900" b="1" dirty="0">
                <a:solidFill>
                  <a:srgbClr val="13242E"/>
                </a:solidFill>
                <a:latin typeface="Trebuchet MS" pitchFamily="34" charset="0"/>
                <a:ea typeface="Trebuchet MS" pitchFamily="34" charset="-122"/>
                <a:cs typeface="Trebuchet MS" pitchFamily="34" charset="-120"/>
              </a:rPr>
              <a:t>Value</a:t>
            </a:r>
            <a:endParaRPr lang="en-US" sz="1900" dirty="0"/>
          </a:p>
        </p:txBody>
      </p:sp>
      <p:sp>
        <p:nvSpPr>
          <p:cNvPr id="44" name="Text 37"/>
          <p:cNvSpPr/>
          <p:nvPr/>
        </p:nvSpPr>
        <p:spPr>
          <a:xfrm>
            <a:off x="9850831" y="4416552"/>
            <a:ext cx="1591056" cy="1005840"/>
          </a:xfrm>
          <a:prstGeom prst="rect">
            <a:avLst/>
          </a:prstGeom>
          <a:noFill/>
          <a:ln/>
        </p:spPr>
        <p:txBody>
          <a:bodyPr wrap="square" lIns="0" tIns="0" rIns="0" bIns="0" rtlCol="0" anchor="ctr"/>
          <a:lstStyle/>
          <a:p>
            <a:pPr marL="0" indent="0" algn="ctr">
              <a:buNone/>
            </a:pPr>
            <a:r>
              <a:rPr lang="en-US" sz="1100" dirty="0">
                <a:solidFill>
                  <a:srgbClr val="38474F"/>
                </a:solidFill>
                <a:latin typeface="Calibri" pitchFamily="34" charset="0"/>
                <a:ea typeface="Calibri" pitchFamily="34" charset="-122"/>
                <a:cs typeface="Calibri" pitchFamily="34" charset="-120"/>
              </a:rPr>
              <a:t>Turning raw data into decisions and outcomes.</a:t>
            </a:r>
            <a:endParaRPr lang="en-US" sz="1100" dirty="0"/>
          </a:p>
        </p:txBody>
      </p:sp>
      <p:sp>
        <p:nvSpPr>
          <p:cNvPr id="45" name="Text 38"/>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46" name="Text 39"/>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01 · COMPARISON</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Traditional data vs Big Data</a:t>
            </a:r>
            <a:endParaRPr lang="en-US" sz="2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1672" cy="3968496"/>
        </p:xfrm>
        <a:graphic>
          <a:graphicData uri="http://schemas.openxmlformats.org/drawingml/2006/table">
            <a:tbl>
              <a:tblPr/>
              <a:tblGrid>
                <a:gridCol w="2651760">
                  <a:extLst>
                    <a:ext uri="{9D8B030D-6E8A-4147-A177-3AD203B41FA5}">
                      <a16:colId xmlns:a16="http://schemas.microsoft.com/office/drawing/2014/main" val="20000"/>
                    </a:ext>
                  </a:extLst>
                </a:gridCol>
                <a:gridCol w="4224528">
                  <a:extLst>
                    <a:ext uri="{9D8B030D-6E8A-4147-A177-3AD203B41FA5}">
                      <a16:colId xmlns:a16="http://schemas.microsoft.com/office/drawing/2014/main" val="20001"/>
                    </a:ext>
                  </a:extLst>
                </a:gridCol>
                <a:gridCol w="4215384">
                  <a:extLst>
                    <a:ext uri="{9D8B030D-6E8A-4147-A177-3AD203B41FA5}">
                      <a16:colId xmlns:a16="http://schemas.microsoft.com/office/drawing/2014/main" val="20002"/>
                    </a:ext>
                  </a:extLst>
                </a:gridCol>
              </a:tblGrid>
              <a:tr h="566928">
                <a:tc>
                  <a:txBody>
                    <a:bodyPr/>
                    <a:lstStyle/>
                    <a:p>
                      <a:pPr marL="0" indent="0" algn="l">
                        <a:buNone/>
                      </a:pPr>
                      <a:r>
                        <a:rPr lang="en-US" sz="1500" b="1" dirty="0">
                          <a:solidFill>
                            <a:srgbClr val="FFFFFF"/>
                          </a:solidFill>
                          <a:latin typeface="Trebuchet MS" pitchFamily="34" charset="0"/>
                          <a:ea typeface="Trebuchet MS" pitchFamily="34" charset="-122"/>
                          <a:cs typeface="Trebuchet MS" pitchFamily="34" charset="-120"/>
                        </a:rPr>
                        <a:t>Aspect</a:t>
                      </a:r>
                      <a:endParaRPr lang="en-US" sz="1500" dirty="0">
                        <a:latin typeface="Trebuchet MS" charset="0"/>
                        <a:ea typeface="Trebuchet MS" charset="0"/>
                        <a:cs typeface="Trebuchet MS"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0E1B24"/>
                    </a:solidFill>
                  </a:tcPr>
                </a:tc>
                <a:tc>
                  <a:txBody>
                    <a:bodyPr/>
                    <a:lstStyle/>
                    <a:p>
                      <a:pPr marL="0" indent="0" algn="l">
                        <a:buNone/>
                      </a:pPr>
                      <a:r>
                        <a:rPr lang="en-US" sz="1500" b="1" dirty="0">
                          <a:solidFill>
                            <a:srgbClr val="FFFFFF"/>
                          </a:solidFill>
                          <a:latin typeface="Trebuchet MS" pitchFamily="34" charset="0"/>
                          <a:ea typeface="Trebuchet MS" pitchFamily="34" charset="-122"/>
                          <a:cs typeface="Trebuchet MS" pitchFamily="34" charset="-120"/>
                        </a:rPr>
                        <a:t>Traditional Data</a:t>
                      </a:r>
                      <a:endParaRPr lang="en-US" sz="1500" dirty="0">
                        <a:latin typeface="Trebuchet MS" charset="0"/>
                        <a:ea typeface="Trebuchet MS" charset="0"/>
                        <a:cs typeface="Trebuchet MS"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20404C"/>
                    </a:solidFill>
                  </a:tcPr>
                </a:tc>
                <a:tc>
                  <a:txBody>
                    <a:bodyPr/>
                    <a:lstStyle/>
                    <a:p>
                      <a:pPr marL="0" indent="0" algn="l">
                        <a:buNone/>
                      </a:pPr>
                      <a:r>
                        <a:rPr lang="en-US" sz="1500" b="1" dirty="0">
                          <a:solidFill>
                            <a:srgbClr val="FFFFFF"/>
                          </a:solidFill>
                          <a:latin typeface="Trebuchet MS" pitchFamily="34" charset="0"/>
                          <a:ea typeface="Trebuchet MS" pitchFamily="34" charset="-122"/>
                          <a:cs typeface="Trebuchet MS" pitchFamily="34" charset="-120"/>
                        </a:rPr>
                        <a:t>Big Data</a:t>
                      </a:r>
                      <a:endParaRPr lang="en-US" sz="1500" dirty="0">
                        <a:latin typeface="Trebuchet MS" charset="0"/>
                        <a:ea typeface="Trebuchet MS" charset="0"/>
                        <a:cs typeface="Trebuchet MS"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3621"/>
                    </a:solidFill>
                  </a:tcPr>
                </a:tc>
                <a:extLst>
                  <a:ext uri="{0D108BD9-81ED-4DB2-BD59-A6C34878D82A}">
                    <a16:rowId xmlns:a16="http://schemas.microsoft.com/office/drawing/2014/main" val="10000"/>
                  </a:ext>
                </a:extLst>
              </a:tr>
              <a:tr h="566928">
                <a:tc>
                  <a:txBody>
                    <a:bodyPr/>
                    <a:lstStyle/>
                    <a:p>
                      <a:pPr marL="0" indent="0" algn="l">
                        <a:buNone/>
                      </a:pPr>
                      <a:r>
                        <a:rPr lang="en-US" sz="1250" b="1" dirty="0">
                          <a:solidFill>
                            <a:srgbClr val="7C8A91"/>
                          </a:solidFill>
                          <a:latin typeface="Calibri" pitchFamily="34" charset="0"/>
                          <a:ea typeface="Calibri" pitchFamily="34" charset="-122"/>
                          <a:cs typeface="Calibri" pitchFamily="34" charset="-120"/>
                        </a:rPr>
                        <a:t>Scale</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8474F"/>
                          </a:solidFill>
                          <a:latin typeface="Calibri" pitchFamily="34" charset="0"/>
                          <a:ea typeface="Calibri" pitchFamily="34" charset="-122"/>
                          <a:cs typeface="Calibri" pitchFamily="34" charset="-120"/>
                        </a:rPr>
                        <a:t>Gigabytes to a few terabytes</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3242E"/>
                          </a:solidFill>
                          <a:latin typeface="Calibri" pitchFamily="34" charset="0"/>
                          <a:ea typeface="Calibri" pitchFamily="34" charset="-122"/>
                          <a:cs typeface="Calibri" pitchFamily="34" charset="-120"/>
                        </a:rPr>
                        <a:t>Terabytes to petabytes and beyond</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1EE"/>
                    </a:solidFill>
                  </a:tcPr>
                </a:tc>
                <a:extLst>
                  <a:ext uri="{0D108BD9-81ED-4DB2-BD59-A6C34878D82A}">
                    <a16:rowId xmlns:a16="http://schemas.microsoft.com/office/drawing/2014/main" val="10001"/>
                  </a:ext>
                </a:extLst>
              </a:tr>
              <a:tr h="566928">
                <a:tc>
                  <a:txBody>
                    <a:bodyPr/>
                    <a:lstStyle/>
                    <a:p>
                      <a:pPr marL="0" indent="0" algn="l">
                        <a:buNone/>
                      </a:pPr>
                      <a:r>
                        <a:rPr lang="en-US" sz="1250" b="1" dirty="0">
                          <a:solidFill>
                            <a:srgbClr val="7C8A91"/>
                          </a:solidFill>
                          <a:latin typeface="Calibri" pitchFamily="34" charset="0"/>
                          <a:ea typeface="Calibri" pitchFamily="34" charset="-122"/>
                          <a:cs typeface="Calibri" pitchFamily="34" charset="-120"/>
                        </a:rPr>
                        <a:t>Structure</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8474F"/>
                          </a:solidFill>
                          <a:latin typeface="Calibri" pitchFamily="34" charset="0"/>
                          <a:ea typeface="Calibri" pitchFamily="34" charset="-122"/>
                          <a:cs typeface="Calibri" pitchFamily="34" charset="-120"/>
                        </a:rPr>
                        <a:t>Mostly structured rows &amp; columns</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3242E"/>
                          </a:solidFill>
                          <a:latin typeface="Calibri" pitchFamily="34" charset="0"/>
                          <a:ea typeface="Calibri" pitchFamily="34" charset="-122"/>
                          <a:cs typeface="Calibri" pitchFamily="34" charset="-120"/>
                        </a:rPr>
                        <a:t>Structured, semi-structured &amp; unstructured</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1EE"/>
                    </a:solidFill>
                  </a:tcPr>
                </a:tc>
                <a:extLst>
                  <a:ext uri="{0D108BD9-81ED-4DB2-BD59-A6C34878D82A}">
                    <a16:rowId xmlns:a16="http://schemas.microsoft.com/office/drawing/2014/main" val="10002"/>
                  </a:ext>
                </a:extLst>
              </a:tr>
              <a:tr h="566928">
                <a:tc>
                  <a:txBody>
                    <a:bodyPr/>
                    <a:lstStyle/>
                    <a:p>
                      <a:pPr marL="0" indent="0" algn="l">
                        <a:buNone/>
                      </a:pPr>
                      <a:r>
                        <a:rPr lang="en-US" sz="1250" b="1" dirty="0">
                          <a:solidFill>
                            <a:srgbClr val="7C8A91"/>
                          </a:solidFill>
                          <a:latin typeface="Calibri" pitchFamily="34" charset="0"/>
                          <a:ea typeface="Calibri" pitchFamily="34" charset="-122"/>
                          <a:cs typeface="Calibri" pitchFamily="34" charset="-120"/>
                        </a:rPr>
                        <a:t>Where it runs</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8474F"/>
                          </a:solidFill>
                          <a:latin typeface="Calibri" pitchFamily="34" charset="0"/>
                          <a:ea typeface="Calibri" pitchFamily="34" charset="-122"/>
                          <a:cs typeface="Calibri" pitchFamily="34" charset="-120"/>
                        </a:rPr>
                        <a:t>One server / one database</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3242E"/>
                          </a:solidFill>
                          <a:latin typeface="Calibri" pitchFamily="34" charset="0"/>
                          <a:ea typeface="Calibri" pitchFamily="34" charset="-122"/>
                          <a:cs typeface="Calibri" pitchFamily="34" charset="-120"/>
                        </a:rPr>
                        <a:t>Distributed across many machines</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1EE"/>
                    </a:solidFill>
                  </a:tcPr>
                </a:tc>
                <a:extLst>
                  <a:ext uri="{0D108BD9-81ED-4DB2-BD59-A6C34878D82A}">
                    <a16:rowId xmlns:a16="http://schemas.microsoft.com/office/drawing/2014/main" val="10003"/>
                  </a:ext>
                </a:extLst>
              </a:tr>
              <a:tr h="566928">
                <a:tc>
                  <a:txBody>
                    <a:bodyPr/>
                    <a:lstStyle/>
                    <a:p>
                      <a:pPr marL="0" indent="0" algn="l">
                        <a:buNone/>
                      </a:pPr>
                      <a:r>
                        <a:rPr lang="en-US" sz="1250" b="1" dirty="0">
                          <a:solidFill>
                            <a:srgbClr val="7C8A91"/>
                          </a:solidFill>
                          <a:latin typeface="Calibri" pitchFamily="34" charset="0"/>
                          <a:ea typeface="Calibri" pitchFamily="34" charset="-122"/>
                          <a:cs typeface="Calibri" pitchFamily="34" charset="-120"/>
                        </a:rPr>
                        <a:t>Schema</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8474F"/>
                          </a:solidFill>
                          <a:latin typeface="Calibri" pitchFamily="34" charset="0"/>
                          <a:ea typeface="Calibri" pitchFamily="34" charset="-122"/>
                          <a:cs typeface="Calibri" pitchFamily="34" charset="-120"/>
                        </a:rPr>
                        <a:t>Defined before writing (schema-on-write)</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3242E"/>
                          </a:solidFill>
                          <a:latin typeface="Calibri" pitchFamily="34" charset="0"/>
                          <a:ea typeface="Calibri" pitchFamily="34" charset="-122"/>
                          <a:cs typeface="Calibri" pitchFamily="34" charset="-120"/>
                        </a:rPr>
                        <a:t>Often applied when reading (schema-on-read)</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1EE"/>
                    </a:solidFill>
                  </a:tcPr>
                </a:tc>
                <a:extLst>
                  <a:ext uri="{0D108BD9-81ED-4DB2-BD59-A6C34878D82A}">
                    <a16:rowId xmlns:a16="http://schemas.microsoft.com/office/drawing/2014/main" val="10004"/>
                  </a:ext>
                </a:extLst>
              </a:tr>
              <a:tr h="566928">
                <a:tc>
                  <a:txBody>
                    <a:bodyPr/>
                    <a:lstStyle/>
                    <a:p>
                      <a:pPr marL="0" indent="0" algn="l">
                        <a:buNone/>
                      </a:pPr>
                      <a:r>
                        <a:rPr lang="en-US" sz="1250" b="1" dirty="0">
                          <a:solidFill>
                            <a:srgbClr val="7C8A91"/>
                          </a:solidFill>
                          <a:latin typeface="Calibri" pitchFamily="34" charset="0"/>
                          <a:ea typeface="Calibri" pitchFamily="34" charset="-122"/>
                          <a:cs typeface="Calibri" pitchFamily="34" charset="-120"/>
                        </a:rPr>
                        <a:t>Scaling</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8474F"/>
                          </a:solidFill>
                          <a:latin typeface="Calibri" pitchFamily="34" charset="0"/>
                          <a:ea typeface="Calibri" pitchFamily="34" charset="-122"/>
                          <a:cs typeface="Calibri" pitchFamily="34" charset="-120"/>
                        </a:rPr>
                        <a:t>Scale up — a bigger machine</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3242E"/>
                          </a:solidFill>
                          <a:latin typeface="Calibri" pitchFamily="34" charset="0"/>
                          <a:ea typeface="Calibri" pitchFamily="34" charset="-122"/>
                          <a:cs typeface="Calibri" pitchFamily="34" charset="-120"/>
                        </a:rPr>
                        <a:t>Scale out — add more machines</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1EE"/>
                    </a:solidFill>
                  </a:tcPr>
                </a:tc>
                <a:extLst>
                  <a:ext uri="{0D108BD9-81ED-4DB2-BD59-A6C34878D82A}">
                    <a16:rowId xmlns:a16="http://schemas.microsoft.com/office/drawing/2014/main" val="10005"/>
                  </a:ext>
                </a:extLst>
              </a:tr>
              <a:tr h="566928">
                <a:tc>
                  <a:txBody>
                    <a:bodyPr/>
                    <a:lstStyle/>
                    <a:p>
                      <a:pPr marL="0" indent="0" algn="l">
                        <a:buNone/>
                      </a:pPr>
                      <a:r>
                        <a:rPr lang="en-US" sz="1250" b="1" dirty="0">
                          <a:solidFill>
                            <a:srgbClr val="7C8A91"/>
                          </a:solidFill>
                          <a:latin typeface="Calibri" pitchFamily="34" charset="0"/>
                          <a:ea typeface="Calibri" pitchFamily="34" charset="-122"/>
                          <a:cs typeface="Calibri" pitchFamily="34" charset="-120"/>
                        </a:rPr>
                        <a:t>Typical tools</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8474F"/>
                          </a:solidFill>
                          <a:latin typeface="Calibri" pitchFamily="34" charset="0"/>
                          <a:ea typeface="Calibri" pitchFamily="34" charset="-122"/>
                          <a:cs typeface="Calibri" pitchFamily="34" charset="-120"/>
                        </a:rPr>
                        <a:t>Relational databases, SQL</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3242E"/>
                          </a:solidFill>
                          <a:latin typeface="Calibri" pitchFamily="34" charset="0"/>
                          <a:ea typeface="Calibri" pitchFamily="34" charset="-122"/>
                          <a:cs typeface="Calibri" pitchFamily="34" charset="-120"/>
                        </a:rPr>
                        <a:t>Spark, data lakes, the Lakehouse</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1EE"/>
                    </a:solidFill>
                  </a:tcPr>
                </a:tc>
                <a:extLst>
                  <a:ext uri="{0D108BD9-81ED-4DB2-BD59-A6C34878D82A}">
                    <a16:rowId xmlns:a16="http://schemas.microsoft.com/office/drawing/2014/main" val="10006"/>
                  </a:ext>
                </a:extLst>
              </a:tr>
            </a:tbl>
          </a:graphicData>
        </a:graphic>
      </p:graphicFrame>
      <p:sp>
        <p:nvSpPr>
          <p:cNvPr id="6" name="Text 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7" name="Text 4"/>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01 · REALITY CHECK</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The challenges of Big Data</a:t>
            </a:r>
            <a:endParaRPr lang="en-US" sz="2900" dirty="0"/>
          </a:p>
        </p:txBody>
      </p:sp>
      <p:sp>
        <p:nvSpPr>
          <p:cNvPr id="5" name="Shape 3"/>
          <p:cNvSpPr/>
          <p:nvPr/>
        </p:nvSpPr>
        <p:spPr>
          <a:xfrm>
            <a:off x="548640" y="1828800"/>
            <a:ext cx="3456432"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6" name="Shape 4"/>
          <p:cNvSpPr/>
          <p:nvPr/>
        </p:nvSpPr>
        <p:spPr>
          <a:xfrm>
            <a:off x="914400" y="2194560"/>
            <a:ext cx="676656" cy="676656"/>
          </a:xfrm>
          <a:prstGeom prst="ellipse">
            <a:avLst/>
          </a:prstGeom>
          <a:solidFill>
            <a:srgbClr val="FF3621"/>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83564" y="2363724"/>
            <a:ext cx="338328" cy="338328"/>
          </a:xfrm>
          <a:prstGeom prst="rect">
            <a:avLst/>
          </a:prstGeom>
        </p:spPr>
      </p:pic>
      <p:sp>
        <p:nvSpPr>
          <p:cNvPr id="8" name="Text 5"/>
          <p:cNvSpPr/>
          <p:nvPr/>
        </p:nvSpPr>
        <p:spPr>
          <a:xfrm>
            <a:off x="914400" y="2926080"/>
            <a:ext cx="2770632" cy="320040"/>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Storing it affordably</a:t>
            </a:r>
            <a:endParaRPr lang="en-US" sz="1500" dirty="0"/>
          </a:p>
        </p:txBody>
      </p:sp>
      <p:sp>
        <p:nvSpPr>
          <p:cNvPr id="9" name="Text 6"/>
          <p:cNvSpPr/>
          <p:nvPr/>
        </p:nvSpPr>
        <p:spPr>
          <a:xfrm>
            <a:off x="914400" y="3218688"/>
            <a:ext cx="2770632" cy="36576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Petabytes must be kept reliably without runaway cost.</a:t>
            </a:r>
            <a:endParaRPr lang="en-US" sz="1150" dirty="0"/>
          </a:p>
        </p:txBody>
      </p:sp>
      <p:sp>
        <p:nvSpPr>
          <p:cNvPr id="10" name="Shape 7"/>
          <p:cNvSpPr/>
          <p:nvPr/>
        </p:nvSpPr>
        <p:spPr>
          <a:xfrm>
            <a:off x="4367632" y="1828800"/>
            <a:ext cx="3456432"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1" name="Shape 8"/>
          <p:cNvSpPr/>
          <p:nvPr/>
        </p:nvSpPr>
        <p:spPr>
          <a:xfrm>
            <a:off x="4733392" y="2194560"/>
            <a:ext cx="676656" cy="676656"/>
          </a:xfrm>
          <a:prstGeom prst="ellipse">
            <a:avLst/>
          </a:prstGeom>
          <a:solidFill>
            <a:srgbClr val="FF3621"/>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902556" y="2363724"/>
            <a:ext cx="338328" cy="338328"/>
          </a:xfrm>
          <a:prstGeom prst="rect">
            <a:avLst/>
          </a:prstGeom>
        </p:spPr>
      </p:pic>
      <p:sp>
        <p:nvSpPr>
          <p:cNvPr id="13" name="Text 9"/>
          <p:cNvSpPr/>
          <p:nvPr/>
        </p:nvSpPr>
        <p:spPr>
          <a:xfrm>
            <a:off x="4733392" y="2926080"/>
            <a:ext cx="2770632" cy="320040"/>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Processing it fast</a:t>
            </a:r>
            <a:endParaRPr lang="en-US" sz="1500" dirty="0"/>
          </a:p>
        </p:txBody>
      </p:sp>
      <p:sp>
        <p:nvSpPr>
          <p:cNvPr id="14" name="Text 10"/>
          <p:cNvSpPr/>
          <p:nvPr/>
        </p:nvSpPr>
        <p:spPr>
          <a:xfrm>
            <a:off x="4733392" y="3218688"/>
            <a:ext cx="2770632" cy="36576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Queries and jobs must finish in minutes, not days.</a:t>
            </a:r>
            <a:endParaRPr lang="en-US" sz="1150" dirty="0"/>
          </a:p>
        </p:txBody>
      </p:sp>
      <p:sp>
        <p:nvSpPr>
          <p:cNvPr id="15" name="Shape 11"/>
          <p:cNvSpPr/>
          <p:nvPr/>
        </p:nvSpPr>
        <p:spPr>
          <a:xfrm>
            <a:off x="8186623" y="1828800"/>
            <a:ext cx="3456432"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6" name="Shape 12"/>
          <p:cNvSpPr/>
          <p:nvPr/>
        </p:nvSpPr>
        <p:spPr>
          <a:xfrm>
            <a:off x="8552383" y="2194560"/>
            <a:ext cx="676656" cy="676656"/>
          </a:xfrm>
          <a:prstGeom prst="ellipse">
            <a:avLst/>
          </a:prstGeom>
          <a:solidFill>
            <a:srgbClr val="FF3621"/>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8721547" y="2363724"/>
            <a:ext cx="338328" cy="338328"/>
          </a:xfrm>
          <a:prstGeom prst="rect">
            <a:avLst/>
          </a:prstGeom>
        </p:spPr>
      </p:pic>
      <p:sp>
        <p:nvSpPr>
          <p:cNvPr id="18" name="Text 13"/>
          <p:cNvSpPr/>
          <p:nvPr/>
        </p:nvSpPr>
        <p:spPr>
          <a:xfrm>
            <a:off x="8552383" y="2926080"/>
            <a:ext cx="2770632" cy="320040"/>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Integrating sources</a:t>
            </a:r>
            <a:endParaRPr lang="en-US" sz="1500" dirty="0"/>
          </a:p>
        </p:txBody>
      </p:sp>
      <p:sp>
        <p:nvSpPr>
          <p:cNvPr id="19" name="Text 14"/>
          <p:cNvSpPr/>
          <p:nvPr/>
        </p:nvSpPr>
        <p:spPr>
          <a:xfrm>
            <a:off x="8552383" y="3218688"/>
            <a:ext cx="2770632" cy="36576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Dozens of systems and formats have to come together.</a:t>
            </a:r>
            <a:endParaRPr lang="en-US" sz="1150" dirty="0"/>
          </a:p>
        </p:txBody>
      </p:sp>
      <p:sp>
        <p:nvSpPr>
          <p:cNvPr id="20" name="Shape 15"/>
          <p:cNvSpPr/>
          <p:nvPr/>
        </p:nvSpPr>
        <p:spPr>
          <a:xfrm>
            <a:off x="548640" y="3794760"/>
            <a:ext cx="3456432"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1" name="Shape 16"/>
          <p:cNvSpPr/>
          <p:nvPr/>
        </p:nvSpPr>
        <p:spPr>
          <a:xfrm>
            <a:off x="914400" y="4160520"/>
            <a:ext cx="676656" cy="676656"/>
          </a:xfrm>
          <a:prstGeom prst="ellipse">
            <a:avLst/>
          </a:prstGeom>
          <a:solidFill>
            <a:srgbClr val="FF3621"/>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1083564" y="4329684"/>
            <a:ext cx="338328" cy="338328"/>
          </a:xfrm>
          <a:prstGeom prst="rect">
            <a:avLst/>
          </a:prstGeom>
        </p:spPr>
      </p:pic>
      <p:sp>
        <p:nvSpPr>
          <p:cNvPr id="23" name="Text 17"/>
          <p:cNvSpPr/>
          <p:nvPr/>
        </p:nvSpPr>
        <p:spPr>
          <a:xfrm>
            <a:off x="914400" y="4892040"/>
            <a:ext cx="2770632" cy="320040"/>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Keeping it trustworthy</a:t>
            </a:r>
            <a:endParaRPr lang="en-US" sz="1500" dirty="0"/>
          </a:p>
        </p:txBody>
      </p:sp>
      <p:sp>
        <p:nvSpPr>
          <p:cNvPr id="24" name="Text 18"/>
          <p:cNvSpPr/>
          <p:nvPr/>
        </p:nvSpPr>
        <p:spPr>
          <a:xfrm>
            <a:off x="914400" y="5184648"/>
            <a:ext cx="2770632" cy="36576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Duplicates, gaps and errors quietly break analytics.</a:t>
            </a:r>
            <a:endParaRPr lang="en-US" sz="1150" dirty="0"/>
          </a:p>
        </p:txBody>
      </p:sp>
      <p:sp>
        <p:nvSpPr>
          <p:cNvPr id="25" name="Shape 19"/>
          <p:cNvSpPr/>
          <p:nvPr/>
        </p:nvSpPr>
        <p:spPr>
          <a:xfrm>
            <a:off x="4367632" y="3794760"/>
            <a:ext cx="3456432"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6" name="Shape 20"/>
          <p:cNvSpPr/>
          <p:nvPr/>
        </p:nvSpPr>
        <p:spPr>
          <a:xfrm>
            <a:off x="4733392" y="4160520"/>
            <a:ext cx="676656" cy="676656"/>
          </a:xfrm>
          <a:prstGeom prst="ellipse">
            <a:avLst/>
          </a:prstGeom>
          <a:solidFill>
            <a:srgbClr val="FF3621"/>
          </a:solidFill>
          <a:ln/>
        </p:spPr>
        <p:txBody>
          <a:bodyPr/>
          <a:lstStyle/>
          <a:p>
            <a:endParaRPr lang="en-US"/>
          </a:p>
        </p:txBody>
      </p:sp>
      <p:pic>
        <p:nvPicPr>
          <p:cNvPr id="27" name="Image 4" descr="preencoded.png"/>
          <p:cNvPicPr>
            <a:picLocks noChangeAspect="1"/>
          </p:cNvPicPr>
          <p:nvPr/>
        </p:nvPicPr>
        <p:blipFill>
          <a:blip r:embed="rId7"/>
          <a:stretch>
            <a:fillRect/>
          </a:stretch>
        </p:blipFill>
        <p:spPr>
          <a:xfrm>
            <a:off x="4902556" y="4329684"/>
            <a:ext cx="338328" cy="338328"/>
          </a:xfrm>
          <a:prstGeom prst="rect">
            <a:avLst/>
          </a:prstGeom>
        </p:spPr>
      </p:pic>
      <p:sp>
        <p:nvSpPr>
          <p:cNvPr id="28" name="Text 21"/>
          <p:cNvSpPr/>
          <p:nvPr/>
        </p:nvSpPr>
        <p:spPr>
          <a:xfrm>
            <a:off x="4733392" y="4892040"/>
            <a:ext cx="2770632" cy="320040"/>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Security &amp; governance</a:t>
            </a:r>
            <a:endParaRPr lang="en-US" sz="1500" dirty="0"/>
          </a:p>
        </p:txBody>
      </p:sp>
      <p:sp>
        <p:nvSpPr>
          <p:cNvPr id="29" name="Text 22"/>
          <p:cNvSpPr/>
          <p:nvPr/>
        </p:nvSpPr>
        <p:spPr>
          <a:xfrm>
            <a:off x="4733392" y="5184648"/>
            <a:ext cx="2770632" cy="36576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Access, privacy and compliance across every dataset.</a:t>
            </a:r>
            <a:endParaRPr lang="en-US" sz="1150" dirty="0"/>
          </a:p>
        </p:txBody>
      </p:sp>
      <p:sp>
        <p:nvSpPr>
          <p:cNvPr id="30" name="Shape 23"/>
          <p:cNvSpPr/>
          <p:nvPr/>
        </p:nvSpPr>
        <p:spPr>
          <a:xfrm>
            <a:off x="8186623" y="3794760"/>
            <a:ext cx="3456432"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1" name="Shape 24"/>
          <p:cNvSpPr/>
          <p:nvPr/>
        </p:nvSpPr>
        <p:spPr>
          <a:xfrm>
            <a:off x="8552383" y="4160520"/>
            <a:ext cx="676656" cy="676656"/>
          </a:xfrm>
          <a:prstGeom prst="ellipse">
            <a:avLst/>
          </a:prstGeom>
          <a:solidFill>
            <a:srgbClr val="FF3621"/>
          </a:solidFill>
          <a:ln/>
        </p:spPr>
        <p:txBody>
          <a:bodyPr/>
          <a:lstStyle/>
          <a:p>
            <a:endParaRPr lang="en-US"/>
          </a:p>
        </p:txBody>
      </p:sp>
      <p:pic>
        <p:nvPicPr>
          <p:cNvPr id="32" name="Image 5" descr="preencoded.png"/>
          <p:cNvPicPr>
            <a:picLocks noChangeAspect="1"/>
          </p:cNvPicPr>
          <p:nvPr/>
        </p:nvPicPr>
        <p:blipFill>
          <a:blip r:embed="rId8"/>
          <a:stretch>
            <a:fillRect/>
          </a:stretch>
        </p:blipFill>
        <p:spPr>
          <a:xfrm>
            <a:off x="8721547" y="4329684"/>
            <a:ext cx="338328" cy="338328"/>
          </a:xfrm>
          <a:prstGeom prst="rect">
            <a:avLst/>
          </a:prstGeom>
        </p:spPr>
      </p:pic>
      <p:sp>
        <p:nvSpPr>
          <p:cNvPr id="33" name="Text 25"/>
          <p:cNvSpPr/>
          <p:nvPr/>
        </p:nvSpPr>
        <p:spPr>
          <a:xfrm>
            <a:off x="8552383" y="4892040"/>
            <a:ext cx="2770632" cy="320040"/>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Skills &amp; cost</a:t>
            </a:r>
            <a:endParaRPr lang="en-US" sz="1500" dirty="0"/>
          </a:p>
        </p:txBody>
      </p:sp>
      <p:sp>
        <p:nvSpPr>
          <p:cNvPr id="34" name="Text 26"/>
          <p:cNvSpPr/>
          <p:nvPr/>
        </p:nvSpPr>
        <p:spPr>
          <a:xfrm>
            <a:off x="8552383" y="5184648"/>
            <a:ext cx="2770632" cy="36576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Specialist tools and people are scarce and expensive.</a:t>
            </a:r>
            <a:endParaRPr lang="en-US" sz="1150" dirty="0"/>
          </a:p>
        </p:txBody>
      </p:sp>
      <p:sp>
        <p:nvSpPr>
          <p:cNvPr id="35" name="Text 27"/>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36" name="Text 28"/>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01 · THE PIPELINE</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The Big Data ecosystem</a:t>
            </a:r>
            <a:endParaRPr lang="en-US" sz="2900" dirty="0"/>
          </a:p>
        </p:txBody>
      </p:sp>
      <p:sp>
        <p:nvSpPr>
          <p:cNvPr id="5" name="Text 3"/>
          <p:cNvSpPr/>
          <p:nvPr/>
        </p:nvSpPr>
        <p:spPr>
          <a:xfrm>
            <a:off x="548640" y="1627632"/>
            <a:ext cx="11094415" cy="320040"/>
          </a:xfrm>
          <a:prstGeom prst="rect">
            <a:avLst/>
          </a:prstGeom>
          <a:noFill/>
          <a:ln/>
        </p:spPr>
        <p:txBody>
          <a:bodyPr wrap="square" lIns="0" tIns="0" rIns="0" bIns="0" rtlCol="0" anchor="ctr"/>
          <a:lstStyle/>
          <a:p>
            <a:pPr marL="0" indent="0">
              <a:buNone/>
            </a:pPr>
            <a:r>
              <a:rPr lang="en-US" sz="1400" dirty="0">
                <a:solidFill>
                  <a:srgbClr val="7C8A91"/>
                </a:solidFill>
                <a:latin typeface="Calibri" pitchFamily="34" charset="0"/>
                <a:ea typeface="Calibri" pitchFamily="34" charset="-122"/>
                <a:cs typeface="Calibri" pitchFamily="34" charset="-120"/>
              </a:rPr>
              <a:t>Most data platforms move information through the same six stages, left to right.</a:t>
            </a:r>
            <a:endParaRPr lang="en-US" sz="1400" dirty="0"/>
          </a:p>
        </p:txBody>
      </p:sp>
      <p:sp>
        <p:nvSpPr>
          <p:cNvPr id="6" name="Shape 4"/>
          <p:cNvSpPr/>
          <p:nvPr/>
        </p:nvSpPr>
        <p:spPr>
          <a:xfrm>
            <a:off x="548640" y="2514600"/>
            <a:ext cx="1627632" cy="2926080"/>
          </a:xfrm>
          <a:prstGeom prst="roundRect">
            <a:avLst>
              <a:gd name="adj" fmla="val 561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7" name="Shape 5"/>
          <p:cNvSpPr/>
          <p:nvPr/>
        </p:nvSpPr>
        <p:spPr>
          <a:xfrm>
            <a:off x="969264" y="2898648"/>
            <a:ext cx="786384" cy="786384"/>
          </a:xfrm>
          <a:prstGeom prst="ellipse">
            <a:avLst/>
          </a:prstGeom>
          <a:solidFill>
            <a:srgbClr val="0E7C8B"/>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165860" y="3095244"/>
            <a:ext cx="393192" cy="393192"/>
          </a:xfrm>
          <a:prstGeom prst="rect">
            <a:avLst/>
          </a:prstGeom>
        </p:spPr>
      </p:pic>
      <p:sp>
        <p:nvSpPr>
          <p:cNvPr id="9" name="Text 6"/>
          <p:cNvSpPr/>
          <p:nvPr/>
        </p:nvSpPr>
        <p:spPr>
          <a:xfrm>
            <a:off x="548640" y="3813048"/>
            <a:ext cx="1627632" cy="237744"/>
          </a:xfrm>
          <a:prstGeom prst="rect">
            <a:avLst/>
          </a:prstGeom>
          <a:noFill/>
          <a:ln/>
        </p:spPr>
        <p:txBody>
          <a:bodyPr wrap="square" lIns="0" tIns="0" rIns="0" bIns="0" rtlCol="0" anchor="ctr"/>
          <a:lstStyle/>
          <a:p>
            <a:pPr marL="0" indent="0" algn="ctr">
              <a:buNone/>
            </a:pPr>
            <a:r>
              <a:rPr lang="en-US" sz="950" b="1" kern="0" spc="200" dirty="0">
                <a:solidFill>
                  <a:srgbClr val="7C8A91"/>
                </a:solidFill>
                <a:latin typeface="Calibri" pitchFamily="34" charset="0"/>
                <a:ea typeface="Calibri" pitchFamily="34" charset="-122"/>
                <a:cs typeface="Calibri" pitchFamily="34" charset="-120"/>
              </a:rPr>
              <a:t>STEP 1</a:t>
            </a:r>
            <a:endParaRPr lang="en-US" sz="950" dirty="0"/>
          </a:p>
        </p:txBody>
      </p:sp>
      <p:sp>
        <p:nvSpPr>
          <p:cNvPr id="10" name="Text 7"/>
          <p:cNvSpPr/>
          <p:nvPr/>
        </p:nvSpPr>
        <p:spPr>
          <a:xfrm>
            <a:off x="548640" y="4050792"/>
            <a:ext cx="1627632" cy="411480"/>
          </a:xfrm>
          <a:prstGeom prst="rect">
            <a:avLst/>
          </a:prstGeom>
          <a:noFill/>
          <a:ln/>
        </p:spPr>
        <p:txBody>
          <a:bodyPr wrap="square" lIns="0" tIns="0" rIns="0" bIns="0" rtlCol="0" anchor="ctr"/>
          <a:lstStyle/>
          <a:p>
            <a:pPr marL="0" indent="0" algn="ctr">
              <a:buNone/>
            </a:pPr>
            <a:r>
              <a:rPr lang="en-US" sz="1500" b="1" dirty="0">
                <a:solidFill>
                  <a:srgbClr val="13242E"/>
                </a:solidFill>
                <a:latin typeface="Trebuchet MS" pitchFamily="34" charset="0"/>
                <a:ea typeface="Trebuchet MS" pitchFamily="34" charset="-122"/>
                <a:cs typeface="Trebuchet MS" pitchFamily="34" charset="-120"/>
              </a:rPr>
              <a:t>Sources</a:t>
            </a:r>
            <a:endParaRPr lang="en-US" sz="1500" dirty="0"/>
          </a:p>
        </p:txBody>
      </p:sp>
      <p:sp>
        <p:nvSpPr>
          <p:cNvPr id="11" name="Text 8"/>
          <p:cNvSpPr/>
          <p:nvPr/>
        </p:nvSpPr>
        <p:spPr>
          <a:xfrm>
            <a:off x="621792" y="4526280"/>
            <a:ext cx="1481328" cy="548640"/>
          </a:xfrm>
          <a:prstGeom prst="rect">
            <a:avLst/>
          </a:prstGeom>
          <a:noFill/>
          <a:ln/>
        </p:spPr>
        <p:txBody>
          <a:bodyPr wrap="square" lIns="0" tIns="0" rIns="0" bIns="0" rtlCol="0" anchor="ctr"/>
          <a:lstStyle/>
          <a:p>
            <a:pPr marL="0" indent="0" algn="ctr">
              <a:buNone/>
            </a:pPr>
            <a:r>
              <a:rPr lang="en-US" sz="1050" dirty="0">
                <a:solidFill>
                  <a:srgbClr val="38474F"/>
                </a:solidFill>
                <a:latin typeface="Calibri" pitchFamily="34" charset="0"/>
                <a:ea typeface="Calibri" pitchFamily="34" charset="-122"/>
                <a:cs typeface="Calibri" pitchFamily="34" charset="-120"/>
              </a:rPr>
              <a:t>apps · IoT · logs</a:t>
            </a:r>
            <a:endParaRPr lang="en-US" sz="1050" dirty="0"/>
          </a:p>
        </p:txBody>
      </p:sp>
      <p:sp>
        <p:nvSpPr>
          <p:cNvPr id="12" name="Shape 9"/>
          <p:cNvSpPr/>
          <p:nvPr/>
        </p:nvSpPr>
        <p:spPr>
          <a:xfrm>
            <a:off x="2171974" y="3878885"/>
            <a:ext cx="274320" cy="197510"/>
          </a:xfrm>
          <a:prstGeom prst="chevron">
            <a:avLst/>
          </a:prstGeom>
          <a:solidFill>
            <a:srgbClr val="0E7C8B"/>
          </a:solidFill>
          <a:ln/>
        </p:spPr>
        <p:txBody>
          <a:bodyPr/>
          <a:lstStyle/>
          <a:p>
            <a:endParaRPr lang="en-US"/>
          </a:p>
        </p:txBody>
      </p:sp>
      <p:sp>
        <p:nvSpPr>
          <p:cNvPr id="13" name="Shape 10"/>
          <p:cNvSpPr/>
          <p:nvPr/>
        </p:nvSpPr>
        <p:spPr>
          <a:xfrm>
            <a:off x="2441997" y="2514600"/>
            <a:ext cx="1627632" cy="2926080"/>
          </a:xfrm>
          <a:prstGeom prst="roundRect">
            <a:avLst>
              <a:gd name="adj" fmla="val 561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4" name="Shape 11"/>
          <p:cNvSpPr/>
          <p:nvPr/>
        </p:nvSpPr>
        <p:spPr>
          <a:xfrm>
            <a:off x="2862621" y="2898648"/>
            <a:ext cx="786384" cy="786384"/>
          </a:xfrm>
          <a:prstGeom prst="ellipse">
            <a:avLst/>
          </a:prstGeom>
          <a:solidFill>
            <a:srgbClr val="0E7C8B"/>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3059217" y="3095244"/>
            <a:ext cx="393192" cy="393192"/>
          </a:xfrm>
          <a:prstGeom prst="rect">
            <a:avLst/>
          </a:prstGeom>
        </p:spPr>
      </p:pic>
      <p:sp>
        <p:nvSpPr>
          <p:cNvPr id="16" name="Text 12"/>
          <p:cNvSpPr/>
          <p:nvPr/>
        </p:nvSpPr>
        <p:spPr>
          <a:xfrm>
            <a:off x="2441997" y="3813048"/>
            <a:ext cx="1627632" cy="237744"/>
          </a:xfrm>
          <a:prstGeom prst="rect">
            <a:avLst/>
          </a:prstGeom>
          <a:noFill/>
          <a:ln/>
        </p:spPr>
        <p:txBody>
          <a:bodyPr wrap="square" lIns="0" tIns="0" rIns="0" bIns="0" rtlCol="0" anchor="ctr"/>
          <a:lstStyle/>
          <a:p>
            <a:pPr marL="0" indent="0" algn="ctr">
              <a:buNone/>
            </a:pPr>
            <a:r>
              <a:rPr lang="en-US" sz="950" b="1" kern="0" spc="200" dirty="0">
                <a:solidFill>
                  <a:srgbClr val="7C8A91"/>
                </a:solidFill>
                <a:latin typeface="Calibri" pitchFamily="34" charset="0"/>
                <a:ea typeface="Calibri" pitchFamily="34" charset="-122"/>
                <a:cs typeface="Calibri" pitchFamily="34" charset="-120"/>
              </a:rPr>
              <a:t>STEP 2</a:t>
            </a:r>
            <a:endParaRPr lang="en-US" sz="950" dirty="0"/>
          </a:p>
        </p:txBody>
      </p:sp>
      <p:sp>
        <p:nvSpPr>
          <p:cNvPr id="17" name="Text 13"/>
          <p:cNvSpPr/>
          <p:nvPr/>
        </p:nvSpPr>
        <p:spPr>
          <a:xfrm>
            <a:off x="2441997" y="4050792"/>
            <a:ext cx="1627632" cy="411480"/>
          </a:xfrm>
          <a:prstGeom prst="rect">
            <a:avLst/>
          </a:prstGeom>
          <a:noFill/>
          <a:ln/>
        </p:spPr>
        <p:txBody>
          <a:bodyPr wrap="square" lIns="0" tIns="0" rIns="0" bIns="0" rtlCol="0" anchor="ctr"/>
          <a:lstStyle/>
          <a:p>
            <a:pPr marL="0" indent="0" algn="ctr">
              <a:buNone/>
            </a:pPr>
            <a:r>
              <a:rPr lang="en-US" sz="1500" b="1" dirty="0">
                <a:solidFill>
                  <a:srgbClr val="13242E"/>
                </a:solidFill>
                <a:latin typeface="Trebuchet MS" pitchFamily="34" charset="0"/>
                <a:ea typeface="Trebuchet MS" pitchFamily="34" charset="-122"/>
                <a:cs typeface="Trebuchet MS" pitchFamily="34" charset="-120"/>
              </a:rPr>
              <a:t>Ingestion</a:t>
            </a:r>
            <a:endParaRPr lang="en-US" sz="1500" dirty="0"/>
          </a:p>
        </p:txBody>
      </p:sp>
      <p:sp>
        <p:nvSpPr>
          <p:cNvPr id="18" name="Text 14"/>
          <p:cNvSpPr/>
          <p:nvPr/>
        </p:nvSpPr>
        <p:spPr>
          <a:xfrm>
            <a:off x="2515149" y="4526280"/>
            <a:ext cx="1481328" cy="548640"/>
          </a:xfrm>
          <a:prstGeom prst="rect">
            <a:avLst/>
          </a:prstGeom>
          <a:noFill/>
          <a:ln/>
        </p:spPr>
        <p:txBody>
          <a:bodyPr wrap="square" lIns="0" tIns="0" rIns="0" bIns="0" rtlCol="0" anchor="ctr"/>
          <a:lstStyle/>
          <a:p>
            <a:pPr marL="0" indent="0" algn="ctr">
              <a:buNone/>
            </a:pPr>
            <a:r>
              <a:rPr lang="en-US" sz="1050" dirty="0">
                <a:solidFill>
                  <a:srgbClr val="38474F"/>
                </a:solidFill>
                <a:latin typeface="Calibri" pitchFamily="34" charset="0"/>
                <a:ea typeface="Calibri" pitchFamily="34" charset="-122"/>
                <a:cs typeface="Calibri" pitchFamily="34" charset="-120"/>
              </a:rPr>
              <a:t>streaming · batch</a:t>
            </a:r>
            <a:endParaRPr lang="en-US" sz="1050" dirty="0"/>
          </a:p>
        </p:txBody>
      </p:sp>
      <p:sp>
        <p:nvSpPr>
          <p:cNvPr id="19" name="Shape 15"/>
          <p:cNvSpPr/>
          <p:nvPr/>
        </p:nvSpPr>
        <p:spPr>
          <a:xfrm>
            <a:off x="4065331" y="3878885"/>
            <a:ext cx="274320" cy="197510"/>
          </a:xfrm>
          <a:prstGeom prst="chevron">
            <a:avLst/>
          </a:prstGeom>
          <a:solidFill>
            <a:srgbClr val="0E7C8B"/>
          </a:solidFill>
          <a:ln/>
        </p:spPr>
        <p:txBody>
          <a:bodyPr/>
          <a:lstStyle/>
          <a:p>
            <a:endParaRPr lang="en-US"/>
          </a:p>
        </p:txBody>
      </p:sp>
      <p:sp>
        <p:nvSpPr>
          <p:cNvPr id="20" name="Shape 16"/>
          <p:cNvSpPr/>
          <p:nvPr/>
        </p:nvSpPr>
        <p:spPr>
          <a:xfrm>
            <a:off x="4335353" y="2514600"/>
            <a:ext cx="1627632" cy="2926080"/>
          </a:xfrm>
          <a:prstGeom prst="roundRect">
            <a:avLst>
              <a:gd name="adj" fmla="val 561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1" name="Shape 17"/>
          <p:cNvSpPr/>
          <p:nvPr/>
        </p:nvSpPr>
        <p:spPr>
          <a:xfrm>
            <a:off x="4755977" y="2898648"/>
            <a:ext cx="786384" cy="786384"/>
          </a:xfrm>
          <a:prstGeom prst="ellipse">
            <a:avLst/>
          </a:prstGeom>
          <a:solidFill>
            <a:srgbClr val="0E7C8B"/>
          </a:solidFill>
          <a:ln/>
        </p:spPr>
        <p:txBody>
          <a:bodyPr/>
          <a:lstStyle/>
          <a:p>
            <a:endParaRPr lang="en-US"/>
          </a:p>
        </p:txBody>
      </p:sp>
      <p:pic>
        <p:nvPicPr>
          <p:cNvPr id="22" name="Image 2" descr="preencoded.png"/>
          <p:cNvPicPr>
            <a:picLocks noChangeAspect="1"/>
          </p:cNvPicPr>
          <p:nvPr/>
        </p:nvPicPr>
        <p:blipFill>
          <a:blip r:embed="rId5"/>
          <a:stretch>
            <a:fillRect/>
          </a:stretch>
        </p:blipFill>
        <p:spPr>
          <a:xfrm>
            <a:off x="4952573" y="3095244"/>
            <a:ext cx="393192" cy="393192"/>
          </a:xfrm>
          <a:prstGeom prst="rect">
            <a:avLst/>
          </a:prstGeom>
        </p:spPr>
      </p:pic>
      <p:sp>
        <p:nvSpPr>
          <p:cNvPr id="23" name="Text 18"/>
          <p:cNvSpPr/>
          <p:nvPr/>
        </p:nvSpPr>
        <p:spPr>
          <a:xfrm>
            <a:off x="4335353" y="3813048"/>
            <a:ext cx="1627632" cy="237744"/>
          </a:xfrm>
          <a:prstGeom prst="rect">
            <a:avLst/>
          </a:prstGeom>
          <a:noFill/>
          <a:ln/>
        </p:spPr>
        <p:txBody>
          <a:bodyPr wrap="square" lIns="0" tIns="0" rIns="0" bIns="0" rtlCol="0" anchor="ctr"/>
          <a:lstStyle/>
          <a:p>
            <a:pPr marL="0" indent="0" algn="ctr">
              <a:buNone/>
            </a:pPr>
            <a:r>
              <a:rPr lang="en-US" sz="950" b="1" kern="0" spc="200" dirty="0">
                <a:solidFill>
                  <a:srgbClr val="7C8A91"/>
                </a:solidFill>
                <a:latin typeface="Calibri" pitchFamily="34" charset="0"/>
                <a:ea typeface="Calibri" pitchFamily="34" charset="-122"/>
                <a:cs typeface="Calibri" pitchFamily="34" charset="-120"/>
              </a:rPr>
              <a:t>STEP 3</a:t>
            </a:r>
            <a:endParaRPr lang="en-US" sz="950" dirty="0"/>
          </a:p>
        </p:txBody>
      </p:sp>
      <p:sp>
        <p:nvSpPr>
          <p:cNvPr id="24" name="Text 19"/>
          <p:cNvSpPr/>
          <p:nvPr/>
        </p:nvSpPr>
        <p:spPr>
          <a:xfrm>
            <a:off x="4335353" y="4050792"/>
            <a:ext cx="1627632" cy="411480"/>
          </a:xfrm>
          <a:prstGeom prst="rect">
            <a:avLst/>
          </a:prstGeom>
          <a:noFill/>
          <a:ln/>
        </p:spPr>
        <p:txBody>
          <a:bodyPr wrap="square" lIns="0" tIns="0" rIns="0" bIns="0" rtlCol="0" anchor="ctr"/>
          <a:lstStyle/>
          <a:p>
            <a:pPr marL="0" indent="0" algn="ctr">
              <a:buNone/>
            </a:pPr>
            <a:r>
              <a:rPr lang="en-US" sz="1500" b="1" dirty="0">
                <a:solidFill>
                  <a:srgbClr val="13242E"/>
                </a:solidFill>
                <a:latin typeface="Trebuchet MS" pitchFamily="34" charset="0"/>
                <a:ea typeface="Trebuchet MS" pitchFamily="34" charset="-122"/>
                <a:cs typeface="Trebuchet MS" pitchFamily="34" charset="-120"/>
              </a:rPr>
              <a:t>Storage</a:t>
            </a:r>
            <a:endParaRPr lang="en-US" sz="1500" dirty="0"/>
          </a:p>
        </p:txBody>
      </p:sp>
      <p:sp>
        <p:nvSpPr>
          <p:cNvPr id="25" name="Text 20"/>
          <p:cNvSpPr/>
          <p:nvPr/>
        </p:nvSpPr>
        <p:spPr>
          <a:xfrm>
            <a:off x="4408505" y="4526280"/>
            <a:ext cx="1481328" cy="548640"/>
          </a:xfrm>
          <a:prstGeom prst="rect">
            <a:avLst/>
          </a:prstGeom>
          <a:noFill/>
          <a:ln/>
        </p:spPr>
        <p:txBody>
          <a:bodyPr wrap="square" lIns="0" tIns="0" rIns="0" bIns="0" rtlCol="0" anchor="ctr"/>
          <a:lstStyle/>
          <a:p>
            <a:pPr marL="0" indent="0" algn="ctr">
              <a:buNone/>
            </a:pPr>
            <a:r>
              <a:rPr lang="en-US" sz="1050" dirty="0">
                <a:solidFill>
                  <a:srgbClr val="38474F"/>
                </a:solidFill>
                <a:latin typeface="Calibri" pitchFamily="34" charset="0"/>
                <a:ea typeface="Calibri" pitchFamily="34" charset="-122"/>
                <a:cs typeface="Calibri" pitchFamily="34" charset="-120"/>
              </a:rPr>
              <a:t>data lake · Delta</a:t>
            </a:r>
            <a:endParaRPr lang="en-US" sz="1050" dirty="0"/>
          </a:p>
        </p:txBody>
      </p:sp>
      <p:sp>
        <p:nvSpPr>
          <p:cNvPr id="26" name="Shape 21"/>
          <p:cNvSpPr/>
          <p:nvPr/>
        </p:nvSpPr>
        <p:spPr>
          <a:xfrm>
            <a:off x="5958688" y="3878885"/>
            <a:ext cx="274320" cy="197510"/>
          </a:xfrm>
          <a:prstGeom prst="chevron">
            <a:avLst/>
          </a:prstGeom>
          <a:solidFill>
            <a:srgbClr val="FF3621"/>
          </a:solidFill>
          <a:ln/>
        </p:spPr>
        <p:txBody>
          <a:bodyPr/>
          <a:lstStyle/>
          <a:p>
            <a:endParaRPr lang="en-US"/>
          </a:p>
        </p:txBody>
      </p:sp>
      <p:sp>
        <p:nvSpPr>
          <p:cNvPr id="27" name="Shape 22"/>
          <p:cNvSpPr/>
          <p:nvPr/>
        </p:nvSpPr>
        <p:spPr>
          <a:xfrm>
            <a:off x="6228710" y="2514600"/>
            <a:ext cx="1627632" cy="2926080"/>
          </a:xfrm>
          <a:prstGeom prst="roundRect">
            <a:avLst>
              <a:gd name="adj" fmla="val 561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8" name="Shape 23"/>
          <p:cNvSpPr/>
          <p:nvPr/>
        </p:nvSpPr>
        <p:spPr>
          <a:xfrm>
            <a:off x="6649334" y="2898648"/>
            <a:ext cx="786384" cy="786384"/>
          </a:xfrm>
          <a:prstGeom prst="ellipse">
            <a:avLst/>
          </a:prstGeom>
          <a:solidFill>
            <a:srgbClr val="FF3621"/>
          </a:solidFill>
          <a:ln/>
        </p:spPr>
        <p:txBody>
          <a:bodyPr/>
          <a:lstStyle/>
          <a:p>
            <a:endParaRPr lang="en-US"/>
          </a:p>
        </p:txBody>
      </p:sp>
      <p:pic>
        <p:nvPicPr>
          <p:cNvPr id="29" name="Image 3" descr="preencoded.png"/>
          <p:cNvPicPr>
            <a:picLocks noChangeAspect="1"/>
          </p:cNvPicPr>
          <p:nvPr/>
        </p:nvPicPr>
        <p:blipFill>
          <a:blip r:embed="rId6"/>
          <a:stretch>
            <a:fillRect/>
          </a:stretch>
        </p:blipFill>
        <p:spPr>
          <a:xfrm>
            <a:off x="6845930" y="3095244"/>
            <a:ext cx="393192" cy="393192"/>
          </a:xfrm>
          <a:prstGeom prst="rect">
            <a:avLst/>
          </a:prstGeom>
        </p:spPr>
      </p:pic>
      <p:sp>
        <p:nvSpPr>
          <p:cNvPr id="30" name="Text 24"/>
          <p:cNvSpPr/>
          <p:nvPr/>
        </p:nvSpPr>
        <p:spPr>
          <a:xfrm>
            <a:off x="6228710" y="3813048"/>
            <a:ext cx="1627632" cy="237744"/>
          </a:xfrm>
          <a:prstGeom prst="rect">
            <a:avLst/>
          </a:prstGeom>
          <a:noFill/>
          <a:ln/>
        </p:spPr>
        <p:txBody>
          <a:bodyPr wrap="square" lIns="0" tIns="0" rIns="0" bIns="0" rtlCol="0" anchor="ctr"/>
          <a:lstStyle/>
          <a:p>
            <a:pPr marL="0" indent="0" algn="ctr">
              <a:buNone/>
            </a:pPr>
            <a:r>
              <a:rPr lang="en-US" sz="950" b="1" kern="0" spc="200" dirty="0">
                <a:solidFill>
                  <a:srgbClr val="7C8A91"/>
                </a:solidFill>
                <a:latin typeface="Calibri" pitchFamily="34" charset="0"/>
                <a:ea typeface="Calibri" pitchFamily="34" charset="-122"/>
                <a:cs typeface="Calibri" pitchFamily="34" charset="-120"/>
              </a:rPr>
              <a:t>STEP 4</a:t>
            </a:r>
            <a:endParaRPr lang="en-US" sz="950" dirty="0"/>
          </a:p>
        </p:txBody>
      </p:sp>
      <p:sp>
        <p:nvSpPr>
          <p:cNvPr id="31" name="Text 25"/>
          <p:cNvSpPr/>
          <p:nvPr/>
        </p:nvSpPr>
        <p:spPr>
          <a:xfrm>
            <a:off x="6228710" y="4050792"/>
            <a:ext cx="1627632" cy="411480"/>
          </a:xfrm>
          <a:prstGeom prst="rect">
            <a:avLst/>
          </a:prstGeom>
          <a:noFill/>
          <a:ln/>
        </p:spPr>
        <p:txBody>
          <a:bodyPr wrap="square" lIns="0" tIns="0" rIns="0" bIns="0" rtlCol="0" anchor="ctr"/>
          <a:lstStyle/>
          <a:p>
            <a:pPr marL="0" indent="0" algn="ctr">
              <a:buNone/>
            </a:pPr>
            <a:r>
              <a:rPr lang="en-US" sz="1500" b="1" dirty="0">
                <a:solidFill>
                  <a:srgbClr val="13242E"/>
                </a:solidFill>
                <a:latin typeface="Trebuchet MS" pitchFamily="34" charset="0"/>
                <a:ea typeface="Trebuchet MS" pitchFamily="34" charset="-122"/>
                <a:cs typeface="Trebuchet MS" pitchFamily="34" charset="-120"/>
              </a:rPr>
              <a:t>Processing</a:t>
            </a:r>
            <a:endParaRPr lang="en-US" sz="1500" dirty="0"/>
          </a:p>
        </p:txBody>
      </p:sp>
      <p:sp>
        <p:nvSpPr>
          <p:cNvPr id="32" name="Text 26"/>
          <p:cNvSpPr/>
          <p:nvPr/>
        </p:nvSpPr>
        <p:spPr>
          <a:xfrm>
            <a:off x="6301862" y="4526280"/>
            <a:ext cx="1481328" cy="548640"/>
          </a:xfrm>
          <a:prstGeom prst="rect">
            <a:avLst/>
          </a:prstGeom>
          <a:noFill/>
          <a:ln/>
        </p:spPr>
        <p:txBody>
          <a:bodyPr wrap="square" lIns="0" tIns="0" rIns="0" bIns="0" rtlCol="0" anchor="ctr"/>
          <a:lstStyle/>
          <a:p>
            <a:pPr marL="0" indent="0" algn="ctr">
              <a:buNone/>
            </a:pPr>
            <a:r>
              <a:rPr lang="en-US" sz="1050" dirty="0">
                <a:solidFill>
                  <a:srgbClr val="38474F"/>
                </a:solidFill>
                <a:latin typeface="Calibri" pitchFamily="34" charset="0"/>
                <a:ea typeface="Calibri" pitchFamily="34" charset="-122"/>
                <a:cs typeface="Calibri" pitchFamily="34" charset="-120"/>
              </a:rPr>
              <a:t>Spark · SQL</a:t>
            </a:r>
            <a:endParaRPr lang="en-US" sz="1050" dirty="0"/>
          </a:p>
        </p:txBody>
      </p:sp>
      <p:sp>
        <p:nvSpPr>
          <p:cNvPr id="33" name="Shape 27"/>
          <p:cNvSpPr/>
          <p:nvPr/>
        </p:nvSpPr>
        <p:spPr>
          <a:xfrm>
            <a:off x="7852044" y="3878885"/>
            <a:ext cx="274320" cy="197510"/>
          </a:xfrm>
          <a:prstGeom prst="chevron">
            <a:avLst/>
          </a:prstGeom>
          <a:solidFill>
            <a:srgbClr val="FF3621"/>
          </a:solidFill>
          <a:ln/>
        </p:spPr>
        <p:txBody>
          <a:bodyPr/>
          <a:lstStyle/>
          <a:p>
            <a:endParaRPr lang="en-US"/>
          </a:p>
        </p:txBody>
      </p:sp>
      <p:sp>
        <p:nvSpPr>
          <p:cNvPr id="34" name="Shape 28"/>
          <p:cNvSpPr/>
          <p:nvPr/>
        </p:nvSpPr>
        <p:spPr>
          <a:xfrm>
            <a:off x="8122067" y="2514600"/>
            <a:ext cx="1627632" cy="2926080"/>
          </a:xfrm>
          <a:prstGeom prst="roundRect">
            <a:avLst>
              <a:gd name="adj" fmla="val 561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5" name="Shape 29"/>
          <p:cNvSpPr/>
          <p:nvPr/>
        </p:nvSpPr>
        <p:spPr>
          <a:xfrm>
            <a:off x="8542691" y="2898648"/>
            <a:ext cx="786384" cy="786384"/>
          </a:xfrm>
          <a:prstGeom prst="ellipse">
            <a:avLst/>
          </a:prstGeom>
          <a:solidFill>
            <a:srgbClr val="FF3621"/>
          </a:solidFill>
          <a:ln/>
        </p:spPr>
        <p:txBody>
          <a:bodyPr/>
          <a:lstStyle/>
          <a:p>
            <a:endParaRPr lang="en-US"/>
          </a:p>
        </p:txBody>
      </p:sp>
      <p:pic>
        <p:nvPicPr>
          <p:cNvPr id="36" name="Image 4" descr="preencoded.png"/>
          <p:cNvPicPr>
            <a:picLocks noChangeAspect="1"/>
          </p:cNvPicPr>
          <p:nvPr/>
        </p:nvPicPr>
        <p:blipFill>
          <a:blip r:embed="rId7"/>
          <a:stretch>
            <a:fillRect/>
          </a:stretch>
        </p:blipFill>
        <p:spPr>
          <a:xfrm>
            <a:off x="8739287" y="3095244"/>
            <a:ext cx="393192" cy="393192"/>
          </a:xfrm>
          <a:prstGeom prst="rect">
            <a:avLst/>
          </a:prstGeom>
        </p:spPr>
      </p:pic>
      <p:sp>
        <p:nvSpPr>
          <p:cNvPr id="37" name="Text 30"/>
          <p:cNvSpPr/>
          <p:nvPr/>
        </p:nvSpPr>
        <p:spPr>
          <a:xfrm>
            <a:off x="8122067" y="3813048"/>
            <a:ext cx="1627632" cy="237744"/>
          </a:xfrm>
          <a:prstGeom prst="rect">
            <a:avLst/>
          </a:prstGeom>
          <a:noFill/>
          <a:ln/>
        </p:spPr>
        <p:txBody>
          <a:bodyPr wrap="square" lIns="0" tIns="0" rIns="0" bIns="0" rtlCol="0" anchor="ctr"/>
          <a:lstStyle/>
          <a:p>
            <a:pPr marL="0" indent="0" algn="ctr">
              <a:buNone/>
            </a:pPr>
            <a:r>
              <a:rPr lang="en-US" sz="950" b="1" kern="0" spc="200" dirty="0">
                <a:solidFill>
                  <a:srgbClr val="7C8A91"/>
                </a:solidFill>
                <a:latin typeface="Calibri" pitchFamily="34" charset="0"/>
                <a:ea typeface="Calibri" pitchFamily="34" charset="-122"/>
                <a:cs typeface="Calibri" pitchFamily="34" charset="-120"/>
              </a:rPr>
              <a:t>STEP 5</a:t>
            </a:r>
            <a:endParaRPr lang="en-US" sz="950" dirty="0"/>
          </a:p>
        </p:txBody>
      </p:sp>
      <p:sp>
        <p:nvSpPr>
          <p:cNvPr id="38" name="Text 31"/>
          <p:cNvSpPr/>
          <p:nvPr/>
        </p:nvSpPr>
        <p:spPr>
          <a:xfrm>
            <a:off x="8122067" y="4050792"/>
            <a:ext cx="1627632" cy="411480"/>
          </a:xfrm>
          <a:prstGeom prst="rect">
            <a:avLst/>
          </a:prstGeom>
          <a:noFill/>
          <a:ln/>
        </p:spPr>
        <p:txBody>
          <a:bodyPr wrap="square" lIns="0" tIns="0" rIns="0" bIns="0" rtlCol="0" anchor="ctr"/>
          <a:lstStyle/>
          <a:p>
            <a:pPr marL="0" indent="0" algn="ctr">
              <a:buNone/>
            </a:pPr>
            <a:r>
              <a:rPr lang="en-US" sz="1500" b="1" dirty="0">
                <a:solidFill>
                  <a:srgbClr val="13242E"/>
                </a:solidFill>
                <a:latin typeface="Trebuchet MS" pitchFamily="34" charset="0"/>
                <a:ea typeface="Trebuchet MS" pitchFamily="34" charset="-122"/>
                <a:cs typeface="Trebuchet MS" pitchFamily="34" charset="-120"/>
              </a:rPr>
              <a:t>Analytics</a:t>
            </a:r>
            <a:endParaRPr lang="en-US" sz="1500" dirty="0"/>
          </a:p>
        </p:txBody>
      </p:sp>
      <p:sp>
        <p:nvSpPr>
          <p:cNvPr id="39" name="Text 32"/>
          <p:cNvSpPr/>
          <p:nvPr/>
        </p:nvSpPr>
        <p:spPr>
          <a:xfrm>
            <a:off x="8195219" y="4526280"/>
            <a:ext cx="1481328" cy="548640"/>
          </a:xfrm>
          <a:prstGeom prst="rect">
            <a:avLst/>
          </a:prstGeom>
          <a:noFill/>
          <a:ln/>
        </p:spPr>
        <p:txBody>
          <a:bodyPr wrap="square" lIns="0" tIns="0" rIns="0" bIns="0" rtlCol="0" anchor="ctr"/>
          <a:lstStyle/>
          <a:p>
            <a:pPr marL="0" indent="0" algn="ctr">
              <a:buNone/>
            </a:pPr>
            <a:r>
              <a:rPr lang="en-US" sz="1050" dirty="0">
                <a:solidFill>
                  <a:srgbClr val="38474F"/>
                </a:solidFill>
                <a:latin typeface="Calibri" pitchFamily="34" charset="0"/>
                <a:ea typeface="Calibri" pitchFamily="34" charset="-122"/>
                <a:cs typeface="Calibri" pitchFamily="34" charset="-120"/>
              </a:rPr>
              <a:t>BI · ML</a:t>
            </a:r>
            <a:endParaRPr lang="en-US" sz="1050" dirty="0"/>
          </a:p>
        </p:txBody>
      </p:sp>
      <p:sp>
        <p:nvSpPr>
          <p:cNvPr id="40" name="Shape 33"/>
          <p:cNvSpPr/>
          <p:nvPr/>
        </p:nvSpPr>
        <p:spPr>
          <a:xfrm>
            <a:off x="9745401" y="3878885"/>
            <a:ext cx="274320" cy="197510"/>
          </a:xfrm>
          <a:prstGeom prst="chevron">
            <a:avLst/>
          </a:prstGeom>
          <a:solidFill>
            <a:srgbClr val="FF3621"/>
          </a:solidFill>
          <a:ln/>
        </p:spPr>
        <p:txBody>
          <a:bodyPr/>
          <a:lstStyle/>
          <a:p>
            <a:endParaRPr lang="en-US"/>
          </a:p>
        </p:txBody>
      </p:sp>
      <p:sp>
        <p:nvSpPr>
          <p:cNvPr id="41" name="Shape 34"/>
          <p:cNvSpPr/>
          <p:nvPr/>
        </p:nvSpPr>
        <p:spPr>
          <a:xfrm>
            <a:off x="10015423" y="2514600"/>
            <a:ext cx="1627632" cy="2926080"/>
          </a:xfrm>
          <a:prstGeom prst="roundRect">
            <a:avLst>
              <a:gd name="adj" fmla="val 561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42" name="Shape 35"/>
          <p:cNvSpPr/>
          <p:nvPr/>
        </p:nvSpPr>
        <p:spPr>
          <a:xfrm>
            <a:off x="10436047" y="2898648"/>
            <a:ext cx="786384" cy="786384"/>
          </a:xfrm>
          <a:prstGeom prst="ellipse">
            <a:avLst/>
          </a:prstGeom>
          <a:solidFill>
            <a:srgbClr val="FF3621"/>
          </a:solidFill>
          <a:ln/>
        </p:spPr>
        <p:txBody>
          <a:bodyPr/>
          <a:lstStyle/>
          <a:p>
            <a:endParaRPr lang="en-US"/>
          </a:p>
        </p:txBody>
      </p:sp>
      <p:pic>
        <p:nvPicPr>
          <p:cNvPr id="43" name="Image 5" descr="preencoded.png"/>
          <p:cNvPicPr>
            <a:picLocks noChangeAspect="1"/>
          </p:cNvPicPr>
          <p:nvPr/>
        </p:nvPicPr>
        <p:blipFill>
          <a:blip r:embed="rId8"/>
          <a:stretch>
            <a:fillRect/>
          </a:stretch>
        </p:blipFill>
        <p:spPr>
          <a:xfrm>
            <a:off x="10632643" y="3095244"/>
            <a:ext cx="393192" cy="393192"/>
          </a:xfrm>
          <a:prstGeom prst="rect">
            <a:avLst/>
          </a:prstGeom>
        </p:spPr>
      </p:pic>
      <p:sp>
        <p:nvSpPr>
          <p:cNvPr id="44" name="Text 36"/>
          <p:cNvSpPr/>
          <p:nvPr/>
        </p:nvSpPr>
        <p:spPr>
          <a:xfrm>
            <a:off x="10015423" y="3813048"/>
            <a:ext cx="1627632" cy="237744"/>
          </a:xfrm>
          <a:prstGeom prst="rect">
            <a:avLst/>
          </a:prstGeom>
          <a:noFill/>
          <a:ln/>
        </p:spPr>
        <p:txBody>
          <a:bodyPr wrap="square" lIns="0" tIns="0" rIns="0" bIns="0" rtlCol="0" anchor="ctr"/>
          <a:lstStyle/>
          <a:p>
            <a:pPr marL="0" indent="0" algn="ctr">
              <a:buNone/>
            </a:pPr>
            <a:r>
              <a:rPr lang="en-US" sz="950" b="1" kern="0" spc="200" dirty="0">
                <a:solidFill>
                  <a:srgbClr val="7C8A91"/>
                </a:solidFill>
                <a:latin typeface="Calibri" pitchFamily="34" charset="0"/>
                <a:ea typeface="Calibri" pitchFamily="34" charset="-122"/>
                <a:cs typeface="Calibri" pitchFamily="34" charset="-120"/>
              </a:rPr>
              <a:t>STEP 6</a:t>
            </a:r>
            <a:endParaRPr lang="en-US" sz="950" dirty="0"/>
          </a:p>
        </p:txBody>
      </p:sp>
      <p:sp>
        <p:nvSpPr>
          <p:cNvPr id="45" name="Text 37"/>
          <p:cNvSpPr/>
          <p:nvPr/>
        </p:nvSpPr>
        <p:spPr>
          <a:xfrm>
            <a:off x="10015423" y="4050792"/>
            <a:ext cx="1627632" cy="411480"/>
          </a:xfrm>
          <a:prstGeom prst="rect">
            <a:avLst/>
          </a:prstGeom>
          <a:noFill/>
          <a:ln/>
        </p:spPr>
        <p:txBody>
          <a:bodyPr wrap="square" lIns="0" tIns="0" rIns="0" bIns="0" rtlCol="0" anchor="ctr"/>
          <a:lstStyle/>
          <a:p>
            <a:pPr marL="0" indent="0" algn="ctr">
              <a:buNone/>
            </a:pPr>
            <a:r>
              <a:rPr lang="en-US" sz="1500" b="1" dirty="0">
                <a:solidFill>
                  <a:srgbClr val="13242E"/>
                </a:solidFill>
                <a:latin typeface="Trebuchet MS" pitchFamily="34" charset="0"/>
                <a:ea typeface="Trebuchet MS" pitchFamily="34" charset="-122"/>
                <a:cs typeface="Trebuchet MS" pitchFamily="34" charset="-120"/>
              </a:rPr>
              <a:t>Visualization</a:t>
            </a:r>
            <a:endParaRPr lang="en-US" sz="1500" dirty="0"/>
          </a:p>
        </p:txBody>
      </p:sp>
      <p:sp>
        <p:nvSpPr>
          <p:cNvPr id="46" name="Text 38"/>
          <p:cNvSpPr/>
          <p:nvPr/>
        </p:nvSpPr>
        <p:spPr>
          <a:xfrm>
            <a:off x="10088575" y="4526280"/>
            <a:ext cx="1481328" cy="548640"/>
          </a:xfrm>
          <a:prstGeom prst="rect">
            <a:avLst/>
          </a:prstGeom>
          <a:noFill/>
          <a:ln/>
        </p:spPr>
        <p:txBody>
          <a:bodyPr wrap="square" lIns="0" tIns="0" rIns="0" bIns="0" rtlCol="0" anchor="ctr"/>
          <a:lstStyle/>
          <a:p>
            <a:pPr marL="0" indent="0" algn="ctr">
              <a:buNone/>
            </a:pPr>
            <a:r>
              <a:rPr lang="en-US" sz="1050" dirty="0">
                <a:solidFill>
                  <a:srgbClr val="38474F"/>
                </a:solidFill>
                <a:latin typeface="Calibri" pitchFamily="34" charset="0"/>
                <a:ea typeface="Calibri" pitchFamily="34" charset="-122"/>
                <a:cs typeface="Calibri" pitchFamily="34" charset="-120"/>
              </a:rPr>
              <a:t>dashboards</a:t>
            </a:r>
            <a:endParaRPr lang="en-US" sz="1050" dirty="0"/>
          </a:p>
        </p:txBody>
      </p:sp>
      <p:sp>
        <p:nvSpPr>
          <p:cNvPr id="47" name="Text 39"/>
          <p:cNvSpPr/>
          <p:nvPr/>
        </p:nvSpPr>
        <p:spPr>
          <a:xfrm>
            <a:off x="548640" y="5623560"/>
            <a:ext cx="11094415" cy="320040"/>
          </a:xfrm>
          <a:prstGeom prst="rect">
            <a:avLst/>
          </a:prstGeom>
          <a:noFill/>
          <a:ln/>
        </p:spPr>
        <p:txBody>
          <a:bodyPr wrap="square" lIns="0" tIns="0" rIns="0" bIns="0" rtlCol="0" anchor="ctr"/>
          <a:lstStyle/>
          <a:p>
            <a:pPr marL="0" indent="0" algn="ctr">
              <a:buNone/>
            </a:pPr>
            <a:r>
              <a:rPr lang="en-US" sz="1200" b="1" dirty="0">
                <a:solidFill>
                  <a:srgbClr val="0E7C8B"/>
                </a:solidFill>
                <a:latin typeface="Calibri" pitchFamily="34" charset="0"/>
                <a:ea typeface="Calibri" pitchFamily="34" charset="-122"/>
                <a:cs typeface="Calibri" pitchFamily="34" charset="-120"/>
              </a:rPr>
              <a:t>Capture &amp; move</a:t>
            </a:r>
            <a:r>
              <a:rPr lang="en-US" sz="1200" dirty="0">
                <a:solidFill>
                  <a:srgbClr val="DDE4E7"/>
                </a:solidFill>
                <a:latin typeface="Calibri" pitchFamily="34" charset="0"/>
                <a:ea typeface="Calibri" pitchFamily="34" charset="-122"/>
                <a:cs typeface="Calibri" pitchFamily="34" charset="-120"/>
              </a:rPr>
              <a:t>   |   </a:t>
            </a:r>
            <a:r>
              <a:rPr lang="en-US" sz="1200" b="1" dirty="0">
                <a:solidFill>
                  <a:srgbClr val="FF3621"/>
                </a:solidFill>
                <a:latin typeface="Calibri" pitchFamily="34" charset="0"/>
                <a:ea typeface="Calibri" pitchFamily="34" charset="-122"/>
                <a:cs typeface="Calibri" pitchFamily="34" charset="-120"/>
              </a:rPr>
              <a:t>Refine &amp; use</a:t>
            </a:r>
            <a:endParaRPr lang="en-US" sz="1200" dirty="0"/>
          </a:p>
        </p:txBody>
      </p:sp>
      <p:sp>
        <p:nvSpPr>
          <p:cNvPr id="48" name="Text 40"/>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49" name="Text 41"/>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01 · IN THE WILD</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Big Data in the real world</a:t>
            </a:r>
            <a:endParaRPr lang="en-US" sz="2900" dirty="0"/>
          </a:p>
        </p:txBody>
      </p:sp>
      <p:sp>
        <p:nvSpPr>
          <p:cNvPr id="5" name="Shape 3"/>
          <p:cNvSpPr/>
          <p:nvPr/>
        </p:nvSpPr>
        <p:spPr>
          <a:xfrm>
            <a:off x="548640" y="1874520"/>
            <a:ext cx="5440680" cy="1783080"/>
          </a:xfrm>
          <a:prstGeom prst="roundRect">
            <a:avLst>
              <a:gd name="adj" fmla="val 512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6" name="Shape 4"/>
          <p:cNvSpPr/>
          <p:nvPr/>
        </p:nvSpPr>
        <p:spPr>
          <a:xfrm>
            <a:off x="548640" y="1874520"/>
            <a:ext cx="109728" cy="1783080"/>
          </a:xfrm>
          <a:prstGeom prst="rect">
            <a:avLst/>
          </a:prstGeom>
          <a:solidFill>
            <a:srgbClr val="FF3621"/>
          </a:solidFill>
          <a:ln/>
        </p:spPr>
        <p:txBody>
          <a:bodyPr/>
          <a:lstStyle/>
          <a:p>
            <a:endParaRPr lang="en-US"/>
          </a:p>
        </p:txBody>
      </p:sp>
      <p:sp>
        <p:nvSpPr>
          <p:cNvPr id="7" name="Shape 5"/>
          <p:cNvSpPr/>
          <p:nvPr/>
        </p:nvSpPr>
        <p:spPr>
          <a:xfrm>
            <a:off x="932688" y="2331720"/>
            <a:ext cx="868680" cy="868680"/>
          </a:xfrm>
          <a:prstGeom prst="ellipse">
            <a:avLst/>
          </a:prstGeom>
          <a:solidFill>
            <a:srgbClr val="0E1B24"/>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149858" y="2548890"/>
            <a:ext cx="434340" cy="434340"/>
          </a:xfrm>
          <a:prstGeom prst="rect">
            <a:avLst/>
          </a:prstGeom>
        </p:spPr>
      </p:pic>
      <p:sp>
        <p:nvSpPr>
          <p:cNvPr id="9" name="Text 6"/>
          <p:cNvSpPr/>
          <p:nvPr/>
        </p:nvSpPr>
        <p:spPr>
          <a:xfrm>
            <a:off x="2011680" y="2167128"/>
            <a:ext cx="3703320" cy="411480"/>
          </a:xfrm>
          <a:prstGeom prst="rect">
            <a:avLst/>
          </a:prstGeom>
          <a:noFill/>
          <a:ln/>
        </p:spPr>
        <p:txBody>
          <a:bodyPr wrap="square" lIns="0" tIns="0" rIns="0" bIns="0" rtlCol="0" anchor="ctr"/>
          <a:lstStyle/>
          <a:p>
            <a:pPr marL="0" indent="0">
              <a:buNone/>
            </a:pPr>
            <a:r>
              <a:rPr lang="en-US" sz="1700" b="1" dirty="0">
                <a:solidFill>
                  <a:srgbClr val="13242E"/>
                </a:solidFill>
                <a:latin typeface="Trebuchet MS" pitchFamily="34" charset="0"/>
                <a:ea typeface="Trebuchet MS" pitchFamily="34" charset="-122"/>
                <a:cs typeface="Trebuchet MS" pitchFamily="34" charset="-120"/>
              </a:rPr>
              <a:t>Retail &amp; E-commerce</a:t>
            </a:r>
            <a:endParaRPr lang="en-US" sz="1700" dirty="0"/>
          </a:p>
        </p:txBody>
      </p:sp>
      <p:sp>
        <p:nvSpPr>
          <p:cNvPr id="10" name="Text 7"/>
          <p:cNvSpPr/>
          <p:nvPr/>
        </p:nvSpPr>
        <p:spPr>
          <a:xfrm>
            <a:off x="2057400" y="2660904"/>
            <a:ext cx="3611880" cy="868680"/>
          </a:xfrm>
          <a:prstGeom prst="rect">
            <a:avLst/>
          </a:prstGeom>
          <a:noFill/>
          <a:ln/>
        </p:spPr>
        <p:txBody>
          <a:bodyPr wrap="square" lIns="0" tIns="0" rIns="0" bIns="0" rtlCol="0" anchor="ctr"/>
          <a:lstStyle/>
          <a:p>
            <a:pPr marL="165100" indent="-165100">
              <a:spcAft>
                <a:spcPts val="500"/>
              </a:spcAft>
              <a:buSzPct val="100000"/>
              <a:buChar char="•"/>
            </a:pPr>
            <a:r>
              <a:rPr lang="en-US" sz="1250" dirty="0">
                <a:solidFill>
                  <a:srgbClr val="38474F"/>
                </a:solidFill>
                <a:latin typeface="Calibri" pitchFamily="34" charset="0"/>
                <a:ea typeface="Calibri" pitchFamily="34" charset="-122"/>
                <a:cs typeface="Calibri" pitchFamily="34" charset="-120"/>
              </a:rPr>
              <a:t>Personalised recommendations</a:t>
            </a:r>
            <a:endParaRPr lang="en-US" sz="1250" dirty="0"/>
          </a:p>
          <a:p>
            <a:pPr marL="165100" indent="-165100">
              <a:spcAft>
                <a:spcPts val="500"/>
              </a:spcAft>
              <a:buSzPct val="100000"/>
              <a:buChar char="•"/>
            </a:pPr>
            <a:r>
              <a:rPr lang="en-US" sz="1250" dirty="0">
                <a:solidFill>
                  <a:srgbClr val="38474F"/>
                </a:solidFill>
                <a:latin typeface="Calibri" pitchFamily="34" charset="0"/>
                <a:ea typeface="Calibri" pitchFamily="34" charset="-122"/>
                <a:cs typeface="Calibri" pitchFamily="34" charset="-120"/>
              </a:rPr>
              <a:t>Real-time demand forecasting</a:t>
            </a:r>
            <a:endParaRPr lang="en-US" sz="1250" dirty="0"/>
          </a:p>
        </p:txBody>
      </p:sp>
      <p:sp>
        <p:nvSpPr>
          <p:cNvPr id="11" name="Shape 8"/>
          <p:cNvSpPr/>
          <p:nvPr/>
        </p:nvSpPr>
        <p:spPr>
          <a:xfrm>
            <a:off x="6202375" y="1874520"/>
            <a:ext cx="5440680" cy="1783080"/>
          </a:xfrm>
          <a:prstGeom prst="roundRect">
            <a:avLst>
              <a:gd name="adj" fmla="val 512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2" name="Shape 9"/>
          <p:cNvSpPr/>
          <p:nvPr/>
        </p:nvSpPr>
        <p:spPr>
          <a:xfrm>
            <a:off x="6202375" y="1874520"/>
            <a:ext cx="109728" cy="1783080"/>
          </a:xfrm>
          <a:prstGeom prst="rect">
            <a:avLst/>
          </a:prstGeom>
          <a:solidFill>
            <a:srgbClr val="FF3621"/>
          </a:solidFill>
          <a:ln/>
        </p:spPr>
        <p:txBody>
          <a:bodyPr/>
          <a:lstStyle/>
          <a:p>
            <a:endParaRPr lang="en-US"/>
          </a:p>
        </p:txBody>
      </p:sp>
      <p:sp>
        <p:nvSpPr>
          <p:cNvPr id="13" name="Shape 10"/>
          <p:cNvSpPr/>
          <p:nvPr/>
        </p:nvSpPr>
        <p:spPr>
          <a:xfrm>
            <a:off x="6586423" y="2331720"/>
            <a:ext cx="868680" cy="868680"/>
          </a:xfrm>
          <a:prstGeom prst="ellipse">
            <a:avLst/>
          </a:prstGeom>
          <a:solidFill>
            <a:srgbClr val="0E1B24"/>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6803593" y="2548890"/>
            <a:ext cx="434340" cy="434340"/>
          </a:xfrm>
          <a:prstGeom prst="rect">
            <a:avLst/>
          </a:prstGeom>
        </p:spPr>
      </p:pic>
      <p:sp>
        <p:nvSpPr>
          <p:cNvPr id="15" name="Text 11"/>
          <p:cNvSpPr/>
          <p:nvPr/>
        </p:nvSpPr>
        <p:spPr>
          <a:xfrm>
            <a:off x="7665415" y="2167128"/>
            <a:ext cx="3703320" cy="411480"/>
          </a:xfrm>
          <a:prstGeom prst="rect">
            <a:avLst/>
          </a:prstGeom>
          <a:noFill/>
          <a:ln/>
        </p:spPr>
        <p:txBody>
          <a:bodyPr wrap="square" lIns="0" tIns="0" rIns="0" bIns="0" rtlCol="0" anchor="ctr"/>
          <a:lstStyle/>
          <a:p>
            <a:pPr marL="0" indent="0">
              <a:buNone/>
            </a:pPr>
            <a:r>
              <a:rPr lang="en-US" sz="1700" b="1" dirty="0">
                <a:solidFill>
                  <a:srgbClr val="13242E"/>
                </a:solidFill>
                <a:latin typeface="Trebuchet MS" pitchFamily="34" charset="0"/>
                <a:ea typeface="Trebuchet MS" pitchFamily="34" charset="-122"/>
                <a:cs typeface="Trebuchet MS" pitchFamily="34" charset="-120"/>
              </a:rPr>
              <a:t>Banking &amp; Finance</a:t>
            </a:r>
            <a:endParaRPr lang="en-US" sz="1700" dirty="0"/>
          </a:p>
        </p:txBody>
      </p:sp>
      <p:sp>
        <p:nvSpPr>
          <p:cNvPr id="16" name="Text 12"/>
          <p:cNvSpPr/>
          <p:nvPr/>
        </p:nvSpPr>
        <p:spPr>
          <a:xfrm>
            <a:off x="7711135" y="2660904"/>
            <a:ext cx="3611880" cy="868680"/>
          </a:xfrm>
          <a:prstGeom prst="rect">
            <a:avLst/>
          </a:prstGeom>
          <a:noFill/>
          <a:ln/>
        </p:spPr>
        <p:txBody>
          <a:bodyPr wrap="square" lIns="0" tIns="0" rIns="0" bIns="0" rtlCol="0" anchor="ctr"/>
          <a:lstStyle/>
          <a:p>
            <a:pPr marL="165100" indent="-165100">
              <a:spcAft>
                <a:spcPts val="500"/>
              </a:spcAft>
              <a:buSzPct val="100000"/>
              <a:buChar char="•"/>
            </a:pPr>
            <a:r>
              <a:rPr lang="en-US" sz="1250" dirty="0">
                <a:solidFill>
                  <a:srgbClr val="38474F"/>
                </a:solidFill>
                <a:latin typeface="Calibri" pitchFamily="34" charset="0"/>
                <a:ea typeface="Calibri" pitchFamily="34" charset="-122"/>
                <a:cs typeface="Calibri" pitchFamily="34" charset="-120"/>
              </a:rPr>
              <a:t>Fraud detection in milliseconds</a:t>
            </a:r>
            <a:endParaRPr lang="en-US" sz="1250" dirty="0"/>
          </a:p>
          <a:p>
            <a:pPr marL="165100" indent="-165100">
              <a:spcAft>
                <a:spcPts val="500"/>
              </a:spcAft>
              <a:buSzPct val="100000"/>
              <a:buChar char="•"/>
            </a:pPr>
            <a:r>
              <a:rPr lang="en-US" sz="1250" dirty="0">
                <a:solidFill>
                  <a:srgbClr val="38474F"/>
                </a:solidFill>
                <a:latin typeface="Calibri" pitchFamily="34" charset="0"/>
                <a:ea typeface="Calibri" pitchFamily="34" charset="-122"/>
                <a:cs typeface="Calibri" pitchFamily="34" charset="-120"/>
              </a:rPr>
              <a:t>Credit risk &amp; regulatory reporting</a:t>
            </a:r>
            <a:endParaRPr lang="en-US" sz="1250" dirty="0"/>
          </a:p>
        </p:txBody>
      </p:sp>
      <p:sp>
        <p:nvSpPr>
          <p:cNvPr id="17" name="Shape 13"/>
          <p:cNvSpPr/>
          <p:nvPr/>
        </p:nvSpPr>
        <p:spPr>
          <a:xfrm>
            <a:off x="548640" y="3794760"/>
            <a:ext cx="5440680" cy="1783080"/>
          </a:xfrm>
          <a:prstGeom prst="roundRect">
            <a:avLst>
              <a:gd name="adj" fmla="val 512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8" name="Shape 14"/>
          <p:cNvSpPr/>
          <p:nvPr/>
        </p:nvSpPr>
        <p:spPr>
          <a:xfrm>
            <a:off x="548640" y="3794760"/>
            <a:ext cx="109728" cy="1783080"/>
          </a:xfrm>
          <a:prstGeom prst="rect">
            <a:avLst/>
          </a:prstGeom>
          <a:solidFill>
            <a:srgbClr val="FF3621"/>
          </a:solidFill>
          <a:ln/>
        </p:spPr>
        <p:txBody>
          <a:bodyPr/>
          <a:lstStyle/>
          <a:p>
            <a:endParaRPr lang="en-US"/>
          </a:p>
        </p:txBody>
      </p:sp>
      <p:sp>
        <p:nvSpPr>
          <p:cNvPr id="19" name="Shape 15"/>
          <p:cNvSpPr/>
          <p:nvPr/>
        </p:nvSpPr>
        <p:spPr>
          <a:xfrm>
            <a:off x="932688" y="4251960"/>
            <a:ext cx="868680" cy="868680"/>
          </a:xfrm>
          <a:prstGeom prst="ellipse">
            <a:avLst/>
          </a:prstGeom>
          <a:solidFill>
            <a:srgbClr val="0E1B24"/>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1149858" y="4469130"/>
            <a:ext cx="434340" cy="434340"/>
          </a:xfrm>
          <a:prstGeom prst="rect">
            <a:avLst/>
          </a:prstGeom>
        </p:spPr>
      </p:pic>
      <p:sp>
        <p:nvSpPr>
          <p:cNvPr id="21" name="Text 16"/>
          <p:cNvSpPr/>
          <p:nvPr/>
        </p:nvSpPr>
        <p:spPr>
          <a:xfrm>
            <a:off x="2011680" y="4087368"/>
            <a:ext cx="3703320" cy="411480"/>
          </a:xfrm>
          <a:prstGeom prst="rect">
            <a:avLst/>
          </a:prstGeom>
          <a:noFill/>
          <a:ln/>
        </p:spPr>
        <p:txBody>
          <a:bodyPr wrap="square" lIns="0" tIns="0" rIns="0" bIns="0" rtlCol="0" anchor="ctr"/>
          <a:lstStyle/>
          <a:p>
            <a:pPr marL="0" indent="0">
              <a:buNone/>
            </a:pPr>
            <a:r>
              <a:rPr lang="en-US" sz="1700" b="1" dirty="0">
                <a:solidFill>
                  <a:srgbClr val="13242E"/>
                </a:solidFill>
                <a:latin typeface="Trebuchet MS" pitchFamily="34" charset="0"/>
                <a:ea typeface="Trebuchet MS" pitchFamily="34" charset="-122"/>
                <a:cs typeface="Trebuchet MS" pitchFamily="34" charset="-120"/>
              </a:rPr>
              <a:t>Healthcare &amp; Life Sciences</a:t>
            </a:r>
            <a:endParaRPr lang="en-US" sz="1700" dirty="0"/>
          </a:p>
        </p:txBody>
      </p:sp>
      <p:sp>
        <p:nvSpPr>
          <p:cNvPr id="22" name="Text 17"/>
          <p:cNvSpPr/>
          <p:nvPr/>
        </p:nvSpPr>
        <p:spPr>
          <a:xfrm>
            <a:off x="2057400" y="4581144"/>
            <a:ext cx="3611880" cy="868680"/>
          </a:xfrm>
          <a:prstGeom prst="rect">
            <a:avLst/>
          </a:prstGeom>
          <a:noFill/>
          <a:ln/>
        </p:spPr>
        <p:txBody>
          <a:bodyPr wrap="square" lIns="0" tIns="0" rIns="0" bIns="0" rtlCol="0" anchor="ctr"/>
          <a:lstStyle/>
          <a:p>
            <a:pPr marL="165100" indent="-165100">
              <a:spcAft>
                <a:spcPts val="500"/>
              </a:spcAft>
              <a:buSzPct val="100000"/>
              <a:buChar char="•"/>
            </a:pPr>
            <a:r>
              <a:rPr lang="en-US" sz="1250" dirty="0">
                <a:solidFill>
                  <a:srgbClr val="38474F"/>
                </a:solidFill>
                <a:latin typeface="Calibri" pitchFamily="34" charset="0"/>
                <a:ea typeface="Calibri" pitchFamily="34" charset="-122"/>
                <a:cs typeface="Calibri" pitchFamily="34" charset="-120"/>
              </a:rPr>
              <a:t>Patient 360 &amp; population health</a:t>
            </a:r>
            <a:endParaRPr lang="en-US" sz="1250" dirty="0"/>
          </a:p>
          <a:p>
            <a:pPr marL="165100" indent="-165100">
              <a:spcAft>
                <a:spcPts val="500"/>
              </a:spcAft>
              <a:buSzPct val="100000"/>
              <a:buChar char="•"/>
            </a:pPr>
            <a:r>
              <a:rPr lang="en-US" sz="1250" dirty="0">
                <a:solidFill>
                  <a:srgbClr val="38474F"/>
                </a:solidFill>
                <a:latin typeface="Calibri" pitchFamily="34" charset="0"/>
                <a:ea typeface="Calibri" pitchFamily="34" charset="-122"/>
                <a:cs typeface="Calibri" pitchFamily="34" charset="-120"/>
              </a:rPr>
              <a:t>Genomics and drug research</a:t>
            </a:r>
            <a:endParaRPr lang="en-US" sz="1250" dirty="0"/>
          </a:p>
        </p:txBody>
      </p:sp>
      <p:sp>
        <p:nvSpPr>
          <p:cNvPr id="23" name="Shape 18"/>
          <p:cNvSpPr/>
          <p:nvPr/>
        </p:nvSpPr>
        <p:spPr>
          <a:xfrm>
            <a:off x="6202375" y="3794760"/>
            <a:ext cx="5440680" cy="1783080"/>
          </a:xfrm>
          <a:prstGeom prst="roundRect">
            <a:avLst>
              <a:gd name="adj" fmla="val 512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4" name="Shape 19"/>
          <p:cNvSpPr/>
          <p:nvPr/>
        </p:nvSpPr>
        <p:spPr>
          <a:xfrm>
            <a:off x="6202375" y="3794760"/>
            <a:ext cx="109728" cy="1783080"/>
          </a:xfrm>
          <a:prstGeom prst="rect">
            <a:avLst/>
          </a:prstGeom>
          <a:solidFill>
            <a:srgbClr val="FF3621"/>
          </a:solidFill>
          <a:ln/>
        </p:spPr>
        <p:txBody>
          <a:bodyPr/>
          <a:lstStyle/>
          <a:p>
            <a:endParaRPr lang="en-US"/>
          </a:p>
        </p:txBody>
      </p:sp>
      <p:sp>
        <p:nvSpPr>
          <p:cNvPr id="25" name="Shape 20"/>
          <p:cNvSpPr/>
          <p:nvPr/>
        </p:nvSpPr>
        <p:spPr>
          <a:xfrm>
            <a:off x="6586423" y="4251960"/>
            <a:ext cx="868680" cy="868680"/>
          </a:xfrm>
          <a:prstGeom prst="ellipse">
            <a:avLst/>
          </a:prstGeom>
          <a:solidFill>
            <a:srgbClr val="0E1B24"/>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6803593" y="4469130"/>
            <a:ext cx="434340" cy="434340"/>
          </a:xfrm>
          <a:prstGeom prst="rect">
            <a:avLst/>
          </a:prstGeom>
        </p:spPr>
      </p:pic>
      <p:sp>
        <p:nvSpPr>
          <p:cNvPr id="27" name="Text 21"/>
          <p:cNvSpPr/>
          <p:nvPr/>
        </p:nvSpPr>
        <p:spPr>
          <a:xfrm>
            <a:off x="7665415" y="4087368"/>
            <a:ext cx="3703320" cy="411480"/>
          </a:xfrm>
          <a:prstGeom prst="rect">
            <a:avLst/>
          </a:prstGeom>
          <a:noFill/>
          <a:ln/>
        </p:spPr>
        <p:txBody>
          <a:bodyPr wrap="square" lIns="0" tIns="0" rIns="0" bIns="0" rtlCol="0" anchor="ctr"/>
          <a:lstStyle/>
          <a:p>
            <a:pPr marL="0" indent="0">
              <a:buNone/>
            </a:pPr>
            <a:r>
              <a:rPr lang="en-US" sz="1700" b="1" dirty="0">
                <a:solidFill>
                  <a:srgbClr val="13242E"/>
                </a:solidFill>
                <a:latin typeface="Trebuchet MS" pitchFamily="34" charset="0"/>
                <a:ea typeface="Trebuchet MS" pitchFamily="34" charset="-122"/>
                <a:cs typeface="Trebuchet MS" pitchFamily="34" charset="-120"/>
              </a:rPr>
              <a:t>Manufacturing &amp; IoT</a:t>
            </a:r>
            <a:endParaRPr lang="en-US" sz="1700" dirty="0"/>
          </a:p>
        </p:txBody>
      </p:sp>
      <p:sp>
        <p:nvSpPr>
          <p:cNvPr id="28" name="Text 22"/>
          <p:cNvSpPr/>
          <p:nvPr/>
        </p:nvSpPr>
        <p:spPr>
          <a:xfrm>
            <a:off x="7711135" y="4581144"/>
            <a:ext cx="3611880" cy="868680"/>
          </a:xfrm>
          <a:prstGeom prst="rect">
            <a:avLst/>
          </a:prstGeom>
          <a:noFill/>
          <a:ln/>
        </p:spPr>
        <p:txBody>
          <a:bodyPr wrap="square" lIns="0" tIns="0" rIns="0" bIns="0" rtlCol="0" anchor="ctr"/>
          <a:lstStyle/>
          <a:p>
            <a:pPr marL="165100" indent="-165100">
              <a:spcAft>
                <a:spcPts val="500"/>
              </a:spcAft>
              <a:buSzPct val="100000"/>
              <a:buChar char="•"/>
            </a:pPr>
            <a:r>
              <a:rPr lang="en-US" sz="1250" dirty="0">
                <a:solidFill>
                  <a:srgbClr val="38474F"/>
                </a:solidFill>
                <a:latin typeface="Calibri" pitchFamily="34" charset="0"/>
                <a:ea typeface="Calibri" pitchFamily="34" charset="-122"/>
                <a:cs typeface="Calibri" pitchFamily="34" charset="-120"/>
              </a:rPr>
              <a:t>Predictive maintenance</a:t>
            </a:r>
            <a:endParaRPr lang="en-US" sz="1250" dirty="0"/>
          </a:p>
          <a:p>
            <a:pPr marL="165100" indent="-165100">
              <a:spcAft>
                <a:spcPts val="500"/>
              </a:spcAft>
              <a:buSzPct val="100000"/>
              <a:buChar char="•"/>
            </a:pPr>
            <a:r>
              <a:rPr lang="en-US" sz="1250" dirty="0">
                <a:solidFill>
                  <a:srgbClr val="38474F"/>
                </a:solidFill>
                <a:latin typeface="Calibri" pitchFamily="34" charset="0"/>
                <a:ea typeface="Calibri" pitchFamily="34" charset="-122"/>
                <a:cs typeface="Calibri" pitchFamily="34" charset="-120"/>
              </a:rPr>
              <a:t>Quality &amp; supply-chain optimisation</a:t>
            </a:r>
            <a:endParaRPr lang="en-US" sz="1250" dirty="0"/>
          </a:p>
        </p:txBody>
      </p:sp>
      <p:sp>
        <p:nvSpPr>
          <p:cNvPr id="29" name="Text 2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30" name="Text 24"/>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B24"/>
        </a:solidFill>
        <a:effectLst/>
      </p:bgPr>
    </p:bg>
    <p:spTree>
      <p:nvGrpSpPr>
        <p:cNvPr id="1" name=""/>
        <p:cNvGrpSpPr/>
        <p:nvPr/>
      </p:nvGrpSpPr>
      <p:grpSpPr>
        <a:xfrm>
          <a:off x="0" y="0"/>
          <a:ext cx="0" cy="0"/>
          <a:chOff x="0" y="0"/>
          <a:chExt cx="0" cy="0"/>
        </a:xfrm>
      </p:grpSpPr>
      <p:sp>
        <p:nvSpPr>
          <p:cNvPr id="2" name="Text 0"/>
          <p:cNvSpPr/>
          <p:nvPr/>
        </p:nvSpPr>
        <p:spPr>
          <a:xfrm>
            <a:off x="7680960" y="914400"/>
            <a:ext cx="4572000" cy="4572000"/>
          </a:xfrm>
          <a:prstGeom prst="rect">
            <a:avLst/>
          </a:prstGeom>
          <a:noFill/>
          <a:ln/>
        </p:spPr>
        <p:txBody>
          <a:bodyPr wrap="square" lIns="0" tIns="0" rIns="0" bIns="0" rtlCol="0" anchor="ctr"/>
          <a:lstStyle/>
          <a:p>
            <a:pPr marL="0" indent="0" algn="r">
              <a:buNone/>
            </a:pPr>
            <a:r>
              <a:rPr lang="en-US" sz="30000" b="1" dirty="0">
                <a:solidFill>
                  <a:srgbClr val="172D38"/>
                </a:solidFill>
                <a:latin typeface="Trebuchet MS" pitchFamily="34" charset="0"/>
                <a:ea typeface="Trebuchet MS" pitchFamily="34" charset="-122"/>
                <a:cs typeface="Trebuchet MS" pitchFamily="34" charset="-120"/>
              </a:rPr>
              <a:t>02</a:t>
            </a:r>
            <a:endParaRPr lang="en-US" sz="30000" dirty="0"/>
          </a:p>
        </p:txBody>
      </p:sp>
      <p:sp>
        <p:nvSpPr>
          <p:cNvPr id="3" name="Shape 1"/>
          <p:cNvSpPr/>
          <p:nvPr/>
        </p:nvSpPr>
        <p:spPr>
          <a:xfrm>
            <a:off x="548640" y="2651760"/>
            <a:ext cx="548640" cy="164592"/>
          </a:xfrm>
          <a:prstGeom prst="rect">
            <a:avLst/>
          </a:prstGeom>
          <a:solidFill>
            <a:srgbClr val="FF3621"/>
          </a:solidFill>
          <a:ln/>
        </p:spPr>
        <p:txBody>
          <a:bodyPr/>
          <a:lstStyle/>
          <a:p>
            <a:endParaRPr lang="en-US"/>
          </a:p>
        </p:txBody>
      </p:sp>
      <p:sp>
        <p:nvSpPr>
          <p:cNvPr id="4" name="Text 2"/>
          <p:cNvSpPr/>
          <p:nvPr/>
        </p:nvSpPr>
        <p:spPr>
          <a:xfrm>
            <a:off x="1225296" y="2578608"/>
            <a:ext cx="5486400" cy="310896"/>
          </a:xfrm>
          <a:prstGeom prst="rect">
            <a:avLst/>
          </a:prstGeom>
          <a:noFill/>
          <a:ln/>
        </p:spPr>
        <p:txBody>
          <a:bodyPr wrap="square" lIns="0" tIns="0" rIns="0" bIns="0" rtlCol="0" anchor="ctr"/>
          <a:lstStyle/>
          <a:p>
            <a:pPr marL="0" indent="0">
              <a:buNone/>
            </a:pPr>
            <a:r>
              <a:rPr lang="en-US" sz="1400" b="1" kern="0" spc="300" dirty="0">
                <a:solidFill>
                  <a:srgbClr val="FF6F4D"/>
                </a:solidFill>
                <a:latin typeface="Calibri" pitchFamily="34" charset="0"/>
                <a:ea typeface="Calibri" pitchFamily="34" charset="-122"/>
                <a:cs typeface="Calibri" pitchFamily="34" charset="-120"/>
              </a:rPr>
              <a:t>MODULE 02</a:t>
            </a:r>
            <a:endParaRPr lang="en-US" sz="1400" dirty="0"/>
          </a:p>
        </p:txBody>
      </p:sp>
      <p:sp>
        <p:nvSpPr>
          <p:cNvPr id="5" name="Text 3"/>
          <p:cNvSpPr/>
          <p:nvPr/>
        </p:nvSpPr>
        <p:spPr>
          <a:xfrm>
            <a:off x="548640" y="2999232"/>
            <a:ext cx="8412480" cy="914400"/>
          </a:xfrm>
          <a:prstGeom prst="rect">
            <a:avLst/>
          </a:prstGeom>
          <a:noFill/>
          <a:ln/>
        </p:spPr>
        <p:txBody>
          <a:bodyPr wrap="square" lIns="0" tIns="0" rIns="0" bIns="0" rtlCol="0" anchor="ctr"/>
          <a:lstStyle/>
          <a:p>
            <a:pPr marL="0" indent="0">
              <a:buNone/>
            </a:pPr>
            <a:r>
              <a:rPr lang="en-US" sz="4600" b="1" dirty="0">
                <a:solidFill>
                  <a:srgbClr val="FFFFFF"/>
                </a:solidFill>
                <a:latin typeface="Trebuchet MS" pitchFamily="34" charset="0"/>
                <a:ea typeface="Trebuchet MS" pitchFamily="34" charset="-122"/>
                <a:cs typeface="Trebuchet MS" pitchFamily="34" charset="-120"/>
              </a:rPr>
              <a:t>Introduction to Databricks</a:t>
            </a:r>
            <a:endParaRPr lang="en-US" sz="4600" dirty="0"/>
          </a:p>
        </p:txBody>
      </p:sp>
      <p:sp>
        <p:nvSpPr>
          <p:cNvPr id="6" name="Text 4"/>
          <p:cNvSpPr/>
          <p:nvPr/>
        </p:nvSpPr>
        <p:spPr>
          <a:xfrm>
            <a:off x="548640" y="4041648"/>
            <a:ext cx="7223760" cy="548640"/>
          </a:xfrm>
          <a:prstGeom prst="rect">
            <a:avLst/>
          </a:prstGeom>
          <a:noFill/>
          <a:ln/>
        </p:spPr>
        <p:txBody>
          <a:bodyPr wrap="square" lIns="0" tIns="0" rIns="0" bIns="0" rtlCol="0" anchor="ctr"/>
          <a:lstStyle/>
          <a:p>
            <a:pPr marL="0" indent="0">
              <a:buNone/>
            </a:pPr>
            <a:r>
              <a:rPr lang="en-US" sz="1600" dirty="0">
                <a:solidFill>
                  <a:srgbClr val="C7D2D8"/>
                </a:solidFill>
                <a:latin typeface="Calibri" pitchFamily="34" charset="0"/>
                <a:ea typeface="Calibri" pitchFamily="34" charset="-122"/>
                <a:cs typeface="Calibri" pitchFamily="34" charset="-120"/>
              </a:rPr>
              <a:t>One platform that unifies data engineering, analytics, data science and AI.</a:t>
            </a:r>
            <a:endParaRPr lang="en-US" sz="1600" dirty="0"/>
          </a:p>
        </p:txBody>
      </p:sp>
      <p:sp>
        <p:nvSpPr>
          <p:cNvPr id="7" name="Text 5"/>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8597A0"/>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8" name="Text 6"/>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8597A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02 · DEFINITION</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What is Databricks?</a:t>
            </a:r>
            <a:endParaRPr lang="en-US" sz="2900" dirty="0"/>
          </a:p>
        </p:txBody>
      </p:sp>
      <p:sp>
        <p:nvSpPr>
          <p:cNvPr id="5" name="Shape 3"/>
          <p:cNvSpPr/>
          <p:nvPr/>
        </p:nvSpPr>
        <p:spPr>
          <a:xfrm>
            <a:off x="548640" y="1783080"/>
            <a:ext cx="6400800" cy="3886200"/>
          </a:xfrm>
          <a:prstGeom prst="roundRect">
            <a:avLst>
              <a:gd name="adj" fmla="val 2353"/>
            </a:avLst>
          </a:prstGeom>
          <a:solidFill>
            <a:srgbClr val="0E1B24"/>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6" name="Text 4"/>
          <p:cNvSpPr/>
          <p:nvPr/>
        </p:nvSpPr>
        <p:spPr>
          <a:xfrm>
            <a:off x="777240" y="1783080"/>
            <a:ext cx="1097280" cy="1097280"/>
          </a:xfrm>
          <a:prstGeom prst="rect">
            <a:avLst/>
          </a:prstGeom>
          <a:noFill/>
          <a:ln/>
        </p:spPr>
        <p:txBody>
          <a:bodyPr wrap="square" lIns="0" tIns="0" rIns="0" bIns="0" rtlCol="0" anchor="ctr"/>
          <a:lstStyle/>
          <a:p>
            <a:pPr marL="0" indent="0">
              <a:buNone/>
            </a:pPr>
            <a:r>
              <a:rPr lang="en-US" sz="9000" b="1" dirty="0">
                <a:solidFill>
                  <a:srgbClr val="FF3621"/>
                </a:solidFill>
                <a:latin typeface="Georgia" pitchFamily="34" charset="0"/>
                <a:ea typeface="Georgia" pitchFamily="34" charset="-122"/>
                <a:cs typeface="Georgia" pitchFamily="34" charset="-120"/>
              </a:rPr>
              <a:t>“</a:t>
            </a:r>
            <a:endParaRPr lang="en-US" sz="9000" dirty="0"/>
          </a:p>
        </p:txBody>
      </p:sp>
      <p:sp>
        <p:nvSpPr>
          <p:cNvPr id="7" name="Text 5"/>
          <p:cNvSpPr/>
          <p:nvPr/>
        </p:nvSpPr>
        <p:spPr>
          <a:xfrm>
            <a:off x="1051560" y="2606040"/>
            <a:ext cx="5486400" cy="1828800"/>
          </a:xfrm>
          <a:prstGeom prst="rect">
            <a:avLst/>
          </a:prstGeom>
          <a:noFill/>
          <a:ln/>
        </p:spPr>
        <p:txBody>
          <a:bodyPr wrap="square" lIns="0" tIns="0" rIns="0" bIns="0" rtlCol="0" anchor="ctr"/>
          <a:lstStyle/>
          <a:p>
            <a:pPr marL="0" indent="0">
              <a:lnSpc>
                <a:spcPct val="104000"/>
              </a:lnSpc>
              <a:buNone/>
            </a:pPr>
            <a:r>
              <a:rPr lang="en-US" sz="1900" b="1" dirty="0">
                <a:solidFill>
                  <a:srgbClr val="FFFFFF"/>
                </a:solidFill>
                <a:latin typeface="Trebuchet MS" pitchFamily="34" charset="0"/>
                <a:ea typeface="Trebuchet MS" pitchFamily="34" charset="-122"/>
                <a:cs typeface="Trebuchet MS" pitchFamily="34" charset="-120"/>
              </a:rPr>
              <a:t>Databricks is a unified, cloud-based Lakehouse platform that brings data engineering, warehousing, data science, AI and machine learning into one collaborative environment — powered by Apache Spark.</a:t>
            </a:r>
            <a:endParaRPr lang="en-US" sz="1900" dirty="0"/>
          </a:p>
        </p:txBody>
      </p:sp>
      <p:sp>
        <p:nvSpPr>
          <p:cNvPr id="8" name="Shape 6"/>
          <p:cNvSpPr/>
          <p:nvPr/>
        </p:nvSpPr>
        <p:spPr>
          <a:xfrm>
            <a:off x="1051560" y="4892040"/>
            <a:ext cx="5394960" cy="0"/>
          </a:xfrm>
          <a:prstGeom prst="line">
            <a:avLst/>
          </a:prstGeom>
          <a:noFill/>
          <a:ln w="12700">
            <a:solidFill>
              <a:srgbClr val="20404C"/>
            </a:solidFill>
            <a:prstDash val="solid"/>
          </a:ln>
        </p:spPr>
        <p:txBody>
          <a:bodyPr/>
          <a:lstStyle/>
          <a:p>
            <a:endParaRPr lang="en-US"/>
          </a:p>
        </p:txBody>
      </p:sp>
      <p:sp>
        <p:nvSpPr>
          <p:cNvPr id="9" name="Text 7"/>
          <p:cNvSpPr/>
          <p:nvPr/>
        </p:nvSpPr>
        <p:spPr>
          <a:xfrm>
            <a:off x="1051560" y="5029200"/>
            <a:ext cx="5486400" cy="457200"/>
          </a:xfrm>
          <a:prstGeom prst="rect">
            <a:avLst/>
          </a:prstGeom>
          <a:noFill/>
          <a:ln/>
        </p:spPr>
        <p:txBody>
          <a:bodyPr wrap="square" lIns="0" tIns="0" rIns="0" bIns="0" rtlCol="0" anchor="ctr"/>
          <a:lstStyle/>
          <a:p>
            <a:pPr marL="0" indent="0">
              <a:buNone/>
            </a:pPr>
            <a:r>
              <a:rPr lang="en-US" sz="1300" i="1" dirty="0">
                <a:solidFill>
                  <a:srgbClr val="C7D2D8"/>
                </a:solidFill>
                <a:latin typeface="Calibri" pitchFamily="34" charset="0"/>
                <a:ea typeface="Calibri" pitchFamily="34" charset="-122"/>
                <a:cs typeface="Calibri" pitchFamily="34" charset="-120"/>
              </a:rPr>
              <a:t>Built by the original creators of Apache Spark, Delta Lake and MLflow.</a:t>
            </a:r>
            <a:endParaRPr lang="en-US" sz="1300" dirty="0"/>
          </a:p>
        </p:txBody>
      </p:sp>
      <p:sp>
        <p:nvSpPr>
          <p:cNvPr id="10" name="Shape 8"/>
          <p:cNvSpPr/>
          <p:nvPr/>
        </p:nvSpPr>
        <p:spPr>
          <a:xfrm>
            <a:off x="7269480" y="1783080"/>
            <a:ext cx="2113636"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1" name="Shape 9"/>
          <p:cNvSpPr/>
          <p:nvPr/>
        </p:nvSpPr>
        <p:spPr>
          <a:xfrm>
            <a:off x="7562088" y="2093976"/>
            <a:ext cx="640080" cy="640080"/>
          </a:xfrm>
          <a:prstGeom prst="ellipse">
            <a:avLst/>
          </a:prstGeom>
          <a:solidFill>
            <a:srgbClr val="FF3621"/>
          </a:solidFill>
          <a:ln/>
        </p:spPr>
        <p:txBody>
          <a:bodyPr/>
          <a:lstStyle/>
          <a:p>
            <a:endParaRPr lang="en-US"/>
          </a:p>
        </p:txBody>
      </p:sp>
      <p:pic>
        <p:nvPicPr>
          <p:cNvPr id="12" name="Image 0" descr="preencoded.png"/>
          <p:cNvPicPr>
            <a:picLocks noChangeAspect="1"/>
          </p:cNvPicPr>
          <p:nvPr/>
        </p:nvPicPr>
        <p:blipFill>
          <a:blip r:embed="rId3"/>
          <a:stretch>
            <a:fillRect/>
          </a:stretch>
        </p:blipFill>
        <p:spPr>
          <a:xfrm>
            <a:off x="7722108" y="2253996"/>
            <a:ext cx="320040" cy="320040"/>
          </a:xfrm>
          <a:prstGeom prst="rect">
            <a:avLst/>
          </a:prstGeom>
        </p:spPr>
      </p:pic>
      <p:sp>
        <p:nvSpPr>
          <p:cNvPr id="13" name="Text 10"/>
          <p:cNvSpPr/>
          <p:nvPr/>
        </p:nvSpPr>
        <p:spPr>
          <a:xfrm>
            <a:off x="7543800" y="2807208"/>
            <a:ext cx="1610716" cy="365760"/>
          </a:xfrm>
          <a:prstGeom prst="rect">
            <a:avLst/>
          </a:prstGeom>
          <a:noFill/>
          <a:ln/>
        </p:spPr>
        <p:txBody>
          <a:bodyPr wrap="square" lIns="0" tIns="0" rIns="0" bIns="0" rtlCol="0" anchor="ctr"/>
          <a:lstStyle/>
          <a:p>
            <a:pPr marL="0" indent="0">
              <a:buNone/>
            </a:pPr>
            <a:r>
              <a:rPr lang="en-US" sz="1400" b="1" dirty="0">
                <a:solidFill>
                  <a:srgbClr val="13242E"/>
                </a:solidFill>
                <a:latin typeface="Trebuchet MS" pitchFamily="34" charset="0"/>
                <a:ea typeface="Trebuchet MS" pitchFamily="34" charset="-122"/>
                <a:cs typeface="Trebuchet MS" pitchFamily="34" charset="-120"/>
              </a:rPr>
              <a:t>Data Engineering</a:t>
            </a:r>
            <a:endParaRPr lang="en-US" sz="1400" dirty="0"/>
          </a:p>
        </p:txBody>
      </p:sp>
      <p:sp>
        <p:nvSpPr>
          <p:cNvPr id="14" name="Text 11"/>
          <p:cNvSpPr/>
          <p:nvPr/>
        </p:nvSpPr>
        <p:spPr>
          <a:xfrm>
            <a:off x="7543800" y="3136392"/>
            <a:ext cx="1610716" cy="320040"/>
          </a:xfrm>
          <a:prstGeom prst="rect">
            <a:avLst/>
          </a:prstGeom>
          <a:noFill/>
          <a:ln/>
        </p:spPr>
        <p:txBody>
          <a:bodyPr wrap="square" lIns="0" tIns="0" rIns="0" bIns="0" rtlCol="0" anchor="ctr"/>
          <a:lstStyle/>
          <a:p>
            <a:pPr marL="0" indent="0">
              <a:buNone/>
            </a:pPr>
            <a:r>
              <a:rPr lang="en-US" sz="1100" dirty="0">
                <a:solidFill>
                  <a:srgbClr val="38474F"/>
                </a:solidFill>
                <a:latin typeface="Calibri" pitchFamily="34" charset="0"/>
                <a:ea typeface="Calibri" pitchFamily="34" charset="-122"/>
                <a:cs typeface="Calibri" pitchFamily="34" charset="-120"/>
              </a:rPr>
              <a:t>Reliable pipelines</a:t>
            </a:r>
            <a:endParaRPr lang="en-US" sz="1100" dirty="0"/>
          </a:p>
        </p:txBody>
      </p:sp>
      <p:sp>
        <p:nvSpPr>
          <p:cNvPr id="15" name="Shape 12"/>
          <p:cNvSpPr/>
          <p:nvPr/>
        </p:nvSpPr>
        <p:spPr>
          <a:xfrm>
            <a:off x="9529420" y="1783080"/>
            <a:ext cx="2113636"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6" name="Shape 13"/>
          <p:cNvSpPr/>
          <p:nvPr/>
        </p:nvSpPr>
        <p:spPr>
          <a:xfrm>
            <a:off x="9822028" y="2093976"/>
            <a:ext cx="640080" cy="640080"/>
          </a:xfrm>
          <a:prstGeom prst="ellipse">
            <a:avLst/>
          </a:prstGeom>
          <a:solidFill>
            <a:srgbClr val="FF3621"/>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9982048" y="2253996"/>
            <a:ext cx="320040" cy="320040"/>
          </a:xfrm>
          <a:prstGeom prst="rect">
            <a:avLst/>
          </a:prstGeom>
        </p:spPr>
      </p:pic>
      <p:sp>
        <p:nvSpPr>
          <p:cNvPr id="18" name="Text 14"/>
          <p:cNvSpPr/>
          <p:nvPr/>
        </p:nvSpPr>
        <p:spPr>
          <a:xfrm>
            <a:off x="9803740" y="2807208"/>
            <a:ext cx="1610716" cy="365760"/>
          </a:xfrm>
          <a:prstGeom prst="rect">
            <a:avLst/>
          </a:prstGeom>
          <a:noFill/>
          <a:ln/>
        </p:spPr>
        <p:txBody>
          <a:bodyPr wrap="square" lIns="0" tIns="0" rIns="0" bIns="0" rtlCol="0" anchor="ctr"/>
          <a:lstStyle/>
          <a:p>
            <a:pPr marL="0" indent="0">
              <a:buNone/>
            </a:pPr>
            <a:r>
              <a:rPr lang="en-US" sz="1400" b="1" dirty="0">
                <a:solidFill>
                  <a:srgbClr val="13242E"/>
                </a:solidFill>
                <a:latin typeface="Trebuchet MS" pitchFamily="34" charset="0"/>
                <a:ea typeface="Trebuchet MS" pitchFamily="34" charset="-122"/>
                <a:cs typeface="Trebuchet MS" pitchFamily="34" charset="-120"/>
              </a:rPr>
              <a:t>SQL &amp; Warehousing</a:t>
            </a:r>
            <a:endParaRPr lang="en-US" sz="1400" dirty="0"/>
          </a:p>
        </p:txBody>
      </p:sp>
      <p:sp>
        <p:nvSpPr>
          <p:cNvPr id="19" name="Text 15"/>
          <p:cNvSpPr/>
          <p:nvPr/>
        </p:nvSpPr>
        <p:spPr>
          <a:xfrm>
            <a:off x="9803740" y="3136392"/>
            <a:ext cx="1610716" cy="320040"/>
          </a:xfrm>
          <a:prstGeom prst="rect">
            <a:avLst/>
          </a:prstGeom>
          <a:noFill/>
          <a:ln/>
        </p:spPr>
        <p:txBody>
          <a:bodyPr wrap="square" lIns="0" tIns="0" rIns="0" bIns="0" rtlCol="0" anchor="ctr"/>
          <a:lstStyle/>
          <a:p>
            <a:pPr marL="0" indent="0">
              <a:buNone/>
            </a:pPr>
            <a:r>
              <a:rPr lang="en-US" sz="1100" dirty="0">
                <a:solidFill>
                  <a:srgbClr val="38474F"/>
                </a:solidFill>
                <a:latin typeface="Calibri" pitchFamily="34" charset="0"/>
                <a:ea typeface="Calibri" pitchFamily="34" charset="-122"/>
                <a:cs typeface="Calibri" pitchFamily="34" charset="-120"/>
              </a:rPr>
              <a:t>Fast analytics &amp; BI</a:t>
            </a:r>
            <a:endParaRPr lang="en-US" sz="1100" dirty="0"/>
          </a:p>
        </p:txBody>
      </p:sp>
      <p:sp>
        <p:nvSpPr>
          <p:cNvPr id="20" name="Shape 16"/>
          <p:cNvSpPr/>
          <p:nvPr/>
        </p:nvSpPr>
        <p:spPr>
          <a:xfrm>
            <a:off x="7269480" y="3703320"/>
            <a:ext cx="2113636"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1" name="Shape 17"/>
          <p:cNvSpPr/>
          <p:nvPr/>
        </p:nvSpPr>
        <p:spPr>
          <a:xfrm>
            <a:off x="7562088" y="4014216"/>
            <a:ext cx="640080" cy="640080"/>
          </a:xfrm>
          <a:prstGeom prst="ellipse">
            <a:avLst/>
          </a:prstGeom>
          <a:solidFill>
            <a:srgbClr val="FF3621"/>
          </a:solidFill>
          <a:ln/>
        </p:spPr>
        <p:txBody>
          <a:bodyPr/>
          <a:lstStyle/>
          <a:p>
            <a:endParaRPr lang="en-US"/>
          </a:p>
        </p:txBody>
      </p:sp>
      <p:pic>
        <p:nvPicPr>
          <p:cNvPr id="22" name="Image 2" descr="preencoded.png"/>
          <p:cNvPicPr>
            <a:picLocks noChangeAspect="1"/>
          </p:cNvPicPr>
          <p:nvPr/>
        </p:nvPicPr>
        <p:blipFill>
          <a:blip r:embed="rId5"/>
          <a:stretch>
            <a:fillRect/>
          </a:stretch>
        </p:blipFill>
        <p:spPr>
          <a:xfrm>
            <a:off x="7722108" y="4174236"/>
            <a:ext cx="320040" cy="320040"/>
          </a:xfrm>
          <a:prstGeom prst="rect">
            <a:avLst/>
          </a:prstGeom>
        </p:spPr>
      </p:pic>
      <p:sp>
        <p:nvSpPr>
          <p:cNvPr id="23" name="Text 18"/>
          <p:cNvSpPr/>
          <p:nvPr/>
        </p:nvSpPr>
        <p:spPr>
          <a:xfrm>
            <a:off x="7543800" y="4727448"/>
            <a:ext cx="1610716" cy="365760"/>
          </a:xfrm>
          <a:prstGeom prst="rect">
            <a:avLst/>
          </a:prstGeom>
          <a:noFill/>
          <a:ln/>
        </p:spPr>
        <p:txBody>
          <a:bodyPr wrap="square" lIns="0" tIns="0" rIns="0" bIns="0" rtlCol="0" anchor="ctr"/>
          <a:lstStyle/>
          <a:p>
            <a:pPr marL="0" indent="0">
              <a:buNone/>
            </a:pPr>
            <a:r>
              <a:rPr lang="en-US" sz="1400" b="1" dirty="0">
                <a:solidFill>
                  <a:srgbClr val="13242E"/>
                </a:solidFill>
                <a:latin typeface="Trebuchet MS" pitchFamily="34" charset="0"/>
                <a:ea typeface="Trebuchet MS" pitchFamily="34" charset="-122"/>
                <a:cs typeface="Trebuchet MS" pitchFamily="34" charset="-120"/>
              </a:rPr>
              <a:t>Data Science &amp; AI</a:t>
            </a:r>
            <a:endParaRPr lang="en-US" sz="1400" dirty="0"/>
          </a:p>
        </p:txBody>
      </p:sp>
      <p:sp>
        <p:nvSpPr>
          <p:cNvPr id="24" name="Text 19"/>
          <p:cNvSpPr/>
          <p:nvPr/>
        </p:nvSpPr>
        <p:spPr>
          <a:xfrm>
            <a:off x="7543800" y="5056632"/>
            <a:ext cx="1610716" cy="320040"/>
          </a:xfrm>
          <a:prstGeom prst="rect">
            <a:avLst/>
          </a:prstGeom>
          <a:noFill/>
          <a:ln/>
        </p:spPr>
        <p:txBody>
          <a:bodyPr wrap="square" lIns="0" tIns="0" rIns="0" bIns="0" rtlCol="0" anchor="ctr"/>
          <a:lstStyle/>
          <a:p>
            <a:pPr marL="0" indent="0">
              <a:buNone/>
            </a:pPr>
            <a:r>
              <a:rPr lang="en-US" sz="1100" dirty="0">
                <a:solidFill>
                  <a:srgbClr val="38474F"/>
                </a:solidFill>
                <a:latin typeface="Calibri" pitchFamily="34" charset="0"/>
                <a:ea typeface="Calibri" pitchFamily="34" charset="-122"/>
                <a:cs typeface="Calibri" pitchFamily="34" charset="-120"/>
              </a:rPr>
              <a:t>Models &amp; machine learning</a:t>
            </a:r>
            <a:endParaRPr lang="en-US" sz="1100" dirty="0"/>
          </a:p>
        </p:txBody>
      </p:sp>
      <p:sp>
        <p:nvSpPr>
          <p:cNvPr id="25" name="Shape 20"/>
          <p:cNvSpPr/>
          <p:nvPr/>
        </p:nvSpPr>
        <p:spPr>
          <a:xfrm>
            <a:off x="9529420" y="3703320"/>
            <a:ext cx="2113636"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6" name="Shape 21"/>
          <p:cNvSpPr/>
          <p:nvPr/>
        </p:nvSpPr>
        <p:spPr>
          <a:xfrm>
            <a:off x="9822028" y="4014216"/>
            <a:ext cx="640080" cy="640080"/>
          </a:xfrm>
          <a:prstGeom prst="ellipse">
            <a:avLst/>
          </a:prstGeom>
          <a:solidFill>
            <a:srgbClr val="FF3621"/>
          </a:solidFill>
          <a:ln/>
        </p:spPr>
        <p:txBody>
          <a:bodyPr/>
          <a:lstStyle/>
          <a:p>
            <a:endParaRPr lang="en-US"/>
          </a:p>
        </p:txBody>
      </p:sp>
      <p:pic>
        <p:nvPicPr>
          <p:cNvPr id="27" name="Image 3" descr="preencoded.png"/>
          <p:cNvPicPr>
            <a:picLocks noChangeAspect="1"/>
          </p:cNvPicPr>
          <p:nvPr/>
        </p:nvPicPr>
        <p:blipFill>
          <a:blip r:embed="rId6"/>
          <a:stretch>
            <a:fillRect/>
          </a:stretch>
        </p:blipFill>
        <p:spPr>
          <a:xfrm>
            <a:off x="9982048" y="4174236"/>
            <a:ext cx="320040" cy="320040"/>
          </a:xfrm>
          <a:prstGeom prst="rect">
            <a:avLst/>
          </a:prstGeom>
        </p:spPr>
      </p:pic>
      <p:sp>
        <p:nvSpPr>
          <p:cNvPr id="28" name="Text 22"/>
          <p:cNvSpPr/>
          <p:nvPr/>
        </p:nvSpPr>
        <p:spPr>
          <a:xfrm>
            <a:off x="9803740" y="4727448"/>
            <a:ext cx="1610716" cy="365760"/>
          </a:xfrm>
          <a:prstGeom prst="rect">
            <a:avLst/>
          </a:prstGeom>
          <a:noFill/>
          <a:ln/>
        </p:spPr>
        <p:txBody>
          <a:bodyPr wrap="square" lIns="0" tIns="0" rIns="0" bIns="0" rtlCol="0" anchor="ctr"/>
          <a:lstStyle/>
          <a:p>
            <a:pPr marL="0" indent="0">
              <a:buNone/>
            </a:pPr>
            <a:r>
              <a:rPr lang="en-US" sz="1400" b="1" dirty="0">
                <a:solidFill>
                  <a:srgbClr val="13242E"/>
                </a:solidFill>
                <a:latin typeface="Trebuchet MS" pitchFamily="34" charset="0"/>
                <a:ea typeface="Trebuchet MS" pitchFamily="34" charset="-122"/>
                <a:cs typeface="Trebuchet MS" pitchFamily="34" charset="-120"/>
              </a:rPr>
              <a:t>Governance</a:t>
            </a:r>
            <a:endParaRPr lang="en-US" sz="1400" dirty="0"/>
          </a:p>
        </p:txBody>
      </p:sp>
      <p:sp>
        <p:nvSpPr>
          <p:cNvPr id="29" name="Text 23"/>
          <p:cNvSpPr/>
          <p:nvPr/>
        </p:nvSpPr>
        <p:spPr>
          <a:xfrm>
            <a:off x="9803740" y="5056632"/>
            <a:ext cx="1610716" cy="320040"/>
          </a:xfrm>
          <a:prstGeom prst="rect">
            <a:avLst/>
          </a:prstGeom>
          <a:noFill/>
          <a:ln/>
        </p:spPr>
        <p:txBody>
          <a:bodyPr wrap="square" lIns="0" tIns="0" rIns="0" bIns="0" rtlCol="0" anchor="ctr"/>
          <a:lstStyle/>
          <a:p>
            <a:pPr marL="0" indent="0">
              <a:buNone/>
            </a:pPr>
            <a:r>
              <a:rPr lang="en-US" sz="1100" dirty="0">
                <a:solidFill>
                  <a:srgbClr val="38474F"/>
                </a:solidFill>
                <a:latin typeface="Calibri" pitchFamily="34" charset="0"/>
                <a:ea typeface="Calibri" pitchFamily="34" charset="-122"/>
                <a:cs typeface="Calibri" pitchFamily="34" charset="-120"/>
              </a:rPr>
              <a:t>Secure, governed data</a:t>
            </a:r>
            <a:endParaRPr lang="en-US" sz="1100" dirty="0"/>
          </a:p>
        </p:txBody>
      </p:sp>
      <p:sp>
        <p:nvSpPr>
          <p:cNvPr id="30" name="Text 24"/>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31" name="Text 25"/>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02 · KEY IDEA</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The Lakehouse: best of both worlds</a:t>
            </a:r>
            <a:endParaRPr lang="en-US" sz="2900" dirty="0"/>
          </a:p>
        </p:txBody>
      </p:sp>
      <p:sp>
        <p:nvSpPr>
          <p:cNvPr id="5" name="Shape 3"/>
          <p:cNvSpPr/>
          <p:nvPr/>
        </p:nvSpPr>
        <p:spPr>
          <a:xfrm>
            <a:off x="548640" y="2011680"/>
            <a:ext cx="3270809" cy="2331720"/>
          </a:xfrm>
          <a:prstGeom prst="roundRect">
            <a:avLst>
              <a:gd name="adj" fmla="val 3922"/>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6" name="Shape 4"/>
          <p:cNvSpPr/>
          <p:nvPr/>
        </p:nvSpPr>
        <p:spPr>
          <a:xfrm>
            <a:off x="1809140" y="2331720"/>
            <a:ext cx="749808" cy="749808"/>
          </a:xfrm>
          <a:prstGeom prst="ellipse">
            <a:avLst/>
          </a:prstGeom>
          <a:solidFill>
            <a:srgbClr val="0E7C8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996592" y="2519172"/>
            <a:ext cx="374904" cy="374904"/>
          </a:xfrm>
          <a:prstGeom prst="rect">
            <a:avLst/>
          </a:prstGeom>
        </p:spPr>
      </p:pic>
      <p:sp>
        <p:nvSpPr>
          <p:cNvPr id="8" name="Text 5"/>
          <p:cNvSpPr/>
          <p:nvPr/>
        </p:nvSpPr>
        <p:spPr>
          <a:xfrm>
            <a:off x="548640" y="3200400"/>
            <a:ext cx="3270809" cy="365760"/>
          </a:xfrm>
          <a:prstGeom prst="rect">
            <a:avLst/>
          </a:prstGeom>
          <a:noFill/>
          <a:ln/>
        </p:spPr>
        <p:txBody>
          <a:bodyPr wrap="square" lIns="0" tIns="0" rIns="0" bIns="0" rtlCol="0" anchor="ctr"/>
          <a:lstStyle/>
          <a:p>
            <a:pPr marL="0" indent="0" algn="ctr">
              <a:buNone/>
            </a:pPr>
            <a:r>
              <a:rPr lang="en-US" sz="1600" b="1" dirty="0">
                <a:solidFill>
                  <a:srgbClr val="13242E"/>
                </a:solidFill>
                <a:latin typeface="Trebuchet MS" pitchFamily="34" charset="0"/>
                <a:ea typeface="Trebuchet MS" pitchFamily="34" charset="-122"/>
                <a:cs typeface="Trebuchet MS" pitchFamily="34" charset="-120"/>
              </a:rPr>
              <a:t>Data Warehouse</a:t>
            </a:r>
            <a:endParaRPr lang="en-US" sz="1600" dirty="0"/>
          </a:p>
        </p:txBody>
      </p:sp>
      <p:sp>
        <p:nvSpPr>
          <p:cNvPr id="9" name="Text 6"/>
          <p:cNvSpPr/>
          <p:nvPr/>
        </p:nvSpPr>
        <p:spPr>
          <a:xfrm>
            <a:off x="822960" y="3639312"/>
            <a:ext cx="2722169" cy="640080"/>
          </a:xfrm>
          <a:prstGeom prst="rect">
            <a:avLst/>
          </a:prstGeom>
          <a:noFill/>
          <a:ln/>
        </p:spPr>
        <p:txBody>
          <a:bodyPr wrap="square" lIns="0" tIns="0" rIns="0" bIns="0" rtlCol="0" anchor="ctr"/>
          <a:lstStyle/>
          <a:p>
            <a:pPr marL="0" indent="0" algn="ctr">
              <a:buNone/>
            </a:pPr>
            <a:r>
              <a:rPr lang="en-US" sz="1150" dirty="0">
                <a:solidFill>
                  <a:srgbClr val="38474F"/>
                </a:solidFill>
                <a:latin typeface="Calibri" pitchFamily="34" charset="0"/>
                <a:ea typeface="Calibri" pitchFamily="34" charset="-122"/>
                <a:cs typeface="Calibri" pitchFamily="34" charset="-120"/>
              </a:rPr>
              <a:t>Fast, reliable SQL &amp; BI — but rigid and costly for big, raw data.</a:t>
            </a:r>
            <a:endParaRPr lang="en-US" sz="1150" dirty="0"/>
          </a:p>
        </p:txBody>
      </p:sp>
      <p:sp>
        <p:nvSpPr>
          <p:cNvPr id="10" name="Shape 7"/>
          <p:cNvSpPr/>
          <p:nvPr/>
        </p:nvSpPr>
        <p:spPr>
          <a:xfrm>
            <a:off x="4459529" y="2011680"/>
            <a:ext cx="3270809" cy="2331720"/>
          </a:xfrm>
          <a:prstGeom prst="roundRect">
            <a:avLst>
              <a:gd name="adj" fmla="val 3922"/>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1" name="Shape 8"/>
          <p:cNvSpPr/>
          <p:nvPr/>
        </p:nvSpPr>
        <p:spPr>
          <a:xfrm>
            <a:off x="5720029" y="2331720"/>
            <a:ext cx="749808" cy="749808"/>
          </a:xfrm>
          <a:prstGeom prst="ellipse">
            <a:avLst/>
          </a:prstGeom>
          <a:solidFill>
            <a:srgbClr val="0E7C8B"/>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5907481" y="2519172"/>
            <a:ext cx="374904" cy="374904"/>
          </a:xfrm>
          <a:prstGeom prst="rect">
            <a:avLst/>
          </a:prstGeom>
        </p:spPr>
      </p:pic>
      <p:sp>
        <p:nvSpPr>
          <p:cNvPr id="13" name="Text 9"/>
          <p:cNvSpPr/>
          <p:nvPr/>
        </p:nvSpPr>
        <p:spPr>
          <a:xfrm>
            <a:off x="4459529" y="3200400"/>
            <a:ext cx="3270809" cy="365760"/>
          </a:xfrm>
          <a:prstGeom prst="rect">
            <a:avLst/>
          </a:prstGeom>
          <a:noFill/>
          <a:ln/>
        </p:spPr>
        <p:txBody>
          <a:bodyPr wrap="square" lIns="0" tIns="0" rIns="0" bIns="0" rtlCol="0" anchor="ctr"/>
          <a:lstStyle/>
          <a:p>
            <a:pPr marL="0" indent="0" algn="ctr">
              <a:buNone/>
            </a:pPr>
            <a:r>
              <a:rPr lang="en-US" sz="1600" b="1" dirty="0">
                <a:solidFill>
                  <a:srgbClr val="13242E"/>
                </a:solidFill>
                <a:latin typeface="Trebuchet MS" pitchFamily="34" charset="0"/>
                <a:ea typeface="Trebuchet MS" pitchFamily="34" charset="-122"/>
                <a:cs typeface="Trebuchet MS" pitchFamily="34" charset="-120"/>
              </a:rPr>
              <a:t>Data Lake</a:t>
            </a:r>
            <a:endParaRPr lang="en-US" sz="1600" dirty="0"/>
          </a:p>
        </p:txBody>
      </p:sp>
      <p:sp>
        <p:nvSpPr>
          <p:cNvPr id="14" name="Text 10"/>
          <p:cNvSpPr/>
          <p:nvPr/>
        </p:nvSpPr>
        <p:spPr>
          <a:xfrm>
            <a:off x="4733849" y="3639312"/>
            <a:ext cx="2722169" cy="640080"/>
          </a:xfrm>
          <a:prstGeom prst="rect">
            <a:avLst/>
          </a:prstGeom>
          <a:noFill/>
          <a:ln/>
        </p:spPr>
        <p:txBody>
          <a:bodyPr wrap="square" lIns="0" tIns="0" rIns="0" bIns="0" rtlCol="0" anchor="ctr"/>
          <a:lstStyle/>
          <a:p>
            <a:pPr marL="0" indent="0" algn="ctr">
              <a:buNone/>
            </a:pPr>
            <a:r>
              <a:rPr lang="en-US" sz="1150" dirty="0">
                <a:solidFill>
                  <a:srgbClr val="38474F"/>
                </a:solidFill>
                <a:latin typeface="Calibri" pitchFamily="34" charset="0"/>
                <a:ea typeface="Calibri" pitchFamily="34" charset="-122"/>
                <a:cs typeface="Calibri" pitchFamily="34" charset="-120"/>
              </a:rPr>
              <a:t>Cheap storage for any data — but messy, with no guarantees.</a:t>
            </a:r>
            <a:endParaRPr lang="en-US" sz="1150" dirty="0"/>
          </a:p>
        </p:txBody>
      </p:sp>
      <p:sp>
        <p:nvSpPr>
          <p:cNvPr id="15" name="Shape 11"/>
          <p:cNvSpPr/>
          <p:nvPr/>
        </p:nvSpPr>
        <p:spPr>
          <a:xfrm>
            <a:off x="8370418" y="2011680"/>
            <a:ext cx="3270809" cy="2331720"/>
          </a:xfrm>
          <a:prstGeom prst="roundRect">
            <a:avLst>
              <a:gd name="adj" fmla="val 3922"/>
            </a:avLst>
          </a:prstGeom>
          <a:solidFill>
            <a:srgbClr val="0E1B24"/>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6" name="Shape 12"/>
          <p:cNvSpPr/>
          <p:nvPr/>
        </p:nvSpPr>
        <p:spPr>
          <a:xfrm>
            <a:off x="8370418" y="2011680"/>
            <a:ext cx="3270809" cy="91440"/>
          </a:xfrm>
          <a:prstGeom prst="rect">
            <a:avLst/>
          </a:prstGeom>
          <a:solidFill>
            <a:srgbClr val="FF3621"/>
          </a:solidFill>
          <a:ln/>
        </p:spPr>
        <p:txBody>
          <a:bodyPr/>
          <a:lstStyle/>
          <a:p>
            <a:endParaRPr lang="en-US"/>
          </a:p>
        </p:txBody>
      </p:sp>
      <p:sp>
        <p:nvSpPr>
          <p:cNvPr id="17" name="Shape 13"/>
          <p:cNvSpPr/>
          <p:nvPr/>
        </p:nvSpPr>
        <p:spPr>
          <a:xfrm>
            <a:off x="9630918" y="2331720"/>
            <a:ext cx="749808" cy="749808"/>
          </a:xfrm>
          <a:prstGeom prst="ellipse">
            <a:avLst/>
          </a:prstGeom>
          <a:solidFill>
            <a:srgbClr val="FF3621"/>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9818370" y="2519172"/>
            <a:ext cx="374904" cy="374904"/>
          </a:xfrm>
          <a:prstGeom prst="rect">
            <a:avLst/>
          </a:prstGeom>
        </p:spPr>
      </p:pic>
      <p:sp>
        <p:nvSpPr>
          <p:cNvPr id="19" name="Text 14"/>
          <p:cNvSpPr/>
          <p:nvPr/>
        </p:nvSpPr>
        <p:spPr>
          <a:xfrm>
            <a:off x="8370418" y="3200400"/>
            <a:ext cx="3270809"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Lakehouse</a:t>
            </a:r>
            <a:endParaRPr lang="en-US" sz="1600" dirty="0"/>
          </a:p>
        </p:txBody>
      </p:sp>
      <p:sp>
        <p:nvSpPr>
          <p:cNvPr id="20" name="Text 15"/>
          <p:cNvSpPr/>
          <p:nvPr/>
        </p:nvSpPr>
        <p:spPr>
          <a:xfrm>
            <a:off x="8644738" y="3639312"/>
            <a:ext cx="2722169" cy="640080"/>
          </a:xfrm>
          <a:prstGeom prst="rect">
            <a:avLst/>
          </a:prstGeom>
          <a:noFill/>
          <a:ln/>
        </p:spPr>
        <p:txBody>
          <a:bodyPr wrap="square" lIns="0" tIns="0" rIns="0" bIns="0" rtlCol="0" anchor="ctr"/>
          <a:lstStyle/>
          <a:p>
            <a:pPr marL="0" indent="0" algn="ctr">
              <a:buNone/>
            </a:pPr>
            <a:r>
              <a:rPr lang="en-US" sz="1150" dirty="0">
                <a:solidFill>
                  <a:srgbClr val="E8EEF1"/>
                </a:solidFill>
                <a:latin typeface="Calibri" pitchFamily="34" charset="0"/>
                <a:ea typeface="Calibri" pitchFamily="34" charset="-122"/>
                <a:cs typeface="Calibri" pitchFamily="34" charset="-120"/>
              </a:rPr>
              <a:t>One layer: reliable like a warehouse, open &amp; cheap like a lake.</a:t>
            </a:r>
            <a:endParaRPr lang="en-US" sz="1150" dirty="0"/>
          </a:p>
        </p:txBody>
      </p:sp>
      <p:sp>
        <p:nvSpPr>
          <p:cNvPr id="21" name="Text 16"/>
          <p:cNvSpPr/>
          <p:nvPr/>
        </p:nvSpPr>
        <p:spPr>
          <a:xfrm>
            <a:off x="3819449" y="2514600"/>
            <a:ext cx="640080" cy="1280160"/>
          </a:xfrm>
          <a:prstGeom prst="rect">
            <a:avLst/>
          </a:prstGeom>
          <a:noFill/>
          <a:ln/>
        </p:spPr>
        <p:txBody>
          <a:bodyPr wrap="square" lIns="0" tIns="0" rIns="0" bIns="0" rtlCol="0" anchor="ctr"/>
          <a:lstStyle/>
          <a:p>
            <a:pPr marL="0" indent="0" algn="ctr">
              <a:buNone/>
            </a:pPr>
            <a:r>
              <a:rPr lang="en-US" sz="4600" b="1" dirty="0">
                <a:solidFill>
                  <a:srgbClr val="7C8A91"/>
                </a:solidFill>
                <a:latin typeface="Trebuchet MS" pitchFamily="34" charset="0"/>
                <a:ea typeface="Trebuchet MS" pitchFamily="34" charset="-122"/>
                <a:cs typeface="Trebuchet MS" pitchFamily="34" charset="-120"/>
              </a:rPr>
              <a:t>+</a:t>
            </a:r>
            <a:endParaRPr lang="en-US" sz="4600" dirty="0"/>
          </a:p>
        </p:txBody>
      </p:sp>
      <p:sp>
        <p:nvSpPr>
          <p:cNvPr id="22" name="Text 17"/>
          <p:cNvSpPr/>
          <p:nvPr/>
        </p:nvSpPr>
        <p:spPr>
          <a:xfrm>
            <a:off x="7730338" y="2514600"/>
            <a:ext cx="640080" cy="1280160"/>
          </a:xfrm>
          <a:prstGeom prst="rect">
            <a:avLst/>
          </a:prstGeom>
          <a:noFill/>
          <a:ln/>
        </p:spPr>
        <p:txBody>
          <a:bodyPr wrap="square" lIns="0" tIns="0" rIns="0" bIns="0" rtlCol="0" anchor="ctr"/>
          <a:lstStyle/>
          <a:p>
            <a:pPr marL="0" indent="0" algn="ctr">
              <a:buNone/>
            </a:pPr>
            <a:r>
              <a:rPr lang="en-US" sz="4600" b="1" dirty="0">
                <a:solidFill>
                  <a:srgbClr val="FF3621"/>
                </a:solidFill>
                <a:latin typeface="Trebuchet MS" pitchFamily="34" charset="0"/>
                <a:ea typeface="Trebuchet MS" pitchFamily="34" charset="-122"/>
                <a:cs typeface="Trebuchet MS" pitchFamily="34" charset="-120"/>
              </a:rPr>
              <a:t>=</a:t>
            </a:r>
            <a:endParaRPr lang="en-US" sz="4600" dirty="0"/>
          </a:p>
        </p:txBody>
      </p:sp>
      <p:sp>
        <p:nvSpPr>
          <p:cNvPr id="23" name="Shape 18"/>
          <p:cNvSpPr/>
          <p:nvPr/>
        </p:nvSpPr>
        <p:spPr>
          <a:xfrm>
            <a:off x="548640" y="4892040"/>
            <a:ext cx="2615184" cy="868680"/>
          </a:xfrm>
          <a:prstGeom prst="roundRect">
            <a:avLst>
              <a:gd name="adj" fmla="val 10526"/>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4" name="Shape 19"/>
          <p:cNvSpPr/>
          <p:nvPr/>
        </p:nvSpPr>
        <p:spPr>
          <a:xfrm>
            <a:off x="749808" y="5097780"/>
            <a:ext cx="457200" cy="457200"/>
          </a:xfrm>
          <a:prstGeom prst="ellipse">
            <a:avLst/>
          </a:prstGeom>
          <a:solidFill>
            <a:srgbClr val="FF3621"/>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864108" y="5212080"/>
            <a:ext cx="228600" cy="228600"/>
          </a:xfrm>
          <a:prstGeom prst="rect">
            <a:avLst/>
          </a:prstGeom>
        </p:spPr>
      </p:pic>
      <p:sp>
        <p:nvSpPr>
          <p:cNvPr id="26" name="Text 20"/>
          <p:cNvSpPr/>
          <p:nvPr/>
        </p:nvSpPr>
        <p:spPr>
          <a:xfrm>
            <a:off x="1325880" y="4892040"/>
            <a:ext cx="1700784" cy="868680"/>
          </a:xfrm>
          <a:prstGeom prst="rect">
            <a:avLst/>
          </a:prstGeom>
          <a:noFill/>
          <a:ln/>
        </p:spPr>
        <p:txBody>
          <a:bodyPr wrap="square" lIns="0" tIns="0" rIns="0" bIns="0" rtlCol="0" anchor="ctr"/>
          <a:lstStyle/>
          <a:p>
            <a:pPr marL="0" indent="0">
              <a:buNone/>
            </a:pPr>
            <a:r>
              <a:rPr lang="en-US" sz="1200" b="1" dirty="0">
                <a:solidFill>
                  <a:srgbClr val="13242E"/>
                </a:solidFill>
                <a:latin typeface="Calibri" pitchFamily="34" charset="0"/>
                <a:ea typeface="Calibri" pitchFamily="34" charset="-122"/>
                <a:cs typeface="Calibri" pitchFamily="34" charset="-120"/>
              </a:rPr>
              <a:t>ACID transactions</a:t>
            </a:r>
            <a:endParaRPr lang="en-US" sz="1200" dirty="0"/>
          </a:p>
        </p:txBody>
      </p:sp>
      <p:sp>
        <p:nvSpPr>
          <p:cNvPr id="27" name="Shape 21"/>
          <p:cNvSpPr/>
          <p:nvPr/>
        </p:nvSpPr>
        <p:spPr>
          <a:xfrm>
            <a:off x="3375050" y="4892040"/>
            <a:ext cx="2615184" cy="868680"/>
          </a:xfrm>
          <a:prstGeom prst="roundRect">
            <a:avLst>
              <a:gd name="adj" fmla="val 10526"/>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8" name="Shape 22"/>
          <p:cNvSpPr/>
          <p:nvPr/>
        </p:nvSpPr>
        <p:spPr>
          <a:xfrm>
            <a:off x="3576218" y="5097780"/>
            <a:ext cx="457200" cy="457200"/>
          </a:xfrm>
          <a:prstGeom prst="ellipse">
            <a:avLst/>
          </a:prstGeom>
          <a:solidFill>
            <a:srgbClr val="FF3621"/>
          </a:solidFill>
          <a:ln/>
        </p:spPr>
        <p:txBody>
          <a:bodyPr/>
          <a:lstStyle/>
          <a:p>
            <a:endParaRPr lang="en-US"/>
          </a:p>
        </p:txBody>
      </p:sp>
      <p:pic>
        <p:nvPicPr>
          <p:cNvPr id="29" name="Image 4" descr="preencoded.png"/>
          <p:cNvPicPr>
            <a:picLocks noChangeAspect="1"/>
          </p:cNvPicPr>
          <p:nvPr/>
        </p:nvPicPr>
        <p:blipFill>
          <a:blip r:embed="rId5"/>
          <a:stretch>
            <a:fillRect/>
          </a:stretch>
        </p:blipFill>
        <p:spPr>
          <a:xfrm>
            <a:off x="3690518" y="5212080"/>
            <a:ext cx="228600" cy="228600"/>
          </a:xfrm>
          <a:prstGeom prst="rect">
            <a:avLst/>
          </a:prstGeom>
        </p:spPr>
      </p:pic>
      <p:sp>
        <p:nvSpPr>
          <p:cNvPr id="30" name="Text 23"/>
          <p:cNvSpPr/>
          <p:nvPr/>
        </p:nvSpPr>
        <p:spPr>
          <a:xfrm>
            <a:off x="4152290" y="4892040"/>
            <a:ext cx="1700784" cy="868680"/>
          </a:xfrm>
          <a:prstGeom prst="rect">
            <a:avLst/>
          </a:prstGeom>
          <a:noFill/>
          <a:ln/>
        </p:spPr>
        <p:txBody>
          <a:bodyPr wrap="square" lIns="0" tIns="0" rIns="0" bIns="0" rtlCol="0" anchor="ctr"/>
          <a:lstStyle/>
          <a:p>
            <a:pPr marL="0" indent="0">
              <a:buNone/>
            </a:pPr>
            <a:r>
              <a:rPr lang="en-US" sz="1200" b="1" dirty="0">
                <a:solidFill>
                  <a:srgbClr val="13242E"/>
                </a:solidFill>
                <a:latin typeface="Calibri" pitchFamily="34" charset="0"/>
                <a:ea typeface="Calibri" pitchFamily="34" charset="-122"/>
                <a:cs typeface="Calibri" pitchFamily="34" charset="-120"/>
              </a:rPr>
              <a:t>Open formats (Delta)</a:t>
            </a:r>
            <a:endParaRPr lang="en-US" sz="1200" dirty="0"/>
          </a:p>
        </p:txBody>
      </p:sp>
      <p:sp>
        <p:nvSpPr>
          <p:cNvPr id="31" name="Shape 24"/>
          <p:cNvSpPr/>
          <p:nvPr/>
        </p:nvSpPr>
        <p:spPr>
          <a:xfrm>
            <a:off x="6201461" y="4892040"/>
            <a:ext cx="2615184" cy="868680"/>
          </a:xfrm>
          <a:prstGeom prst="roundRect">
            <a:avLst>
              <a:gd name="adj" fmla="val 10526"/>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2" name="Shape 25"/>
          <p:cNvSpPr/>
          <p:nvPr/>
        </p:nvSpPr>
        <p:spPr>
          <a:xfrm>
            <a:off x="6402629" y="5097780"/>
            <a:ext cx="457200" cy="457200"/>
          </a:xfrm>
          <a:prstGeom prst="ellipse">
            <a:avLst/>
          </a:prstGeom>
          <a:solidFill>
            <a:srgbClr val="FF3621"/>
          </a:solidFill>
          <a:ln/>
        </p:spPr>
        <p:txBody>
          <a:bodyPr/>
          <a:lstStyle/>
          <a:p>
            <a:endParaRPr lang="en-US"/>
          </a:p>
        </p:txBody>
      </p:sp>
      <p:pic>
        <p:nvPicPr>
          <p:cNvPr id="33" name="Image 5" descr="preencoded.png"/>
          <p:cNvPicPr>
            <a:picLocks noChangeAspect="1"/>
          </p:cNvPicPr>
          <p:nvPr/>
        </p:nvPicPr>
        <p:blipFill>
          <a:blip r:embed="rId7"/>
          <a:stretch>
            <a:fillRect/>
          </a:stretch>
        </p:blipFill>
        <p:spPr>
          <a:xfrm>
            <a:off x="6516929" y="5212080"/>
            <a:ext cx="228600" cy="228600"/>
          </a:xfrm>
          <a:prstGeom prst="rect">
            <a:avLst/>
          </a:prstGeom>
        </p:spPr>
      </p:pic>
      <p:sp>
        <p:nvSpPr>
          <p:cNvPr id="34" name="Text 26"/>
          <p:cNvSpPr/>
          <p:nvPr/>
        </p:nvSpPr>
        <p:spPr>
          <a:xfrm>
            <a:off x="6978701" y="4892040"/>
            <a:ext cx="1700784" cy="868680"/>
          </a:xfrm>
          <a:prstGeom prst="rect">
            <a:avLst/>
          </a:prstGeom>
          <a:noFill/>
          <a:ln/>
        </p:spPr>
        <p:txBody>
          <a:bodyPr wrap="square" lIns="0" tIns="0" rIns="0" bIns="0" rtlCol="0" anchor="ctr"/>
          <a:lstStyle/>
          <a:p>
            <a:pPr marL="0" indent="0">
              <a:buNone/>
            </a:pPr>
            <a:r>
              <a:rPr lang="en-US" sz="1200" b="1" dirty="0">
                <a:solidFill>
                  <a:srgbClr val="13242E"/>
                </a:solidFill>
                <a:latin typeface="Calibri" pitchFamily="34" charset="0"/>
                <a:ea typeface="Calibri" pitchFamily="34" charset="-122"/>
                <a:cs typeface="Calibri" pitchFamily="34" charset="-120"/>
              </a:rPr>
              <a:t>BI + AI together</a:t>
            </a:r>
            <a:endParaRPr lang="en-US" sz="1200" dirty="0"/>
          </a:p>
        </p:txBody>
      </p:sp>
      <p:sp>
        <p:nvSpPr>
          <p:cNvPr id="35" name="Shape 27"/>
          <p:cNvSpPr/>
          <p:nvPr/>
        </p:nvSpPr>
        <p:spPr>
          <a:xfrm>
            <a:off x="9027871" y="4892040"/>
            <a:ext cx="2615184" cy="868680"/>
          </a:xfrm>
          <a:prstGeom prst="roundRect">
            <a:avLst>
              <a:gd name="adj" fmla="val 10526"/>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6" name="Shape 28"/>
          <p:cNvSpPr/>
          <p:nvPr/>
        </p:nvSpPr>
        <p:spPr>
          <a:xfrm>
            <a:off x="9229039" y="5097780"/>
            <a:ext cx="457200" cy="457200"/>
          </a:xfrm>
          <a:prstGeom prst="ellipse">
            <a:avLst/>
          </a:prstGeom>
          <a:solidFill>
            <a:srgbClr val="FF3621"/>
          </a:solidFill>
          <a:ln/>
        </p:spPr>
        <p:txBody>
          <a:bodyPr/>
          <a:lstStyle/>
          <a:p>
            <a:endParaRPr lang="en-US"/>
          </a:p>
        </p:txBody>
      </p:sp>
      <p:pic>
        <p:nvPicPr>
          <p:cNvPr id="37" name="Image 6" descr="preencoded.png"/>
          <p:cNvPicPr>
            <a:picLocks noChangeAspect="1"/>
          </p:cNvPicPr>
          <p:nvPr/>
        </p:nvPicPr>
        <p:blipFill>
          <a:blip r:embed="rId8"/>
          <a:stretch>
            <a:fillRect/>
          </a:stretch>
        </p:blipFill>
        <p:spPr>
          <a:xfrm>
            <a:off x="9343339" y="5212080"/>
            <a:ext cx="228600" cy="228600"/>
          </a:xfrm>
          <a:prstGeom prst="rect">
            <a:avLst/>
          </a:prstGeom>
        </p:spPr>
      </p:pic>
      <p:sp>
        <p:nvSpPr>
          <p:cNvPr id="38" name="Text 29"/>
          <p:cNvSpPr/>
          <p:nvPr/>
        </p:nvSpPr>
        <p:spPr>
          <a:xfrm>
            <a:off x="9805111" y="4892040"/>
            <a:ext cx="1700784" cy="868680"/>
          </a:xfrm>
          <a:prstGeom prst="rect">
            <a:avLst/>
          </a:prstGeom>
          <a:noFill/>
          <a:ln/>
        </p:spPr>
        <p:txBody>
          <a:bodyPr wrap="square" lIns="0" tIns="0" rIns="0" bIns="0" rtlCol="0" anchor="ctr"/>
          <a:lstStyle/>
          <a:p>
            <a:pPr marL="0" indent="0">
              <a:buNone/>
            </a:pPr>
            <a:r>
              <a:rPr lang="en-US" sz="1200" b="1" dirty="0">
                <a:solidFill>
                  <a:srgbClr val="13242E"/>
                </a:solidFill>
                <a:latin typeface="Calibri" pitchFamily="34" charset="0"/>
                <a:ea typeface="Calibri" pitchFamily="34" charset="-122"/>
                <a:cs typeface="Calibri" pitchFamily="34" charset="-120"/>
              </a:rPr>
              <a:t>One copy of data</a:t>
            </a:r>
            <a:endParaRPr lang="en-US" sz="1200" dirty="0"/>
          </a:p>
        </p:txBody>
      </p:sp>
      <p:sp>
        <p:nvSpPr>
          <p:cNvPr id="39" name="Text 30"/>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40" name="Text 31"/>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02 · UNIFIED PLATFORM</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One platform, every data persona</a:t>
            </a:r>
            <a:endParaRPr lang="en-US" sz="2900" dirty="0"/>
          </a:p>
        </p:txBody>
      </p:sp>
      <p:sp>
        <p:nvSpPr>
          <p:cNvPr id="5" name="Shape 3"/>
          <p:cNvSpPr/>
          <p:nvPr/>
        </p:nvSpPr>
        <p:spPr>
          <a:xfrm>
            <a:off x="548640" y="1783080"/>
            <a:ext cx="2587752" cy="1554480"/>
          </a:xfrm>
          <a:prstGeom prst="roundRect">
            <a:avLst>
              <a:gd name="adj" fmla="val 5882"/>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6" name="Shape 4"/>
          <p:cNvSpPr/>
          <p:nvPr/>
        </p:nvSpPr>
        <p:spPr>
          <a:xfrm>
            <a:off x="822960" y="2093976"/>
            <a:ext cx="658368" cy="658368"/>
          </a:xfrm>
          <a:prstGeom prst="ellipse">
            <a:avLst/>
          </a:prstGeom>
          <a:solidFill>
            <a:srgbClr val="FF3621"/>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87552" y="2258568"/>
            <a:ext cx="329184" cy="329184"/>
          </a:xfrm>
          <a:prstGeom prst="rect">
            <a:avLst/>
          </a:prstGeom>
        </p:spPr>
      </p:pic>
      <p:sp>
        <p:nvSpPr>
          <p:cNvPr id="8" name="Text 5"/>
          <p:cNvSpPr/>
          <p:nvPr/>
        </p:nvSpPr>
        <p:spPr>
          <a:xfrm>
            <a:off x="1609344" y="2057400"/>
            <a:ext cx="1399032" cy="365760"/>
          </a:xfrm>
          <a:prstGeom prst="rect">
            <a:avLst/>
          </a:prstGeom>
          <a:noFill/>
          <a:ln/>
        </p:spPr>
        <p:txBody>
          <a:bodyPr wrap="square" lIns="0" tIns="0" rIns="0" bIns="0" rtlCol="0" anchor="ctr"/>
          <a:lstStyle/>
          <a:p>
            <a:pPr marL="0" indent="0">
              <a:buNone/>
            </a:pPr>
            <a:r>
              <a:rPr lang="en-US" sz="1400" b="1" dirty="0">
                <a:solidFill>
                  <a:srgbClr val="13242E"/>
                </a:solidFill>
                <a:latin typeface="Trebuchet MS" pitchFamily="34" charset="0"/>
                <a:ea typeface="Trebuchet MS" pitchFamily="34" charset="-122"/>
                <a:cs typeface="Trebuchet MS" pitchFamily="34" charset="-120"/>
              </a:rPr>
              <a:t>Data Engineer</a:t>
            </a:r>
            <a:endParaRPr lang="en-US" sz="1400" dirty="0"/>
          </a:p>
        </p:txBody>
      </p:sp>
      <p:sp>
        <p:nvSpPr>
          <p:cNvPr id="9" name="Text 6"/>
          <p:cNvSpPr/>
          <p:nvPr/>
        </p:nvSpPr>
        <p:spPr>
          <a:xfrm>
            <a:off x="1609344" y="2441448"/>
            <a:ext cx="1353312" cy="640080"/>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Builds &amp; runs pipelines</a:t>
            </a:r>
            <a:endParaRPr lang="en-US" sz="1050" dirty="0"/>
          </a:p>
        </p:txBody>
      </p:sp>
      <p:sp>
        <p:nvSpPr>
          <p:cNvPr id="10" name="Shape 7"/>
          <p:cNvSpPr/>
          <p:nvPr/>
        </p:nvSpPr>
        <p:spPr>
          <a:xfrm>
            <a:off x="1842516" y="3337560"/>
            <a:ext cx="0" cy="384048"/>
          </a:xfrm>
          <a:prstGeom prst="line">
            <a:avLst/>
          </a:prstGeom>
          <a:noFill/>
          <a:ln w="19050">
            <a:solidFill>
              <a:srgbClr val="7C8A91"/>
            </a:solidFill>
            <a:prstDash val="solid"/>
          </a:ln>
        </p:spPr>
        <p:txBody>
          <a:bodyPr/>
          <a:lstStyle/>
          <a:p>
            <a:endParaRPr lang="en-US"/>
          </a:p>
        </p:txBody>
      </p:sp>
      <p:sp>
        <p:nvSpPr>
          <p:cNvPr id="11" name="Shape 8"/>
          <p:cNvSpPr/>
          <p:nvPr/>
        </p:nvSpPr>
        <p:spPr>
          <a:xfrm>
            <a:off x="1796796" y="3666744"/>
            <a:ext cx="91440" cy="91440"/>
          </a:xfrm>
          <a:prstGeom prst="ellipse">
            <a:avLst/>
          </a:prstGeom>
          <a:solidFill>
            <a:srgbClr val="FF3621"/>
          </a:solidFill>
          <a:ln/>
        </p:spPr>
        <p:txBody>
          <a:bodyPr/>
          <a:lstStyle/>
          <a:p>
            <a:endParaRPr lang="en-US"/>
          </a:p>
        </p:txBody>
      </p:sp>
      <p:sp>
        <p:nvSpPr>
          <p:cNvPr id="12" name="Shape 9"/>
          <p:cNvSpPr/>
          <p:nvPr/>
        </p:nvSpPr>
        <p:spPr>
          <a:xfrm>
            <a:off x="3384194" y="1783080"/>
            <a:ext cx="2587752" cy="1554480"/>
          </a:xfrm>
          <a:prstGeom prst="roundRect">
            <a:avLst>
              <a:gd name="adj" fmla="val 5882"/>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3" name="Shape 10"/>
          <p:cNvSpPr/>
          <p:nvPr/>
        </p:nvSpPr>
        <p:spPr>
          <a:xfrm>
            <a:off x="3658514" y="2093976"/>
            <a:ext cx="658368" cy="658368"/>
          </a:xfrm>
          <a:prstGeom prst="ellipse">
            <a:avLst/>
          </a:prstGeom>
          <a:solidFill>
            <a:srgbClr val="FF3621"/>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3823106" y="2258568"/>
            <a:ext cx="329184" cy="329184"/>
          </a:xfrm>
          <a:prstGeom prst="rect">
            <a:avLst/>
          </a:prstGeom>
        </p:spPr>
      </p:pic>
      <p:sp>
        <p:nvSpPr>
          <p:cNvPr id="15" name="Text 11"/>
          <p:cNvSpPr/>
          <p:nvPr/>
        </p:nvSpPr>
        <p:spPr>
          <a:xfrm>
            <a:off x="4444898" y="2057400"/>
            <a:ext cx="1399032" cy="365760"/>
          </a:xfrm>
          <a:prstGeom prst="rect">
            <a:avLst/>
          </a:prstGeom>
          <a:noFill/>
          <a:ln/>
        </p:spPr>
        <p:txBody>
          <a:bodyPr wrap="square" lIns="0" tIns="0" rIns="0" bIns="0" rtlCol="0" anchor="ctr"/>
          <a:lstStyle/>
          <a:p>
            <a:pPr marL="0" indent="0">
              <a:buNone/>
            </a:pPr>
            <a:r>
              <a:rPr lang="en-US" sz="1400" b="1" dirty="0">
                <a:solidFill>
                  <a:srgbClr val="13242E"/>
                </a:solidFill>
                <a:latin typeface="Trebuchet MS" pitchFamily="34" charset="0"/>
                <a:ea typeface="Trebuchet MS" pitchFamily="34" charset="-122"/>
                <a:cs typeface="Trebuchet MS" pitchFamily="34" charset="-120"/>
              </a:rPr>
              <a:t>Data Analyst</a:t>
            </a:r>
            <a:endParaRPr lang="en-US" sz="1400" dirty="0"/>
          </a:p>
        </p:txBody>
      </p:sp>
      <p:sp>
        <p:nvSpPr>
          <p:cNvPr id="16" name="Text 12"/>
          <p:cNvSpPr/>
          <p:nvPr/>
        </p:nvSpPr>
        <p:spPr>
          <a:xfrm>
            <a:off x="4444898" y="2441448"/>
            <a:ext cx="1353312" cy="640080"/>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Queries with SQL &amp; BI</a:t>
            </a:r>
            <a:endParaRPr lang="en-US" sz="1050" dirty="0"/>
          </a:p>
        </p:txBody>
      </p:sp>
      <p:sp>
        <p:nvSpPr>
          <p:cNvPr id="17" name="Shape 13"/>
          <p:cNvSpPr/>
          <p:nvPr/>
        </p:nvSpPr>
        <p:spPr>
          <a:xfrm>
            <a:off x="4678070" y="3337560"/>
            <a:ext cx="0" cy="384048"/>
          </a:xfrm>
          <a:prstGeom prst="line">
            <a:avLst/>
          </a:prstGeom>
          <a:noFill/>
          <a:ln w="19050">
            <a:solidFill>
              <a:srgbClr val="7C8A91"/>
            </a:solidFill>
            <a:prstDash val="solid"/>
          </a:ln>
        </p:spPr>
        <p:txBody>
          <a:bodyPr/>
          <a:lstStyle/>
          <a:p>
            <a:endParaRPr lang="en-US"/>
          </a:p>
        </p:txBody>
      </p:sp>
      <p:sp>
        <p:nvSpPr>
          <p:cNvPr id="18" name="Shape 14"/>
          <p:cNvSpPr/>
          <p:nvPr/>
        </p:nvSpPr>
        <p:spPr>
          <a:xfrm>
            <a:off x="4632350" y="3666744"/>
            <a:ext cx="91440" cy="91440"/>
          </a:xfrm>
          <a:prstGeom prst="ellipse">
            <a:avLst/>
          </a:prstGeom>
          <a:solidFill>
            <a:srgbClr val="FF3621"/>
          </a:solidFill>
          <a:ln/>
        </p:spPr>
        <p:txBody>
          <a:bodyPr/>
          <a:lstStyle/>
          <a:p>
            <a:endParaRPr lang="en-US"/>
          </a:p>
        </p:txBody>
      </p:sp>
      <p:sp>
        <p:nvSpPr>
          <p:cNvPr id="19" name="Shape 15"/>
          <p:cNvSpPr/>
          <p:nvPr/>
        </p:nvSpPr>
        <p:spPr>
          <a:xfrm>
            <a:off x="6219749" y="1783080"/>
            <a:ext cx="2587752" cy="1554480"/>
          </a:xfrm>
          <a:prstGeom prst="roundRect">
            <a:avLst>
              <a:gd name="adj" fmla="val 5882"/>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0" name="Shape 16"/>
          <p:cNvSpPr/>
          <p:nvPr/>
        </p:nvSpPr>
        <p:spPr>
          <a:xfrm>
            <a:off x="6494069" y="2093976"/>
            <a:ext cx="658368" cy="658368"/>
          </a:xfrm>
          <a:prstGeom prst="ellipse">
            <a:avLst/>
          </a:prstGeom>
          <a:solidFill>
            <a:srgbClr val="FF3621"/>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6658661" y="2258568"/>
            <a:ext cx="329184" cy="329184"/>
          </a:xfrm>
          <a:prstGeom prst="rect">
            <a:avLst/>
          </a:prstGeom>
        </p:spPr>
      </p:pic>
      <p:sp>
        <p:nvSpPr>
          <p:cNvPr id="22" name="Text 17"/>
          <p:cNvSpPr/>
          <p:nvPr/>
        </p:nvSpPr>
        <p:spPr>
          <a:xfrm>
            <a:off x="7280453" y="2057400"/>
            <a:ext cx="1399032" cy="365760"/>
          </a:xfrm>
          <a:prstGeom prst="rect">
            <a:avLst/>
          </a:prstGeom>
          <a:noFill/>
          <a:ln/>
        </p:spPr>
        <p:txBody>
          <a:bodyPr wrap="square" lIns="0" tIns="0" rIns="0" bIns="0" rtlCol="0" anchor="ctr"/>
          <a:lstStyle/>
          <a:p>
            <a:pPr marL="0" indent="0">
              <a:buNone/>
            </a:pPr>
            <a:r>
              <a:rPr lang="en-US" sz="1400" b="1" dirty="0">
                <a:solidFill>
                  <a:srgbClr val="13242E"/>
                </a:solidFill>
                <a:latin typeface="Trebuchet MS" pitchFamily="34" charset="0"/>
                <a:ea typeface="Trebuchet MS" pitchFamily="34" charset="-122"/>
                <a:cs typeface="Trebuchet MS" pitchFamily="34" charset="-120"/>
              </a:rPr>
              <a:t>Data Scientist</a:t>
            </a:r>
            <a:endParaRPr lang="en-US" sz="1400" dirty="0"/>
          </a:p>
        </p:txBody>
      </p:sp>
      <p:sp>
        <p:nvSpPr>
          <p:cNvPr id="23" name="Text 18"/>
          <p:cNvSpPr/>
          <p:nvPr/>
        </p:nvSpPr>
        <p:spPr>
          <a:xfrm>
            <a:off x="7280453" y="2441448"/>
            <a:ext cx="1353312" cy="640080"/>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Explores &amp; experiments</a:t>
            </a:r>
            <a:endParaRPr lang="en-US" sz="1050" dirty="0"/>
          </a:p>
        </p:txBody>
      </p:sp>
      <p:sp>
        <p:nvSpPr>
          <p:cNvPr id="24" name="Shape 19"/>
          <p:cNvSpPr/>
          <p:nvPr/>
        </p:nvSpPr>
        <p:spPr>
          <a:xfrm>
            <a:off x="7513625" y="3337560"/>
            <a:ext cx="0" cy="384048"/>
          </a:xfrm>
          <a:prstGeom prst="line">
            <a:avLst/>
          </a:prstGeom>
          <a:noFill/>
          <a:ln w="19050">
            <a:solidFill>
              <a:srgbClr val="7C8A91"/>
            </a:solidFill>
            <a:prstDash val="solid"/>
          </a:ln>
        </p:spPr>
        <p:txBody>
          <a:bodyPr/>
          <a:lstStyle/>
          <a:p>
            <a:endParaRPr lang="en-US"/>
          </a:p>
        </p:txBody>
      </p:sp>
      <p:sp>
        <p:nvSpPr>
          <p:cNvPr id="25" name="Shape 20"/>
          <p:cNvSpPr/>
          <p:nvPr/>
        </p:nvSpPr>
        <p:spPr>
          <a:xfrm>
            <a:off x="7467905" y="3666744"/>
            <a:ext cx="91440" cy="91440"/>
          </a:xfrm>
          <a:prstGeom prst="ellipse">
            <a:avLst/>
          </a:prstGeom>
          <a:solidFill>
            <a:srgbClr val="FF3621"/>
          </a:solidFill>
          <a:ln/>
        </p:spPr>
        <p:txBody>
          <a:bodyPr/>
          <a:lstStyle/>
          <a:p>
            <a:endParaRPr lang="en-US"/>
          </a:p>
        </p:txBody>
      </p:sp>
      <p:sp>
        <p:nvSpPr>
          <p:cNvPr id="26" name="Shape 21"/>
          <p:cNvSpPr/>
          <p:nvPr/>
        </p:nvSpPr>
        <p:spPr>
          <a:xfrm>
            <a:off x="9055303" y="1783080"/>
            <a:ext cx="2587752" cy="1554480"/>
          </a:xfrm>
          <a:prstGeom prst="roundRect">
            <a:avLst>
              <a:gd name="adj" fmla="val 5882"/>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7" name="Shape 22"/>
          <p:cNvSpPr/>
          <p:nvPr/>
        </p:nvSpPr>
        <p:spPr>
          <a:xfrm>
            <a:off x="9329623" y="2093976"/>
            <a:ext cx="658368" cy="658368"/>
          </a:xfrm>
          <a:prstGeom prst="ellipse">
            <a:avLst/>
          </a:prstGeom>
          <a:solidFill>
            <a:srgbClr val="FF3621"/>
          </a:solidFill>
          <a:ln/>
        </p:spPr>
        <p:txBody>
          <a:bodyPr/>
          <a:lstStyle/>
          <a:p>
            <a:endParaRPr lang="en-US"/>
          </a:p>
        </p:txBody>
      </p:sp>
      <p:pic>
        <p:nvPicPr>
          <p:cNvPr id="28" name="Image 3" descr="preencoded.png"/>
          <p:cNvPicPr>
            <a:picLocks noChangeAspect="1"/>
          </p:cNvPicPr>
          <p:nvPr/>
        </p:nvPicPr>
        <p:blipFill>
          <a:blip r:embed="rId6"/>
          <a:stretch>
            <a:fillRect/>
          </a:stretch>
        </p:blipFill>
        <p:spPr>
          <a:xfrm>
            <a:off x="9494215" y="2258568"/>
            <a:ext cx="329184" cy="329184"/>
          </a:xfrm>
          <a:prstGeom prst="rect">
            <a:avLst/>
          </a:prstGeom>
        </p:spPr>
      </p:pic>
      <p:sp>
        <p:nvSpPr>
          <p:cNvPr id="29" name="Text 23"/>
          <p:cNvSpPr/>
          <p:nvPr/>
        </p:nvSpPr>
        <p:spPr>
          <a:xfrm>
            <a:off x="10116007" y="2057400"/>
            <a:ext cx="1399032" cy="365760"/>
          </a:xfrm>
          <a:prstGeom prst="rect">
            <a:avLst/>
          </a:prstGeom>
          <a:noFill/>
          <a:ln/>
        </p:spPr>
        <p:txBody>
          <a:bodyPr wrap="square" lIns="0" tIns="0" rIns="0" bIns="0" rtlCol="0" anchor="ctr"/>
          <a:lstStyle/>
          <a:p>
            <a:pPr marL="0" indent="0">
              <a:buNone/>
            </a:pPr>
            <a:r>
              <a:rPr lang="en-US" sz="1400" b="1" dirty="0">
                <a:solidFill>
                  <a:srgbClr val="13242E"/>
                </a:solidFill>
                <a:latin typeface="Trebuchet MS" pitchFamily="34" charset="0"/>
                <a:ea typeface="Trebuchet MS" pitchFamily="34" charset="-122"/>
                <a:cs typeface="Trebuchet MS" pitchFamily="34" charset="-120"/>
              </a:rPr>
              <a:t>ML Engineer</a:t>
            </a:r>
            <a:endParaRPr lang="en-US" sz="1400" dirty="0"/>
          </a:p>
        </p:txBody>
      </p:sp>
      <p:sp>
        <p:nvSpPr>
          <p:cNvPr id="30" name="Text 24"/>
          <p:cNvSpPr/>
          <p:nvPr/>
        </p:nvSpPr>
        <p:spPr>
          <a:xfrm>
            <a:off x="10116007" y="2441448"/>
            <a:ext cx="1353312" cy="640080"/>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Trains &amp; deploys models</a:t>
            </a:r>
            <a:endParaRPr lang="en-US" sz="1050" dirty="0"/>
          </a:p>
        </p:txBody>
      </p:sp>
      <p:sp>
        <p:nvSpPr>
          <p:cNvPr id="31" name="Shape 25"/>
          <p:cNvSpPr/>
          <p:nvPr/>
        </p:nvSpPr>
        <p:spPr>
          <a:xfrm>
            <a:off x="10349179" y="3337560"/>
            <a:ext cx="0" cy="384048"/>
          </a:xfrm>
          <a:prstGeom prst="line">
            <a:avLst/>
          </a:prstGeom>
          <a:noFill/>
          <a:ln w="19050">
            <a:solidFill>
              <a:srgbClr val="7C8A91"/>
            </a:solidFill>
            <a:prstDash val="solid"/>
          </a:ln>
        </p:spPr>
        <p:txBody>
          <a:bodyPr/>
          <a:lstStyle/>
          <a:p>
            <a:endParaRPr lang="en-US"/>
          </a:p>
        </p:txBody>
      </p:sp>
      <p:sp>
        <p:nvSpPr>
          <p:cNvPr id="32" name="Shape 26"/>
          <p:cNvSpPr/>
          <p:nvPr/>
        </p:nvSpPr>
        <p:spPr>
          <a:xfrm>
            <a:off x="10303459" y="3666744"/>
            <a:ext cx="91440" cy="91440"/>
          </a:xfrm>
          <a:prstGeom prst="ellipse">
            <a:avLst/>
          </a:prstGeom>
          <a:solidFill>
            <a:srgbClr val="FF3621"/>
          </a:solidFill>
          <a:ln/>
        </p:spPr>
        <p:txBody>
          <a:bodyPr/>
          <a:lstStyle/>
          <a:p>
            <a:endParaRPr lang="en-US"/>
          </a:p>
        </p:txBody>
      </p:sp>
      <p:sp>
        <p:nvSpPr>
          <p:cNvPr id="33" name="Shape 27"/>
          <p:cNvSpPr/>
          <p:nvPr/>
        </p:nvSpPr>
        <p:spPr>
          <a:xfrm>
            <a:off x="548640" y="3886200"/>
            <a:ext cx="11094415" cy="914400"/>
          </a:xfrm>
          <a:prstGeom prst="roundRect">
            <a:avLst>
              <a:gd name="adj" fmla="val 10000"/>
            </a:avLst>
          </a:prstGeom>
          <a:solidFill>
            <a:srgbClr val="0E1B24"/>
          </a:solidFill>
          <a:ln/>
          <a:effectLst>
            <a:outerShdw blurRad="114300" dist="38100" dir="8100000" algn="bl" rotWithShape="0">
              <a:srgbClr val="16242C">
                <a:alpha val="16000"/>
              </a:srgbClr>
            </a:outerShdw>
          </a:effectLst>
        </p:spPr>
        <p:txBody>
          <a:bodyPr/>
          <a:lstStyle/>
          <a:p>
            <a:endParaRPr lang="en-US"/>
          </a:p>
        </p:txBody>
      </p:sp>
      <p:sp>
        <p:nvSpPr>
          <p:cNvPr id="34" name="Shape 28"/>
          <p:cNvSpPr/>
          <p:nvPr/>
        </p:nvSpPr>
        <p:spPr>
          <a:xfrm>
            <a:off x="548640" y="3886200"/>
            <a:ext cx="128016" cy="914400"/>
          </a:xfrm>
          <a:prstGeom prst="rect">
            <a:avLst/>
          </a:prstGeom>
          <a:solidFill>
            <a:srgbClr val="FF3621"/>
          </a:solidFill>
          <a:ln/>
        </p:spPr>
        <p:txBody>
          <a:bodyPr/>
          <a:lstStyle/>
          <a:p>
            <a:endParaRPr lang="en-US"/>
          </a:p>
        </p:txBody>
      </p:sp>
      <p:sp>
        <p:nvSpPr>
          <p:cNvPr id="35" name="Shape 29"/>
          <p:cNvSpPr/>
          <p:nvPr/>
        </p:nvSpPr>
        <p:spPr>
          <a:xfrm>
            <a:off x="960120" y="4069080"/>
            <a:ext cx="548640" cy="548640"/>
          </a:xfrm>
          <a:prstGeom prst="ellipse">
            <a:avLst/>
          </a:prstGeom>
          <a:solidFill>
            <a:srgbClr val="FF3621"/>
          </a:solidFill>
          <a:ln/>
        </p:spPr>
        <p:txBody>
          <a:bodyPr/>
          <a:lstStyle/>
          <a:p>
            <a:endParaRPr lang="en-US"/>
          </a:p>
        </p:txBody>
      </p:sp>
      <p:pic>
        <p:nvPicPr>
          <p:cNvPr id="36" name="Image 4" descr="preencoded.png"/>
          <p:cNvPicPr>
            <a:picLocks noChangeAspect="1"/>
          </p:cNvPicPr>
          <p:nvPr/>
        </p:nvPicPr>
        <p:blipFill>
          <a:blip r:embed="rId7"/>
          <a:stretch>
            <a:fillRect/>
          </a:stretch>
        </p:blipFill>
        <p:spPr>
          <a:xfrm>
            <a:off x="1097280" y="4206240"/>
            <a:ext cx="274320" cy="274320"/>
          </a:xfrm>
          <a:prstGeom prst="rect">
            <a:avLst/>
          </a:prstGeom>
        </p:spPr>
      </p:pic>
      <p:sp>
        <p:nvSpPr>
          <p:cNvPr id="37" name="Text 30"/>
          <p:cNvSpPr/>
          <p:nvPr/>
        </p:nvSpPr>
        <p:spPr>
          <a:xfrm>
            <a:off x="1737360" y="3886200"/>
            <a:ext cx="6400800" cy="914400"/>
          </a:xfrm>
          <a:prstGeom prst="rect">
            <a:avLst/>
          </a:prstGeom>
          <a:noFill/>
          <a:ln/>
        </p:spPr>
        <p:txBody>
          <a:bodyPr wrap="square" lIns="0" tIns="0" rIns="0" bIns="0" rtlCol="0" anchor="ctr"/>
          <a:lstStyle/>
          <a:p>
            <a:pPr marL="0" indent="0">
              <a:buNone/>
            </a:pPr>
            <a:r>
              <a:rPr lang="en-US" sz="1900" b="1" dirty="0">
                <a:solidFill>
                  <a:srgbClr val="FFFFFF"/>
                </a:solidFill>
                <a:latin typeface="Trebuchet MS" pitchFamily="34" charset="0"/>
                <a:ea typeface="Trebuchet MS" pitchFamily="34" charset="-122"/>
                <a:cs typeface="Trebuchet MS" pitchFamily="34" charset="-120"/>
              </a:rPr>
              <a:t>Databricks Lakehouse Platform</a:t>
            </a:r>
            <a:endParaRPr lang="en-US" sz="1900" dirty="0"/>
          </a:p>
        </p:txBody>
      </p:sp>
      <p:sp>
        <p:nvSpPr>
          <p:cNvPr id="38" name="Text 31"/>
          <p:cNvSpPr/>
          <p:nvPr/>
        </p:nvSpPr>
        <p:spPr>
          <a:xfrm>
            <a:off x="6949440" y="3886200"/>
            <a:ext cx="4327855" cy="914400"/>
          </a:xfrm>
          <a:prstGeom prst="rect">
            <a:avLst/>
          </a:prstGeom>
          <a:noFill/>
          <a:ln/>
        </p:spPr>
        <p:txBody>
          <a:bodyPr wrap="square" lIns="0" tIns="0" rIns="0" bIns="0" rtlCol="0" anchor="ctr"/>
          <a:lstStyle/>
          <a:p>
            <a:pPr marL="0" indent="0" algn="r">
              <a:buNone/>
            </a:pPr>
            <a:r>
              <a:rPr lang="en-US" sz="1250" dirty="0">
                <a:solidFill>
                  <a:srgbClr val="C7D2D8"/>
                </a:solidFill>
                <a:latin typeface="Calibri" pitchFamily="34" charset="0"/>
                <a:ea typeface="Calibri" pitchFamily="34" charset="-122"/>
                <a:cs typeface="Calibri" pitchFamily="34" charset="-120"/>
              </a:rPr>
              <a:t>Workspace · Spark · Delta Lake · ML · Unity Catalog</a:t>
            </a:r>
            <a:endParaRPr lang="en-US" sz="1250" dirty="0"/>
          </a:p>
        </p:txBody>
      </p:sp>
      <p:sp>
        <p:nvSpPr>
          <p:cNvPr id="39" name="Shape 32"/>
          <p:cNvSpPr/>
          <p:nvPr/>
        </p:nvSpPr>
        <p:spPr>
          <a:xfrm>
            <a:off x="548640" y="5029200"/>
            <a:ext cx="11094415" cy="777240"/>
          </a:xfrm>
          <a:prstGeom prst="roundRect">
            <a:avLst>
              <a:gd name="adj" fmla="val 9412"/>
            </a:avLst>
          </a:prstGeom>
          <a:solidFill>
            <a:srgbClr val="F2F5F6"/>
          </a:solidFill>
          <a:ln w="12700">
            <a:solidFill>
              <a:srgbClr val="DDE4E7"/>
            </a:solidFill>
            <a:prstDash val="solid"/>
          </a:ln>
        </p:spPr>
        <p:txBody>
          <a:bodyPr/>
          <a:lstStyle/>
          <a:p>
            <a:endParaRPr lang="en-US"/>
          </a:p>
        </p:txBody>
      </p:sp>
      <p:sp>
        <p:nvSpPr>
          <p:cNvPr id="40" name="Shape 33"/>
          <p:cNvSpPr/>
          <p:nvPr/>
        </p:nvSpPr>
        <p:spPr>
          <a:xfrm>
            <a:off x="960120" y="5193792"/>
            <a:ext cx="457200" cy="457200"/>
          </a:xfrm>
          <a:prstGeom prst="ellipse">
            <a:avLst/>
          </a:prstGeom>
          <a:solidFill>
            <a:srgbClr val="0E7C8B"/>
          </a:solidFill>
          <a:ln/>
        </p:spPr>
        <p:txBody>
          <a:bodyPr/>
          <a:lstStyle/>
          <a:p>
            <a:endParaRPr lang="en-US"/>
          </a:p>
        </p:txBody>
      </p:sp>
      <p:pic>
        <p:nvPicPr>
          <p:cNvPr id="41" name="Image 5" descr="preencoded.png"/>
          <p:cNvPicPr>
            <a:picLocks noChangeAspect="1"/>
          </p:cNvPicPr>
          <p:nvPr/>
        </p:nvPicPr>
        <p:blipFill>
          <a:blip r:embed="rId8"/>
          <a:stretch>
            <a:fillRect/>
          </a:stretch>
        </p:blipFill>
        <p:spPr>
          <a:xfrm>
            <a:off x="1074420" y="5308092"/>
            <a:ext cx="228600" cy="228600"/>
          </a:xfrm>
          <a:prstGeom prst="rect">
            <a:avLst/>
          </a:prstGeom>
        </p:spPr>
      </p:pic>
      <p:sp>
        <p:nvSpPr>
          <p:cNvPr id="42" name="Text 34"/>
          <p:cNvSpPr/>
          <p:nvPr/>
        </p:nvSpPr>
        <p:spPr>
          <a:xfrm>
            <a:off x="1691640" y="5029200"/>
            <a:ext cx="9722815" cy="777240"/>
          </a:xfrm>
          <a:prstGeom prst="rect">
            <a:avLst/>
          </a:prstGeom>
          <a:noFill/>
          <a:ln/>
        </p:spPr>
        <p:txBody>
          <a:bodyPr wrap="square" lIns="0" tIns="0" rIns="0" bIns="0" rtlCol="0" anchor="ctr"/>
          <a:lstStyle/>
          <a:p>
            <a:pPr marL="0" indent="0">
              <a:buNone/>
            </a:pPr>
            <a:r>
              <a:rPr lang="en-US" sz="1300" b="1" dirty="0">
                <a:solidFill>
                  <a:srgbClr val="13242E"/>
                </a:solidFill>
                <a:latin typeface="Calibri" pitchFamily="34" charset="0"/>
                <a:ea typeface="Calibri" pitchFamily="34" charset="-122"/>
                <a:cs typeface="Calibri" pitchFamily="34" charset="-120"/>
              </a:rPr>
              <a:t>One copy of data  ·  Delta Lake on your cloud storage (S3 · ADLS · GCS)</a:t>
            </a:r>
            <a:endParaRPr lang="en-US" sz="1300" dirty="0"/>
          </a:p>
        </p:txBody>
      </p:sp>
      <p:sp>
        <p:nvSpPr>
          <p:cNvPr id="43" name="Text 35"/>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44" name="Text 36"/>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02 · THE TOOLKIT</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Databricks core components</a:t>
            </a:r>
            <a:endParaRPr lang="en-US" sz="2900" dirty="0"/>
          </a:p>
        </p:txBody>
      </p:sp>
      <p:sp>
        <p:nvSpPr>
          <p:cNvPr id="5" name="Text 3"/>
          <p:cNvSpPr/>
          <p:nvPr/>
        </p:nvSpPr>
        <p:spPr>
          <a:xfrm>
            <a:off x="548640" y="1627632"/>
            <a:ext cx="11094415" cy="320040"/>
          </a:xfrm>
          <a:prstGeom prst="rect">
            <a:avLst/>
          </a:prstGeom>
          <a:noFill/>
          <a:ln/>
        </p:spPr>
        <p:txBody>
          <a:bodyPr wrap="square" lIns="0" tIns="0" rIns="0" bIns="0" rtlCol="0" anchor="ctr"/>
          <a:lstStyle/>
          <a:p>
            <a:pPr marL="0" indent="0">
              <a:buNone/>
            </a:pPr>
            <a:r>
              <a:rPr lang="en-US" sz="1400" dirty="0">
                <a:solidFill>
                  <a:srgbClr val="7C8A91"/>
                </a:solidFill>
                <a:latin typeface="Calibri" pitchFamily="34" charset="0"/>
                <a:ea typeface="Calibri" pitchFamily="34" charset="-122"/>
                <a:cs typeface="Calibri" pitchFamily="34" charset="-120"/>
              </a:rPr>
              <a:t>Five building blocks you'll meet again and again.</a:t>
            </a:r>
            <a:endParaRPr lang="en-US" sz="1400" dirty="0"/>
          </a:p>
        </p:txBody>
      </p:sp>
      <p:sp>
        <p:nvSpPr>
          <p:cNvPr id="6" name="Shape 4"/>
          <p:cNvSpPr/>
          <p:nvPr/>
        </p:nvSpPr>
        <p:spPr>
          <a:xfrm>
            <a:off x="548640" y="2286000"/>
            <a:ext cx="1993392" cy="3291840"/>
          </a:xfrm>
          <a:prstGeom prst="roundRect">
            <a:avLst>
              <a:gd name="adj" fmla="val 4587"/>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7" name="Shape 5"/>
          <p:cNvSpPr/>
          <p:nvPr/>
        </p:nvSpPr>
        <p:spPr>
          <a:xfrm>
            <a:off x="548640" y="2286000"/>
            <a:ext cx="1993392" cy="91440"/>
          </a:xfrm>
          <a:prstGeom prst="rect">
            <a:avLst/>
          </a:prstGeom>
          <a:solidFill>
            <a:srgbClr val="FF3621"/>
          </a:solidFill>
          <a:ln/>
        </p:spPr>
        <p:txBody>
          <a:bodyPr/>
          <a:lstStyle/>
          <a:p>
            <a:endParaRPr lang="en-US"/>
          </a:p>
        </p:txBody>
      </p:sp>
      <p:sp>
        <p:nvSpPr>
          <p:cNvPr id="8" name="Shape 6"/>
          <p:cNvSpPr/>
          <p:nvPr/>
        </p:nvSpPr>
        <p:spPr>
          <a:xfrm>
            <a:off x="1124712" y="2670048"/>
            <a:ext cx="841248" cy="841248"/>
          </a:xfrm>
          <a:prstGeom prst="ellipse">
            <a:avLst/>
          </a:prstGeom>
          <a:solidFill>
            <a:srgbClr val="0E1B24"/>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1335024" y="2880360"/>
            <a:ext cx="420624" cy="420624"/>
          </a:xfrm>
          <a:prstGeom prst="rect">
            <a:avLst/>
          </a:prstGeom>
        </p:spPr>
      </p:pic>
      <p:sp>
        <p:nvSpPr>
          <p:cNvPr id="10" name="Text 7"/>
          <p:cNvSpPr/>
          <p:nvPr/>
        </p:nvSpPr>
        <p:spPr>
          <a:xfrm>
            <a:off x="640080" y="3749040"/>
            <a:ext cx="1810512" cy="457200"/>
          </a:xfrm>
          <a:prstGeom prst="rect">
            <a:avLst/>
          </a:prstGeom>
          <a:noFill/>
          <a:ln/>
        </p:spPr>
        <p:txBody>
          <a:bodyPr wrap="square" lIns="0" tIns="0" rIns="0" bIns="0" rtlCol="0" anchor="ctr"/>
          <a:lstStyle/>
          <a:p>
            <a:pPr marL="0" indent="0" algn="ctr">
              <a:buNone/>
            </a:pPr>
            <a:r>
              <a:rPr lang="en-US" sz="1650" b="1" dirty="0">
                <a:solidFill>
                  <a:srgbClr val="13242E"/>
                </a:solidFill>
                <a:latin typeface="Trebuchet MS" pitchFamily="34" charset="0"/>
                <a:ea typeface="Trebuchet MS" pitchFamily="34" charset="-122"/>
                <a:cs typeface="Trebuchet MS" pitchFamily="34" charset="-120"/>
              </a:rPr>
              <a:t>Workspace</a:t>
            </a:r>
            <a:endParaRPr lang="en-US" sz="1650" dirty="0"/>
          </a:p>
        </p:txBody>
      </p:sp>
      <p:sp>
        <p:nvSpPr>
          <p:cNvPr id="11" name="Text 8"/>
          <p:cNvSpPr/>
          <p:nvPr/>
        </p:nvSpPr>
        <p:spPr>
          <a:xfrm>
            <a:off x="731520" y="4251960"/>
            <a:ext cx="1627632" cy="1143000"/>
          </a:xfrm>
          <a:prstGeom prst="rect">
            <a:avLst/>
          </a:prstGeom>
          <a:noFill/>
          <a:ln/>
        </p:spPr>
        <p:txBody>
          <a:bodyPr wrap="square" lIns="0" tIns="0" rIns="0" bIns="0" rtlCol="0" anchor="ctr"/>
          <a:lstStyle/>
          <a:p>
            <a:pPr marL="0" indent="0" algn="ctr">
              <a:buNone/>
            </a:pPr>
            <a:r>
              <a:rPr lang="en-US" sz="1100" dirty="0">
                <a:solidFill>
                  <a:srgbClr val="38474F"/>
                </a:solidFill>
                <a:latin typeface="Calibri" pitchFamily="34" charset="0"/>
                <a:ea typeface="Calibri" pitchFamily="34" charset="-122"/>
                <a:cs typeface="Calibri" pitchFamily="34" charset="-120"/>
              </a:rPr>
              <a:t>Collaborative notebooks, jobs and dashboards.</a:t>
            </a:r>
            <a:endParaRPr lang="en-US" sz="1100" dirty="0"/>
          </a:p>
        </p:txBody>
      </p:sp>
      <p:sp>
        <p:nvSpPr>
          <p:cNvPr id="12" name="Shape 9"/>
          <p:cNvSpPr/>
          <p:nvPr/>
        </p:nvSpPr>
        <p:spPr>
          <a:xfrm>
            <a:off x="2823896" y="2286000"/>
            <a:ext cx="1993392" cy="3291840"/>
          </a:xfrm>
          <a:prstGeom prst="roundRect">
            <a:avLst>
              <a:gd name="adj" fmla="val 4587"/>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3" name="Shape 10"/>
          <p:cNvSpPr/>
          <p:nvPr/>
        </p:nvSpPr>
        <p:spPr>
          <a:xfrm>
            <a:off x="2823896" y="2286000"/>
            <a:ext cx="1993392" cy="91440"/>
          </a:xfrm>
          <a:prstGeom prst="rect">
            <a:avLst/>
          </a:prstGeom>
          <a:solidFill>
            <a:srgbClr val="FF3621"/>
          </a:solidFill>
          <a:ln/>
        </p:spPr>
        <p:txBody>
          <a:bodyPr/>
          <a:lstStyle/>
          <a:p>
            <a:endParaRPr lang="en-US"/>
          </a:p>
        </p:txBody>
      </p:sp>
      <p:sp>
        <p:nvSpPr>
          <p:cNvPr id="14" name="Shape 11"/>
          <p:cNvSpPr/>
          <p:nvPr/>
        </p:nvSpPr>
        <p:spPr>
          <a:xfrm>
            <a:off x="3399968" y="2670048"/>
            <a:ext cx="841248" cy="841248"/>
          </a:xfrm>
          <a:prstGeom prst="ellipse">
            <a:avLst/>
          </a:prstGeom>
          <a:solidFill>
            <a:srgbClr val="0E1B24"/>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3610280" y="2880360"/>
            <a:ext cx="420624" cy="420624"/>
          </a:xfrm>
          <a:prstGeom prst="rect">
            <a:avLst/>
          </a:prstGeom>
        </p:spPr>
      </p:pic>
      <p:sp>
        <p:nvSpPr>
          <p:cNvPr id="16" name="Text 12"/>
          <p:cNvSpPr/>
          <p:nvPr/>
        </p:nvSpPr>
        <p:spPr>
          <a:xfrm>
            <a:off x="2915336" y="3749040"/>
            <a:ext cx="1810512" cy="457200"/>
          </a:xfrm>
          <a:prstGeom prst="rect">
            <a:avLst/>
          </a:prstGeom>
          <a:noFill/>
          <a:ln/>
        </p:spPr>
        <p:txBody>
          <a:bodyPr wrap="square" lIns="0" tIns="0" rIns="0" bIns="0" rtlCol="0" anchor="ctr"/>
          <a:lstStyle/>
          <a:p>
            <a:pPr marL="0" indent="0" algn="ctr">
              <a:buNone/>
            </a:pPr>
            <a:r>
              <a:rPr lang="en-US" sz="1650" b="1" dirty="0">
                <a:solidFill>
                  <a:srgbClr val="13242E"/>
                </a:solidFill>
                <a:latin typeface="Trebuchet MS" pitchFamily="34" charset="0"/>
                <a:ea typeface="Trebuchet MS" pitchFamily="34" charset="-122"/>
                <a:cs typeface="Trebuchet MS" pitchFamily="34" charset="-120"/>
              </a:rPr>
              <a:t>Spark Engine</a:t>
            </a:r>
            <a:endParaRPr lang="en-US" sz="1650" dirty="0"/>
          </a:p>
        </p:txBody>
      </p:sp>
      <p:sp>
        <p:nvSpPr>
          <p:cNvPr id="17" name="Text 13"/>
          <p:cNvSpPr/>
          <p:nvPr/>
        </p:nvSpPr>
        <p:spPr>
          <a:xfrm>
            <a:off x="3006776" y="4251960"/>
            <a:ext cx="1627632" cy="1143000"/>
          </a:xfrm>
          <a:prstGeom prst="rect">
            <a:avLst/>
          </a:prstGeom>
          <a:noFill/>
          <a:ln/>
        </p:spPr>
        <p:txBody>
          <a:bodyPr wrap="square" lIns="0" tIns="0" rIns="0" bIns="0" rtlCol="0" anchor="ctr"/>
          <a:lstStyle/>
          <a:p>
            <a:pPr marL="0" indent="0" algn="ctr">
              <a:buNone/>
            </a:pPr>
            <a:r>
              <a:rPr lang="en-US" sz="1100" dirty="0">
                <a:solidFill>
                  <a:srgbClr val="38474F"/>
                </a:solidFill>
                <a:latin typeface="Calibri" pitchFamily="34" charset="0"/>
                <a:ea typeface="Calibri" pitchFamily="34" charset="-122"/>
                <a:cs typeface="Calibri" pitchFamily="34" charset="-120"/>
              </a:rPr>
              <a:t>Distributed processing for huge datasets.</a:t>
            </a:r>
            <a:endParaRPr lang="en-US" sz="1100" dirty="0"/>
          </a:p>
        </p:txBody>
      </p:sp>
      <p:sp>
        <p:nvSpPr>
          <p:cNvPr id="18" name="Shape 14"/>
          <p:cNvSpPr/>
          <p:nvPr/>
        </p:nvSpPr>
        <p:spPr>
          <a:xfrm>
            <a:off x="5099152" y="2286000"/>
            <a:ext cx="1993392" cy="3291840"/>
          </a:xfrm>
          <a:prstGeom prst="roundRect">
            <a:avLst>
              <a:gd name="adj" fmla="val 4587"/>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9" name="Shape 15"/>
          <p:cNvSpPr/>
          <p:nvPr/>
        </p:nvSpPr>
        <p:spPr>
          <a:xfrm>
            <a:off x="5099152" y="2286000"/>
            <a:ext cx="1993392" cy="91440"/>
          </a:xfrm>
          <a:prstGeom prst="rect">
            <a:avLst/>
          </a:prstGeom>
          <a:solidFill>
            <a:srgbClr val="FF3621"/>
          </a:solidFill>
          <a:ln/>
        </p:spPr>
        <p:txBody>
          <a:bodyPr/>
          <a:lstStyle/>
          <a:p>
            <a:endParaRPr lang="en-US"/>
          </a:p>
        </p:txBody>
      </p:sp>
      <p:sp>
        <p:nvSpPr>
          <p:cNvPr id="20" name="Shape 16"/>
          <p:cNvSpPr/>
          <p:nvPr/>
        </p:nvSpPr>
        <p:spPr>
          <a:xfrm>
            <a:off x="5675224" y="2670048"/>
            <a:ext cx="841248" cy="841248"/>
          </a:xfrm>
          <a:prstGeom prst="ellipse">
            <a:avLst/>
          </a:prstGeom>
          <a:solidFill>
            <a:srgbClr val="0E1B24"/>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5885536" y="2880360"/>
            <a:ext cx="420624" cy="420624"/>
          </a:xfrm>
          <a:prstGeom prst="rect">
            <a:avLst/>
          </a:prstGeom>
        </p:spPr>
      </p:pic>
      <p:sp>
        <p:nvSpPr>
          <p:cNvPr id="22" name="Text 17"/>
          <p:cNvSpPr/>
          <p:nvPr/>
        </p:nvSpPr>
        <p:spPr>
          <a:xfrm>
            <a:off x="5190592" y="3749040"/>
            <a:ext cx="1810512" cy="457200"/>
          </a:xfrm>
          <a:prstGeom prst="rect">
            <a:avLst/>
          </a:prstGeom>
          <a:noFill/>
          <a:ln/>
        </p:spPr>
        <p:txBody>
          <a:bodyPr wrap="square" lIns="0" tIns="0" rIns="0" bIns="0" rtlCol="0" anchor="ctr"/>
          <a:lstStyle/>
          <a:p>
            <a:pPr marL="0" indent="0" algn="ctr">
              <a:buNone/>
            </a:pPr>
            <a:r>
              <a:rPr lang="en-US" sz="1650" b="1" dirty="0">
                <a:solidFill>
                  <a:srgbClr val="13242E"/>
                </a:solidFill>
                <a:latin typeface="Trebuchet MS" pitchFamily="34" charset="0"/>
                <a:ea typeface="Trebuchet MS" pitchFamily="34" charset="-122"/>
                <a:cs typeface="Trebuchet MS" pitchFamily="34" charset="-120"/>
              </a:rPr>
              <a:t>Delta Lake</a:t>
            </a:r>
            <a:endParaRPr lang="en-US" sz="1650" dirty="0"/>
          </a:p>
        </p:txBody>
      </p:sp>
      <p:sp>
        <p:nvSpPr>
          <p:cNvPr id="23" name="Text 18"/>
          <p:cNvSpPr/>
          <p:nvPr/>
        </p:nvSpPr>
        <p:spPr>
          <a:xfrm>
            <a:off x="5282032" y="4251960"/>
            <a:ext cx="1627632" cy="1143000"/>
          </a:xfrm>
          <a:prstGeom prst="rect">
            <a:avLst/>
          </a:prstGeom>
          <a:noFill/>
          <a:ln/>
        </p:spPr>
        <p:txBody>
          <a:bodyPr wrap="square" lIns="0" tIns="0" rIns="0" bIns="0" rtlCol="0" anchor="ctr"/>
          <a:lstStyle/>
          <a:p>
            <a:pPr marL="0" indent="0" algn="ctr">
              <a:buNone/>
            </a:pPr>
            <a:r>
              <a:rPr lang="en-US" sz="1100" dirty="0">
                <a:solidFill>
                  <a:srgbClr val="38474F"/>
                </a:solidFill>
                <a:latin typeface="Calibri" pitchFamily="34" charset="0"/>
                <a:ea typeface="Calibri" pitchFamily="34" charset="-122"/>
                <a:cs typeface="Calibri" pitchFamily="34" charset="-120"/>
              </a:rPr>
              <a:t>Reliable, ACID storage in an open format.</a:t>
            </a:r>
            <a:endParaRPr lang="en-US" sz="1100" dirty="0"/>
          </a:p>
        </p:txBody>
      </p:sp>
      <p:sp>
        <p:nvSpPr>
          <p:cNvPr id="24" name="Shape 19"/>
          <p:cNvSpPr/>
          <p:nvPr/>
        </p:nvSpPr>
        <p:spPr>
          <a:xfrm>
            <a:off x="7374407" y="2286000"/>
            <a:ext cx="1993392" cy="3291840"/>
          </a:xfrm>
          <a:prstGeom prst="roundRect">
            <a:avLst>
              <a:gd name="adj" fmla="val 4587"/>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5" name="Shape 20"/>
          <p:cNvSpPr/>
          <p:nvPr/>
        </p:nvSpPr>
        <p:spPr>
          <a:xfrm>
            <a:off x="7374407" y="2286000"/>
            <a:ext cx="1993392" cy="91440"/>
          </a:xfrm>
          <a:prstGeom prst="rect">
            <a:avLst/>
          </a:prstGeom>
          <a:solidFill>
            <a:srgbClr val="FF3621"/>
          </a:solidFill>
          <a:ln/>
        </p:spPr>
        <p:txBody>
          <a:bodyPr/>
          <a:lstStyle/>
          <a:p>
            <a:endParaRPr lang="en-US"/>
          </a:p>
        </p:txBody>
      </p:sp>
      <p:sp>
        <p:nvSpPr>
          <p:cNvPr id="26" name="Shape 21"/>
          <p:cNvSpPr/>
          <p:nvPr/>
        </p:nvSpPr>
        <p:spPr>
          <a:xfrm>
            <a:off x="7950479" y="2670048"/>
            <a:ext cx="841248" cy="841248"/>
          </a:xfrm>
          <a:prstGeom prst="ellipse">
            <a:avLst/>
          </a:prstGeom>
          <a:solidFill>
            <a:srgbClr val="0E1B24"/>
          </a:solidFill>
          <a:ln/>
        </p:spPr>
        <p:txBody>
          <a:bodyPr/>
          <a:lstStyle/>
          <a:p>
            <a:endParaRPr lang="en-US"/>
          </a:p>
        </p:txBody>
      </p:sp>
      <p:pic>
        <p:nvPicPr>
          <p:cNvPr id="27" name="Image 3" descr="preencoded.png"/>
          <p:cNvPicPr>
            <a:picLocks noChangeAspect="1"/>
          </p:cNvPicPr>
          <p:nvPr/>
        </p:nvPicPr>
        <p:blipFill>
          <a:blip r:embed="rId6"/>
          <a:stretch>
            <a:fillRect/>
          </a:stretch>
        </p:blipFill>
        <p:spPr>
          <a:xfrm>
            <a:off x="8160791" y="2880360"/>
            <a:ext cx="420624" cy="420624"/>
          </a:xfrm>
          <a:prstGeom prst="rect">
            <a:avLst/>
          </a:prstGeom>
        </p:spPr>
      </p:pic>
      <p:sp>
        <p:nvSpPr>
          <p:cNvPr id="28" name="Text 22"/>
          <p:cNvSpPr/>
          <p:nvPr/>
        </p:nvSpPr>
        <p:spPr>
          <a:xfrm>
            <a:off x="7465847" y="3749040"/>
            <a:ext cx="1810512" cy="457200"/>
          </a:xfrm>
          <a:prstGeom prst="rect">
            <a:avLst/>
          </a:prstGeom>
          <a:noFill/>
          <a:ln/>
        </p:spPr>
        <p:txBody>
          <a:bodyPr wrap="square" lIns="0" tIns="0" rIns="0" bIns="0" rtlCol="0" anchor="ctr"/>
          <a:lstStyle/>
          <a:p>
            <a:pPr marL="0" indent="0" algn="ctr">
              <a:buNone/>
            </a:pPr>
            <a:r>
              <a:rPr lang="en-US" sz="1650" b="1" dirty="0">
                <a:solidFill>
                  <a:srgbClr val="13242E"/>
                </a:solidFill>
                <a:latin typeface="Trebuchet MS" pitchFamily="34" charset="0"/>
                <a:ea typeface="Trebuchet MS" pitchFamily="34" charset="-122"/>
                <a:cs typeface="Trebuchet MS" pitchFamily="34" charset="-120"/>
              </a:rPr>
              <a:t>MLflow</a:t>
            </a:r>
            <a:endParaRPr lang="en-US" sz="1650" dirty="0"/>
          </a:p>
        </p:txBody>
      </p:sp>
      <p:sp>
        <p:nvSpPr>
          <p:cNvPr id="29" name="Text 23"/>
          <p:cNvSpPr/>
          <p:nvPr/>
        </p:nvSpPr>
        <p:spPr>
          <a:xfrm>
            <a:off x="7557287" y="4251960"/>
            <a:ext cx="1627632" cy="1143000"/>
          </a:xfrm>
          <a:prstGeom prst="rect">
            <a:avLst/>
          </a:prstGeom>
          <a:noFill/>
          <a:ln/>
        </p:spPr>
        <p:txBody>
          <a:bodyPr wrap="square" lIns="0" tIns="0" rIns="0" bIns="0" rtlCol="0" anchor="ctr"/>
          <a:lstStyle/>
          <a:p>
            <a:pPr marL="0" indent="0" algn="ctr">
              <a:buNone/>
            </a:pPr>
            <a:r>
              <a:rPr lang="en-US" sz="1100" dirty="0">
                <a:solidFill>
                  <a:srgbClr val="38474F"/>
                </a:solidFill>
                <a:latin typeface="Calibri" pitchFamily="34" charset="0"/>
                <a:ea typeface="Calibri" pitchFamily="34" charset="-122"/>
                <a:cs typeface="Calibri" pitchFamily="34" charset="-120"/>
              </a:rPr>
              <a:t>Track, manage and deploy ML models.</a:t>
            </a:r>
            <a:endParaRPr lang="en-US" sz="1100" dirty="0"/>
          </a:p>
        </p:txBody>
      </p:sp>
      <p:sp>
        <p:nvSpPr>
          <p:cNvPr id="30" name="Shape 24"/>
          <p:cNvSpPr/>
          <p:nvPr/>
        </p:nvSpPr>
        <p:spPr>
          <a:xfrm>
            <a:off x="9649663" y="2286000"/>
            <a:ext cx="1993392" cy="3291840"/>
          </a:xfrm>
          <a:prstGeom prst="roundRect">
            <a:avLst>
              <a:gd name="adj" fmla="val 4587"/>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1" name="Shape 25"/>
          <p:cNvSpPr/>
          <p:nvPr/>
        </p:nvSpPr>
        <p:spPr>
          <a:xfrm>
            <a:off x="9649663" y="2286000"/>
            <a:ext cx="1993392" cy="91440"/>
          </a:xfrm>
          <a:prstGeom prst="rect">
            <a:avLst/>
          </a:prstGeom>
          <a:solidFill>
            <a:srgbClr val="FF3621"/>
          </a:solidFill>
          <a:ln/>
        </p:spPr>
        <p:txBody>
          <a:bodyPr/>
          <a:lstStyle/>
          <a:p>
            <a:endParaRPr lang="en-US"/>
          </a:p>
        </p:txBody>
      </p:sp>
      <p:sp>
        <p:nvSpPr>
          <p:cNvPr id="32" name="Shape 26"/>
          <p:cNvSpPr/>
          <p:nvPr/>
        </p:nvSpPr>
        <p:spPr>
          <a:xfrm>
            <a:off x="10225735" y="2670048"/>
            <a:ext cx="841248" cy="841248"/>
          </a:xfrm>
          <a:prstGeom prst="ellipse">
            <a:avLst/>
          </a:prstGeom>
          <a:solidFill>
            <a:srgbClr val="0E1B24"/>
          </a:solidFill>
          <a:ln/>
        </p:spPr>
        <p:txBody>
          <a:bodyPr/>
          <a:lstStyle/>
          <a:p>
            <a:endParaRPr lang="en-US"/>
          </a:p>
        </p:txBody>
      </p:sp>
      <p:pic>
        <p:nvPicPr>
          <p:cNvPr id="33" name="Image 4" descr="preencoded.png"/>
          <p:cNvPicPr>
            <a:picLocks noChangeAspect="1"/>
          </p:cNvPicPr>
          <p:nvPr/>
        </p:nvPicPr>
        <p:blipFill>
          <a:blip r:embed="rId7"/>
          <a:stretch>
            <a:fillRect/>
          </a:stretch>
        </p:blipFill>
        <p:spPr>
          <a:xfrm>
            <a:off x="10436047" y="2880360"/>
            <a:ext cx="420624" cy="420624"/>
          </a:xfrm>
          <a:prstGeom prst="rect">
            <a:avLst/>
          </a:prstGeom>
        </p:spPr>
      </p:pic>
      <p:sp>
        <p:nvSpPr>
          <p:cNvPr id="34" name="Text 27"/>
          <p:cNvSpPr/>
          <p:nvPr/>
        </p:nvSpPr>
        <p:spPr>
          <a:xfrm>
            <a:off x="9741103" y="3749040"/>
            <a:ext cx="1810512" cy="457200"/>
          </a:xfrm>
          <a:prstGeom prst="rect">
            <a:avLst/>
          </a:prstGeom>
          <a:noFill/>
          <a:ln/>
        </p:spPr>
        <p:txBody>
          <a:bodyPr wrap="square" lIns="0" tIns="0" rIns="0" bIns="0" rtlCol="0" anchor="ctr"/>
          <a:lstStyle/>
          <a:p>
            <a:pPr marL="0" indent="0" algn="ctr">
              <a:buNone/>
            </a:pPr>
            <a:r>
              <a:rPr lang="en-US" sz="1650" b="1" dirty="0">
                <a:solidFill>
                  <a:srgbClr val="13242E"/>
                </a:solidFill>
                <a:latin typeface="Trebuchet MS" pitchFamily="34" charset="0"/>
                <a:ea typeface="Trebuchet MS" pitchFamily="34" charset="-122"/>
                <a:cs typeface="Trebuchet MS" pitchFamily="34" charset="-120"/>
              </a:rPr>
              <a:t>Unity Catalog</a:t>
            </a:r>
            <a:endParaRPr lang="en-US" sz="1650" dirty="0"/>
          </a:p>
        </p:txBody>
      </p:sp>
      <p:sp>
        <p:nvSpPr>
          <p:cNvPr id="35" name="Text 28"/>
          <p:cNvSpPr/>
          <p:nvPr/>
        </p:nvSpPr>
        <p:spPr>
          <a:xfrm>
            <a:off x="9832543" y="4251960"/>
            <a:ext cx="1627632" cy="1143000"/>
          </a:xfrm>
          <a:prstGeom prst="rect">
            <a:avLst/>
          </a:prstGeom>
          <a:noFill/>
          <a:ln/>
        </p:spPr>
        <p:txBody>
          <a:bodyPr wrap="square" lIns="0" tIns="0" rIns="0" bIns="0" rtlCol="0" anchor="ctr"/>
          <a:lstStyle/>
          <a:p>
            <a:pPr marL="0" indent="0" algn="ctr">
              <a:buNone/>
            </a:pPr>
            <a:r>
              <a:rPr lang="en-US" sz="1100" dirty="0">
                <a:solidFill>
                  <a:srgbClr val="38474F"/>
                </a:solidFill>
                <a:latin typeface="Calibri" pitchFamily="34" charset="0"/>
                <a:ea typeface="Calibri" pitchFamily="34" charset="-122"/>
                <a:cs typeface="Calibri" pitchFamily="34" charset="-120"/>
              </a:rPr>
              <a:t>Unified governance, security and lineage.</a:t>
            </a:r>
            <a:endParaRPr lang="en-US" sz="1100" dirty="0"/>
          </a:p>
        </p:txBody>
      </p:sp>
      <p:sp>
        <p:nvSpPr>
          <p:cNvPr id="36" name="Text 29"/>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37" name="Text 30"/>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02 · PAYOFF</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Key benefits of Databricks</a:t>
            </a:r>
            <a:endParaRPr lang="en-US" sz="2900" dirty="0"/>
          </a:p>
        </p:txBody>
      </p:sp>
      <p:sp>
        <p:nvSpPr>
          <p:cNvPr id="5" name="Shape 3"/>
          <p:cNvSpPr/>
          <p:nvPr/>
        </p:nvSpPr>
        <p:spPr>
          <a:xfrm>
            <a:off x="548640" y="1828800"/>
            <a:ext cx="3456432"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6" name="Shape 4"/>
          <p:cNvSpPr/>
          <p:nvPr/>
        </p:nvSpPr>
        <p:spPr>
          <a:xfrm>
            <a:off x="914400" y="2194560"/>
            <a:ext cx="676656" cy="676656"/>
          </a:xfrm>
          <a:prstGeom prst="ellipse">
            <a:avLst/>
          </a:prstGeom>
          <a:solidFill>
            <a:srgbClr val="FF3621"/>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83564" y="2363724"/>
            <a:ext cx="338328" cy="338328"/>
          </a:xfrm>
          <a:prstGeom prst="rect">
            <a:avLst/>
          </a:prstGeom>
        </p:spPr>
      </p:pic>
      <p:sp>
        <p:nvSpPr>
          <p:cNvPr id="8" name="Text 5"/>
          <p:cNvSpPr/>
          <p:nvPr/>
        </p:nvSpPr>
        <p:spPr>
          <a:xfrm>
            <a:off x="914400" y="2926080"/>
            <a:ext cx="2770632" cy="320040"/>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Unified</a:t>
            </a:r>
            <a:endParaRPr lang="en-US" sz="1500" dirty="0"/>
          </a:p>
        </p:txBody>
      </p:sp>
      <p:sp>
        <p:nvSpPr>
          <p:cNvPr id="9" name="Text 6"/>
          <p:cNvSpPr/>
          <p:nvPr/>
        </p:nvSpPr>
        <p:spPr>
          <a:xfrm>
            <a:off x="914400" y="3218688"/>
            <a:ext cx="2770632" cy="36576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One platform for data engineering, analytics and AI.</a:t>
            </a:r>
            <a:endParaRPr lang="en-US" sz="1150" dirty="0"/>
          </a:p>
        </p:txBody>
      </p:sp>
      <p:sp>
        <p:nvSpPr>
          <p:cNvPr id="10" name="Shape 7"/>
          <p:cNvSpPr/>
          <p:nvPr/>
        </p:nvSpPr>
        <p:spPr>
          <a:xfrm>
            <a:off x="4367632" y="1828800"/>
            <a:ext cx="3456432"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1" name="Shape 8"/>
          <p:cNvSpPr/>
          <p:nvPr/>
        </p:nvSpPr>
        <p:spPr>
          <a:xfrm>
            <a:off x="4733392" y="2194560"/>
            <a:ext cx="676656" cy="676656"/>
          </a:xfrm>
          <a:prstGeom prst="ellipse">
            <a:avLst/>
          </a:prstGeom>
          <a:solidFill>
            <a:srgbClr val="FF3621"/>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902556" y="2363724"/>
            <a:ext cx="338328" cy="338328"/>
          </a:xfrm>
          <a:prstGeom prst="rect">
            <a:avLst/>
          </a:prstGeom>
        </p:spPr>
      </p:pic>
      <p:sp>
        <p:nvSpPr>
          <p:cNvPr id="13" name="Text 9"/>
          <p:cNvSpPr/>
          <p:nvPr/>
        </p:nvSpPr>
        <p:spPr>
          <a:xfrm>
            <a:off x="4733392" y="2926080"/>
            <a:ext cx="2770632" cy="320040"/>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Open</a:t>
            </a:r>
            <a:endParaRPr lang="en-US" sz="1500" dirty="0"/>
          </a:p>
        </p:txBody>
      </p:sp>
      <p:sp>
        <p:nvSpPr>
          <p:cNvPr id="14" name="Text 10"/>
          <p:cNvSpPr/>
          <p:nvPr/>
        </p:nvSpPr>
        <p:spPr>
          <a:xfrm>
            <a:off x="4733392" y="3218688"/>
            <a:ext cx="2770632" cy="36576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Open formats and standards — no vendor lock-in.</a:t>
            </a:r>
            <a:endParaRPr lang="en-US" sz="1150" dirty="0"/>
          </a:p>
        </p:txBody>
      </p:sp>
      <p:sp>
        <p:nvSpPr>
          <p:cNvPr id="15" name="Shape 11"/>
          <p:cNvSpPr/>
          <p:nvPr/>
        </p:nvSpPr>
        <p:spPr>
          <a:xfrm>
            <a:off x="8186623" y="1828800"/>
            <a:ext cx="3456432"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6" name="Shape 12"/>
          <p:cNvSpPr/>
          <p:nvPr/>
        </p:nvSpPr>
        <p:spPr>
          <a:xfrm>
            <a:off x="8552383" y="2194560"/>
            <a:ext cx="676656" cy="676656"/>
          </a:xfrm>
          <a:prstGeom prst="ellipse">
            <a:avLst/>
          </a:prstGeom>
          <a:solidFill>
            <a:srgbClr val="FF3621"/>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8721547" y="2363724"/>
            <a:ext cx="338328" cy="338328"/>
          </a:xfrm>
          <a:prstGeom prst="rect">
            <a:avLst/>
          </a:prstGeom>
        </p:spPr>
      </p:pic>
      <p:sp>
        <p:nvSpPr>
          <p:cNvPr id="18" name="Text 13"/>
          <p:cNvSpPr/>
          <p:nvPr/>
        </p:nvSpPr>
        <p:spPr>
          <a:xfrm>
            <a:off x="8552383" y="2926080"/>
            <a:ext cx="2770632" cy="320040"/>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Elastic scale</a:t>
            </a:r>
            <a:endParaRPr lang="en-US" sz="1500" dirty="0"/>
          </a:p>
        </p:txBody>
      </p:sp>
      <p:sp>
        <p:nvSpPr>
          <p:cNvPr id="19" name="Text 14"/>
          <p:cNvSpPr/>
          <p:nvPr/>
        </p:nvSpPr>
        <p:spPr>
          <a:xfrm>
            <a:off x="8552383" y="3218688"/>
            <a:ext cx="2770632" cy="36576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Scales out on demand; spin compute up and down.</a:t>
            </a:r>
            <a:endParaRPr lang="en-US" sz="1150" dirty="0"/>
          </a:p>
        </p:txBody>
      </p:sp>
      <p:sp>
        <p:nvSpPr>
          <p:cNvPr id="20" name="Shape 15"/>
          <p:cNvSpPr/>
          <p:nvPr/>
        </p:nvSpPr>
        <p:spPr>
          <a:xfrm>
            <a:off x="548640" y="3794760"/>
            <a:ext cx="3456432"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1" name="Shape 16"/>
          <p:cNvSpPr/>
          <p:nvPr/>
        </p:nvSpPr>
        <p:spPr>
          <a:xfrm>
            <a:off x="914400" y="4160520"/>
            <a:ext cx="676656" cy="676656"/>
          </a:xfrm>
          <a:prstGeom prst="ellipse">
            <a:avLst/>
          </a:prstGeom>
          <a:solidFill>
            <a:srgbClr val="FF3621"/>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1083564" y="4329684"/>
            <a:ext cx="338328" cy="338328"/>
          </a:xfrm>
          <a:prstGeom prst="rect">
            <a:avLst/>
          </a:prstGeom>
        </p:spPr>
      </p:pic>
      <p:sp>
        <p:nvSpPr>
          <p:cNvPr id="23" name="Text 17"/>
          <p:cNvSpPr/>
          <p:nvPr/>
        </p:nvSpPr>
        <p:spPr>
          <a:xfrm>
            <a:off x="914400" y="4892040"/>
            <a:ext cx="2770632" cy="320040"/>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Collaborative</a:t>
            </a:r>
            <a:endParaRPr lang="en-US" sz="1500" dirty="0"/>
          </a:p>
        </p:txBody>
      </p:sp>
      <p:sp>
        <p:nvSpPr>
          <p:cNvPr id="24" name="Text 18"/>
          <p:cNvSpPr/>
          <p:nvPr/>
        </p:nvSpPr>
        <p:spPr>
          <a:xfrm>
            <a:off x="914400" y="5184648"/>
            <a:ext cx="2770632" cy="36576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Teams share notebooks, data and results live.</a:t>
            </a:r>
            <a:endParaRPr lang="en-US" sz="1150" dirty="0"/>
          </a:p>
        </p:txBody>
      </p:sp>
      <p:sp>
        <p:nvSpPr>
          <p:cNvPr id="25" name="Shape 19"/>
          <p:cNvSpPr/>
          <p:nvPr/>
        </p:nvSpPr>
        <p:spPr>
          <a:xfrm>
            <a:off x="4367632" y="3794760"/>
            <a:ext cx="3456432"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6" name="Shape 20"/>
          <p:cNvSpPr/>
          <p:nvPr/>
        </p:nvSpPr>
        <p:spPr>
          <a:xfrm>
            <a:off x="4733392" y="4160520"/>
            <a:ext cx="676656" cy="676656"/>
          </a:xfrm>
          <a:prstGeom prst="ellipse">
            <a:avLst/>
          </a:prstGeom>
          <a:solidFill>
            <a:srgbClr val="FF3621"/>
          </a:solidFill>
          <a:ln/>
        </p:spPr>
        <p:txBody>
          <a:bodyPr/>
          <a:lstStyle/>
          <a:p>
            <a:endParaRPr lang="en-US"/>
          </a:p>
        </p:txBody>
      </p:sp>
      <p:pic>
        <p:nvPicPr>
          <p:cNvPr id="27" name="Image 4" descr="preencoded.png"/>
          <p:cNvPicPr>
            <a:picLocks noChangeAspect="1"/>
          </p:cNvPicPr>
          <p:nvPr/>
        </p:nvPicPr>
        <p:blipFill>
          <a:blip r:embed="rId7"/>
          <a:stretch>
            <a:fillRect/>
          </a:stretch>
        </p:blipFill>
        <p:spPr>
          <a:xfrm>
            <a:off x="4902556" y="4329684"/>
            <a:ext cx="338328" cy="338328"/>
          </a:xfrm>
          <a:prstGeom prst="rect">
            <a:avLst/>
          </a:prstGeom>
        </p:spPr>
      </p:pic>
      <p:sp>
        <p:nvSpPr>
          <p:cNvPr id="28" name="Text 21"/>
          <p:cNvSpPr/>
          <p:nvPr/>
        </p:nvSpPr>
        <p:spPr>
          <a:xfrm>
            <a:off x="4733392" y="4892040"/>
            <a:ext cx="2770632" cy="320040"/>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Governed</a:t>
            </a:r>
            <a:endParaRPr lang="en-US" sz="1500" dirty="0"/>
          </a:p>
        </p:txBody>
      </p:sp>
      <p:sp>
        <p:nvSpPr>
          <p:cNvPr id="29" name="Text 22"/>
          <p:cNvSpPr/>
          <p:nvPr/>
        </p:nvSpPr>
        <p:spPr>
          <a:xfrm>
            <a:off x="4733392" y="5184648"/>
            <a:ext cx="2770632" cy="36576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Security, access and lineage in one catalog.</a:t>
            </a:r>
            <a:endParaRPr lang="en-US" sz="1150" dirty="0"/>
          </a:p>
        </p:txBody>
      </p:sp>
      <p:sp>
        <p:nvSpPr>
          <p:cNvPr id="30" name="Shape 23"/>
          <p:cNvSpPr/>
          <p:nvPr/>
        </p:nvSpPr>
        <p:spPr>
          <a:xfrm>
            <a:off x="8186623" y="3794760"/>
            <a:ext cx="3456432"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1" name="Shape 24"/>
          <p:cNvSpPr/>
          <p:nvPr/>
        </p:nvSpPr>
        <p:spPr>
          <a:xfrm>
            <a:off x="8552383" y="4160520"/>
            <a:ext cx="676656" cy="676656"/>
          </a:xfrm>
          <a:prstGeom prst="ellipse">
            <a:avLst/>
          </a:prstGeom>
          <a:solidFill>
            <a:srgbClr val="FF3621"/>
          </a:solidFill>
          <a:ln/>
        </p:spPr>
        <p:txBody>
          <a:bodyPr/>
          <a:lstStyle/>
          <a:p>
            <a:endParaRPr lang="en-US"/>
          </a:p>
        </p:txBody>
      </p:sp>
      <p:pic>
        <p:nvPicPr>
          <p:cNvPr id="32" name="Image 5" descr="preencoded.png"/>
          <p:cNvPicPr>
            <a:picLocks noChangeAspect="1"/>
          </p:cNvPicPr>
          <p:nvPr/>
        </p:nvPicPr>
        <p:blipFill>
          <a:blip r:embed="rId8"/>
          <a:stretch>
            <a:fillRect/>
          </a:stretch>
        </p:blipFill>
        <p:spPr>
          <a:xfrm>
            <a:off x="8721547" y="4329684"/>
            <a:ext cx="338328" cy="338328"/>
          </a:xfrm>
          <a:prstGeom prst="rect">
            <a:avLst/>
          </a:prstGeom>
        </p:spPr>
      </p:pic>
      <p:sp>
        <p:nvSpPr>
          <p:cNvPr id="33" name="Text 25"/>
          <p:cNvSpPr/>
          <p:nvPr/>
        </p:nvSpPr>
        <p:spPr>
          <a:xfrm>
            <a:off x="8552383" y="4892040"/>
            <a:ext cx="2770632" cy="320040"/>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Cost-efficient</a:t>
            </a:r>
            <a:endParaRPr lang="en-US" sz="1500" dirty="0"/>
          </a:p>
        </p:txBody>
      </p:sp>
      <p:sp>
        <p:nvSpPr>
          <p:cNvPr id="34" name="Text 26"/>
          <p:cNvSpPr/>
          <p:nvPr/>
        </p:nvSpPr>
        <p:spPr>
          <a:xfrm>
            <a:off x="8552383" y="5184648"/>
            <a:ext cx="2770632" cy="36576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Cheap storage; pay only for compute you use.</a:t>
            </a:r>
            <a:endParaRPr lang="en-US" sz="1150" dirty="0"/>
          </a:p>
        </p:txBody>
      </p:sp>
      <p:sp>
        <p:nvSpPr>
          <p:cNvPr id="35" name="Text 27"/>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36" name="Text 28"/>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0E1B24"/>
        </a:solidFill>
        <a:effectLst/>
      </p:bgPr>
    </p:bg>
    <p:spTree>
      <p:nvGrpSpPr>
        <p:cNvPr id="1" name=""/>
        <p:cNvGrpSpPr/>
        <p:nvPr/>
      </p:nvGrpSpPr>
      <p:grpSpPr>
        <a:xfrm>
          <a:off x="0" y="0"/>
          <a:ext cx="0" cy="0"/>
          <a:chOff x="0" y="0"/>
          <a:chExt cx="0" cy="0"/>
        </a:xfrm>
      </p:grpSpPr>
      <p:sp>
        <p:nvSpPr>
          <p:cNvPr id="2" name="Text 0"/>
          <p:cNvSpPr/>
          <p:nvPr/>
        </p:nvSpPr>
        <p:spPr>
          <a:xfrm>
            <a:off x="7680960" y="914400"/>
            <a:ext cx="4572000" cy="4572000"/>
          </a:xfrm>
          <a:prstGeom prst="rect">
            <a:avLst/>
          </a:prstGeom>
          <a:noFill/>
          <a:ln/>
        </p:spPr>
        <p:txBody>
          <a:bodyPr wrap="square" lIns="0" tIns="0" rIns="0" bIns="0" rtlCol="0" anchor="ctr"/>
          <a:lstStyle/>
          <a:p>
            <a:pPr marL="0" indent="0" algn="r">
              <a:buNone/>
            </a:pPr>
            <a:r>
              <a:rPr lang="en-US" sz="30000" b="1" dirty="0">
                <a:solidFill>
                  <a:srgbClr val="172D38"/>
                </a:solidFill>
                <a:latin typeface="Trebuchet MS" pitchFamily="34" charset="0"/>
                <a:ea typeface="Trebuchet MS" pitchFamily="34" charset="-122"/>
                <a:cs typeface="Trebuchet MS" pitchFamily="34" charset="-120"/>
              </a:rPr>
              <a:t>03</a:t>
            </a:r>
            <a:endParaRPr lang="en-US" sz="30000" dirty="0"/>
          </a:p>
        </p:txBody>
      </p:sp>
      <p:sp>
        <p:nvSpPr>
          <p:cNvPr id="3" name="Shape 1"/>
          <p:cNvSpPr/>
          <p:nvPr/>
        </p:nvSpPr>
        <p:spPr>
          <a:xfrm>
            <a:off x="548640" y="2651760"/>
            <a:ext cx="548640" cy="164592"/>
          </a:xfrm>
          <a:prstGeom prst="rect">
            <a:avLst/>
          </a:prstGeom>
          <a:solidFill>
            <a:srgbClr val="FF3621"/>
          </a:solidFill>
          <a:ln/>
        </p:spPr>
        <p:txBody>
          <a:bodyPr/>
          <a:lstStyle/>
          <a:p>
            <a:endParaRPr lang="en-US"/>
          </a:p>
        </p:txBody>
      </p:sp>
      <p:sp>
        <p:nvSpPr>
          <p:cNvPr id="4" name="Text 2"/>
          <p:cNvSpPr/>
          <p:nvPr/>
        </p:nvSpPr>
        <p:spPr>
          <a:xfrm>
            <a:off x="1225296" y="2578608"/>
            <a:ext cx="5486400" cy="310896"/>
          </a:xfrm>
          <a:prstGeom prst="rect">
            <a:avLst/>
          </a:prstGeom>
          <a:noFill/>
          <a:ln/>
        </p:spPr>
        <p:txBody>
          <a:bodyPr wrap="square" lIns="0" tIns="0" rIns="0" bIns="0" rtlCol="0" anchor="ctr"/>
          <a:lstStyle/>
          <a:p>
            <a:pPr marL="0" indent="0">
              <a:buNone/>
            </a:pPr>
            <a:r>
              <a:rPr lang="en-US" sz="1400" b="1" kern="0" spc="300" dirty="0">
                <a:solidFill>
                  <a:srgbClr val="FF6F4D"/>
                </a:solidFill>
                <a:latin typeface="Calibri" pitchFamily="34" charset="0"/>
                <a:ea typeface="Calibri" pitchFamily="34" charset="-122"/>
                <a:cs typeface="Calibri" pitchFamily="34" charset="-120"/>
              </a:rPr>
              <a:t>MODULE 03</a:t>
            </a:r>
            <a:endParaRPr lang="en-US" sz="1400" dirty="0"/>
          </a:p>
        </p:txBody>
      </p:sp>
      <p:sp>
        <p:nvSpPr>
          <p:cNvPr id="5" name="Text 3"/>
          <p:cNvSpPr/>
          <p:nvPr/>
        </p:nvSpPr>
        <p:spPr>
          <a:xfrm>
            <a:off x="548640" y="2999232"/>
            <a:ext cx="8412480" cy="914400"/>
          </a:xfrm>
          <a:prstGeom prst="rect">
            <a:avLst/>
          </a:prstGeom>
          <a:noFill/>
          <a:ln/>
        </p:spPr>
        <p:txBody>
          <a:bodyPr wrap="square" lIns="0" tIns="0" rIns="0" bIns="0" rtlCol="0" anchor="ctr"/>
          <a:lstStyle/>
          <a:p>
            <a:pPr marL="0" indent="0">
              <a:buNone/>
            </a:pPr>
            <a:r>
              <a:rPr lang="en-US" sz="4600" b="1" dirty="0">
                <a:solidFill>
                  <a:srgbClr val="FFFFFF"/>
                </a:solidFill>
                <a:latin typeface="Trebuchet MS" pitchFamily="34" charset="0"/>
                <a:ea typeface="Trebuchet MS" pitchFamily="34" charset="-122"/>
                <a:cs typeface="Trebuchet MS" pitchFamily="34" charset="-120"/>
              </a:rPr>
              <a:t>Databricks Architecture</a:t>
            </a:r>
            <a:endParaRPr lang="en-US" sz="4600" dirty="0"/>
          </a:p>
        </p:txBody>
      </p:sp>
      <p:sp>
        <p:nvSpPr>
          <p:cNvPr id="6" name="Text 4"/>
          <p:cNvSpPr/>
          <p:nvPr/>
        </p:nvSpPr>
        <p:spPr>
          <a:xfrm>
            <a:off x="548640" y="4041648"/>
            <a:ext cx="7498080" cy="548640"/>
          </a:xfrm>
          <a:prstGeom prst="rect">
            <a:avLst/>
          </a:prstGeom>
          <a:noFill/>
          <a:ln/>
        </p:spPr>
        <p:txBody>
          <a:bodyPr wrap="square" lIns="0" tIns="0" rIns="0" bIns="0" rtlCol="0" anchor="ctr"/>
          <a:lstStyle/>
          <a:p>
            <a:pPr marL="0" indent="0">
              <a:buNone/>
            </a:pPr>
            <a:r>
              <a:rPr lang="en-US" sz="1600" dirty="0">
                <a:solidFill>
                  <a:srgbClr val="C7D2D8"/>
                </a:solidFill>
                <a:latin typeface="Calibri" pitchFamily="34" charset="0"/>
                <a:ea typeface="Calibri" pitchFamily="34" charset="-122"/>
                <a:cs typeface="Calibri" pitchFamily="34" charset="-120"/>
              </a:rPr>
              <a:t>Under the hood: control &amp; compute planes, Spark, Delta Lake and how data flows.</a:t>
            </a:r>
            <a:endParaRPr lang="en-US" sz="1600" dirty="0"/>
          </a:p>
        </p:txBody>
      </p:sp>
      <p:sp>
        <p:nvSpPr>
          <p:cNvPr id="7" name="Text 5"/>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8597A0"/>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8" name="Text 6"/>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8597A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03 · THE BIG PICTURE</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Architecture: control plane &amp; compute plane</a:t>
            </a:r>
            <a:endParaRPr lang="en-US" sz="2900" dirty="0"/>
          </a:p>
        </p:txBody>
      </p:sp>
      <p:sp>
        <p:nvSpPr>
          <p:cNvPr id="5" name="Shape 3"/>
          <p:cNvSpPr/>
          <p:nvPr/>
        </p:nvSpPr>
        <p:spPr>
          <a:xfrm>
            <a:off x="548640" y="1627632"/>
            <a:ext cx="11094415" cy="548640"/>
          </a:xfrm>
          <a:prstGeom prst="roundRect">
            <a:avLst>
              <a:gd name="adj" fmla="val 11667"/>
            </a:avLst>
          </a:prstGeom>
          <a:solidFill>
            <a:srgbClr val="F2F5F6"/>
          </a:solidFill>
          <a:ln w="12700">
            <a:solidFill>
              <a:srgbClr val="DDE4E7"/>
            </a:solidFill>
            <a:prstDash val="solid"/>
          </a:ln>
        </p:spPr>
        <p:txBody>
          <a:bodyPr/>
          <a:lstStyle/>
          <a:p>
            <a:endParaRPr lang="en-US"/>
          </a:p>
        </p:txBody>
      </p:sp>
      <p:sp>
        <p:nvSpPr>
          <p:cNvPr id="6" name="Shape 4"/>
          <p:cNvSpPr/>
          <p:nvPr/>
        </p:nvSpPr>
        <p:spPr>
          <a:xfrm>
            <a:off x="868680" y="1746504"/>
            <a:ext cx="310896" cy="310896"/>
          </a:xfrm>
          <a:prstGeom prst="ellipse">
            <a:avLst/>
          </a:prstGeom>
          <a:solidFill>
            <a:srgbClr val="0E1B24"/>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46404" y="1824228"/>
            <a:ext cx="155448" cy="155448"/>
          </a:xfrm>
          <a:prstGeom prst="rect">
            <a:avLst/>
          </a:prstGeom>
        </p:spPr>
      </p:pic>
      <p:sp>
        <p:nvSpPr>
          <p:cNvPr id="8" name="Text 5"/>
          <p:cNvSpPr/>
          <p:nvPr/>
        </p:nvSpPr>
        <p:spPr>
          <a:xfrm>
            <a:off x="1325880" y="1627632"/>
            <a:ext cx="2743200" cy="548640"/>
          </a:xfrm>
          <a:prstGeom prst="rect">
            <a:avLst/>
          </a:prstGeom>
          <a:noFill/>
          <a:ln/>
        </p:spPr>
        <p:txBody>
          <a:bodyPr wrap="square" lIns="0" tIns="0" rIns="0" bIns="0" rtlCol="0" anchor="ctr"/>
          <a:lstStyle/>
          <a:p>
            <a:pPr marL="0" indent="0">
              <a:buNone/>
            </a:pPr>
            <a:r>
              <a:rPr lang="en-US" sz="1300" b="1" dirty="0">
                <a:solidFill>
                  <a:srgbClr val="13242E"/>
                </a:solidFill>
                <a:latin typeface="Trebuchet MS" pitchFamily="34" charset="0"/>
                <a:ea typeface="Trebuchet MS" pitchFamily="34" charset="-122"/>
                <a:cs typeface="Trebuchet MS" pitchFamily="34" charset="-120"/>
              </a:rPr>
              <a:t>Users &amp; tools</a:t>
            </a:r>
            <a:endParaRPr lang="en-US" sz="1300" dirty="0"/>
          </a:p>
        </p:txBody>
      </p:sp>
      <p:sp>
        <p:nvSpPr>
          <p:cNvPr id="9" name="Text 6"/>
          <p:cNvSpPr/>
          <p:nvPr/>
        </p:nvSpPr>
        <p:spPr>
          <a:xfrm>
            <a:off x="5486400" y="1627632"/>
            <a:ext cx="5973775" cy="548640"/>
          </a:xfrm>
          <a:prstGeom prst="rect">
            <a:avLst/>
          </a:prstGeom>
          <a:noFill/>
          <a:ln/>
        </p:spPr>
        <p:txBody>
          <a:bodyPr wrap="square" lIns="0" tIns="0" rIns="0" bIns="0" rtlCol="0" anchor="ctr"/>
          <a:lstStyle/>
          <a:p>
            <a:pPr marL="0" indent="0" algn="r">
              <a:buNone/>
            </a:pPr>
            <a:r>
              <a:rPr lang="en-US" sz="1200" dirty="0">
                <a:solidFill>
                  <a:srgbClr val="38474F"/>
                </a:solidFill>
                <a:latin typeface="Calibri" pitchFamily="34" charset="0"/>
                <a:ea typeface="Calibri" pitchFamily="34" charset="-122"/>
                <a:cs typeface="Calibri" pitchFamily="34" charset="-120"/>
              </a:rPr>
              <a:t>Web UI  ·  Notebooks  ·  REST API  ·  BI / SQL clients</a:t>
            </a:r>
            <a:endParaRPr lang="en-US" sz="1200" dirty="0"/>
          </a:p>
        </p:txBody>
      </p:sp>
      <p:sp>
        <p:nvSpPr>
          <p:cNvPr id="10" name="Shape 7"/>
          <p:cNvSpPr/>
          <p:nvPr/>
        </p:nvSpPr>
        <p:spPr>
          <a:xfrm rot="10800000">
            <a:off x="6016843" y="2167128"/>
            <a:ext cx="158008" cy="219456"/>
          </a:xfrm>
          <a:prstGeom prst="triangle">
            <a:avLst/>
          </a:prstGeom>
          <a:solidFill>
            <a:srgbClr val="FF3621"/>
          </a:solidFill>
          <a:ln/>
        </p:spPr>
        <p:txBody>
          <a:bodyPr/>
          <a:lstStyle/>
          <a:p>
            <a:endParaRPr lang="en-US"/>
          </a:p>
        </p:txBody>
      </p:sp>
      <p:sp>
        <p:nvSpPr>
          <p:cNvPr id="11" name="Shape 8"/>
          <p:cNvSpPr/>
          <p:nvPr/>
        </p:nvSpPr>
        <p:spPr>
          <a:xfrm>
            <a:off x="548640" y="2377440"/>
            <a:ext cx="11094415" cy="1371600"/>
          </a:xfrm>
          <a:prstGeom prst="roundRect">
            <a:avLst>
              <a:gd name="adj" fmla="val 5333"/>
            </a:avLst>
          </a:prstGeom>
          <a:solidFill>
            <a:srgbClr val="E9EEF0"/>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2" name="Text 9"/>
          <p:cNvSpPr/>
          <p:nvPr/>
        </p:nvSpPr>
        <p:spPr>
          <a:xfrm>
            <a:off x="868680" y="2468880"/>
            <a:ext cx="10454335"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CONTROL PLANE</a:t>
            </a:r>
            <a:r>
              <a:rPr lang="en-US" sz="1200" dirty="0">
                <a:solidFill>
                  <a:srgbClr val="7C8A91"/>
                </a:solidFill>
                <a:latin typeface="Calibri" pitchFamily="34" charset="0"/>
                <a:ea typeface="Calibri" pitchFamily="34" charset="-122"/>
                <a:cs typeface="Calibri" pitchFamily="34" charset="-120"/>
              </a:rPr>
              <a:t>   — managed by Databricks (orchestration &amp; UI)</a:t>
            </a:r>
            <a:endParaRPr lang="en-US" sz="1200" dirty="0"/>
          </a:p>
        </p:txBody>
      </p:sp>
      <p:sp>
        <p:nvSpPr>
          <p:cNvPr id="13" name="Shape 10"/>
          <p:cNvSpPr/>
          <p:nvPr/>
        </p:nvSpPr>
        <p:spPr>
          <a:xfrm>
            <a:off x="868680" y="2852928"/>
            <a:ext cx="2462708" cy="749808"/>
          </a:xfrm>
          <a:prstGeom prst="roundRect">
            <a:avLst>
              <a:gd name="adj" fmla="val 7317"/>
            </a:avLst>
          </a:prstGeom>
          <a:solidFill>
            <a:srgbClr val="FFFFFF"/>
          </a:solidFill>
          <a:ln w="12700">
            <a:solidFill>
              <a:srgbClr val="DDE4E7"/>
            </a:solidFill>
            <a:prstDash val="solid"/>
          </a:ln>
        </p:spPr>
        <p:txBody>
          <a:bodyPr/>
          <a:lstStyle/>
          <a:p>
            <a:endParaRPr lang="en-US"/>
          </a:p>
        </p:txBody>
      </p:sp>
      <p:sp>
        <p:nvSpPr>
          <p:cNvPr id="14" name="Shape 11"/>
          <p:cNvSpPr/>
          <p:nvPr/>
        </p:nvSpPr>
        <p:spPr>
          <a:xfrm>
            <a:off x="1014984" y="3017520"/>
            <a:ext cx="420624" cy="420624"/>
          </a:xfrm>
          <a:prstGeom prst="ellipse">
            <a:avLst/>
          </a:prstGeom>
          <a:solidFill>
            <a:srgbClr val="0E1B24"/>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1120140" y="3122676"/>
            <a:ext cx="210312" cy="210312"/>
          </a:xfrm>
          <a:prstGeom prst="rect">
            <a:avLst/>
          </a:prstGeom>
        </p:spPr>
      </p:pic>
      <p:sp>
        <p:nvSpPr>
          <p:cNvPr id="16" name="Text 12"/>
          <p:cNvSpPr/>
          <p:nvPr/>
        </p:nvSpPr>
        <p:spPr>
          <a:xfrm>
            <a:off x="1527048" y="2852928"/>
            <a:ext cx="1685468" cy="749808"/>
          </a:xfrm>
          <a:prstGeom prst="rect">
            <a:avLst/>
          </a:prstGeom>
          <a:noFill/>
          <a:ln/>
        </p:spPr>
        <p:txBody>
          <a:bodyPr wrap="square" lIns="0" tIns="0" rIns="0" bIns="0" rtlCol="0" anchor="ctr"/>
          <a:lstStyle/>
          <a:p>
            <a:pPr marL="0" indent="0">
              <a:buNone/>
            </a:pPr>
            <a:r>
              <a:rPr lang="en-US" sz="1150" b="1" dirty="0">
                <a:solidFill>
                  <a:srgbClr val="13242E"/>
                </a:solidFill>
                <a:latin typeface="Calibri" pitchFamily="34" charset="0"/>
                <a:ea typeface="Calibri" pitchFamily="34" charset="-122"/>
                <a:cs typeface="Calibri" pitchFamily="34" charset="-120"/>
              </a:rPr>
              <a:t>Workspace &amp; Web UI</a:t>
            </a:r>
            <a:endParaRPr lang="en-US" sz="1150" dirty="0"/>
          </a:p>
        </p:txBody>
      </p:sp>
      <p:sp>
        <p:nvSpPr>
          <p:cNvPr id="17" name="Shape 13"/>
          <p:cNvSpPr/>
          <p:nvPr/>
        </p:nvSpPr>
        <p:spPr>
          <a:xfrm>
            <a:off x="3532556" y="2852928"/>
            <a:ext cx="2462708" cy="749808"/>
          </a:xfrm>
          <a:prstGeom prst="roundRect">
            <a:avLst>
              <a:gd name="adj" fmla="val 7317"/>
            </a:avLst>
          </a:prstGeom>
          <a:solidFill>
            <a:srgbClr val="FFFFFF"/>
          </a:solidFill>
          <a:ln w="12700">
            <a:solidFill>
              <a:srgbClr val="DDE4E7"/>
            </a:solidFill>
            <a:prstDash val="solid"/>
          </a:ln>
        </p:spPr>
        <p:txBody>
          <a:bodyPr/>
          <a:lstStyle/>
          <a:p>
            <a:endParaRPr lang="en-US"/>
          </a:p>
        </p:txBody>
      </p:sp>
      <p:sp>
        <p:nvSpPr>
          <p:cNvPr id="18" name="Shape 14"/>
          <p:cNvSpPr/>
          <p:nvPr/>
        </p:nvSpPr>
        <p:spPr>
          <a:xfrm>
            <a:off x="3678860" y="3017520"/>
            <a:ext cx="420624" cy="420624"/>
          </a:xfrm>
          <a:prstGeom prst="ellipse">
            <a:avLst/>
          </a:prstGeom>
          <a:solidFill>
            <a:srgbClr val="0E1B24"/>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3784016" y="3122676"/>
            <a:ext cx="210312" cy="210312"/>
          </a:xfrm>
          <a:prstGeom prst="rect">
            <a:avLst/>
          </a:prstGeom>
        </p:spPr>
      </p:pic>
      <p:sp>
        <p:nvSpPr>
          <p:cNvPr id="20" name="Text 15"/>
          <p:cNvSpPr/>
          <p:nvPr/>
        </p:nvSpPr>
        <p:spPr>
          <a:xfrm>
            <a:off x="4190924" y="2852928"/>
            <a:ext cx="1685468" cy="749808"/>
          </a:xfrm>
          <a:prstGeom prst="rect">
            <a:avLst/>
          </a:prstGeom>
          <a:noFill/>
          <a:ln/>
        </p:spPr>
        <p:txBody>
          <a:bodyPr wrap="square" lIns="0" tIns="0" rIns="0" bIns="0" rtlCol="0" anchor="ctr"/>
          <a:lstStyle/>
          <a:p>
            <a:pPr marL="0" indent="0">
              <a:buNone/>
            </a:pPr>
            <a:r>
              <a:rPr lang="en-US" sz="1150" b="1" dirty="0">
                <a:solidFill>
                  <a:srgbClr val="13242E"/>
                </a:solidFill>
                <a:latin typeface="Calibri" pitchFamily="34" charset="0"/>
                <a:ea typeface="Calibri" pitchFamily="34" charset="-122"/>
                <a:cs typeface="Calibri" pitchFamily="34" charset="-120"/>
              </a:rPr>
              <a:t>Jobs &amp; Scheduling</a:t>
            </a:r>
            <a:endParaRPr lang="en-US" sz="1150" dirty="0"/>
          </a:p>
        </p:txBody>
      </p:sp>
      <p:sp>
        <p:nvSpPr>
          <p:cNvPr id="21" name="Shape 16"/>
          <p:cNvSpPr/>
          <p:nvPr/>
        </p:nvSpPr>
        <p:spPr>
          <a:xfrm>
            <a:off x="6196432" y="2852928"/>
            <a:ext cx="2462708" cy="749808"/>
          </a:xfrm>
          <a:prstGeom prst="roundRect">
            <a:avLst>
              <a:gd name="adj" fmla="val 7317"/>
            </a:avLst>
          </a:prstGeom>
          <a:solidFill>
            <a:srgbClr val="FFFFFF"/>
          </a:solidFill>
          <a:ln w="12700">
            <a:solidFill>
              <a:srgbClr val="DDE4E7"/>
            </a:solidFill>
            <a:prstDash val="solid"/>
          </a:ln>
        </p:spPr>
        <p:txBody>
          <a:bodyPr/>
          <a:lstStyle/>
          <a:p>
            <a:endParaRPr lang="en-US"/>
          </a:p>
        </p:txBody>
      </p:sp>
      <p:sp>
        <p:nvSpPr>
          <p:cNvPr id="22" name="Shape 17"/>
          <p:cNvSpPr/>
          <p:nvPr/>
        </p:nvSpPr>
        <p:spPr>
          <a:xfrm>
            <a:off x="6342736" y="3017520"/>
            <a:ext cx="420624" cy="420624"/>
          </a:xfrm>
          <a:prstGeom prst="ellipse">
            <a:avLst/>
          </a:prstGeom>
          <a:solidFill>
            <a:srgbClr val="0E1B24"/>
          </a:solidFill>
          <a:ln/>
        </p:spPr>
        <p:txBody>
          <a:bodyPr/>
          <a:lstStyle/>
          <a:p>
            <a:endParaRPr lang="en-US"/>
          </a:p>
        </p:txBody>
      </p:sp>
      <p:pic>
        <p:nvPicPr>
          <p:cNvPr id="23" name="Image 3" descr="preencoded.png"/>
          <p:cNvPicPr>
            <a:picLocks noChangeAspect="1"/>
          </p:cNvPicPr>
          <p:nvPr/>
        </p:nvPicPr>
        <p:blipFill>
          <a:blip r:embed="rId6"/>
          <a:stretch>
            <a:fillRect/>
          </a:stretch>
        </p:blipFill>
        <p:spPr>
          <a:xfrm>
            <a:off x="6447892" y="3122676"/>
            <a:ext cx="210312" cy="210312"/>
          </a:xfrm>
          <a:prstGeom prst="rect">
            <a:avLst/>
          </a:prstGeom>
        </p:spPr>
      </p:pic>
      <p:sp>
        <p:nvSpPr>
          <p:cNvPr id="24" name="Text 18"/>
          <p:cNvSpPr/>
          <p:nvPr/>
        </p:nvSpPr>
        <p:spPr>
          <a:xfrm>
            <a:off x="6854800" y="2852928"/>
            <a:ext cx="1685468" cy="749808"/>
          </a:xfrm>
          <a:prstGeom prst="rect">
            <a:avLst/>
          </a:prstGeom>
          <a:noFill/>
          <a:ln/>
        </p:spPr>
        <p:txBody>
          <a:bodyPr wrap="square" lIns="0" tIns="0" rIns="0" bIns="0" rtlCol="0" anchor="ctr"/>
          <a:lstStyle/>
          <a:p>
            <a:pPr marL="0" indent="0">
              <a:buNone/>
            </a:pPr>
            <a:r>
              <a:rPr lang="en-US" sz="1150" b="1" dirty="0">
                <a:solidFill>
                  <a:srgbClr val="13242E"/>
                </a:solidFill>
                <a:latin typeface="Calibri" pitchFamily="34" charset="0"/>
                <a:ea typeface="Calibri" pitchFamily="34" charset="-122"/>
                <a:cs typeface="Calibri" pitchFamily="34" charset="-120"/>
              </a:rPr>
              <a:t>Cluster Manager</a:t>
            </a:r>
            <a:endParaRPr lang="en-US" sz="1150" dirty="0"/>
          </a:p>
        </p:txBody>
      </p:sp>
      <p:sp>
        <p:nvSpPr>
          <p:cNvPr id="25" name="Shape 19"/>
          <p:cNvSpPr/>
          <p:nvPr/>
        </p:nvSpPr>
        <p:spPr>
          <a:xfrm>
            <a:off x="8860307" y="2852928"/>
            <a:ext cx="2462708" cy="749808"/>
          </a:xfrm>
          <a:prstGeom prst="roundRect">
            <a:avLst>
              <a:gd name="adj" fmla="val 7317"/>
            </a:avLst>
          </a:prstGeom>
          <a:solidFill>
            <a:srgbClr val="FFFFFF"/>
          </a:solidFill>
          <a:ln w="12700">
            <a:solidFill>
              <a:srgbClr val="DDE4E7"/>
            </a:solidFill>
            <a:prstDash val="solid"/>
          </a:ln>
        </p:spPr>
        <p:txBody>
          <a:bodyPr/>
          <a:lstStyle/>
          <a:p>
            <a:endParaRPr lang="en-US"/>
          </a:p>
        </p:txBody>
      </p:sp>
      <p:sp>
        <p:nvSpPr>
          <p:cNvPr id="26" name="Shape 20"/>
          <p:cNvSpPr/>
          <p:nvPr/>
        </p:nvSpPr>
        <p:spPr>
          <a:xfrm>
            <a:off x="9006611" y="3017520"/>
            <a:ext cx="420624" cy="420624"/>
          </a:xfrm>
          <a:prstGeom prst="ellipse">
            <a:avLst/>
          </a:prstGeom>
          <a:solidFill>
            <a:srgbClr val="0E1B24"/>
          </a:solidFill>
          <a:ln/>
        </p:spPr>
        <p:txBody>
          <a:bodyPr/>
          <a:lstStyle/>
          <a:p>
            <a:endParaRPr lang="en-US"/>
          </a:p>
        </p:txBody>
      </p:sp>
      <p:pic>
        <p:nvPicPr>
          <p:cNvPr id="27" name="Image 4" descr="preencoded.png"/>
          <p:cNvPicPr>
            <a:picLocks noChangeAspect="1"/>
          </p:cNvPicPr>
          <p:nvPr/>
        </p:nvPicPr>
        <p:blipFill>
          <a:blip r:embed="rId7"/>
          <a:stretch>
            <a:fillRect/>
          </a:stretch>
        </p:blipFill>
        <p:spPr>
          <a:xfrm>
            <a:off x="9111767" y="3122676"/>
            <a:ext cx="210312" cy="210312"/>
          </a:xfrm>
          <a:prstGeom prst="rect">
            <a:avLst/>
          </a:prstGeom>
        </p:spPr>
      </p:pic>
      <p:sp>
        <p:nvSpPr>
          <p:cNvPr id="28" name="Text 21"/>
          <p:cNvSpPr/>
          <p:nvPr/>
        </p:nvSpPr>
        <p:spPr>
          <a:xfrm>
            <a:off x="9518675" y="2852928"/>
            <a:ext cx="1685468" cy="749808"/>
          </a:xfrm>
          <a:prstGeom prst="rect">
            <a:avLst/>
          </a:prstGeom>
          <a:noFill/>
          <a:ln/>
        </p:spPr>
        <p:txBody>
          <a:bodyPr wrap="square" lIns="0" tIns="0" rIns="0" bIns="0" rtlCol="0" anchor="ctr"/>
          <a:lstStyle/>
          <a:p>
            <a:pPr marL="0" indent="0">
              <a:buNone/>
            </a:pPr>
            <a:r>
              <a:rPr lang="en-US" sz="1150" b="1" dirty="0">
                <a:solidFill>
                  <a:srgbClr val="13242E"/>
                </a:solidFill>
                <a:latin typeface="Calibri" pitchFamily="34" charset="0"/>
                <a:ea typeface="Calibri" pitchFamily="34" charset="-122"/>
                <a:cs typeface="Calibri" pitchFamily="34" charset="-120"/>
              </a:rPr>
              <a:t>Unity Catalog</a:t>
            </a:r>
            <a:endParaRPr lang="en-US" sz="1150" dirty="0"/>
          </a:p>
        </p:txBody>
      </p:sp>
      <p:sp>
        <p:nvSpPr>
          <p:cNvPr id="29" name="Shape 22"/>
          <p:cNvSpPr/>
          <p:nvPr/>
        </p:nvSpPr>
        <p:spPr>
          <a:xfrm rot="10800000">
            <a:off x="6010260" y="3739896"/>
            <a:ext cx="171176" cy="237744"/>
          </a:xfrm>
          <a:prstGeom prst="triangle">
            <a:avLst/>
          </a:prstGeom>
          <a:solidFill>
            <a:srgbClr val="FF3621"/>
          </a:solidFill>
          <a:ln/>
        </p:spPr>
        <p:txBody>
          <a:bodyPr/>
          <a:lstStyle/>
          <a:p>
            <a:endParaRPr lang="en-US"/>
          </a:p>
        </p:txBody>
      </p:sp>
      <p:sp>
        <p:nvSpPr>
          <p:cNvPr id="30" name="Text 23"/>
          <p:cNvSpPr/>
          <p:nvPr/>
        </p:nvSpPr>
        <p:spPr>
          <a:xfrm>
            <a:off x="6278728" y="3749040"/>
            <a:ext cx="1463040" cy="237744"/>
          </a:xfrm>
          <a:prstGeom prst="rect">
            <a:avLst/>
          </a:prstGeom>
          <a:noFill/>
          <a:ln/>
        </p:spPr>
        <p:txBody>
          <a:bodyPr wrap="square" lIns="0" tIns="0" rIns="0" bIns="0" rtlCol="0" anchor="ctr"/>
          <a:lstStyle/>
          <a:p>
            <a:pPr marL="0" indent="0">
              <a:buNone/>
            </a:pPr>
            <a:r>
              <a:rPr lang="en-US" sz="950" i="1" dirty="0">
                <a:solidFill>
                  <a:srgbClr val="7C8A91"/>
                </a:solidFill>
                <a:latin typeface="Calibri" pitchFamily="34" charset="0"/>
                <a:ea typeface="Calibri" pitchFamily="34" charset="-122"/>
                <a:cs typeface="Calibri" pitchFamily="34" charset="-120"/>
              </a:rPr>
              <a:t>orchestrates</a:t>
            </a:r>
            <a:endParaRPr lang="en-US" sz="950" dirty="0"/>
          </a:p>
        </p:txBody>
      </p:sp>
      <p:sp>
        <p:nvSpPr>
          <p:cNvPr id="31" name="Shape 24"/>
          <p:cNvSpPr/>
          <p:nvPr/>
        </p:nvSpPr>
        <p:spPr>
          <a:xfrm>
            <a:off x="548640" y="3986784"/>
            <a:ext cx="11094415" cy="1481328"/>
          </a:xfrm>
          <a:prstGeom prst="roundRect">
            <a:avLst>
              <a:gd name="adj" fmla="val 4938"/>
            </a:avLst>
          </a:prstGeom>
          <a:solidFill>
            <a:srgbClr val="0E1B24"/>
          </a:solidFill>
          <a:ln/>
          <a:effectLst>
            <a:outerShdw blurRad="114300" dist="38100" dir="8100000" algn="bl" rotWithShape="0">
              <a:srgbClr val="16242C">
                <a:alpha val="16000"/>
              </a:srgbClr>
            </a:outerShdw>
          </a:effectLst>
        </p:spPr>
        <p:txBody>
          <a:bodyPr/>
          <a:lstStyle/>
          <a:p>
            <a:endParaRPr lang="en-US"/>
          </a:p>
        </p:txBody>
      </p:sp>
      <p:sp>
        <p:nvSpPr>
          <p:cNvPr id="32" name="Text 25"/>
          <p:cNvSpPr/>
          <p:nvPr/>
        </p:nvSpPr>
        <p:spPr>
          <a:xfrm>
            <a:off x="868680" y="4078224"/>
            <a:ext cx="10454335" cy="292608"/>
          </a:xfrm>
          <a:prstGeom prst="rect">
            <a:avLst/>
          </a:prstGeom>
          <a:noFill/>
          <a:ln/>
        </p:spPr>
        <p:txBody>
          <a:bodyPr wrap="square" lIns="0" tIns="0" rIns="0" bIns="0" rtlCol="0" anchor="ctr"/>
          <a:lstStyle/>
          <a:p>
            <a:pPr marL="0" indent="0">
              <a:buNone/>
            </a:pPr>
            <a:r>
              <a:rPr lang="en-US" sz="1200" b="1" kern="0" spc="200" dirty="0">
                <a:solidFill>
                  <a:srgbClr val="FF6F4D"/>
                </a:solidFill>
                <a:latin typeface="Calibri" pitchFamily="34" charset="0"/>
                <a:ea typeface="Calibri" pitchFamily="34" charset="-122"/>
                <a:cs typeface="Calibri" pitchFamily="34" charset="-120"/>
              </a:rPr>
              <a:t>COMPUTE PLANE</a:t>
            </a:r>
            <a:r>
              <a:rPr lang="en-US" sz="1200" dirty="0">
                <a:solidFill>
                  <a:srgbClr val="C7D2D8"/>
                </a:solidFill>
                <a:latin typeface="Calibri" pitchFamily="34" charset="0"/>
                <a:ea typeface="Calibri" pitchFamily="34" charset="-122"/>
                <a:cs typeface="Calibri" pitchFamily="34" charset="-120"/>
              </a:rPr>
              <a:t>   — where your data is actually processed</a:t>
            </a:r>
            <a:endParaRPr lang="en-US" sz="1200" dirty="0"/>
          </a:p>
        </p:txBody>
      </p:sp>
      <p:sp>
        <p:nvSpPr>
          <p:cNvPr id="33" name="Shape 26"/>
          <p:cNvSpPr/>
          <p:nvPr/>
        </p:nvSpPr>
        <p:spPr>
          <a:xfrm>
            <a:off x="868680" y="4462272"/>
            <a:ext cx="2331720" cy="841248"/>
          </a:xfrm>
          <a:prstGeom prst="roundRect">
            <a:avLst>
              <a:gd name="adj" fmla="val 6522"/>
            </a:avLst>
          </a:prstGeom>
          <a:solidFill>
            <a:srgbClr val="20404C"/>
          </a:solidFill>
          <a:ln w="15875">
            <a:solidFill>
              <a:srgbClr val="FF3621"/>
            </a:solidFill>
            <a:prstDash val="solid"/>
          </a:ln>
        </p:spPr>
        <p:txBody>
          <a:bodyPr/>
          <a:lstStyle/>
          <a:p>
            <a:endParaRPr lang="en-US"/>
          </a:p>
        </p:txBody>
      </p:sp>
      <p:sp>
        <p:nvSpPr>
          <p:cNvPr id="34" name="Shape 27"/>
          <p:cNvSpPr/>
          <p:nvPr/>
        </p:nvSpPr>
        <p:spPr>
          <a:xfrm>
            <a:off x="1024128" y="4654296"/>
            <a:ext cx="457200" cy="457200"/>
          </a:xfrm>
          <a:prstGeom prst="ellipse">
            <a:avLst/>
          </a:prstGeom>
          <a:solidFill>
            <a:srgbClr val="FF3621"/>
          </a:solidFill>
          <a:ln/>
        </p:spPr>
        <p:txBody>
          <a:bodyPr/>
          <a:lstStyle/>
          <a:p>
            <a:endParaRPr lang="en-US"/>
          </a:p>
        </p:txBody>
      </p:sp>
      <p:pic>
        <p:nvPicPr>
          <p:cNvPr id="35" name="Image 5" descr="preencoded.png"/>
          <p:cNvPicPr>
            <a:picLocks noChangeAspect="1"/>
          </p:cNvPicPr>
          <p:nvPr/>
        </p:nvPicPr>
        <p:blipFill>
          <a:blip r:embed="rId8"/>
          <a:stretch>
            <a:fillRect/>
          </a:stretch>
        </p:blipFill>
        <p:spPr>
          <a:xfrm>
            <a:off x="1138428" y="4768596"/>
            <a:ext cx="228600" cy="228600"/>
          </a:xfrm>
          <a:prstGeom prst="rect">
            <a:avLst/>
          </a:prstGeom>
        </p:spPr>
      </p:pic>
      <p:sp>
        <p:nvSpPr>
          <p:cNvPr id="36" name="Text 28"/>
          <p:cNvSpPr/>
          <p:nvPr/>
        </p:nvSpPr>
        <p:spPr>
          <a:xfrm>
            <a:off x="1572768" y="4462272"/>
            <a:ext cx="1554480" cy="841248"/>
          </a:xfrm>
          <a:prstGeom prst="rect">
            <a:avLst/>
          </a:prstGeom>
          <a:noFill/>
          <a:ln/>
        </p:spPr>
        <p:txBody>
          <a:bodyPr wrap="square" lIns="0" tIns="0" rIns="0" bIns="0" rtlCol="0" anchor="ctr"/>
          <a:lstStyle/>
          <a:p>
            <a:pPr marL="0" indent="0">
              <a:buNone/>
            </a:pPr>
            <a:r>
              <a:rPr lang="en-US" sz="1350" b="1" dirty="0">
                <a:solidFill>
                  <a:srgbClr val="FFFFFF"/>
                </a:solidFill>
                <a:latin typeface="Trebuchet MS" pitchFamily="34" charset="0"/>
                <a:ea typeface="Trebuchet MS" pitchFamily="34" charset="-122"/>
                <a:cs typeface="Trebuchet MS" pitchFamily="34" charset="-120"/>
              </a:rPr>
              <a:t>Driver</a:t>
            </a:r>
            <a:endParaRPr lang="en-US" sz="1350" dirty="0"/>
          </a:p>
          <a:p>
            <a:pPr marL="0" indent="0">
              <a:buNone/>
            </a:pPr>
            <a:r>
              <a:rPr lang="en-US" sz="1000" dirty="0">
                <a:solidFill>
                  <a:srgbClr val="C7D2D8"/>
                </a:solidFill>
                <a:latin typeface="Trebuchet MS" pitchFamily="34" charset="0"/>
                <a:ea typeface="Trebuchet MS" pitchFamily="34" charset="-122"/>
                <a:cs typeface="Trebuchet MS" pitchFamily="34" charset="-120"/>
              </a:rPr>
              <a:t>plans the job</a:t>
            </a:r>
            <a:endParaRPr lang="en-US" sz="1350" dirty="0"/>
          </a:p>
        </p:txBody>
      </p:sp>
      <p:sp>
        <p:nvSpPr>
          <p:cNvPr id="37" name="Shape 29"/>
          <p:cNvSpPr/>
          <p:nvPr/>
        </p:nvSpPr>
        <p:spPr>
          <a:xfrm>
            <a:off x="3474720" y="4462272"/>
            <a:ext cx="1481328" cy="841248"/>
          </a:xfrm>
          <a:prstGeom prst="roundRect">
            <a:avLst>
              <a:gd name="adj" fmla="val 6522"/>
            </a:avLst>
          </a:prstGeom>
          <a:solidFill>
            <a:srgbClr val="172D38"/>
          </a:solidFill>
          <a:ln w="12700">
            <a:solidFill>
              <a:srgbClr val="20404C"/>
            </a:solidFill>
            <a:prstDash val="solid"/>
          </a:ln>
        </p:spPr>
        <p:txBody>
          <a:bodyPr/>
          <a:lstStyle/>
          <a:p>
            <a:endParaRPr lang="en-US"/>
          </a:p>
        </p:txBody>
      </p:sp>
      <p:sp>
        <p:nvSpPr>
          <p:cNvPr id="38" name="Shape 30"/>
          <p:cNvSpPr/>
          <p:nvPr/>
        </p:nvSpPr>
        <p:spPr>
          <a:xfrm>
            <a:off x="3621024" y="4681728"/>
            <a:ext cx="402336" cy="402336"/>
          </a:xfrm>
          <a:prstGeom prst="ellipse">
            <a:avLst/>
          </a:prstGeom>
          <a:solidFill>
            <a:srgbClr val="0E7C8B"/>
          </a:solidFill>
          <a:ln/>
        </p:spPr>
        <p:txBody>
          <a:bodyPr/>
          <a:lstStyle/>
          <a:p>
            <a:endParaRPr lang="en-US"/>
          </a:p>
        </p:txBody>
      </p:sp>
      <p:pic>
        <p:nvPicPr>
          <p:cNvPr id="39" name="Image 6" descr="preencoded.png"/>
          <p:cNvPicPr>
            <a:picLocks noChangeAspect="1"/>
          </p:cNvPicPr>
          <p:nvPr/>
        </p:nvPicPr>
        <p:blipFill>
          <a:blip r:embed="rId6"/>
          <a:stretch>
            <a:fillRect/>
          </a:stretch>
        </p:blipFill>
        <p:spPr>
          <a:xfrm>
            <a:off x="3721608" y="4782312"/>
            <a:ext cx="201168" cy="201168"/>
          </a:xfrm>
          <a:prstGeom prst="rect">
            <a:avLst/>
          </a:prstGeom>
        </p:spPr>
      </p:pic>
      <p:sp>
        <p:nvSpPr>
          <p:cNvPr id="40" name="Text 31"/>
          <p:cNvSpPr/>
          <p:nvPr/>
        </p:nvSpPr>
        <p:spPr>
          <a:xfrm>
            <a:off x="4078224" y="4462272"/>
            <a:ext cx="822960" cy="84124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Worker</a:t>
            </a:r>
            <a:endParaRPr lang="en-US" sz="1200" dirty="0"/>
          </a:p>
          <a:p>
            <a:pPr marL="0" indent="0">
              <a:buNone/>
            </a:pPr>
            <a:r>
              <a:rPr lang="en-US" sz="950" dirty="0">
                <a:solidFill>
                  <a:srgbClr val="8597A0"/>
                </a:solidFill>
                <a:latin typeface="Trebuchet MS" pitchFamily="34" charset="0"/>
                <a:ea typeface="Trebuchet MS" pitchFamily="34" charset="-122"/>
                <a:cs typeface="Trebuchet MS" pitchFamily="34" charset="-120"/>
              </a:rPr>
              <a:t>runs tasks</a:t>
            </a:r>
            <a:endParaRPr lang="en-US" sz="1200" dirty="0"/>
          </a:p>
        </p:txBody>
      </p:sp>
      <p:sp>
        <p:nvSpPr>
          <p:cNvPr id="41" name="Shape 32"/>
          <p:cNvSpPr/>
          <p:nvPr/>
        </p:nvSpPr>
        <p:spPr>
          <a:xfrm>
            <a:off x="5120640" y="4462272"/>
            <a:ext cx="1481328" cy="841248"/>
          </a:xfrm>
          <a:prstGeom prst="roundRect">
            <a:avLst>
              <a:gd name="adj" fmla="val 6522"/>
            </a:avLst>
          </a:prstGeom>
          <a:solidFill>
            <a:srgbClr val="172D38"/>
          </a:solidFill>
          <a:ln w="12700">
            <a:solidFill>
              <a:srgbClr val="20404C"/>
            </a:solidFill>
            <a:prstDash val="solid"/>
          </a:ln>
        </p:spPr>
        <p:txBody>
          <a:bodyPr/>
          <a:lstStyle/>
          <a:p>
            <a:endParaRPr lang="en-US"/>
          </a:p>
        </p:txBody>
      </p:sp>
      <p:sp>
        <p:nvSpPr>
          <p:cNvPr id="42" name="Shape 33"/>
          <p:cNvSpPr/>
          <p:nvPr/>
        </p:nvSpPr>
        <p:spPr>
          <a:xfrm>
            <a:off x="5266944" y="4681728"/>
            <a:ext cx="402336" cy="402336"/>
          </a:xfrm>
          <a:prstGeom prst="ellipse">
            <a:avLst/>
          </a:prstGeom>
          <a:solidFill>
            <a:srgbClr val="0E7C8B"/>
          </a:solidFill>
          <a:ln/>
        </p:spPr>
        <p:txBody>
          <a:bodyPr/>
          <a:lstStyle/>
          <a:p>
            <a:endParaRPr lang="en-US"/>
          </a:p>
        </p:txBody>
      </p:sp>
      <p:pic>
        <p:nvPicPr>
          <p:cNvPr id="43" name="Image 7" descr="preencoded.png"/>
          <p:cNvPicPr>
            <a:picLocks noChangeAspect="1"/>
          </p:cNvPicPr>
          <p:nvPr/>
        </p:nvPicPr>
        <p:blipFill>
          <a:blip r:embed="rId6"/>
          <a:stretch>
            <a:fillRect/>
          </a:stretch>
        </p:blipFill>
        <p:spPr>
          <a:xfrm>
            <a:off x="5367528" y="4782312"/>
            <a:ext cx="201168" cy="201168"/>
          </a:xfrm>
          <a:prstGeom prst="rect">
            <a:avLst/>
          </a:prstGeom>
        </p:spPr>
      </p:pic>
      <p:sp>
        <p:nvSpPr>
          <p:cNvPr id="44" name="Text 34"/>
          <p:cNvSpPr/>
          <p:nvPr/>
        </p:nvSpPr>
        <p:spPr>
          <a:xfrm>
            <a:off x="5724144" y="4462272"/>
            <a:ext cx="822960" cy="84124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Worker</a:t>
            </a:r>
            <a:endParaRPr lang="en-US" sz="1200" dirty="0"/>
          </a:p>
          <a:p>
            <a:pPr marL="0" indent="0">
              <a:buNone/>
            </a:pPr>
            <a:r>
              <a:rPr lang="en-US" sz="950" dirty="0">
                <a:solidFill>
                  <a:srgbClr val="8597A0"/>
                </a:solidFill>
                <a:latin typeface="Trebuchet MS" pitchFamily="34" charset="0"/>
                <a:ea typeface="Trebuchet MS" pitchFamily="34" charset="-122"/>
                <a:cs typeface="Trebuchet MS" pitchFamily="34" charset="-120"/>
              </a:rPr>
              <a:t>runs tasks</a:t>
            </a:r>
            <a:endParaRPr lang="en-US" sz="1200" dirty="0"/>
          </a:p>
        </p:txBody>
      </p:sp>
      <p:sp>
        <p:nvSpPr>
          <p:cNvPr id="45" name="Shape 35"/>
          <p:cNvSpPr/>
          <p:nvPr/>
        </p:nvSpPr>
        <p:spPr>
          <a:xfrm>
            <a:off x="6766560" y="4462272"/>
            <a:ext cx="1481328" cy="841248"/>
          </a:xfrm>
          <a:prstGeom prst="roundRect">
            <a:avLst>
              <a:gd name="adj" fmla="val 6522"/>
            </a:avLst>
          </a:prstGeom>
          <a:solidFill>
            <a:srgbClr val="172D38"/>
          </a:solidFill>
          <a:ln w="12700">
            <a:solidFill>
              <a:srgbClr val="20404C"/>
            </a:solidFill>
            <a:prstDash val="solid"/>
          </a:ln>
        </p:spPr>
        <p:txBody>
          <a:bodyPr/>
          <a:lstStyle/>
          <a:p>
            <a:endParaRPr lang="en-US"/>
          </a:p>
        </p:txBody>
      </p:sp>
      <p:sp>
        <p:nvSpPr>
          <p:cNvPr id="46" name="Shape 36"/>
          <p:cNvSpPr/>
          <p:nvPr/>
        </p:nvSpPr>
        <p:spPr>
          <a:xfrm>
            <a:off x="6912864" y="4681728"/>
            <a:ext cx="402336" cy="402336"/>
          </a:xfrm>
          <a:prstGeom prst="ellipse">
            <a:avLst/>
          </a:prstGeom>
          <a:solidFill>
            <a:srgbClr val="0E7C8B"/>
          </a:solidFill>
          <a:ln/>
        </p:spPr>
        <p:txBody>
          <a:bodyPr/>
          <a:lstStyle/>
          <a:p>
            <a:endParaRPr lang="en-US"/>
          </a:p>
        </p:txBody>
      </p:sp>
      <p:pic>
        <p:nvPicPr>
          <p:cNvPr id="47" name="Image 8" descr="preencoded.png"/>
          <p:cNvPicPr>
            <a:picLocks noChangeAspect="1"/>
          </p:cNvPicPr>
          <p:nvPr/>
        </p:nvPicPr>
        <p:blipFill>
          <a:blip r:embed="rId6"/>
          <a:stretch>
            <a:fillRect/>
          </a:stretch>
        </p:blipFill>
        <p:spPr>
          <a:xfrm>
            <a:off x="7013448" y="4782312"/>
            <a:ext cx="201168" cy="201168"/>
          </a:xfrm>
          <a:prstGeom prst="rect">
            <a:avLst/>
          </a:prstGeom>
        </p:spPr>
      </p:pic>
      <p:sp>
        <p:nvSpPr>
          <p:cNvPr id="48" name="Text 37"/>
          <p:cNvSpPr/>
          <p:nvPr/>
        </p:nvSpPr>
        <p:spPr>
          <a:xfrm>
            <a:off x="7370064" y="4462272"/>
            <a:ext cx="822960" cy="84124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Worker</a:t>
            </a:r>
            <a:endParaRPr lang="en-US" sz="1200" dirty="0"/>
          </a:p>
          <a:p>
            <a:pPr marL="0" indent="0">
              <a:buNone/>
            </a:pPr>
            <a:r>
              <a:rPr lang="en-US" sz="950" dirty="0">
                <a:solidFill>
                  <a:srgbClr val="8597A0"/>
                </a:solidFill>
                <a:latin typeface="Trebuchet MS" pitchFamily="34" charset="0"/>
                <a:ea typeface="Trebuchet MS" pitchFamily="34" charset="-122"/>
                <a:cs typeface="Trebuchet MS" pitchFamily="34" charset="-120"/>
              </a:rPr>
              <a:t>runs tasks</a:t>
            </a:r>
            <a:endParaRPr lang="en-US" sz="1200" dirty="0"/>
          </a:p>
        </p:txBody>
      </p:sp>
      <p:sp>
        <p:nvSpPr>
          <p:cNvPr id="49" name="Text 38"/>
          <p:cNvSpPr/>
          <p:nvPr/>
        </p:nvSpPr>
        <p:spPr>
          <a:xfrm>
            <a:off x="8476488" y="4462272"/>
            <a:ext cx="3120847" cy="841248"/>
          </a:xfrm>
          <a:prstGeom prst="rect">
            <a:avLst/>
          </a:prstGeom>
          <a:noFill/>
          <a:ln/>
        </p:spPr>
        <p:txBody>
          <a:bodyPr wrap="square" lIns="0" tIns="0" rIns="0" bIns="0" rtlCol="0" anchor="ctr"/>
          <a:lstStyle/>
          <a:p>
            <a:pPr marL="0" indent="0">
              <a:buNone/>
            </a:pPr>
            <a:r>
              <a:rPr lang="en-US" sz="1100" b="1" dirty="0">
                <a:solidFill>
                  <a:srgbClr val="FF6F4D"/>
                </a:solidFill>
                <a:latin typeface="Calibri" pitchFamily="34" charset="0"/>
                <a:ea typeface="Calibri" pitchFamily="34" charset="-122"/>
                <a:cs typeface="Calibri" pitchFamily="34" charset="-120"/>
              </a:rPr>
              <a:t>= one Spark cluster
</a:t>
            </a:r>
            <a:endParaRPr lang="en-US" sz="1100" dirty="0"/>
          </a:p>
          <a:p>
            <a:pPr marL="0" indent="0">
              <a:buNone/>
            </a:pPr>
            <a:r>
              <a:rPr lang="en-US" sz="1000" dirty="0">
                <a:solidFill>
                  <a:srgbClr val="C7D2D8"/>
                </a:solidFill>
                <a:latin typeface="Calibri" pitchFamily="34" charset="0"/>
                <a:ea typeface="Calibri" pitchFamily="34" charset="-122"/>
                <a:cs typeface="Calibri" pitchFamily="34" charset="-120"/>
              </a:rPr>
              <a:t>Classic (in your cloud VPC) or Serverless (Databricks-managed)</a:t>
            </a:r>
            <a:endParaRPr lang="en-US" sz="1100" dirty="0"/>
          </a:p>
        </p:txBody>
      </p:sp>
      <p:sp>
        <p:nvSpPr>
          <p:cNvPr id="50" name="Shape 39"/>
          <p:cNvSpPr/>
          <p:nvPr/>
        </p:nvSpPr>
        <p:spPr>
          <a:xfrm rot="10800000">
            <a:off x="6023427" y="5458968"/>
            <a:ext cx="144841" cy="201168"/>
          </a:xfrm>
          <a:prstGeom prst="triangle">
            <a:avLst/>
          </a:prstGeom>
          <a:solidFill>
            <a:srgbClr val="0E7C8B"/>
          </a:solidFill>
          <a:ln/>
        </p:spPr>
        <p:txBody>
          <a:bodyPr/>
          <a:lstStyle/>
          <a:p>
            <a:endParaRPr lang="en-US"/>
          </a:p>
        </p:txBody>
      </p:sp>
      <p:sp>
        <p:nvSpPr>
          <p:cNvPr id="51" name="Text 40"/>
          <p:cNvSpPr/>
          <p:nvPr/>
        </p:nvSpPr>
        <p:spPr>
          <a:xfrm>
            <a:off x="6260440" y="5458968"/>
            <a:ext cx="1463040" cy="219456"/>
          </a:xfrm>
          <a:prstGeom prst="rect">
            <a:avLst/>
          </a:prstGeom>
          <a:noFill/>
          <a:ln/>
        </p:spPr>
        <p:txBody>
          <a:bodyPr wrap="square" lIns="0" tIns="0" rIns="0" bIns="0" rtlCol="0" anchor="ctr"/>
          <a:lstStyle/>
          <a:p>
            <a:pPr marL="0" indent="0">
              <a:buNone/>
            </a:pPr>
            <a:r>
              <a:rPr lang="en-US" sz="950" i="1" dirty="0">
                <a:solidFill>
                  <a:srgbClr val="7C8A91"/>
                </a:solidFill>
                <a:latin typeface="Calibri" pitchFamily="34" charset="0"/>
                <a:ea typeface="Calibri" pitchFamily="34" charset="-122"/>
                <a:cs typeface="Calibri" pitchFamily="34" charset="-120"/>
              </a:rPr>
              <a:t>reads / writes</a:t>
            </a:r>
            <a:endParaRPr lang="en-US" sz="950" dirty="0"/>
          </a:p>
        </p:txBody>
      </p:sp>
      <p:sp>
        <p:nvSpPr>
          <p:cNvPr id="52" name="Shape 41"/>
          <p:cNvSpPr/>
          <p:nvPr/>
        </p:nvSpPr>
        <p:spPr>
          <a:xfrm>
            <a:off x="548640" y="5650992"/>
            <a:ext cx="11094415" cy="548640"/>
          </a:xfrm>
          <a:prstGeom prst="roundRect">
            <a:avLst>
              <a:gd name="adj" fmla="val 11667"/>
            </a:avLst>
          </a:prstGeom>
          <a:solidFill>
            <a:srgbClr val="E7F1F2"/>
          </a:solidFill>
          <a:ln w="12700">
            <a:solidFill>
              <a:srgbClr val="BFE0E3"/>
            </a:solidFill>
            <a:prstDash val="solid"/>
          </a:ln>
        </p:spPr>
        <p:txBody>
          <a:bodyPr/>
          <a:lstStyle/>
          <a:p>
            <a:endParaRPr lang="en-US"/>
          </a:p>
        </p:txBody>
      </p:sp>
      <p:sp>
        <p:nvSpPr>
          <p:cNvPr id="53" name="Shape 42"/>
          <p:cNvSpPr/>
          <p:nvPr/>
        </p:nvSpPr>
        <p:spPr>
          <a:xfrm>
            <a:off x="868680" y="5769864"/>
            <a:ext cx="310896" cy="310896"/>
          </a:xfrm>
          <a:prstGeom prst="ellipse">
            <a:avLst/>
          </a:prstGeom>
          <a:solidFill>
            <a:srgbClr val="0E7C8B"/>
          </a:solidFill>
          <a:ln/>
        </p:spPr>
        <p:txBody>
          <a:bodyPr/>
          <a:lstStyle/>
          <a:p>
            <a:endParaRPr lang="en-US"/>
          </a:p>
        </p:txBody>
      </p:sp>
      <p:pic>
        <p:nvPicPr>
          <p:cNvPr id="54" name="Image 9" descr="preencoded.png"/>
          <p:cNvPicPr>
            <a:picLocks noChangeAspect="1"/>
          </p:cNvPicPr>
          <p:nvPr/>
        </p:nvPicPr>
        <p:blipFill>
          <a:blip r:embed="rId9"/>
          <a:stretch>
            <a:fillRect/>
          </a:stretch>
        </p:blipFill>
        <p:spPr>
          <a:xfrm>
            <a:off x="946404" y="5847588"/>
            <a:ext cx="155448" cy="155448"/>
          </a:xfrm>
          <a:prstGeom prst="rect">
            <a:avLst/>
          </a:prstGeom>
        </p:spPr>
      </p:pic>
      <p:sp>
        <p:nvSpPr>
          <p:cNvPr id="55" name="Text 43"/>
          <p:cNvSpPr/>
          <p:nvPr/>
        </p:nvSpPr>
        <p:spPr>
          <a:xfrm>
            <a:off x="1325880" y="5650992"/>
            <a:ext cx="7772400" cy="548640"/>
          </a:xfrm>
          <a:prstGeom prst="rect">
            <a:avLst/>
          </a:prstGeom>
          <a:noFill/>
          <a:ln/>
        </p:spPr>
        <p:txBody>
          <a:bodyPr wrap="square" lIns="0" tIns="0" rIns="0" bIns="0" rtlCol="0" anchor="ctr"/>
          <a:lstStyle/>
          <a:p>
            <a:pPr marL="0" indent="0">
              <a:buNone/>
            </a:pPr>
            <a:r>
              <a:rPr lang="en-US" sz="1200" b="1" dirty="0">
                <a:solidFill>
                  <a:srgbClr val="0A5C68"/>
                </a:solidFill>
                <a:latin typeface="Calibri" pitchFamily="34" charset="0"/>
                <a:ea typeface="Calibri" pitchFamily="34" charset="-122"/>
                <a:cs typeface="Calibri" pitchFamily="34" charset="-120"/>
              </a:rPr>
              <a:t>Your cloud storage  —  Delta Lake on Amazon S3 · Azure ADLS · Google GCS</a:t>
            </a:r>
            <a:endParaRPr lang="en-US" sz="1200" dirty="0"/>
          </a:p>
        </p:txBody>
      </p:sp>
      <p:sp>
        <p:nvSpPr>
          <p:cNvPr id="56" name="Text 44"/>
          <p:cNvSpPr/>
          <p:nvPr/>
        </p:nvSpPr>
        <p:spPr>
          <a:xfrm>
            <a:off x="8595360" y="5650992"/>
            <a:ext cx="2864815" cy="548640"/>
          </a:xfrm>
          <a:prstGeom prst="rect">
            <a:avLst/>
          </a:prstGeom>
          <a:noFill/>
          <a:ln/>
        </p:spPr>
        <p:txBody>
          <a:bodyPr wrap="square" lIns="0" tIns="0" rIns="0" bIns="0" rtlCol="0" anchor="ctr"/>
          <a:lstStyle/>
          <a:p>
            <a:pPr marL="0" indent="0" algn="r">
              <a:buNone/>
            </a:pPr>
            <a:r>
              <a:rPr lang="en-US" sz="1050" i="1" dirty="0">
                <a:solidFill>
                  <a:srgbClr val="0A5C68"/>
                </a:solidFill>
                <a:latin typeface="Calibri" pitchFamily="34" charset="0"/>
                <a:ea typeface="Calibri" pitchFamily="34" charset="-122"/>
                <a:cs typeface="Calibri" pitchFamily="34" charset="-120"/>
              </a:rPr>
              <a:t>Your data stays in your account</a:t>
            </a:r>
            <a:endParaRPr lang="en-US" sz="1050" dirty="0"/>
          </a:p>
        </p:txBody>
      </p:sp>
      <p:sp>
        <p:nvSpPr>
          <p:cNvPr id="57" name="Text 45"/>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58" name="Text 46"/>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03 · THE ENGINE</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How Apache Spark runs a job</a:t>
            </a:r>
            <a:endParaRPr lang="en-US" sz="2900" dirty="0"/>
          </a:p>
        </p:txBody>
      </p:sp>
      <p:sp>
        <p:nvSpPr>
          <p:cNvPr id="5" name="Shape 3"/>
          <p:cNvSpPr/>
          <p:nvPr/>
        </p:nvSpPr>
        <p:spPr>
          <a:xfrm>
            <a:off x="2468880" y="1920240"/>
            <a:ext cx="2834640" cy="841248"/>
          </a:xfrm>
          <a:prstGeom prst="roundRect">
            <a:avLst>
              <a:gd name="adj" fmla="val 7609"/>
            </a:avLst>
          </a:prstGeom>
          <a:solidFill>
            <a:srgbClr val="0E1B24"/>
          </a:solidFill>
          <a:ln/>
          <a:effectLst>
            <a:outerShdw blurRad="114300" dist="38100" dir="8100000" algn="bl" rotWithShape="0">
              <a:srgbClr val="16242C">
                <a:alpha val="16000"/>
              </a:srgbClr>
            </a:outerShdw>
          </a:effectLst>
        </p:spPr>
        <p:txBody>
          <a:bodyPr/>
          <a:lstStyle/>
          <a:p>
            <a:endParaRPr lang="en-US"/>
          </a:p>
        </p:txBody>
      </p:sp>
      <p:sp>
        <p:nvSpPr>
          <p:cNvPr id="6" name="Shape 4"/>
          <p:cNvSpPr/>
          <p:nvPr/>
        </p:nvSpPr>
        <p:spPr>
          <a:xfrm>
            <a:off x="2651760" y="2112264"/>
            <a:ext cx="457200" cy="457200"/>
          </a:xfrm>
          <a:prstGeom prst="ellipse">
            <a:avLst/>
          </a:prstGeom>
          <a:solidFill>
            <a:srgbClr val="FF3621"/>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2766060" y="2226564"/>
            <a:ext cx="228600" cy="228600"/>
          </a:xfrm>
          <a:prstGeom prst="rect">
            <a:avLst/>
          </a:prstGeom>
        </p:spPr>
      </p:pic>
      <p:sp>
        <p:nvSpPr>
          <p:cNvPr id="8" name="Text 5"/>
          <p:cNvSpPr/>
          <p:nvPr/>
        </p:nvSpPr>
        <p:spPr>
          <a:xfrm>
            <a:off x="3200400" y="1920240"/>
            <a:ext cx="2011680" cy="841248"/>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Driver Program</a:t>
            </a:r>
            <a:endParaRPr lang="en-US" sz="1400" dirty="0"/>
          </a:p>
          <a:p>
            <a:pPr marL="0" indent="0">
              <a:buNone/>
            </a:pPr>
            <a:r>
              <a:rPr lang="en-US" sz="1000" dirty="0">
                <a:solidFill>
                  <a:srgbClr val="C7D2D8"/>
                </a:solidFill>
                <a:latin typeface="Trebuchet MS" pitchFamily="34" charset="0"/>
                <a:ea typeface="Trebuchet MS" pitchFamily="34" charset="-122"/>
                <a:cs typeface="Trebuchet MS" pitchFamily="34" charset="-120"/>
              </a:rPr>
              <a:t>SparkSession — plans the work</a:t>
            </a:r>
            <a:endParaRPr lang="en-US" sz="1400" dirty="0"/>
          </a:p>
        </p:txBody>
      </p:sp>
      <p:sp>
        <p:nvSpPr>
          <p:cNvPr id="9" name="Shape 6"/>
          <p:cNvSpPr/>
          <p:nvPr/>
        </p:nvSpPr>
        <p:spPr>
          <a:xfrm rot="10800000">
            <a:off x="3800612" y="2825496"/>
            <a:ext cx="171176" cy="237744"/>
          </a:xfrm>
          <a:prstGeom prst="triangle">
            <a:avLst/>
          </a:prstGeom>
          <a:solidFill>
            <a:srgbClr val="FF3621"/>
          </a:solidFill>
          <a:ln/>
        </p:spPr>
        <p:txBody>
          <a:bodyPr/>
          <a:lstStyle/>
          <a:p>
            <a:endParaRPr lang="en-US"/>
          </a:p>
        </p:txBody>
      </p:sp>
      <p:sp>
        <p:nvSpPr>
          <p:cNvPr id="10" name="Shape 7"/>
          <p:cNvSpPr/>
          <p:nvPr/>
        </p:nvSpPr>
        <p:spPr>
          <a:xfrm>
            <a:off x="2468880" y="3127248"/>
            <a:ext cx="2834640" cy="731520"/>
          </a:xfrm>
          <a:prstGeom prst="roundRect">
            <a:avLst>
              <a:gd name="adj" fmla="val 8750"/>
            </a:avLst>
          </a:prstGeom>
          <a:solidFill>
            <a:srgbClr val="E9EEF0"/>
          </a:solidFill>
          <a:ln w="12700">
            <a:solidFill>
              <a:srgbClr val="DDE4E7"/>
            </a:solidFill>
            <a:prstDash val="solid"/>
          </a:ln>
        </p:spPr>
        <p:txBody>
          <a:bodyPr/>
          <a:lstStyle/>
          <a:p>
            <a:endParaRPr lang="en-US"/>
          </a:p>
        </p:txBody>
      </p:sp>
      <p:sp>
        <p:nvSpPr>
          <p:cNvPr id="11" name="Shape 8"/>
          <p:cNvSpPr/>
          <p:nvPr/>
        </p:nvSpPr>
        <p:spPr>
          <a:xfrm>
            <a:off x="2651760" y="3291840"/>
            <a:ext cx="402336" cy="402336"/>
          </a:xfrm>
          <a:prstGeom prst="ellipse">
            <a:avLst/>
          </a:prstGeom>
          <a:solidFill>
            <a:srgbClr val="7C8A91"/>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2752344" y="3392424"/>
            <a:ext cx="201168" cy="201168"/>
          </a:xfrm>
          <a:prstGeom prst="rect">
            <a:avLst/>
          </a:prstGeom>
        </p:spPr>
      </p:pic>
      <p:sp>
        <p:nvSpPr>
          <p:cNvPr id="13" name="Text 9"/>
          <p:cNvSpPr/>
          <p:nvPr/>
        </p:nvSpPr>
        <p:spPr>
          <a:xfrm>
            <a:off x="3172968" y="3127248"/>
            <a:ext cx="2011680" cy="731520"/>
          </a:xfrm>
          <a:prstGeom prst="rect">
            <a:avLst/>
          </a:prstGeom>
          <a:noFill/>
          <a:ln/>
        </p:spPr>
        <p:txBody>
          <a:bodyPr wrap="square" lIns="0" tIns="0" rIns="0" bIns="0" rtlCol="0" anchor="ctr"/>
          <a:lstStyle/>
          <a:p>
            <a:pPr marL="0" indent="0">
              <a:buNone/>
            </a:pPr>
            <a:r>
              <a:rPr lang="en-US" sz="1300" b="1" dirty="0">
                <a:solidFill>
                  <a:srgbClr val="13242E"/>
                </a:solidFill>
                <a:latin typeface="Trebuchet MS" pitchFamily="34" charset="0"/>
                <a:ea typeface="Trebuchet MS" pitchFamily="34" charset="-122"/>
                <a:cs typeface="Trebuchet MS" pitchFamily="34" charset="-120"/>
              </a:rPr>
              <a:t>Cluster Manager</a:t>
            </a:r>
            <a:endParaRPr lang="en-US" sz="1300" dirty="0"/>
          </a:p>
          <a:p>
            <a:pPr marL="0" indent="0">
              <a:buNone/>
            </a:pPr>
            <a:r>
              <a:rPr lang="en-US" sz="1000" dirty="0">
                <a:solidFill>
                  <a:srgbClr val="7C8A91"/>
                </a:solidFill>
                <a:latin typeface="Trebuchet MS" pitchFamily="34" charset="0"/>
                <a:ea typeface="Trebuchet MS" pitchFamily="34" charset="-122"/>
                <a:cs typeface="Trebuchet MS" pitchFamily="34" charset="-120"/>
              </a:rPr>
              <a:t>allocates resources</a:t>
            </a:r>
            <a:endParaRPr lang="en-US" sz="1300" dirty="0"/>
          </a:p>
        </p:txBody>
      </p:sp>
      <p:sp>
        <p:nvSpPr>
          <p:cNvPr id="14" name="Shape 10"/>
          <p:cNvSpPr/>
          <p:nvPr/>
        </p:nvSpPr>
        <p:spPr>
          <a:xfrm rot="10800000">
            <a:off x="3800612" y="3922776"/>
            <a:ext cx="171176" cy="237744"/>
          </a:xfrm>
          <a:prstGeom prst="triangle">
            <a:avLst/>
          </a:prstGeom>
          <a:solidFill>
            <a:srgbClr val="FF3621"/>
          </a:solidFill>
          <a:ln/>
        </p:spPr>
        <p:txBody>
          <a:bodyPr/>
          <a:lstStyle/>
          <a:p>
            <a:endParaRPr lang="en-US"/>
          </a:p>
        </p:txBody>
      </p:sp>
      <p:sp>
        <p:nvSpPr>
          <p:cNvPr id="15" name="Shape 11"/>
          <p:cNvSpPr/>
          <p:nvPr/>
        </p:nvSpPr>
        <p:spPr>
          <a:xfrm>
            <a:off x="955548" y="4224528"/>
            <a:ext cx="1783080" cy="1051560"/>
          </a:xfrm>
          <a:prstGeom prst="roundRect">
            <a:avLst>
              <a:gd name="adj" fmla="val 5217"/>
            </a:avLst>
          </a:prstGeom>
          <a:solidFill>
            <a:srgbClr val="FFFFFF"/>
          </a:solidFill>
          <a:ln w="15875">
            <a:solidFill>
              <a:srgbClr val="0E7C8B"/>
            </a:solidFill>
            <a:prstDash val="solid"/>
          </a:ln>
        </p:spPr>
        <p:txBody>
          <a:bodyPr/>
          <a:lstStyle/>
          <a:p>
            <a:endParaRPr lang="en-US"/>
          </a:p>
        </p:txBody>
      </p:sp>
      <p:sp>
        <p:nvSpPr>
          <p:cNvPr id="16" name="Shape 12"/>
          <p:cNvSpPr/>
          <p:nvPr/>
        </p:nvSpPr>
        <p:spPr>
          <a:xfrm>
            <a:off x="1618488" y="4370832"/>
            <a:ext cx="457200" cy="457200"/>
          </a:xfrm>
          <a:prstGeom prst="ellipse">
            <a:avLst/>
          </a:prstGeom>
          <a:solidFill>
            <a:srgbClr val="0E7C8B"/>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1732788" y="4485132"/>
            <a:ext cx="228600" cy="228600"/>
          </a:xfrm>
          <a:prstGeom prst="rect">
            <a:avLst/>
          </a:prstGeom>
        </p:spPr>
      </p:pic>
      <p:sp>
        <p:nvSpPr>
          <p:cNvPr id="18" name="Text 13"/>
          <p:cNvSpPr/>
          <p:nvPr/>
        </p:nvSpPr>
        <p:spPr>
          <a:xfrm>
            <a:off x="955548" y="4828032"/>
            <a:ext cx="1783080" cy="237744"/>
          </a:xfrm>
          <a:prstGeom prst="rect">
            <a:avLst/>
          </a:prstGeom>
          <a:noFill/>
          <a:ln/>
        </p:spPr>
        <p:txBody>
          <a:bodyPr wrap="square" lIns="0" tIns="0" rIns="0" bIns="0" rtlCol="0" anchor="ctr"/>
          <a:lstStyle/>
          <a:p>
            <a:pPr marL="0" indent="0" algn="ctr">
              <a:buNone/>
            </a:pPr>
            <a:r>
              <a:rPr lang="en-US" sz="1250" b="1" dirty="0">
                <a:solidFill>
                  <a:srgbClr val="13242E"/>
                </a:solidFill>
                <a:latin typeface="Trebuchet MS" pitchFamily="34" charset="0"/>
                <a:ea typeface="Trebuchet MS" pitchFamily="34" charset="-122"/>
                <a:cs typeface="Trebuchet MS" pitchFamily="34" charset="-120"/>
              </a:rPr>
              <a:t>Executor</a:t>
            </a:r>
            <a:endParaRPr lang="en-US" sz="1250" dirty="0"/>
          </a:p>
        </p:txBody>
      </p:sp>
      <p:sp>
        <p:nvSpPr>
          <p:cNvPr id="19" name="Text 14"/>
          <p:cNvSpPr/>
          <p:nvPr/>
        </p:nvSpPr>
        <p:spPr>
          <a:xfrm>
            <a:off x="1046988" y="5047488"/>
            <a:ext cx="1600200" cy="201168"/>
          </a:xfrm>
          <a:prstGeom prst="rect">
            <a:avLst/>
          </a:prstGeom>
          <a:noFill/>
          <a:ln/>
        </p:spPr>
        <p:txBody>
          <a:bodyPr wrap="square" lIns="0" tIns="0" rIns="0" bIns="0" rtlCol="0" anchor="ctr"/>
          <a:lstStyle/>
          <a:p>
            <a:pPr marL="0" indent="0" algn="ctr">
              <a:buNone/>
            </a:pPr>
            <a:r>
              <a:rPr lang="en-US" sz="950" dirty="0">
                <a:solidFill>
                  <a:srgbClr val="38474F"/>
                </a:solidFill>
                <a:latin typeface="Calibri" pitchFamily="34" charset="0"/>
                <a:ea typeface="Calibri" pitchFamily="34" charset="-122"/>
                <a:cs typeface="Calibri" pitchFamily="34" charset="-120"/>
              </a:rPr>
              <a:t>runs tasks in parallel</a:t>
            </a:r>
            <a:endParaRPr lang="en-US" sz="950" dirty="0"/>
          </a:p>
        </p:txBody>
      </p:sp>
      <p:sp>
        <p:nvSpPr>
          <p:cNvPr id="20" name="Shape 15"/>
          <p:cNvSpPr/>
          <p:nvPr/>
        </p:nvSpPr>
        <p:spPr>
          <a:xfrm>
            <a:off x="2994660" y="4224528"/>
            <a:ext cx="1783080" cy="1051560"/>
          </a:xfrm>
          <a:prstGeom prst="roundRect">
            <a:avLst>
              <a:gd name="adj" fmla="val 5217"/>
            </a:avLst>
          </a:prstGeom>
          <a:solidFill>
            <a:srgbClr val="FFFFFF"/>
          </a:solidFill>
          <a:ln w="15875">
            <a:solidFill>
              <a:srgbClr val="0E7C8B"/>
            </a:solidFill>
            <a:prstDash val="solid"/>
          </a:ln>
        </p:spPr>
        <p:txBody>
          <a:bodyPr/>
          <a:lstStyle/>
          <a:p>
            <a:endParaRPr lang="en-US"/>
          </a:p>
        </p:txBody>
      </p:sp>
      <p:sp>
        <p:nvSpPr>
          <p:cNvPr id="21" name="Shape 16"/>
          <p:cNvSpPr/>
          <p:nvPr/>
        </p:nvSpPr>
        <p:spPr>
          <a:xfrm>
            <a:off x="3657600" y="4370832"/>
            <a:ext cx="457200" cy="457200"/>
          </a:xfrm>
          <a:prstGeom prst="ellipse">
            <a:avLst/>
          </a:prstGeom>
          <a:solidFill>
            <a:srgbClr val="0E7C8B"/>
          </a:solidFill>
          <a:ln/>
        </p:spPr>
        <p:txBody>
          <a:bodyPr/>
          <a:lstStyle/>
          <a:p>
            <a:endParaRPr lang="en-US"/>
          </a:p>
        </p:txBody>
      </p:sp>
      <p:pic>
        <p:nvPicPr>
          <p:cNvPr id="22" name="Image 3" descr="preencoded.png"/>
          <p:cNvPicPr>
            <a:picLocks noChangeAspect="1"/>
          </p:cNvPicPr>
          <p:nvPr/>
        </p:nvPicPr>
        <p:blipFill>
          <a:blip r:embed="rId5"/>
          <a:stretch>
            <a:fillRect/>
          </a:stretch>
        </p:blipFill>
        <p:spPr>
          <a:xfrm>
            <a:off x="3771900" y="4485132"/>
            <a:ext cx="228600" cy="228600"/>
          </a:xfrm>
          <a:prstGeom prst="rect">
            <a:avLst/>
          </a:prstGeom>
        </p:spPr>
      </p:pic>
      <p:sp>
        <p:nvSpPr>
          <p:cNvPr id="23" name="Text 17"/>
          <p:cNvSpPr/>
          <p:nvPr/>
        </p:nvSpPr>
        <p:spPr>
          <a:xfrm>
            <a:off x="2994660" y="4828032"/>
            <a:ext cx="1783080" cy="237744"/>
          </a:xfrm>
          <a:prstGeom prst="rect">
            <a:avLst/>
          </a:prstGeom>
          <a:noFill/>
          <a:ln/>
        </p:spPr>
        <p:txBody>
          <a:bodyPr wrap="square" lIns="0" tIns="0" rIns="0" bIns="0" rtlCol="0" anchor="ctr"/>
          <a:lstStyle/>
          <a:p>
            <a:pPr marL="0" indent="0" algn="ctr">
              <a:buNone/>
            </a:pPr>
            <a:r>
              <a:rPr lang="en-US" sz="1250" b="1" dirty="0">
                <a:solidFill>
                  <a:srgbClr val="13242E"/>
                </a:solidFill>
                <a:latin typeface="Trebuchet MS" pitchFamily="34" charset="0"/>
                <a:ea typeface="Trebuchet MS" pitchFamily="34" charset="-122"/>
                <a:cs typeface="Trebuchet MS" pitchFamily="34" charset="-120"/>
              </a:rPr>
              <a:t>Executor</a:t>
            </a:r>
            <a:endParaRPr lang="en-US" sz="1250" dirty="0"/>
          </a:p>
        </p:txBody>
      </p:sp>
      <p:sp>
        <p:nvSpPr>
          <p:cNvPr id="24" name="Text 18"/>
          <p:cNvSpPr/>
          <p:nvPr/>
        </p:nvSpPr>
        <p:spPr>
          <a:xfrm>
            <a:off x="3086100" y="5047488"/>
            <a:ext cx="1600200" cy="201168"/>
          </a:xfrm>
          <a:prstGeom prst="rect">
            <a:avLst/>
          </a:prstGeom>
          <a:noFill/>
          <a:ln/>
        </p:spPr>
        <p:txBody>
          <a:bodyPr wrap="square" lIns="0" tIns="0" rIns="0" bIns="0" rtlCol="0" anchor="ctr"/>
          <a:lstStyle/>
          <a:p>
            <a:pPr marL="0" indent="0" algn="ctr">
              <a:buNone/>
            </a:pPr>
            <a:r>
              <a:rPr lang="en-US" sz="950" dirty="0">
                <a:solidFill>
                  <a:srgbClr val="38474F"/>
                </a:solidFill>
                <a:latin typeface="Calibri" pitchFamily="34" charset="0"/>
                <a:ea typeface="Calibri" pitchFamily="34" charset="-122"/>
                <a:cs typeface="Calibri" pitchFamily="34" charset="-120"/>
              </a:rPr>
              <a:t>runs tasks in parallel</a:t>
            </a:r>
            <a:endParaRPr lang="en-US" sz="950" dirty="0"/>
          </a:p>
        </p:txBody>
      </p:sp>
      <p:sp>
        <p:nvSpPr>
          <p:cNvPr id="25" name="Shape 19"/>
          <p:cNvSpPr/>
          <p:nvPr/>
        </p:nvSpPr>
        <p:spPr>
          <a:xfrm>
            <a:off x="5033772" y="4224528"/>
            <a:ext cx="1783080" cy="1051560"/>
          </a:xfrm>
          <a:prstGeom prst="roundRect">
            <a:avLst>
              <a:gd name="adj" fmla="val 5217"/>
            </a:avLst>
          </a:prstGeom>
          <a:solidFill>
            <a:srgbClr val="FFFFFF"/>
          </a:solidFill>
          <a:ln w="15875">
            <a:solidFill>
              <a:srgbClr val="0E7C8B"/>
            </a:solidFill>
            <a:prstDash val="solid"/>
          </a:ln>
        </p:spPr>
        <p:txBody>
          <a:bodyPr/>
          <a:lstStyle/>
          <a:p>
            <a:endParaRPr lang="en-US"/>
          </a:p>
        </p:txBody>
      </p:sp>
      <p:sp>
        <p:nvSpPr>
          <p:cNvPr id="26" name="Shape 20"/>
          <p:cNvSpPr/>
          <p:nvPr/>
        </p:nvSpPr>
        <p:spPr>
          <a:xfrm>
            <a:off x="5696712" y="4370832"/>
            <a:ext cx="457200" cy="457200"/>
          </a:xfrm>
          <a:prstGeom prst="ellipse">
            <a:avLst/>
          </a:prstGeom>
          <a:solidFill>
            <a:srgbClr val="0E7C8B"/>
          </a:solidFill>
          <a:ln/>
        </p:spPr>
        <p:txBody>
          <a:bodyPr/>
          <a:lstStyle/>
          <a:p>
            <a:endParaRPr lang="en-US"/>
          </a:p>
        </p:txBody>
      </p:sp>
      <p:pic>
        <p:nvPicPr>
          <p:cNvPr id="27" name="Image 4" descr="preencoded.png"/>
          <p:cNvPicPr>
            <a:picLocks noChangeAspect="1"/>
          </p:cNvPicPr>
          <p:nvPr/>
        </p:nvPicPr>
        <p:blipFill>
          <a:blip r:embed="rId5"/>
          <a:stretch>
            <a:fillRect/>
          </a:stretch>
        </p:blipFill>
        <p:spPr>
          <a:xfrm>
            <a:off x="5811012" y="4485132"/>
            <a:ext cx="228600" cy="228600"/>
          </a:xfrm>
          <a:prstGeom prst="rect">
            <a:avLst/>
          </a:prstGeom>
        </p:spPr>
      </p:pic>
      <p:sp>
        <p:nvSpPr>
          <p:cNvPr id="28" name="Text 21"/>
          <p:cNvSpPr/>
          <p:nvPr/>
        </p:nvSpPr>
        <p:spPr>
          <a:xfrm>
            <a:off x="5033772" y="4828032"/>
            <a:ext cx="1783080" cy="237744"/>
          </a:xfrm>
          <a:prstGeom prst="rect">
            <a:avLst/>
          </a:prstGeom>
          <a:noFill/>
          <a:ln/>
        </p:spPr>
        <p:txBody>
          <a:bodyPr wrap="square" lIns="0" tIns="0" rIns="0" bIns="0" rtlCol="0" anchor="ctr"/>
          <a:lstStyle/>
          <a:p>
            <a:pPr marL="0" indent="0" algn="ctr">
              <a:buNone/>
            </a:pPr>
            <a:r>
              <a:rPr lang="en-US" sz="1250" b="1" dirty="0">
                <a:solidFill>
                  <a:srgbClr val="13242E"/>
                </a:solidFill>
                <a:latin typeface="Trebuchet MS" pitchFamily="34" charset="0"/>
                <a:ea typeface="Trebuchet MS" pitchFamily="34" charset="-122"/>
                <a:cs typeface="Trebuchet MS" pitchFamily="34" charset="-120"/>
              </a:rPr>
              <a:t>Executor</a:t>
            </a:r>
            <a:endParaRPr lang="en-US" sz="1250" dirty="0"/>
          </a:p>
        </p:txBody>
      </p:sp>
      <p:sp>
        <p:nvSpPr>
          <p:cNvPr id="29" name="Text 22"/>
          <p:cNvSpPr/>
          <p:nvPr/>
        </p:nvSpPr>
        <p:spPr>
          <a:xfrm>
            <a:off x="5125212" y="5047488"/>
            <a:ext cx="1600200" cy="201168"/>
          </a:xfrm>
          <a:prstGeom prst="rect">
            <a:avLst/>
          </a:prstGeom>
          <a:noFill/>
          <a:ln/>
        </p:spPr>
        <p:txBody>
          <a:bodyPr wrap="square" lIns="0" tIns="0" rIns="0" bIns="0" rtlCol="0" anchor="ctr"/>
          <a:lstStyle/>
          <a:p>
            <a:pPr marL="0" indent="0" algn="ctr">
              <a:buNone/>
            </a:pPr>
            <a:r>
              <a:rPr lang="en-US" sz="950" dirty="0">
                <a:solidFill>
                  <a:srgbClr val="38474F"/>
                </a:solidFill>
                <a:latin typeface="Calibri" pitchFamily="34" charset="0"/>
                <a:ea typeface="Calibri" pitchFamily="34" charset="-122"/>
                <a:cs typeface="Calibri" pitchFamily="34" charset="-120"/>
              </a:rPr>
              <a:t>runs tasks in parallel</a:t>
            </a:r>
            <a:endParaRPr lang="en-US" sz="950" dirty="0"/>
          </a:p>
        </p:txBody>
      </p:sp>
      <p:sp>
        <p:nvSpPr>
          <p:cNvPr id="30" name="Text 23"/>
          <p:cNvSpPr/>
          <p:nvPr/>
        </p:nvSpPr>
        <p:spPr>
          <a:xfrm>
            <a:off x="548640" y="5321808"/>
            <a:ext cx="6675120" cy="228600"/>
          </a:xfrm>
          <a:prstGeom prst="rect">
            <a:avLst/>
          </a:prstGeom>
          <a:noFill/>
          <a:ln/>
        </p:spPr>
        <p:txBody>
          <a:bodyPr wrap="square" lIns="0" tIns="0" rIns="0" bIns="0" rtlCol="0" anchor="ctr"/>
          <a:lstStyle/>
          <a:p>
            <a:pPr marL="0" indent="0" algn="ctr">
              <a:buNone/>
            </a:pPr>
            <a:r>
              <a:rPr lang="en-US" sz="1000" b="1" kern="0" spc="200" dirty="0">
                <a:solidFill>
                  <a:srgbClr val="7C8A91"/>
                </a:solidFill>
                <a:latin typeface="Calibri" pitchFamily="34" charset="0"/>
                <a:ea typeface="Calibri" pitchFamily="34" charset="-122"/>
                <a:cs typeface="Calibri" pitchFamily="34" charset="-120"/>
              </a:rPr>
              <a:t>WORKER NODES</a:t>
            </a:r>
            <a:endParaRPr lang="en-US" sz="1000" dirty="0"/>
          </a:p>
        </p:txBody>
      </p:sp>
      <p:sp>
        <p:nvSpPr>
          <p:cNvPr id="31" name="Shape 24"/>
          <p:cNvSpPr/>
          <p:nvPr/>
        </p:nvSpPr>
        <p:spPr>
          <a:xfrm>
            <a:off x="7452360" y="1920240"/>
            <a:ext cx="4190695" cy="3657600"/>
          </a:xfrm>
          <a:prstGeom prst="roundRect">
            <a:avLst>
              <a:gd name="adj" fmla="val 2500"/>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2" name="Text 25"/>
          <p:cNvSpPr/>
          <p:nvPr/>
        </p:nvSpPr>
        <p:spPr>
          <a:xfrm>
            <a:off x="7818120" y="2121408"/>
            <a:ext cx="3459175" cy="411480"/>
          </a:xfrm>
          <a:prstGeom prst="rect">
            <a:avLst/>
          </a:prstGeom>
          <a:noFill/>
          <a:ln/>
        </p:spPr>
        <p:txBody>
          <a:bodyPr wrap="square" lIns="0" tIns="0" rIns="0" bIns="0" rtlCol="0" anchor="ctr"/>
          <a:lstStyle/>
          <a:p>
            <a:pPr marL="0" indent="0">
              <a:buNone/>
            </a:pPr>
            <a:r>
              <a:rPr lang="en-US" sz="1600" b="1" dirty="0">
                <a:solidFill>
                  <a:srgbClr val="13242E"/>
                </a:solidFill>
                <a:latin typeface="Trebuchet MS" pitchFamily="34" charset="0"/>
                <a:ea typeface="Trebuchet MS" pitchFamily="34" charset="-122"/>
                <a:cs typeface="Trebuchet MS" pitchFamily="34" charset="-120"/>
              </a:rPr>
              <a:t>From code to result</a:t>
            </a:r>
            <a:endParaRPr lang="en-US" sz="1600" dirty="0"/>
          </a:p>
        </p:txBody>
      </p:sp>
      <p:sp>
        <p:nvSpPr>
          <p:cNvPr id="33" name="Text 26"/>
          <p:cNvSpPr/>
          <p:nvPr/>
        </p:nvSpPr>
        <p:spPr>
          <a:xfrm>
            <a:off x="7863840" y="2651760"/>
            <a:ext cx="3413455" cy="2194560"/>
          </a:xfrm>
          <a:prstGeom prst="rect">
            <a:avLst/>
          </a:prstGeom>
          <a:noFill/>
          <a:ln/>
        </p:spPr>
        <p:txBody>
          <a:bodyPr wrap="square" lIns="0" tIns="0" rIns="0" bIns="0" rtlCol="0" anchor="ctr"/>
          <a:lstStyle/>
          <a:p>
            <a:pPr marL="342900" indent="-342900">
              <a:spcAft>
                <a:spcPts val="1000"/>
              </a:spcAft>
              <a:buSzPct val="100000"/>
              <a:buFont typeface="+mj-lt"/>
              <a:buAutoNum type="arabicPeriod"/>
            </a:pPr>
            <a:r>
              <a:rPr lang="en-US" sz="1250" dirty="0">
                <a:solidFill>
                  <a:srgbClr val="38474F"/>
                </a:solidFill>
                <a:latin typeface="Calibri" pitchFamily="34" charset="0"/>
                <a:ea typeface="Calibri" pitchFamily="34" charset="-122"/>
                <a:cs typeface="Calibri" pitchFamily="34" charset="-120"/>
              </a:rPr>
              <a:t>You write code in a notebook or SQL.</a:t>
            </a:r>
            <a:endParaRPr lang="en-US" sz="1250" dirty="0"/>
          </a:p>
          <a:p>
            <a:pPr marL="342900" indent="-342900">
              <a:spcAft>
                <a:spcPts val="1000"/>
              </a:spcAft>
              <a:buSzPct val="100000"/>
              <a:buFont typeface="+mj-lt"/>
              <a:buAutoNum type="arabicPeriod"/>
            </a:pPr>
            <a:r>
              <a:rPr lang="en-US" sz="1250" dirty="0">
                <a:solidFill>
                  <a:srgbClr val="38474F"/>
                </a:solidFill>
                <a:latin typeface="Calibri" pitchFamily="34" charset="0"/>
                <a:ea typeface="Calibri" pitchFamily="34" charset="-122"/>
                <a:cs typeface="Calibri" pitchFamily="34" charset="-120"/>
              </a:rPr>
              <a:t>The Driver builds a plan and splits it into tasks.</a:t>
            </a:r>
            <a:endParaRPr lang="en-US" sz="1250" dirty="0"/>
          </a:p>
          <a:p>
            <a:pPr marL="342900" indent="-342900">
              <a:spcAft>
                <a:spcPts val="1000"/>
              </a:spcAft>
              <a:buSzPct val="100000"/>
              <a:buFont typeface="+mj-lt"/>
              <a:buAutoNum type="arabicPeriod"/>
            </a:pPr>
            <a:r>
              <a:rPr lang="en-US" sz="1250" dirty="0">
                <a:solidFill>
                  <a:srgbClr val="38474F"/>
                </a:solidFill>
                <a:latin typeface="Calibri" pitchFamily="34" charset="0"/>
                <a:ea typeface="Calibri" pitchFamily="34" charset="-122"/>
                <a:cs typeface="Calibri" pitchFamily="34" charset="-120"/>
              </a:rPr>
              <a:t>The Cluster Manager assigns worker nodes.</a:t>
            </a:r>
            <a:endParaRPr lang="en-US" sz="1250" dirty="0"/>
          </a:p>
          <a:p>
            <a:pPr marL="342900" indent="-342900">
              <a:spcAft>
                <a:spcPts val="1000"/>
              </a:spcAft>
              <a:buSzPct val="100000"/>
              <a:buFont typeface="+mj-lt"/>
              <a:buAutoNum type="arabicPeriod"/>
            </a:pPr>
            <a:r>
              <a:rPr lang="en-US" sz="1250" dirty="0">
                <a:solidFill>
                  <a:srgbClr val="38474F"/>
                </a:solidFill>
                <a:latin typeface="Calibri" pitchFamily="34" charset="0"/>
                <a:ea typeface="Calibri" pitchFamily="34" charset="-122"/>
                <a:cs typeface="Calibri" pitchFamily="34" charset="-120"/>
              </a:rPr>
              <a:t>Executors run tasks in parallel on data partitions.</a:t>
            </a:r>
            <a:endParaRPr lang="en-US" sz="1250" dirty="0"/>
          </a:p>
          <a:p>
            <a:pPr marL="342900" indent="-342900">
              <a:spcAft>
                <a:spcPts val="1000"/>
              </a:spcAft>
              <a:buSzPct val="100000"/>
              <a:buFont typeface="+mj-lt"/>
              <a:buAutoNum type="arabicPeriod"/>
            </a:pPr>
            <a:r>
              <a:rPr lang="en-US" sz="1250" dirty="0">
                <a:solidFill>
                  <a:srgbClr val="38474F"/>
                </a:solidFill>
                <a:latin typeface="Calibri" pitchFamily="34" charset="0"/>
                <a:ea typeface="Calibri" pitchFamily="34" charset="-122"/>
                <a:cs typeface="Calibri" pitchFamily="34" charset="-120"/>
              </a:rPr>
              <a:t>Results are returned to the Driver.</a:t>
            </a:r>
            <a:endParaRPr lang="en-US" sz="1250" dirty="0"/>
          </a:p>
        </p:txBody>
      </p:sp>
      <p:sp>
        <p:nvSpPr>
          <p:cNvPr id="34" name="Shape 27"/>
          <p:cNvSpPr/>
          <p:nvPr/>
        </p:nvSpPr>
        <p:spPr>
          <a:xfrm>
            <a:off x="7818120" y="4892040"/>
            <a:ext cx="3459175" cy="0"/>
          </a:xfrm>
          <a:prstGeom prst="line">
            <a:avLst/>
          </a:prstGeom>
          <a:noFill/>
          <a:ln w="12700">
            <a:solidFill>
              <a:srgbClr val="DDE4E7"/>
            </a:solidFill>
            <a:prstDash val="solid"/>
          </a:ln>
        </p:spPr>
        <p:txBody>
          <a:bodyPr/>
          <a:lstStyle/>
          <a:p>
            <a:endParaRPr lang="en-US"/>
          </a:p>
        </p:txBody>
      </p:sp>
      <p:sp>
        <p:nvSpPr>
          <p:cNvPr id="35" name="Text 28"/>
          <p:cNvSpPr/>
          <p:nvPr/>
        </p:nvSpPr>
        <p:spPr>
          <a:xfrm>
            <a:off x="7818120" y="4983480"/>
            <a:ext cx="3459175" cy="502920"/>
          </a:xfrm>
          <a:prstGeom prst="rect">
            <a:avLst/>
          </a:prstGeom>
          <a:noFill/>
          <a:ln/>
        </p:spPr>
        <p:txBody>
          <a:bodyPr wrap="square" lIns="0" tIns="0" rIns="0" bIns="0" rtlCol="0" anchor="ctr"/>
          <a:lstStyle/>
          <a:p>
            <a:pPr marL="0" indent="0">
              <a:buNone/>
            </a:pPr>
            <a:r>
              <a:rPr lang="en-US" sz="1200" b="1" dirty="0">
                <a:solidFill>
                  <a:srgbClr val="FF3621"/>
                </a:solidFill>
                <a:latin typeface="Calibri" pitchFamily="34" charset="0"/>
                <a:ea typeface="Calibri" pitchFamily="34" charset="-122"/>
                <a:cs typeface="Calibri" pitchFamily="34" charset="-120"/>
              </a:rPr>
              <a:t>More executors = more parallel work = faster jobs.</a:t>
            </a:r>
            <a:endParaRPr lang="en-US" sz="1200" dirty="0"/>
          </a:p>
        </p:txBody>
      </p:sp>
      <p:sp>
        <p:nvSpPr>
          <p:cNvPr id="36" name="Text 29"/>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37" name="Text 30"/>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03 · THE STORAGE LAYER</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Delta Lake: reliability on the data lake</a:t>
            </a:r>
            <a:endParaRPr lang="en-US" sz="2900" dirty="0"/>
          </a:p>
        </p:txBody>
      </p:sp>
      <p:sp>
        <p:nvSpPr>
          <p:cNvPr id="5" name="Shape 3"/>
          <p:cNvSpPr/>
          <p:nvPr/>
        </p:nvSpPr>
        <p:spPr>
          <a:xfrm>
            <a:off x="1463040" y="1874520"/>
            <a:ext cx="4572000" cy="841248"/>
          </a:xfrm>
          <a:prstGeom prst="roundRect">
            <a:avLst>
              <a:gd name="adj" fmla="val 7609"/>
            </a:avLst>
          </a:prstGeom>
          <a:solidFill>
            <a:srgbClr val="0E1B24"/>
          </a:solidFill>
          <a:ln/>
          <a:effectLst>
            <a:outerShdw blurRad="114300" dist="38100" dir="8100000" algn="bl" rotWithShape="0">
              <a:srgbClr val="16242C">
                <a:alpha val="16000"/>
              </a:srgbClr>
            </a:outerShdw>
          </a:effectLst>
        </p:spPr>
        <p:txBody>
          <a:bodyPr/>
          <a:lstStyle/>
          <a:p>
            <a:endParaRPr lang="en-US"/>
          </a:p>
        </p:txBody>
      </p:sp>
      <p:sp>
        <p:nvSpPr>
          <p:cNvPr id="6" name="Shape 4"/>
          <p:cNvSpPr/>
          <p:nvPr/>
        </p:nvSpPr>
        <p:spPr>
          <a:xfrm>
            <a:off x="1463040" y="1874520"/>
            <a:ext cx="109728" cy="841248"/>
          </a:xfrm>
          <a:prstGeom prst="rect">
            <a:avLst/>
          </a:prstGeom>
          <a:solidFill>
            <a:srgbClr val="FF3621"/>
          </a:solidFill>
          <a:ln/>
        </p:spPr>
        <p:txBody>
          <a:bodyPr/>
          <a:lstStyle/>
          <a:p>
            <a:endParaRPr lang="en-US"/>
          </a:p>
        </p:txBody>
      </p:sp>
      <p:sp>
        <p:nvSpPr>
          <p:cNvPr id="7" name="Shape 5"/>
          <p:cNvSpPr/>
          <p:nvPr/>
        </p:nvSpPr>
        <p:spPr>
          <a:xfrm>
            <a:off x="1737360" y="2066544"/>
            <a:ext cx="457200" cy="457200"/>
          </a:xfrm>
          <a:prstGeom prst="ellipse">
            <a:avLst/>
          </a:prstGeom>
          <a:solidFill>
            <a:srgbClr val="FF3621"/>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851660" y="2180844"/>
            <a:ext cx="228600" cy="228600"/>
          </a:xfrm>
          <a:prstGeom prst="rect">
            <a:avLst/>
          </a:prstGeom>
        </p:spPr>
      </p:pic>
      <p:sp>
        <p:nvSpPr>
          <p:cNvPr id="9" name="Text 6"/>
          <p:cNvSpPr/>
          <p:nvPr/>
        </p:nvSpPr>
        <p:spPr>
          <a:xfrm>
            <a:off x="2331720" y="1874520"/>
            <a:ext cx="3566160" cy="841248"/>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Delta Table</a:t>
            </a:r>
            <a:endParaRPr lang="en-US" sz="1500" dirty="0"/>
          </a:p>
          <a:p>
            <a:pPr marL="0" indent="0">
              <a:buNone/>
            </a:pPr>
            <a:r>
              <a:rPr lang="en-US" sz="1050" dirty="0">
                <a:solidFill>
                  <a:srgbClr val="C7D2D8"/>
                </a:solidFill>
                <a:latin typeface="Trebuchet MS" pitchFamily="34" charset="0"/>
                <a:ea typeface="Trebuchet MS" pitchFamily="34" charset="-122"/>
                <a:cs typeface="Trebuchet MS" pitchFamily="34" charset="-120"/>
              </a:rPr>
              <a:t>an open, reliable table format</a:t>
            </a:r>
            <a:endParaRPr lang="en-US" sz="1500" dirty="0"/>
          </a:p>
        </p:txBody>
      </p:sp>
      <p:sp>
        <p:nvSpPr>
          <p:cNvPr id="10" name="Shape 7"/>
          <p:cNvSpPr/>
          <p:nvPr/>
        </p:nvSpPr>
        <p:spPr>
          <a:xfrm>
            <a:off x="3749040" y="2715768"/>
            <a:ext cx="0" cy="201168"/>
          </a:xfrm>
          <a:prstGeom prst="line">
            <a:avLst/>
          </a:prstGeom>
          <a:noFill/>
          <a:ln w="15875">
            <a:solidFill>
              <a:srgbClr val="7C8A91"/>
            </a:solidFill>
            <a:prstDash val="solid"/>
          </a:ln>
        </p:spPr>
        <p:txBody>
          <a:bodyPr/>
          <a:lstStyle/>
          <a:p>
            <a:endParaRPr lang="en-US"/>
          </a:p>
        </p:txBody>
      </p:sp>
      <p:sp>
        <p:nvSpPr>
          <p:cNvPr id="11" name="Text 8"/>
          <p:cNvSpPr/>
          <p:nvPr/>
        </p:nvSpPr>
        <p:spPr>
          <a:xfrm>
            <a:off x="548640" y="2889504"/>
            <a:ext cx="6400800" cy="274320"/>
          </a:xfrm>
          <a:prstGeom prst="rect">
            <a:avLst/>
          </a:prstGeom>
          <a:noFill/>
          <a:ln/>
        </p:spPr>
        <p:txBody>
          <a:bodyPr wrap="square" lIns="0" tIns="0" rIns="0" bIns="0" rtlCol="0" anchor="ctr"/>
          <a:lstStyle/>
          <a:p>
            <a:pPr marL="0" indent="0" algn="ctr">
              <a:buNone/>
            </a:pPr>
            <a:r>
              <a:rPr lang="en-US" sz="1150" i="1" dirty="0">
                <a:solidFill>
                  <a:srgbClr val="7C8A91"/>
                </a:solidFill>
                <a:latin typeface="Calibri" pitchFamily="34" charset="0"/>
                <a:ea typeface="Calibri" pitchFamily="34" charset="-122"/>
                <a:cs typeface="Calibri" pitchFamily="34" charset="-120"/>
              </a:rPr>
              <a:t>=  data files  +  transaction log</a:t>
            </a:r>
            <a:endParaRPr lang="en-US" sz="1150" dirty="0"/>
          </a:p>
        </p:txBody>
      </p:sp>
      <p:sp>
        <p:nvSpPr>
          <p:cNvPr id="12" name="Shape 9"/>
          <p:cNvSpPr/>
          <p:nvPr/>
        </p:nvSpPr>
        <p:spPr>
          <a:xfrm>
            <a:off x="1463040" y="3218688"/>
            <a:ext cx="2194560" cy="914400"/>
          </a:xfrm>
          <a:prstGeom prst="roundRect">
            <a:avLst>
              <a:gd name="adj" fmla="val 6000"/>
            </a:avLst>
          </a:prstGeom>
          <a:solidFill>
            <a:srgbClr val="E9EEF0"/>
          </a:solidFill>
          <a:ln w="12700">
            <a:solidFill>
              <a:srgbClr val="DDE4E7"/>
            </a:solidFill>
            <a:prstDash val="solid"/>
          </a:ln>
        </p:spPr>
        <p:txBody>
          <a:bodyPr/>
          <a:lstStyle/>
          <a:p>
            <a:endParaRPr lang="en-US"/>
          </a:p>
        </p:txBody>
      </p:sp>
      <p:sp>
        <p:nvSpPr>
          <p:cNvPr id="13" name="Shape 10"/>
          <p:cNvSpPr/>
          <p:nvPr/>
        </p:nvSpPr>
        <p:spPr>
          <a:xfrm>
            <a:off x="2331720" y="3346704"/>
            <a:ext cx="457200" cy="457200"/>
          </a:xfrm>
          <a:prstGeom prst="ellipse">
            <a:avLst/>
          </a:prstGeom>
          <a:solidFill>
            <a:srgbClr val="0E7C8B"/>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2446020" y="3461004"/>
            <a:ext cx="228600" cy="228600"/>
          </a:xfrm>
          <a:prstGeom prst="rect">
            <a:avLst/>
          </a:prstGeom>
        </p:spPr>
      </p:pic>
      <p:sp>
        <p:nvSpPr>
          <p:cNvPr id="15" name="Text 11"/>
          <p:cNvSpPr/>
          <p:nvPr/>
        </p:nvSpPr>
        <p:spPr>
          <a:xfrm>
            <a:off x="1463040" y="3785616"/>
            <a:ext cx="2194560" cy="219456"/>
          </a:xfrm>
          <a:prstGeom prst="rect">
            <a:avLst/>
          </a:prstGeom>
          <a:noFill/>
          <a:ln/>
        </p:spPr>
        <p:txBody>
          <a:bodyPr wrap="square" lIns="0" tIns="0" rIns="0" bIns="0" rtlCol="0" anchor="ctr"/>
          <a:lstStyle/>
          <a:p>
            <a:pPr marL="0" indent="0" algn="ctr">
              <a:buNone/>
            </a:pPr>
            <a:r>
              <a:rPr lang="en-US" sz="1200" b="1" dirty="0">
                <a:solidFill>
                  <a:srgbClr val="13242E"/>
                </a:solidFill>
                <a:latin typeface="Trebuchet MS" pitchFamily="34" charset="0"/>
                <a:ea typeface="Trebuchet MS" pitchFamily="34" charset="-122"/>
                <a:cs typeface="Trebuchet MS" pitchFamily="34" charset="-120"/>
              </a:rPr>
              <a:t>Parquet data files</a:t>
            </a:r>
            <a:endParaRPr lang="en-US" sz="1200" dirty="0"/>
          </a:p>
        </p:txBody>
      </p:sp>
      <p:sp>
        <p:nvSpPr>
          <p:cNvPr id="16" name="Text 12"/>
          <p:cNvSpPr/>
          <p:nvPr/>
        </p:nvSpPr>
        <p:spPr>
          <a:xfrm>
            <a:off x="1463040" y="3986784"/>
            <a:ext cx="2194560" cy="182880"/>
          </a:xfrm>
          <a:prstGeom prst="rect">
            <a:avLst/>
          </a:prstGeom>
          <a:noFill/>
          <a:ln/>
        </p:spPr>
        <p:txBody>
          <a:bodyPr wrap="square" lIns="0" tIns="0" rIns="0" bIns="0" rtlCol="0" anchor="ctr"/>
          <a:lstStyle/>
          <a:p>
            <a:pPr marL="0" indent="0" algn="ctr">
              <a:buNone/>
            </a:pPr>
            <a:r>
              <a:rPr lang="en-US" sz="950" dirty="0">
                <a:solidFill>
                  <a:srgbClr val="38474F"/>
                </a:solidFill>
                <a:latin typeface="Calibri" pitchFamily="34" charset="0"/>
                <a:ea typeface="Calibri" pitchFamily="34" charset="-122"/>
                <a:cs typeface="Calibri" pitchFamily="34" charset="-120"/>
              </a:rPr>
              <a:t>columnar, compressed</a:t>
            </a:r>
            <a:endParaRPr lang="en-US" sz="950" dirty="0"/>
          </a:p>
        </p:txBody>
      </p:sp>
      <p:sp>
        <p:nvSpPr>
          <p:cNvPr id="17" name="Shape 13"/>
          <p:cNvSpPr/>
          <p:nvPr/>
        </p:nvSpPr>
        <p:spPr>
          <a:xfrm>
            <a:off x="3840480" y="3218688"/>
            <a:ext cx="2194560" cy="914400"/>
          </a:xfrm>
          <a:prstGeom prst="roundRect">
            <a:avLst>
              <a:gd name="adj" fmla="val 6000"/>
            </a:avLst>
          </a:prstGeom>
          <a:solidFill>
            <a:srgbClr val="E9EEF0"/>
          </a:solidFill>
          <a:ln w="12700">
            <a:solidFill>
              <a:srgbClr val="DDE4E7"/>
            </a:solidFill>
            <a:prstDash val="solid"/>
          </a:ln>
        </p:spPr>
        <p:txBody>
          <a:bodyPr/>
          <a:lstStyle/>
          <a:p>
            <a:endParaRPr lang="en-US"/>
          </a:p>
        </p:txBody>
      </p:sp>
      <p:sp>
        <p:nvSpPr>
          <p:cNvPr id="18" name="Shape 14"/>
          <p:cNvSpPr/>
          <p:nvPr/>
        </p:nvSpPr>
        <p:spPr>
          <a:xfrm>
            <a:off x="4709160" y="3346704"/>
            <a:ext cx="457200" cy="457200"/>
          </a:xfrm>
          <a:prstGeom prst="ellipse">
            <a:avLst/>
          </a:prstGeom>
          <a:solidFill>
            <a:srgbClr val="FF3621"/>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4823460" y="3461004"/>
            <a:ext cx="228600" cy="228600"/>
          </a:xfrm>
          <a:prstGeom prst="rect">
            <a:avLst/>
          </a:prstGeom>
        </p:spPr>
      </p:pic>
      <p:sp>
        <p:nvSpPr>
          <p:cNvPr id="20" name="Text 15"/>
          <p:cNvSpPr/>
          <p:nvPr/>
        </p:nvSpPr>
        <p:spPr>
          <a:xfrm>
            <a:off x="3840480" y="3785616"/>
            <a:ext cx="2194560" cy="219456"/>
          </a:xfrm>
          <a:prstGeom prst="rect">
            <a:avLst/>
          </a:prstGeom>
          <a:noFill/>
          <a:ln/>
        </p:spPr>
        <p:txBody>
          <a:bodyPr wrap="square" lIns="0" tIns="0" rIns="0" bIns="0" rtlCol="0" anchor="ctr"/>
          <a:lstStyle/>
          <a:p>
            <a:pPr marL="0" indent="0" algn="ctr">
              <a:buNone/>
            </a:pPr>
            <a:r>
              <a:rPr lang="en-US" sz="1200" b="1" dirty="0">
                <a:solidFill>
                  <a:srgbClr val="13242E"/>
                </a:solidFill>
                <a:latin typeface="Consolas" pitchFamily="34" charset="0"/>
                <a:ea typeface="Consolas" pitchFamily="34" charset="-122"/>
                <a:cs typeface="Consolas" pitchFamily="34" charset="-120"/>
              </a:rPr>
              <a:t>_delta_log</a:t>
            </a:r>
            <a:endParaRPr lang="en-US" sz="1200" dirty="0"/>
          </a:p>
        </p:txBody>
      </p:sp>
      <p:sp>
        <p:nvSpPr>
          <p:cNvPr id="21" name="Text 16"/>
          <p:cNvSpPr/>
          <p:nvPr/>
        </p:nvSpPr>
        <p:spPr>
          <a:xfrm>
            <a:off x="3840480" y="3986784"/>
            <a:ext cx="2194560" cy="182880"/>
          </a:xfrm>
          <a:prstGeom prst="rect">
            <a:avLst/>
          </a:prstGeom>
          <a:noFill/>
          <a:ln/>
        </p:spPr>
        <p:txBody>
          <a:bodyPr wrap="square" lIns="0" tIns="0" rIns="0" bIns="0" rtlCol="0" anchor="ctr"/>
          <a:lstStyle/>
          <a:p>
            <a:pPr marL="0" indent="0" algn="ctr">
              <a:buNone/>
            </a:pPr>
            <a:r>
              <a:rPr lang="en-US" sz="950" dirty="0">
                <a:solidFill>
                  <a:srgbClr val="38474F"/>
                </a:solidFill>
                <a:latin typeface="Calibri" pitchFamily="34" charset="0"/>
                <a:ea typeface="Calibri" pitchFamily="34" charset="-122"/>
                <a:cs typeface="Calibri" pitchFamily="34" charset="-120"/>
              </a:rPr>
              <a:t>transaction log</a:t>
            </a:r>
            <a:endParaRPr lang="en-US" sz="950" dirty="0"/>
          </a:p>
        </p:txBody>
      </p:sp>
      <p:sp>
        <p:nvSpPr>
          <p:cNvPr id="22" name="Shape 17"/>
          <p:cNvSpPr/>
          <p:nvPr/>
        </p:nvSpPr>
        <p:spPr>
          <a:xfrm>
            <a:off x="3749040" y="4133088"/>
            <a:ext cx="0" cy="301752"/>
          </a:xfrm>
          <a:prstGeom prst="line">
            <a:avLst/>
          </a:prstGeom>
          <a:noFill/>
          <a:ln w="15875">
            <a:solidFill>
              <a:srgbClr val="7C8A91"/>
            </a:solidFill>
            <a:prstDash val="solid"/>
          </a:ln>
        </p:spPr>
        <p:txBody>
          <a:bodyPr/>
          <a:lstStyle/>
          <a:p>
            <a:endParaRPr lang="en-US"/>
          </a:p>
        </p:txBody>
      </p:sp>
      <p:sp>
        <p:nvSpPr>
          <p:cNvPr id="23" name="Shape 18"/>
          <p:cNvSpPr/>
          <p:nvPr/>
        </p:nvSpPr>
        <p:spPr>
          <a:xfrm>
            <a:off x="1097280" y="4434840"/>
            <a:ext cx="5303520" cy="621792"/>
          </a:xfrm>
          <a:prstGeom prst="roundRect">
            <a:avLst>
              <a:gd name="adj" fmla="val 10294"/>
            </a:avLst>
          </a:prstGeom>
          <a:solidFill>
            <a:srgbClr val="E7F1F2"/>
          </a:solidFill>
          <a:ln w="12700">
            <a:solidFill>
              <a:srgbClr val="BFE0E3"/>
            </a:solidFill>
            <a:prstDash val="solid"/>
          </a:ln>
        </p:spPr>
        <p:txBody>
          <a:bodyPr/>
          <a:lstStyle/>
          <a:p>
            <a:endParaRPr lang="en-US"/>
          </a:p>
        </p:txBody>
      </p:sp>
      <p:sp>
        <p:nvSpPr>
          <p:cNvPr id="24" name="Shape 19"/>
          <p:cNvSpPr/>
          <p:nvPr/>
        </p:nvSpPr>
        <p:spPr>
          <a:xfrm>
            <a:off x="1371600" y="4553712"/>
            <a:ext cx="384048" cy="384048"/>
          </a:xfrm>
          <a:prstGeom prst="ellipse">
            <a:avLst/>
          </a:prstGeom>
          <a:solidFill>
            <a:srgbClr val="0E7C8B"/>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1467612" y="4649724"/>
            <a:ext cx="192024" cy="192024"/>
          </a:xfrm>
          <a:prstGeom prst="rect">
            <a:avLst/>
          </a:prstGeom>
        </p:spPr>
      </p:pic>
      <p:sp>
        <p:nvSpPr>
          <p:cNvPr id="26" name="Text 20"/>
          <p:cNvSpPr/>
          <p:nvPr/>
        </p:nvSpPr>
        <p:spPr>
          <a:xfrm>
            <a:off x="1874520" y="4434840"/>
            <a:ext cx="4389120" cy="621792"/>
          </a:xfrm>
          <a:prstGeom prst="rect">
            <a:avLst/>
          </a:prstGeom>
          <a:noFill/>
          <a:ln/>
        </p:spPr>
        <p:txBody>
          <a:bodyPr wrap="square" lIns="0" tIns="0" rIns="0" bIns="0" rtlCol="0" anchor="ctr"/>
          <a:lstStyle/>
          <a:p>
            <a:pPr marL="0" indent="0">
              <a:buNone/>
            </a:pPr>
            <a:r>
              <a:rPr lang="en-US" sz="1200" b="1" dirty="0">
                <a:solidFill>
                  <a:srgbClr val="0A5C68"/>
                </a:solidFill>
                <a:latin typeface="Calibri" pitchFamily="34" charset="0"/>
                <a:ea typeface="Calibri" pitchFamily="34" charset="-122"/>
                <a:cs typeface="Calibri" pitchFamily="34" charset="-120"/>
              </a:rPr>
              <a:t>Cloud object storage  (S3 · ADLS · GCS)</a:t>
            </a:r>
            <a:endParaRPr lang="en-US" sz="1200" dirty="0"/>
          </a:p>
        </p:txBody>
      </p:sp>
      <p:sp>
        <p:nvSpPr>
          <p:cNvPr id="27" name="Shape 21"/>
          <p:cNvSpPr/>
          <p:nvPr/>
        </p:nvSpPr>
        <p:spPr>
          <a:xfrm>
            <a:off x="7315200" y="1874520"/>
            <a:ext cx="4327855" cy="896112"/>
          </a:xfrm>
          <a:prstGeom prst="roundRect">
            <a:avLst>
              <a:gd name="adj" fmla="val 10204"/>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8" name="Shape 22"/>
          <p:cNvSpPr/>
          <p:nvPr/>
        </p:nvSpPr>
        <p:spPr>
          <a:xfrm>
            <a:off x="7571232" y="2066544"/>
            <a:ext cx="512064" cy="512064"/>
          </a:xfrm>
          <a:prstGeom prst="ellipse">
            <a:avLst/>
          </a:prstGeom>
          <a:solidFill>
            <a:srgbClr val="FF3621"/>
          </a:solidFill>
          <a:ln/>
        </p:spPr>
        <p:txBody>
          <a:bodyPr/>
          <a:lstStyle/>
          <a:p>
            <a:endParaRPr lang="en-US"/>
          </a:p>
        </p:txBody>
      </p:sp>
      <p:pic>
        <p:nvPicPr>
          <p:cNvPr id="29" name="Image 4" descr="preencoded.png"/>
          <p:cNvPicPr>
            <a:picLocks noChangeAspect="1"/>
          </p:cNvPicPr>
          <p:nvPr/>
        </p:nvPicPr>
        <p:blipFill>
          <a:blip r:embed="rId7"/>
          <a:stretch>
            <a:fillRect/>
          </a:stretch>
        </p:blipFill>
        <p:spPr>
          <a:xfrm>
            <a:off x="7699248" y="2194560"/>
            <a:ext cx="256032" cy="256032"/>
          </a:xfrm>
          <a:prstGeom prst="rect">
            <a:avLst/>
          </a:prstGeom>
        </p:spPr>
      </p:pic>
      <p:sp>
        <p:nvSpPr>
          <p:cNvPr id="30" name="Text 23"/>
          <p:cNvSpPr/>
          <p:nvPr/>
        </p:nvSpPr>
        <p:spPr>
          <a:xfrm>
            <a:off x="8275320" y="1993392"/>
            <a:ext cx="3184855" cy="310896"/>
          </a:xfrm>
          <a:prstGeom prst="rect">
            <a:avLst/>
          </a:prstGeom>
          <a:noFill/>
          <a:ln/>
        </p:spPr>
        <p:txBody>
          <a:bodyPr wrap="square" lIns="0" tIns="0" rIns="0" bIns="0" rtlCol="0" anchor="ctr"/>
          <a:lstStyle/>
          <a:p>
            <a:pPr marL="0" indent="0">
              <a:buNone/>
            </a:pPr>
            <a:r>
              <a:rPr lang="en-US" sz="1350" b="1" dirty="0">
                <a:solidFill>
                  <a:srgbClr val="13242E"/>
                </a:solidFill>
                <a:latin typeface="Trebuchet MS" pitchFamily="34" charset="0"/>
                <a:ea typeface="Trebuchet MS" pitchFamily="34" charset="-122"/>
                <a:cs typeface="Trebuchet MS" pitchFamily="34" charset="-120"/>
              </a:rPr>
              <a:t>ACID transactions</a:t>
            </a:r>
            <a:endParaRPr lang="en-US" sz="1350" dirty="0"/>
          </a:p>
        </p:txBody>
      </p:sp>
      <p:sp>
        <p:nvSpPr>
          <p:cNvPr id="31" name="Text 24"/>
          <p:cNvSpPr/>
          <p:nvPr/>
        </p:nvSpPr>
        <p:spPr>
          <a:xfrm>
            <a:off x="8275320" y="2286000"/>
            <a:ext cx="3184855" cy="411480"/>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Reads &amp; writes stay consistent — no half-finished data.</a:t>
            </a:r>
            <a:endParaRPr lang="en-US" sz="1050" dirty="0"/>
          </a:p>
        </p:txBody>
      </p:sp>
      <p:sp>
        <p:nvSpPr>
          <p:cNvPr id="32" name="Shape 25"/>
          <p:cNvSpPr/>
          <p:nvPr/>
        </p:nvSpPr>
        <p:spPr>
          <a:xfrm>
            <a:off x="7315200" y="2935224"/>
            <a:ext cx="4327855" cy="896112"/>
          </a:xfrm>
          <a:prstGeom prst="roundRect">
            <a:avLst>
              <a:gd name="adj" fmla="val 10204"/>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3" name="Shape 26"/>
          <p:cNvSpPr/>
          <p:nvPr/>
        </p:nvSpPr>
        <p:spPr>
          <a:xfrm>
            <a:off x="7571232" y="3127248"/>
            <a:ext cx="512064" cy="512064"/>
          </a:xfrm>
          <a:prstGeom prst="ellipse">
            <a:avLst/>
          </a:prstGeom>
          <a:solidFill>
            <a:srgbClr val="FF3621"/>
          </a:solidFill>
          <a:ln/>
        </p:spPr>
        <p:txBody>
          <a:bodyPr/>
          <a:lstStyle/>
          <a:p>
            <a:endParaRPr lang="en-US"/>
          </a:p>
        </p:txBody>
      </p:sp>
      <p:pic>
        <p:nvPicPr>
          <p:cNvPr id="34" name="Image 5" descr="preencoded.png"/>
          <p:cNvPicPr>
            <a:picLocks noChangeAspect="1"/>
          </p:cNvPicPr>
          <p:nvPr/>
        </p:nvPicPr>
        <p:blipFill>
          <a:blip r:embed="rId8"/>
          <a:stretch>
            <a:fillRect/>
          </a:stretch>
        </p:blipFill>
        <p:spPr>
          <a:xfrm>
            <a:off x="7699248" y="3255264"/>
            <a:ext cx="256032" cy="256032"/>
          </a:xfrm>
          <a:prstGeom prst="rect">
            <a:avLst/>
          </a:prstGeom>
        </p:spPr>
      </p:pic>
      <p:sp>
        <p:nvSpPr>
          <p:cNvPr id="35" name="Text 27"/>
          <p:cNvSpPr/>
          <p:nvPr/>
        </p:nvSpPr>
        <p:spPr>
          <a:xfrm>
            <a:off x="8275320" y="3054096"/>
            <a:ext cx="3184855" cy="310896"/>
          </a:xfrm>
          <a:prstGeom prst="rect">
            <a:avLst/>
          </a:prstGeom>
          <a:noFill/>
          <a:ln/>
        </p:spPr>
        <p:txBody>
          <a:bodyPr wrap="square" lIns="0" tIns="0" rIns="0" bIns="0" rtlCol="0" anchor="ctr"/>
          <a:lstStyle/>
          <a:p>
            <a:pPr marL="0" indent="0">
              <a:buNone/>
            </a:pPr>
            <a:r>
              <a:rPr lang="en-US" sz="1350" b="1" dirty="0">
                <a:solidFill>
                  <a:srgbClr val="13242E"/>
                </a:solidFill>
                <a:latin typeface="Trebuchet MS" pitchFamily="34" charset="0"/>
                <a:ea typeface="Trebuchet MS" pitchFamily="34" charset="-122"/>
                <a:cs typeface="Trebuchet MS" pitchFamily="34" charset="-120"/>
              </a:rPr>
              <a:t>Time travel</a:t>
            </a:r>
            <a:endParaRPr lang="en-US" sz="1350" dirty="0"/>
          </a:p>
        </p:txBody>
      </p:sp>
      <p:sp>
        <p:nvSpPr>
          <p:cNvPr id="36" name="Text 28"/>
          <p:cNvSpPr/>
          <p:nvPr/>
        </p:nvSpPr>
        <p:spPr>
          <a:xfrm>
            <a:off x="8275320" y="3346704"/>
            <a:ext cx="3184855" cy="411480"/>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Query or roll back to earlier versions of a table.</a:t>
            </a:r>
            <a:endParaRPr lang="en-US" sz="1050" dirty="0"/>
          </a:p>
        </p:txBody>
      </p:sp>
      <p:sp>
        <p:nvSpPr>
          <p:cNvPr id="37" name="Shape 29"/>
          <p:cNvSpPr/>
          <p:nvPr/>
        </p:nvSpPr>
        <p:spPr>
          <a:xfrm>
            <a:off x="7315200" y="3995928"/>
            <a:ext cx="4327855" cy="896112"/>
          </a:xfrm>
          <a:prstGeom prst="roundRect">
            <a:avLst>
              <a:gd name="adj" fmla="val 10204"/>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8" name="Shape 30"/>
          <p:cNvSpPr/>
          <p:nvPr/>
        </p:nvSpPr>
        <p:spPr>
          <a:xfrm>
            <a:off x="7571232" y="4187952"/>
            <a:ext cx="512064" cy="512064"/>
          </a:xfrm>
          <a:prstGeom prst="ellipse">
            <a:avLst/>
          </a:prstGeom>
          <a:solidFill>
            <a:srgbClr val="FF3621"/>
          </a:solidFill>
          <a:ln/>
        </p:spPr>
        <p:txBody>
          <a:bodyPr/>
          <a:lstStyle/>
          <a:p>
            <a:endParaRPr lang="en-US"/>
          </a:p>
        </p:txBody>
      </p:sp>
      <p:pic>
        <p:nvPicPr>
          <p:cNvPr id="39" name="Image 6" descr="preencoded.png"/>
          <p:cNvPicPr>
            <a:picLocks noChangeAspect="1"/>
          </p:cNvPicPr>
          <p:nvPr/>
        </p:nvPicPr>
        <p:blipFill>
          <a:blip r:embed="rId9"/>
          <a:stretch>
            <a:fillRect/>
          </a:stretch>
        </p:blipFill>
        <p:spPr>
          <a:xfrm>
            <a:off x="7699248" y="4315968"/>
            <a:ext cx="256032" cy="256032"/>
          </a:xfrm>
          <a:prstGeom prst="rect">
            <a:avLst/>
          </a:prstGeom>
        </p:spPr>
      </p:pic>
      <p:sp>
        <p:nvSpPr>
          <p:cNvPr id="40" name="Text 31"/>
          <p:cNvSpPr/>
          <p:nvPr/>
        </p:nvSpPr>
        <p:spPr>
          <a:xfrm>
            <a:off x="8275320" y="4114800"/>
            <a:ext cx="3184855" cy="310896"/>
          </a:xfrm>
          <a:prstGeom prst="rect">
            <a:avLst/>
          </a:prstGeom>
          <a:noFill/>
          <a:ln/>
        </p:spPr>
        <p:txBody>
          <a:bodyPr wrap="square" lIns="0" tIns="0" rIns="0" bIns="0" rtlCol="0" anchor="ctr"/>
          <a:lstStyle/>
          <a:p>
            <a:pPr marL="0" indent="0">
              <a:buNone/>
            </a:pPr>
            <a:r>
              <a:rPr lang="en-US" sz="1350" b="1" dirty="0">
                <a:solidFill>
                  <a:srgbClr val="13242E"/>
                </a:solidFill>
                <a:latin typeface="Trebuchet MS" pitchFamily="34" charset="0"/>
                <a:ea typeface="Trebuchet MS" pitchFamily="34" charset="-122"/>
                <a:cs typeface="Trebuchet MS" pitchFamily="34" charset="-120"/>
              </a:rPr>
              <a:t>Schema enforcement</a:t>
            </a:r>
            <a:endParaRPr lang="en-US" sz="1350" dirty="0"/>
          </a:p>
        </p:txBody>
      </p:sp>
      <p:sp>
        <p:nvSpPr>
          <p:cNvPr id="41" name="Text 32"/>
          <p:cNvSpPr/>
          <p:nvPr/>
        </p:nvSpPr>
        <p:spPr>
          <a:xfrm>
            <a:off x="8275320" y="4407408"/>
            <a:ext cx="3184855" cy="411480"/>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Bad-shape data is rejected; schemas can evolve safely.</a:t>
            </a:r>
            <a:endParaRPr lang="en-US" sz="1050" dirty="0"/>
          </a:p>
        </p:txBody>
      </p:sp>
      <p:sp>
        <p:nvSpPr>
          <p:cNvPr id="42" name="Shape 33"/>
          <p:cNvSpPr/>
          <p:nvPr/>
        </p:nvSpPr>
        <p:spPr>
          <a:xfrm>
            <a:off x="7315200" y="5056632"/>
            <a:ext cx="4327855" cy="896112"/>
          </a:xfrm>
          <a:prstGeom prst="roundRect">
            <a:avLst>
              <a:gd name="adj" fmla="val 10204"/>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43" name="Shape 34"/>
          <p:cNvSpPr/>
          <p:nvPr/>
        </p:nvSpPr>
        <p:spPr>
          <a:xfrm>
            <a:off x="7571232" y="5248656"/>
            <a:ext cx="512064" cy="512064"/>
          </a:xfrm>
          <a:prstGeom prst="ellipse">
            <a:avLst/>
          </a:prstGeom>
          <a:solidFill>
            <a:srgbClr val="FF3621"/>
          </a:solidFill>
          <a:ln/>
        </p:spPr>
        <p:txBody>
          <a:bodyPr/>
          <a:lstStyle/>
          <a:p>
            <a:endParaRPr lang="en-US"/>
          </a:p>
        </p:txBody>
      </p:sp>
      <p:pic>
        <p:nvPicPr>
          <p:cNvPr id="44" name="Image 7" descr="preencoded.png"/>
          <p:cNvPicPr>
            <a:picLocks noChangeAspect="1"/>
          </p:cNvPicPr>
          <p:nvPr/>
        </p:nvPicPr>
        <p:blipFill>
          <a:blip r:embed="rId10"/>
          <a:stretch>
            <a:fillRect/>
          </a:stretch>
        </p:blipFill>
        <p:spPr>
          <a:xfrm>
            <a:off x="7699248" y="5376672"/>
            <a:ext cx="256032" cy="256032"/>
          </a:xfrm>
          <a:prstGeom prst="rect">
            <a:avLst/>
          </a:prstGeom>
        </p:spPr>
      </p:pic>
      <p:sp>
        <p:nvSpPr>
          <p:cNvPr id="45" name="Text 35"/>
          <p:cNvSpPr/>
          <p:nvPr/>
        </p:nvSpPr>
        <p:spPr>
          <a:xfrm>
            <a:off x="8275320" y="5175504"/>
            <a:ext cx="3184855" cy="310896"/>
          </a:xfrm>
          <a:prstGeom prst="rect">
            <a:avLst/>
          </a:prstGeom>
          <a:noFill/>
          <a:ln/>
        </p:spPr>
        <p:txBody>
          <a:bodyPr wrap="square" lIns="0" tIns="0" rIns="0" bIns="0" rtlCol="0" anchor="ctr"/>
          <a:lstStyle/>
          <a:p>
            <a:pPr marL="0" indent="0">
              <a:buNone/>
            </a:pPr>
            <a:r>
              <a:rPr lang="en-US" sz="1350" b="1" dirty="0">
                <a:solidFill>
                  <a:srgbClr val="13242E"/>
                </a:solidFill>
                <a:latin typeface="Trebuchet MS" pitchFamily="34" charset="0"/>
                <a:ea typeface="Trebuchet MS" pitchFamily="34" charset="-122"/>
                <a:cs typeface="Trebuchet MS" pitchFamily="34" charset="-120"/>
              </a:rPr>
              <a:t>Batch + streaming</a:t>
            </a:r>
            <a:endParaRPr lang="en-US" sz="1350" dirty="0"/>
          </a:p>
        </p:txBody>
      </p:sp>
      <p:sp>
        <p:nvSpPr>
          <p:cNvPr id="46" name="Text 36"/>
          <p:cNvSpPr/>
          <p:nvPr/>
        </p:nvSpPr>
        <p:spPr>
          <a:xfrm>
            <a:off x="8275320" y="5468112"/>
            <a:ext cx="3184855" cy="411480"/>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One table serves both streaming and batch workloads.</a:t>
            </a:r>
            <a:endParaRPr lang="en-US" sz="1050" dirty="0"/>
          </a:p>
        </p:txBody>
      </p:sp>
      <p:sp>
        <p:nvSpPr>
          <p:cNvPr id="47" name="Text 37"/>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48" name="Text 38"/>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03 · COMPUTE THAT SCALES</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Clusters: the engines you turn on and off</a:t>
            </a:r>
            <a:endParaRPr lang="en-US" sz="2900" dirty="0"/>
          </a:p>
        </p:txBody>
      </p:sp>
      <p:sp>
        <p:nvSpPr>
          <p:cNvPr id="5" name="Text 3"/>
          <p:cNvSpPr/>
          <p:nvPr/>
        </p:nvSpPr>
        <p:spPr>
          <a:xfrm>
            <a:off x="548640" y="1572768"/>
            <a:ext cx="11094415" cy="365760"/>
          </a:xfrm>
          <a:prstGeom prst="rect">
            <a:avLst/>
          </a:prstGeom>
          <a:noFill/>
          <a:ln/>
        </p:spPr>
        <p:txBody>
          <a:bodyPr wrap="square" lIns="0" tIns="0" rIns="0" bIns="0" rtlCol="0" anchor="ctr"/>
          <a:lstStyle/>
          <a:p>
            <a:pPr marL="0" indent="0">
              <a:buNone/>
            </a:pPr>
            <a:r>
              <a:rPr lang="en-US" sz="1250" dirty="0">
                <a:solidFill>
                  <a:srgbClr val="38474F"/>
                </a:solidFill>
                <a:latin typeface="Calibri" pitchFamily="34" charset="0"/>
                <a:ea typeface="Calibri" pitchFamily="34" charset="-122"/>
                <a:cs typeface="Calibri" pitchFamily="34" charset="-120"/>
              </a:rPr>
              <a:t>A cluster is a set of cloud machines running Spark. You pick the type and size — Databricks can grow or shrink it for you and switch it off when idle.</a:t>
            </a:r>
            <a:endParaRPr lang="en-US" sz="1250" dirty="0"/>
          </a:p>
        </p:txBody>
      </p:sp>
      <p:sp>
        <p:nvSpPr>
          <p:cNvPr id="6" name="Shape 4"/>
          <p:cNvSpPr/>
          <p:nvPr/>
        </p:nvSpPr>
        <p:spPr>
          <a:xfrm>
            <a:off x="548640" y="1993392"/>
            <a:ext cx="5138928" cy="1792224"/>
          </a:xfrm>
          <a:prstGeom prst="roundRect">
            <a:avLst>
              <a:gd name="adj" fmla="val 5102"/>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7" name="Shape 5"/>
          <p:cNvSpPr/>
          <p:nvPr/>
        </p:nvSpPr>
        <p:spPr>
          <a:xfrm>
            <a:off x="822960" y="2249424"/>
            <a:ext cx="566928" cy="566928"/>
          </a:xfrm>
          <a:prstGeom prst="ellipse">
            <a:avLst/>
          </a:prstGeom>
          <a:solidFill>
            <a:srgbClr val="0E1B24"/>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964692" y="2391156"/>
            <a:ext cx="283464" cy="283464"/>
          </a:xfrm>
          <a:prstGeom prst="rect">
            <a:avLst/>
          </a:prstGeom>
        </p:spPr>
      </p:pic>
      <p:sp>
        <p:nvSpPr>
          <p:cNvPr id="9" name="Text 6"/>
          <p:cNvSpPr/>
          <p:nvPr/>
        </p:nvSpPr>
        <p:spPr>
          <a:xfrm>
            <a:off x="1536192" y="2212848"/>
            <a:ext cx="3127248" cy="310896"/>
          </a:xfrm>
          <a:prstGeom prst="rect">
            <a:avLst/>
          </a:prstGeom>
          <a:noFill/>
          <a:ln/>
        </p:spPr>
        <p:txBody>
          <a:bodyPr wrap="square" lIns="0" tIns="0" rIns="0" bIns="0" rtlCol="0" anchor="ctr"/>
          <a:lstStyle/>
          <a:p>
            <a:pPr marL="0" indent="0">
              <a:buNone/>
            </a:pPr>
            <a:r>
              <a:rPr lang="en-US" sz="1550" b="1" dirty="0">
                <a:solidFill>
                  <a:srgbClr val="13242E"/>
                </a:solidFill>
                <a:latin typeface="Trebuchet MS" pitchFamily="34" charset="0"/>
                <a:ea typeface="Trebuchet MS" pitchFamily="34" charset="-122"/>
                <a:cs typeface="Trebuchet MS" pitchFamily="34" charset="-120"/>
              </a:rPr>
              <a:t>All-purpose cluster</a:t>
            </a:r>
            <a:endParaRPr lang="en-US" sz="1550" dirty="0"/>
          </a:p>
        </p:txBody>
      </p:sp>
      <p:sp>
        <p:nvSpPr>
          <p:cNvPr id="10" name="Text 7"/>
          <p:cNvSpPr/>
          <p:nvPr/>
        </p:nvSpPr>
        <p:spPr>
          <a:xfrm>
            <a:off x="1536192" y="2505456"/>
            <a:ext cx="3127248" cy="237744"/>
          </a:xfrm>
          <a:prstGeom prst="rect">
            <a:avLst/>
          </a:prstGeom>
          <a:noFill/>
          <a:ln/>
        </p:spPr>
        <p:txBody>
          <a:bodyPr wrap="square" lIns="0" tIns="0" rIns="0" bIns="0" rtlCol="0" anchor="ctr"/>
          <a:lstStyle/>
          <a:p>
            <a:pPr marL="0" indent="0">
              <a:buNone/>
            </a:pPr>
            <a:r>
              <a:rPr lang="en-US" sz="1150" i="1" dirty="0">
                <a:solidFill>
                  <a:srgbClr val="7C8A91"/>
                </a:solidFill>
                <a:latin typeface="Calibri" pitchFamily="34" charset="0"/>
                <a:ea typeface="Calibri" pitchFamily="34" charset="-122"/>
                <a:cs typeface="Calibri" pitchFamily="34" charset="-120"/>
              </a:rPr>
              <a:t>Interactive &amp; shared</a:t>
            </a:r>
            <a:endParaRPr lang="en-US" sz="1150" dirty="0"/>
          </a:p>
        </p:txBody>
      </p:sp>
      <p:sp>
        <p:nvSpPr>
          <p:cNvPr id="11" name="Shape 8"/>
          <p:cNvSpPr/>
          <p:nvPr/>
        </p:nvSpPr>
        <p:spPr>
          <a:xfrm>
            <a:off x="4270248" y="2249424"/>
            <a:ext cx="1143000" cy="329184"/>
          </a:xfrm>
          <a:prstGeom prst="roundRect">
            <a:avLst>
              <a:gd name="adj" fmla="val 50000"/>
            </a:avLst>
          </a:prstGeom>
          <a:solidFill>
            <a:srgbClr val="E7F1F2"/>
          </a:solidFill>
          <a:ln/>
        </p:spPr>
        <p:txBody>
          <a:bodyPr/>
          <a:lstStyle/>
          <a:p>
            <a:endParaRPr lang="en-US"/>
          </a:p>
        </p:txBody>
      </p:sp>
      <p:sp>
        <p:nvSpPr>
          <p:cNvPr id="12" name="Text 9"/>
          <p:cNvSpPr/>
          <p:nvPr/>
        </p:nvSpPr>
        <p:spPr>
          <a:xfrm>
            <a:off x="4270248" y="2249424"/>
            <a:ext cx="1143000" cy="329184"/>
          </a:xfrm>
          <a:prstGeom prst="rect">
            <a:avLst/>
          </a:prstGeom>
          <a:noFill/>
          <a:ln/>
        </p:spPr>
        <p:txBody>
          <a:bodyPr wrap="square" lIns="0" tIns="0" rIns="0" bIns="0" rtlCol="0" anchor="ctr"/>
          <a:lstStyle/>
          <a:p>
            <a:pPr marL="0" indent="0" algn="ctr">
              <a:buNone/>
            </a:pPr>
            <a:r>
              <a:rPr lang="en-US" sz="900" b="1" kern="0" spc="100" dirty="0">
                <a:solidFill>
                  <a:srgbClr val="0A5C68"/>
                </a:solidFill>
                <a:latin typeface="Calibri" pitchFamily="34" charset="0"/>
                <a:ea typeface="Calibri" pitchFamily="34" charset="-122"/>
                <a:cs typeface="Calibri" pitchFamily="34" charset="-120"/>
              </a:rPr>
              <a:t>INTERACTIVE</a:t>
            </a:r>
            <a:endParaRPr lang="en-US" sz="900" dirty="0"/>
          </a:p>
        </p:txBody>
      </p:sp>
      <p:sp>
        <p:nvSpPr>
          <p:cNvPr id="13" name="Text 10"/>
          <p:cNvSpPr/>
          <p:nvPr/>
        </p:nvSpPr>
        <p:spPr>
          <a:xfrm>
            <a:off x="877824" y="2834640"/>
            <a:ext cx="4498848" cy="868680"/>
          </a:xfrm>
          <a:prstGeom prst="rect">
            <a:avLst/>
          </a:prstGeom>
          <a:noFill/>
          <a:ln/>
        </p:spPr>
        <p:txBody>
          <a:bodyPr wrap="square" lIns="0" tIns="0" rIns="0" bIns="0" rtlCol="0" anchor="ctr"/>
          <a:lstStyle/>
          <a:p>
            <a:pPr marL="165100" indent="-165100">
              <a:spcAft>
                <a:spcPts val="600"/>
              </a:spcAft>
              <a:buSzPct val="100000"/>
              <a:buChar char="•"/>
            </a:pPr>
            <a:r>
              <a:rPr lang="en-US" sz="1150" dirty="0">
                <a:solidFill>
                  <a:srgbClr val="38474F"/>
                </a:solidFill>
                <a:latin typeface="Calibri" pitchFamily="34" charset="0"/>
                <a:ea typeface="Calibri" pitchFamily="34" charset="-122"/>
                <a:cs typeface="Calibri" pitchFamily="34" charset="-120"/>
              </a:rPr>
              <a:t>For notebooks, exploration &amp; ad-hoc work</a:t>
            </a:r>
            <a:endParaRPr lang="en-US" sz="1150" dirty="0"/>
          </a:p>
          <a:p>
            <a:pPr marL="165100" indent="-165100">
              <a:spcAft>
                <a:spcPts val="600"/>
              </a:spcAft>
              <a:buSzPct val="100000"/>
              <a:buChar char="•"/>
            </a:pPr>
            <a:r>
              <a:rPr lang="en-US" sz="1150" dirty="0">
                <a:solidFill>
                  <a:srgbClr val="38474F"/>
                </a:solidFill>
                <a:latin typeface="Calibri" pitchFamily="34" charset="0"/>
                <a:ea typeface="Calibri" pitchFamily="34" charset="-122"/>
                <a:cs typeface="Calibri" pitchFamily="34" charset="-120"/>
              </a:rPr>
              <a:t>Several people can attach and collaborate</a:t>
            </a:r>
            <a:endParaRPr lang="en-US" sz="1150" dirty="0"/>
          </a:p>
          <a:p>
            <a:pPr marL="165100" indent="-165100">
              <a:spcAft>
                <a:spcPts val="600"/>
              </a:spcAft>
              <a:buSzPct val="100000"/>
              <a:buChar char="•"/>
            </a:pPr>
            <a:r>
              <a:rPr lang="en-US" sz="1150" dirty="0">
                <a:solidFill>
                  <a:srgbClr val="38474F"/>
                </a:solidFill>
                <a:latin typeface="Calibri" pitchFamily="34" charset="0"/>
                <a:ea typeface="Calibri" pitchFamily="34" charset="-122"/>
                <a:cs typeface="Calibri" pitchFamily="34" charset="-120"/>
              </a:rPr>
              <a:t>Stays running while you work</a:t>
            </a:r>
            <a:endParaRPr lang="en-US" sz="1150" dirty="0"/>
          </a:p>
        </p:txBody>
      </p:sp>
      <p:sp>
        <p:nvSpPr>
          <p:cNvPr id="14" name="Shape 11"/>
          <p:cNvSpPr/>
          <p:nvPr/>
        </p:nvSpPr>
        <p:spPr>
          <a:xfrm>
            <a:off x="548640" y="3968496"/>
            <a:ext cx="5138928" cy="1792224"/>
          </a:xfrm>
          <a:prstGeom prst="roundRect">
            <a:avLst>
              <a:gd name="adj" fmla="val 5102"/>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5" name="Shape 12"/>
          <p:cNvSpPr/>
          <p:nvPr/>
        </p:nvSpPr>
        <p:spPr>
          <a:xfrm>
            <a:off x="822960" y="4224528"/>
            <a:ext cx="566928" cy="566928"/>
          </a:xfrm>
          <a:prstGeom prst="ellipse">
            <a:avLst/>
          </a:prstGeom>
          <a:solidFill>
            <a:srgbClr val="0E1B24"/>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964692" y="4366260"/>
            <a:ext cx="283464" cy="283464"/>
          </a:xfrm>
          <a:prstGeom prst="rect">
            <a:avLst/>
          </a:prstGeom>
        </p:spPr>
      </p:pic>
      <p:sp>
        <p:nvSpPr>
          <p:cNvPr id="17" name="Text 13"/>
          <p:cNvSpPr/>
          <p:nvPr/>
        </p:nvSpPr>
        <p:spPr>
          <a:xfrm>
            <a:off x="1536192" y="4187952"/>
            <a:ext cx="3127248" cy="310896"/>
          </a:xfrm>
          <a:prstGeom prst="rect">
            <a:avLst/>
          </a:prstGeom>
          <a:noFill/>
          <a:ln/>
        </p:spPr>
        <p:txBody>
          <a:bodyPr wrap="square" lIns="0" tIns="0" rIns="0" bIns="0" rtlCol="0" anchor="ctr"/>
          <a:lstStyle/>
          <a:p>
            <a:pPr marL="0" indent="0">
              <a:buNone/>
            </a:pPr>
            <a:r>
              <a:rPr lang="en-US" sz="1550" b="1" dirty="0">
                <a:solidFill>
                  <a:srgbClr val="13242E"/>
                </a:solidFill>
                <a:latin typeface="Trebuchet MS" pitchFamily="34" charset="0"/>
                <a:ea typeface="Trebuchet MS" pitchFamily="34" charset="-122"/>
                <a:cs typeface="Trebuchet MS" pitchFamily="34" charset="-120"/>
              </a:rPr>
              <a:t>Job cluster</a:t>
            </a:r>
            <a:endParaRPr lang="en-US" sz="1550" dirty="0"/>
          </a:p>
        </p:txBody>
      </p:sp>
      <p:sp>
        <p:nvSpPr>
          <p:cNvPr id="18" name="Text 14"/>
          <p:cNvSpPr/>
          <p:nvPr/>
        </p:nvSpPr>
        <p:spPr>
          <a:xfrm>
            <a:off x="1536192" y="4480560"/>
            <a:ext cx="3127248" cy="237744"/>
          </a:xfrm>
          <a:prstGeom prst="rect">
            <a:avLst/>
          </a:prstGeom>
          <a:noFill/>
          <a:ln/>
        </p:spPr>
        <p:txBody>
          <a:bodyPr wrap="square" lIns="0" tIns="0" rIns="0" bIns="0" rtlCol="0" anchor="ctr"/>
          <a:lstStyle/>
          <a:p>
            <a:pPr marL="0" indent="0">
              <a:buNone/>
            </a:pPr>
            <a:r>
              <a:rPr lang="en-US" sz="1150" i="1" dirty="0">
                <a:solidFill>
                  <a:srgbClr val="7C8A91"/>
                </a:solidFill>
                <a:latin typeface="Calibri" pitchFamily="34" charset="0"/>
                <a:ea typeface="Calibri" pitchFamily="34" charset="-122"/>
                <a:cs typeface="Calibri" pitchFamily="34" charset="-120"/>
              </a:rPr>
              <a:t>Created per automated job</a:t>
            </a:r>
            <a:endParaRPr lang="en-US" sz="1150" dirty="0"/>
          </a:p>
        </p:txBody>
      </p:sp>
      <p:sp>
        <p:nvSpPr>
          <p:cNvPr id="19" name="Shape 15"/>
          <p:cNvSpPr/>
          <p:nvPr/>
        </p:nvSpPr>
        <p:spPr>
          <a:xfrm>
            <a:off x="4270248" y="4224528"/>
            <a:ext cx="1143000" cy="329184"/>
          </a:xfrm>
          <a:prstGeom prst="roundRect">
            <a:avLst>
              <a:gd name="adj" fmla="val 50000"/>
            </a:avLst>
          </a:prstGeom>
          <a:solidFill>
            <a:srgbClr val="F4E7D8"/>
          </a:solidFill>
          <a:ln/>
        </p:spPr>
        <p:txBody>
          <a:bodyPr/>
          <a:lstStyle/>
          <a:p>
            <a:endParaRPr lang="en-US"/>
          </a:p>
        </p:txBody>
      </p:sp>
      <p:sp>
        <p:nvSpPr>
          <p:cNvPr id="20" name="Text 16"/>
          <p:cNvSpPr/>
          <p:nvPr/>
        </p:nvSpPr>
        <p:spPr>
          <a:xfrm>
            <a:off x="4270248" y="4224528"/>
            <a:ext cx="1143000" cy="329184"/>
          </a:xfrm>
          <a:prstGeom prst="rect">
            <a:avLst/>
          </a:prstGeom>
          <a:noFill/>
          <a:ln/>
        </p:spPr>
        <p:txBody>
          <a:bodyPr wrap="square" lIns="0" tIns="0" rIns="0" bIns="0" rtlCol="0" anchor="ctr"/>
          <a:lstStyle/>
          <a:p>
            <a:pPr marL="0" indent="0" algn="ctr">
              <a:buNone/>
            </a:pPr>
            <a:r>
              <a:rPr lang="en-US" sz="900" b="1" kern="0" spc="100" dirty="0">
                <a:solidFill>
                  <a:srgbClr val="8A571F"/>
                </a:solidFill>
                <a:latin typeface="Calibri" pitchFamily="34" charset="0"/>
                <a:ea typeface="Calibri" pitchFamily="34" charset="-122"/>
                <a:cs typeface="Calibri" pitchFamily="34" charset="-120"/>
              </a:rPr>
              <a:t>AUTOMATED</a:t>
            </a:r>
            <a:endParaRPr lang="en-US" sz="900" dirty="0"/>
          </a:p>
        </p:txBody>
      </p:sp>
      <p:sp>
        <p:nvSpPr>
          <p:cNvPr id="21" name="Text 17"/>
          <p:cNvSpPr/>
          <p:nvPr/>
        </p:nvSpPr>
        <p:spPr>
          <a:xfrm>
            <a:off x="877824" y="4809744"/>
            <a:ext cx="4498848" cy="868680"/>
          </a:xfrm>
          <a:prstGeom prst="rect">
            <a:avLst/>
          </a:prstGeom>
          <a:noFill/>
          <a:ln/>
        </p:spPr>
        <p:txBody>
          <a:bodyPr wrap="square" lIns="0" tIns="0" rIns="0" bIns="0" rtlCol="0" anchor="ctr"/>
          <a:lstStyle/>
          <a:p>
            <a:pPr marL="165100" indent="-165100">
              <a:spcAft>
                <a:spcPts val="600"/>
              </a:spcAft>
              <a:buSzPct val="100000"/>
              <a:buChar char="•"/>
            </a:pPr>
            <a:r>
              <a:rPr lang="en-US" sz="1150" dirty="0">
                <a:solidFill>
                  <a:srgbClr val="38474F"/>
                </a:solidFill>
                <a:latin typeface="Calibri" pitchFamily="34" charset="0"/>
                <a:ea typeface="Calibri" pitchFamily="34" charset="-122"/>
                <a:cs typeface="Calibri" pitchFamily="34" charset="-120"/>
              </a:rPr>
              <a:t>Spun up for one scheduled job</a:t>
            </a:r>
            <a:endParaRPr lang="en-US" sz="1150" dirty="0"/>
          </a:p>
          <a:p>
            <a:pPr marL="165100" indent="-165100">
              <a:spcAft>
                <a:spcPts val="600"/>
              </a:spcAft>
              <a:buSzPct val="100000"/>
              <a:buChar char="•"/>
            </a:pPr>
            <a:r>
              <a:rPr lang="en-US" sz="1150" dirty="0">
                <a:solidFill>
                  <a:srgbClr val="38474F"/>
                </a:solidFill>
                <a:latin typeface="Calibri" pitchFamily="34" charset="0"/>
                <a:ea typeface="Calibri" pitchFamily="34" charset="-122"/>
                <a:cs typeface="Calibri" pitchFamily="34" charset="-120"/>
              </a:rPr>
              <a:t>Torn down automatically when it finishes</a:t>
            </a:r>
            <a:endParaRPr lang="en-US" sz="1150" dirty="0"/>
          </a:p>
          <a:p>
            <a:pPr marL="165100" indent="-165100">
              <a:spcAft>
                <a:spcPts val="600"/>
              </a:spcAft>
              <a:buSzPct val="100000"/>
              <a:buChar char="•"/>
            </a:pPr>
            <a:r>
              <a:rPr lang="en-US" sz="1150" dirty="0">
                <a:solidFill>
                  <a:srgbClr val="38474F"/>
                </a:solidFill>
                <a:latin typeface="Calibri" pitchFamily="34" charset="0"/>
                <a:ea typeface="Calibri" pitchFamily="34" charset="-122"/>
                <a:cs typeface="Calibri" pitchFamily="34" charset="-120"/>
              </a:rPr>
              <a:t>Cheapest way to run production pipelines</a:t>
            </a:r>
            <a:endParaRPr lang="en-US" sz="1150" dirty="0"/>
          </a:p>
        </p:txBody>
      </p:sp>
      <p:sp>
        <p:nvSpPr>
          <p:cNvPr id="22" name="Shape 18"/>
          <p:cNvSpPr/>
          <p:nvPr/>
        </p:nvSpPr>
        <p:spPr>
          <a:xfrm>
            <a:off x="6144768" y="1993392"/>
            <a:ext cx="5498287" cy="1792224"/>
          </a:xfrm>
          <a:prstGeom prst="roundRect">
            <a:avLst>
              <a:gd name="adj" fmla="val 5102"/>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3" name="Shape 19"/>
          <p:cNvSpPr/>
          <p:nvPr/>
        </p:nvSpPr>
        <p:spPr>
          <a:xfrm>
            <a:off x="6419088" y="2231136"/>
            <a:ext cx="548640" cy="548640"/>
          </a:xfrm>
          <a:prstGeom prst="ellipse">
            <a:avLst/>
          </a:prstGeom>
          <a:solidFill>
            <a:srgbClr val="FF3621"/>
          </a:solidFill>
          <a:ln/>
        </p:spPr>
        <p:txBody>
          <a:bodyPr/>
          <a:lstStyle/>
          <a:p>
            <a:endParaRPr lang="en-US"/>
          </a:p>
        </p:txBody>
      </p:sp>
      <p:pic>
        <p:nvPicPr>
          <p:cNvPr id="24" name="Image 2" descr="preencoded.png"/>
          <p:cNvPicPr>
            <a:picLocks noChangeAspect="1"/>
          </p:cNvPicPr>
          <p:nvPr/>
        </p:nvPicPr>
        <p:blipFill>
          <a:blip r:embed="rId5"/>
          <a:stretch>
            <a:fillRect/>
          </a:stretch>
        </p:blipFill>
        <p:spPr>
          <a:xfrm>
            <a:off x="6556248" y="2368296"/>
            <a:ext cx="274320" cy="274320"/>
          </a:xfrm>
          <a:prstGeom prst="rect">
            <a:avLst/>
          </a:prstGeom>
        </p:spPr>
      </p:pic>
      <p:sp>
        <p:nvSpPr>
          <p:cNvPr id="25" name="Text 20"/>
          <p:cNvSpPr/>
          <p:nvPr/>
        </p:nvSpPr>
        <p:spPr>
          <a:xfrm>
            <a:off x="7095744" y="2267712"/>
            <a:ext cx="4309567" cy="365760"/>
          </a:xfrm>
          <a:prstGeom prst="rect">
            <a:avLst/>
          </a:prstGeom>
          <a:noFill/>
          <a:ln/>
        </p:spPr>
        <p:txBody>
          <a:bodyPr wrap="square" lIns="0" tIns="0" rIns="0" bIns="0" rtlCol="0" anchor="ctr"/>
          <a:lstStyle/>
          <a:p>
            <a:pPr marL="0" indent="0">
              <a:buNone/>
            </a:pPr>
            <a:r>
              <a:rPr lang="en-US" sz="1550" b="1" dirty="0">
                <a:solidFill>
                  <a:srgbClr val="13242E"/>
                </a:solidFill>
                <a:latin typeface="Trebuchet MS" pitchFamily="34" charset="0"/>
                <a:ea typeface="Trebuchet MS" pitchFamily="34" charset="-122"/>
                <a:cs typeface="Trebuchet MS" pitchFamily="34" charset="-120"/>
              </a:rPr>
              <a:t>Autoscaling</a:t>
            </a:r>
            <a:endParaRPr lang="en-US" sz="1550" dirty="0"/>
          </a:p>
        </p:txBody>
      </p:sp>
      <p:sp>
        <p:nvSpPr>
          <p:cNvPr id="26" name="Shape 21"/>
          <p:cNvSpPr/>
          <p:nvPr/>
        </p:nvSpPr>
        <p:spPr>
          <a:xfrm>
            <a:off x="6473952" y="2926080"/>
            <a:ext cx="1371600" cy="566928"/>
          </a:xfrm>
          <a:prstGeom prst="roundRect">
            <a:avLst>
              <a:gd name="adj" fmla="val 12903"/>
            </a:avLst>
          </a:prstGeom>
          <a:solidFill>
            <a:srgbClr val="E9EEF0"/>
          </a:solidFill>
          <a:ln w="12700">
            <a:solidFill>
              <a:srgbClr val="DDE4E7"/>
            </a:solidFill>
            <a:prstDash val="solid"/>
          </a:ln>
        </p:spPr>
        <p:txBody>
          <a:bodyPr/>
          <a:lstStyle/>
          <a:p>
            <a:endParaRPr lang="en-US"/>
          </a:p>
        </p:txBody>
      </p:sp>
      <p:sp>
        <p:nvSpPr>
          <p:cNvPr id="27" name="Text 22"/>
          <p:cNvSpPr/>
          <p:nvPr/>
        </p:nvSpPr>
        <p:spPr>
          <a:xfrm>
            <a:off x="6473952" y="2926080"/>
            <a:ext cx="1371600" cy="566928"/>
          </a:xfrm>
          <a:prstGeom prst="rect">
            <a:avLst/>
          </a:prstGeom>
          <a:noFill/>
          <a:ln/>
        </p:spPr>
        <p:txBody>
          <a:bodyPr wrap="square" lIns="0" tIns="0" rIns="0" bIns="0" rtlCol="0" anchor="ctr"/>
          <a:lstStyle/>
          <a:p>
            <a:pPr marL="0" indent="0" algn="ctr">
              <a:lnSpc>
                <a:spcPct val="90000"/>
              </a:lnSpc>
              <a:buNone/>
            </a:pPr>
            <a:r>
              <a:rPr lang="en-US" sz="900" b="1" kern="0" spc="100" dirty="0">
                <a:solidFill>
                  <a:srgbClr val="7C8A91"/>
                </a:solidFill>
                <a:latin typeface="Calibri" pitchFamily="34" charset="0"/>
                <a:ea typeface="Calibri" pitchFamily="34" charset="-122"/>
                <a:cs typeface="Calibri" pitchFamily="34" charset="-120"/>
              </a:rPr>
              <a:t>MIN
</a:t>
            </a:r>
            <a:endParaRPr lang="en-US" sz="900" dirty="0"/>
          </a:p>
          <a:p>
            <a:pPr marL="0" indent="0" algn="ctr">
              <a:lnSpc>
                <a:spcPct val="90000"/>
              </a:lnSpc>
              <a:buNone/>
            </a:pPr>
            <a:r>
              <a:rPr lang="en-US" sz="1200" b="1" dirty="0">
                <a:solidFill>
                  <a:srgbClr val="13242E"/>
                </a:solidFill>
                <a:latin typeface="Calibri" pitchFamily="34" charset="0"/>
                <a:ea typeface="Calibri" pitchFamily="34" charset="-122"/>
                <a:cs typeface="Calibri" pitchFamily="34" charset="-120"/>
              </a:rPr>
              <a:t>2 workers</a:t>
            </a:r>
            <a:endParaRPr lang="en-US" sz="900" dirty="0"/>
          </a:p>
        </p:txBody>
      </p:sp>
      <p:sp>
        <p:nvSpPr>
          <p:cNvPr id="28" name="Shape 23"/>
          <p:cNvSpPr/>
          <p:nvPr/>
        </p:nvSpPr>
        <p:spPr>
          <a:xfrm>
            <a:off x="8019288" y="3071287"/>
            <a:ext cx="384048" cy="276515"/>
          </a:xfrm>
          <a:prstGeom prst="chevron">
            <a:avLst/>
          </a:prstGeom>
          <a:solidFill>
            <a:srgbClr val="FF3621"/>
          </a:solidFill>
          <a:ln/>
        </p:spPr>
        <p:txBody>
          <a:bodyPr/>
          <a:lstStyle/>
          <a:p>
            <a:endParaRPr lang="en-US"/>
          </a:p>
        </p:txBody>
      </p:sp>
      <p:sp>
        <p:nvSpPr>
          <p:cNvPr id="29" name="Shape 24"/>
          <p:cNvSpPr/>
          <p:nvPr/>
        </p:nvSpPr>
        <p:spPr>
          <a:xfrm>
            <a:off x="8577072" y="2926080"/>
            <a:ext cx="1371600" cy="566928"/>
          </a:xfrm>
          <a:prstGeom prst="roundRect">
            <a:avLst>
              <a:gd name="adj" fmla="val 12903"/>
            </a:avLst>
          </a:prstGeom>
          <a:solidFill>
            <a:srgbClr val="0E1B24"/>
          </a:solidFill>
          <a:ln/>
        </p:spPr>
        <p:txBody>
          <a:bodyPr/>
          <a:lstStyle/>
          <a:p>
            <a:endParaRPr lang="en-US"/>
          </a:p>
        </p:txBody>
      </p:sp>
      <p:sp>
        <p:nvSpPr>
          <p:cNvPr id="30" name="Text 25"/>
          <p:cNvSpPr/>
          <p:nvPr/>
        </p:nvSpPr>
        <p:spPr>
          <a:xfrm>
            <a:off x="8577072" y="2926080"/>
            <a:ext cx="1371600" cy="566928"/>
          </a:xfrm>
          <a:prstGeom prst="rect">
            <a:avLst/>
          </a:prstGeom>
          <a:noFill/>
          <a:ln/>
        </p:spPr>
        <p:txBody>
          <a:bodyPr wrap="square" lIns="0" tIns="0" rIns="0" bIns="0" rtlCol="0" anchor="ctr"/>
          <a:lstStyle/>
          <a:p>
            <a:pPr marL="0" indent="0" algn="ctr">
              <a:lnSpc>
                <a:spcPct val="90000"/>
              </a:lnSpc>
              <a:buNone/>
            </a:pPr>
            <a:r>
              <a:rPr lang="en-US" sz="900" b="1" kern="0" spc="100" dirty="0">
                <a:solidFill>
                  <a:srgbClr val="FF6F4D"/>
                </a:solidFill>
                <a:latin typeface="Calibri" pitchFamily="34" charset="0"/>
                <a:ea typeface="Calibri" pitchFamily="34" charset="-122"/>
                <a:cs typeface="Calibri" pitchFamily="34" charset="-120"/>
              </a:rPr>
              <a:t>MAX
</a:t>
            </a:r>
            <a:endParaRPr lang="en-US" sz="900" dirty="0"/>
          </a:p>
          <a:p>
            <a:pPr marL="0" indent="0" algn="ctr">
              <a:lnSpc>
                <a:spcPct val="90000"/>
              </a:lnSpc>
              <a:buNone/>
            </a:pPr>
            <a:r>
              <a:rPr lang="en-US" sz="1200" b="1" dirty="0">
                <a:solidFill>
                  <a:srgbClr val="FFFFFF"/>
                </a:solidFill>
                <a:latin typeface="Calibri" pitchFamily="34" charset="0"/>
                <a:ea typeface="Calibri" pitchFamily="34" charset="-122"/>
                <a:cs typeface="Calibri" pitchFamily="34" charset="-120"/>
              </a:rPr>
              <a:t>8 workers</a:t>
            </a:r>
            <a:endParaRPr lang="en-US" sz="900" dirty="0"/>
          </a:p>
        </p:txBody>
      </p:sp>
      <p:sp>
        <p:nvSpPr>
          <p:cNvPr id="31" name="Text 26"/>
          <p:cNvSpPr/>
          <p:nvPr/>
        </p:nvSpPr>
        <p:spPr>
          <a:xfrm>
            <a:off x="10131552" y="2889504"/>
            <a:ext cx="1237183" cy="676656"/>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Adds workers when load is high, removes them when idle — you set the floor and ceiling.</a:t>
            </a:r>
            <a:endParaRPr lang="en-US" sz="1050" dirty="0"/>
          </a:p>
        </p:txBody>
      </p:sp>
      <p:sp>
        <p:nvSpPr>
          <p:cNvPr id="32" name="Shape 27"/>
          <p:cNvSpPr/>
          <p:nvPr/>
        </p:nvSpPr>
        <p:spPr>
          <a:xfrm>
            <a:off x="6144768" y="3968496"/>
            <a:ext cx="5498287" cy="1792224"/>
          </a:xfrm>
          <a:prstGeom prst="roundRect">
            <a:avLst>
              <a:gd name="adj" fmla="val 5102"/>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3" name="Text 28"/>
          <p:cNvSpPr/>
          <p:nvPr/>
        </p:nvSpPr>
        <p:spPr>
          <a:xfrm>
            <a:off x="6455664" y="4133088"/>
            <a:ext cx="4949647" cy="310896"/>
          </a:xfrm>
          <a:prstGeom prst="rect">
            <a:avLst/>
          </a:prstGeom>
          <a:noFill/>
          <a:ln/>
        </p:spPr>
        <p:txBody>
          <a:bodyPr wrap="square" lIns="0" tIns="0" rIns="0" bIns="0" rtlCol="0" anchor="ctr"/>
          <a:lstStyle/>
          <a:p>
            <a:pPr marL="0" indent="0">
              <a:buNone/>
            </a:pPr>
            <a:r>
              <a:rPr lang="en-US" sz="1450" b="1" dirty="0">
                <a:solidFill>
                  <a:srgbClr val="13242E"/>
                </a:solidFill>
                <a:latin typeface="Trebuchet MS" pitchFamily="34" charset="0"/>
                <a:ea typeface="Trebuchet MS" pitchFamily="34" charset="-122"/>
                <a:cs typeface="Trebuchet MS" pitchFamily="34" charset="-120"/>
              </a:rPr>
              <a:t>Classic vs Serverless compute</a:t>
            </a:r>
            <a:endParaRPr lang="en-US" sz="1450" dirty="0"/>
          </a:p>
        </p:txBody>
      </p:sp>
      <p:sp>
        <p:nvSpPr>
          <p:cNvPr id="34" name="Shape 29"/>
          <p:cNvSpPr/>
          <p:nvPr/>
        </p:nvSpPr>
        <p:spPr>
          <a:xfrm>
            <a:off x="6455664" y="4535424"/>
            <a:ext cx="420624" cy="420624"/>
          </a:xfrm>
          <a:prstGeom prst="ellipse">
            <a:avLst/>
          </a:prstGeom>
          <a:solidFill>
            <a:srgbClr val="0E7C8B"/>
          </a:solidFill>
          <a:ln/>
        </p:spPr>
        <p:txBody>
          <a:bodyPr/>
          <a:lstStyle/>
          <a:p>
            <a:endParaRPr lang="en-US"/>
          </a:p>
        </p:txBody>
      </p:sp>
      <p:pic>
        <p:nvPicPr>
          <p:cNvPr id="35" name="Image 3" descr="preencoded.png"/>
          <p:cNvPicPr>
            <a:picLocks noChangeAspect="1"/>
          </p:cNvPicPr>
          <p:nvPr/>
        </p:nvPicPr>
        <p:blipFill>
          <a:blip r:embed="rId6"/>
          <a:stretch>
            <a:fillRect/>
          </a:stretch>
        </p:blipFill>
        <p:spPr>
          <a:xfrm>
            <a:off x="6560820" y="4640580"/>
            <a:ext cx="210312" cy="210312"/>
          </a:xfrm>
          <a:prstGeom prst="rect">
            <a:avLst/>
          </a:prstGeom>
        </p:spPr>
      </p:pic>
      <p:sp>
        <p:nvSpPr>
          <p:cNvPr id="36" name="Text 30"/>
          <p:cNvSpPr/>
          <p:nvPr/>
        </p:nvSpPr>
        <p:spPr>
          <a:xfrm>
            <a:off x="6986016" y="4489704"/>
            <a:ext cx="4401007" cy="512064"/>
          </a:xfrm>
          <a:prstGeom prst="rect">
            <a:avLst/>
          </a:prstGeom>
          <a:noFill/>
          <a:ln/>
        </p:spPr>
        <p:txBody>
          <a:bodyPr wrap="square" lIns="0" tIns="0" rIns="0" bIns="0" rtlCol="0" anchor="ctr"/>
          <a:lstStyle/>
          <a:p>
            <a:pPr marL="0" indent="0">
              <a:buNone/>
            </a:pPr>
            <a:r>
              <a:rPr lang="en-US" sz="1050" b="1" dirty="0">
                <a:solidFill>
                  <a:srgbClr val="13242E"/>
                </a:solidFill>
                <a:latin typeface="Calibri" pitchFamily="34" charset="0"/>
                <a:ea typeface="Calibri" pitchFamily="34" charset="-122"/>
                <a:cs typeface="Calibri" pitchFamily="34" charset="-120"/>
              </a:rPr>
              <a:t>Classic  —  </a:t>
            </a:r>
            <a:r>
              <a:rPr lang="en-US" sz="1050" dirty="0">
                <a:solidFill>
                  <a:srgbClr val="38474F"/>
                </a:solidFill>
                <a:latin typeface="Calibri" pitchFamily="34" charset="0"/>
                <a:ea typeface="Calibri" pitchFamily="34" charset="-122"/>
                <a:cs typeface="Calibri" pitchFamily="34" charset="-120"/>
              </a:rPr>
              <a:t>runs in your own cloud account (VPC); you choose machine types; takes a couple of minutes to start.</a:t>
            </a:r>
            <a:endParaRPr lang="en-US" sz="1050" dirty="0"/>
          </a:p>
        </p:txBody>
      </p:sp>
      <p:sp>
        <p:nvSpPr>
          <p:cNvPr id="37" name="Shape 31"/>
          <p:cNvSpPr/>
          <p:nvPr/>
        </p:nvSpPr>
        <p:spPr>
          <a:xfrm>
            <a:off x="6455664" y="5138928"/>
            <a:ext cx="420624" cy="420624"/>
          </a:xfrm>
          <a:prstGeom prst="ellipse">
            <a:avLst/>
          </a:prstGeom>
          <a:solidFill>
            <a:srgbClr val="FF3621"/>
          </a:solidFill>
          <a:ln/>
        </p:spPr>
        <p:txBody>
          <a:bodyPr/>
          <a:lstStyle/>
          <a:p>
            <a:endParaRPr lang="en-US"/>
          </a:p>
        </p:txBody>
      </p:sp>
      <p:pic>
        <p:nvPicPr>
          <p:cNvPr id="38" name="Image 4" descr="preencoded.png"/>
          <p:cNvPicPr>
            <a:picLocks noChangeAspect="1"/>
          </p:cNvPicPr>
          <p:nvPr/>
        </p:nvPicPr>
        <p:blipFill>
          <a:blip r:embed="rId7"/>
          <a:stretch>
            <a:fillRect/>
          </a:stretch>
        </p:blipFill>
        <p:spPr>
          <a:xfrm>
            <a:off x="6560820" y="5244084"/>
            <a:ext cx="210312" cy="210312"/>
          </a:xfrm>
          <a:prstGeom prst="rect">
            <a:avLst/>
          </a:prstGeom>
        </p:spPr>
      </p:pic>
      <p:sp>
        <p:nvSpPr>
          <p:cNvPr id="39" name="Text 32"/>
          <p:cNvSpPr/>
          <p:nvPr/>
        </p:nvSpPr>
        <p:spPr>
          <a:xfrm>
            <a:off x="6986016" y="5093208"/>
            <a:ext cx="4401007" cy="512064"/>
          </a:xfrm>
          <a:prstGeom prst="rect">
            <a:avLst/>
          </a:prstGeom>
          <a:noFill/>
          <a:ln/>
        </p:spPr>
        <p:txBody>
          <a:bodyPr wrap="square" lIns="0" tIns="0" rIns="0" bIns="0" rtlCol="0" anchor="ctr"/>
          <a:lstStyle/>
          <a:p>
            <a:pPr marL="0" indent="0">
              <a:buNone/>
            </a:pPr>
            <a:r>
              <a:rPr lang="en-US" sz="1050" b="1" dirty="0">
                <a:solidFill>
                  <a:srgbClr val="13242E"/>
                </a:solidFill>
                <a:latin typeface="Calibri" pitchFamily="34" charset="0"/>
                <a:ea typeface="Calibri" pitchFamily="34" charset="-122"/>
                <a:cs typeface="Calibri" pitchFamily="34" charset="-120"/>
              </a:rPr>
              <a:t>Serverless  —  </a:t>
            </a:r>
            <a:r>
              <a:rPr lang="en-US" sz="1050" dirty="0">
                <a:solidFill>
                  <a:srgbClr val="38474F"/>
                </a:solidFill>
                <a:latin typeface="Calibri" pitchFamily="34" charset="0"/>
                <a:ea typeface="Calibri" pitchFamily="34" charset="-122"/>
                <a:cs typeface="Calibri" pitchFamily="34" charset="-120"/>
              </a:rPr>
              <a:t>Databricks runs the machines for you; starts in seconds; nothing to size or configure.</a:t>
            </a:r>
            <a:endParaRPr lang="en-US" sz="1050" dirty="0"/>
          </a:p>
        </p:txBody>
      </p:sp>
      <p:sp>
        <p:nvSpPr>
          <p:cNvPr id="40" name="Shape 33"/>
          <p:cNvSpPr/>
          <p:nvPr/>
        </p:nvSpPr>
        <p:spPr>
          <a:xfrm>
            <a:off x="548640" y="5742432"/>
            <a:ext cx="11094415" cy="512064"/>
          </a:xfrm>
          <a:prstGeom prst="roundRect">
            <a:avLst>
              <a:gd name="adj" fmla="val 14286"/>
            </a:avLst>
          </a:prstGeom>
          <a:solidFill>
            <a:srgbClr val="FFF6E6"/>
          </a:solidFill>
          <a:ln w="12700">
            <a:solidFill>
              <a:srgbClr val="F0DCAE"/>
            </a:solidFill>
            <a:prstDash val="solid"/>
          </a:ln>
        </p:spPr>
        <p:txBody>
          <a:bodyPr/>
          <a:lstStyle/>
          <a:p>
            <a:endParaRPr lang="en-US"/>
          </a:p>
        </p:txBody>
      </p:sp>
      <p:sp>
        <p:nvSpPr>
          <p:cNvPr id="41" name="Shape 34"/>
          <p:cNvSpPr/>
          <p:nvPr/>
        </p:nvSpPr>
        <p:spPr>
          <a:xfrm>
            <a:off x="804672" y="5852160"/>
            <a:ext cx="292608" cy="292608"/>
          </a:xfrm>
          <a:prstGeom prst="ellipse">
            <a:avLst/>
          </a:prstGeom>
          <a:solidFill>
            <a:srgbClr val="E0A024"/>
          </a:solidFill>
          <a:ln/>
        </p:spPr>
        <p:txBody>
          <a:bodyPr/>
          <a:lstStyle/>
          <a:p>
            <a:endParaRPr lang="en-US"/>
          </a:p>
        </p:txBody>
      </p:sp>
      <p:pic>
        <p:nvPicPr>
          <p:cNvPr id="42" name="Image 5" descr="preencoded.png"/>
          <p:cNvPicPr>
            <a:picLocks noChangeAspect="1"/>
          </p:cNvPicPr>
          <p:nvPr/>
        </p:nvPicPr>
        <p:blipFill>
          <a:blip r:embed="rId8"/>
          <a:stretch>
            <a:fillRect/>
          </a:stretch>
        </p:blipFill>
        <p:spPr>
          <a:xfrm>
            <a:off x="877824" y="5925312"/>
            <a:ext cx="146304" cy="146304"/>
          </a:xfrm>
          <a:prstGeom prst="rect">
            <a:avLst/>
          </a:prstGeom>
        </p:spPr>
      </p:pic>
      <p:sp>
        <p:nvSpPr>
          <p:cNvPr id="43" name="Text 35"/>
          <p:cNvSpPr/>
          <p:nvPr/>
        </p:nvSpPr>
        <p:spPr>
          <a:xfrm>
            <a:off x="1225296" y="5742432"/>
            <a:ext cx="10180015" cy="512064"/>
          </a:xfrm>
          <a:prstGeom prst="rect">
            <a:avLst/>
          </a:prstGeom>
          <a:noFill/>
          <a:ln/>
        </p:spPr>
        <p:txBody>
          <a:bodyPr wrap="square" lIns="0" tIns="0" rIns="0" bIns="0" rtlCol="0" anchor="ctr"/>
          <a:lstStyle/>
          <a:p>
            <a:pPr marL="0" indent="0">
              <a:buNone/>
            </a:pPr>
            <a:r>
              <a:rPr lang="en-US" sz="1150" b="1" dirty="0">
                <a:solidFill>
                  <a:srgbClr val="8A6212"/>
                </a:solidFill>
                <a:latin typeface="Calibri" pitchFamily="34" charset="0"/>
                <a:ea typeface="Calibri" pitchFamily="34" charset="-122"/>
                <a:cs typeface="Calibri" pitchFamily="34" charset="-120"/>
              </a:rPr>
              <a:t>Cost tip:  </a:t>
            </a:r>
            <a:r>
              <a:rPr lang="en-US" sz="1150" dirty="0">
                <a:solidFill>
                  <a:srgbClr val="38474F"/>
                </a:solidFill>
                <a:latin typeface="Calibri" pitchFamily="34" charset="0"/>
                <a:ea typeface="Calibri" pitchFamily="34" charset="-122"/>
                <a:cs typeface="Calibri" pitchFamily="34" charset="-120"/>
              </a:rPr>
              <a:t>turn on auto-terminate for idle clusters, and use job clusters for anything scheduled.</a:t>
            </a:r>
            <a:endParaRPr lang="en-US" sz="1150" dirty="0"/>
          </a:p>
        </p:txBody>
      </p:sp>
      <p:sp>
        <p:nvSpPr>
          <p:cNvPr id="44" name="Text 36"/>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45" name="Text 37"/>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03 · GOVERN EVERYTHING IN ONE PLACE</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Unity Catalog: one layer of security &amp; governance</a:t>
            </a:r>
            <a:endParaRPr lang="en-US" sz="2900" dirty="0"/>
          </a:p>
        </p:txBody>
      </p:sp>
      <p:sp>
        <p:nvSpPr>
          <p:cNvPr id="5" name="Text 3"/>
          <p:cNvSpPr/>
          <p:nvPr/>
        </p:nvSpPr>
        <p:spPr>
          <a:xfrm>
            <a:off x="548640" y="1572768"/>
            <a:ext cx="11094415" cy="365760"/>
          </a:xfrm>
          <a:prstGeom prst="rect">
            <a:avLst/>
          </a:prstGeom>
          <a:noFill/>
          <a:ln/>
        </p:spPr>
        <p:txBody>
          <a:bodyPr wrap="square" lIns="0" tIns="0" rIns="0" bIns="0" rtlCol="0" anchor="ctr"/>
          <a:lstStyle/>
          <a:p>
            <a:pPr marL="0" indent="0">
              <a:buNone/>
            </a:pPr>
            <a:r>
              <a:rPr lang="en-US" sz="1250" dirty="0">
                <a:solidFill>
                  <a:srgbClr val="38474F"/>
                </a:solidFill>
                <a:latin typeface="Calibri" pitchFamily="34" charset="0"/>
                <a:ea typeface="Calibri" pitchFamily="34" charset="-122"/>
                <a:cs typeface="Calibri" pitchFamily="34" charset="-120"/>
              </a:rPr>
              <a:t>Manage who can see what across every workspace — plus an automatic record of where data came from and who touched it.</a:t>
            </a:r>
            <a:endParaRPr lang="en-US" sz="1250" dirty="0"/>
          </a:p>
        </p:txBody>
      </p:sp>
      <p:sp>
        <p:nvSpPr>
          <p:cNvPr id="6" name="Text 4"/>
          <p:cNvSpPr/>
          <p:nvPr/>
        </p:nvSpPr>
        <p:spPr>
          <a:xfrm>
            <a:off x="548640" y="1828800"/>
            <a:ext cx="4572000" cy="256032"/>
          </a:xfrm>
          <a:prstGeom prst="rect">
            <a:avLst/>
          </a:prstGeom>
          <a:noFill/>
          <a:ln/>
        </p:spPr>
        <p:txBody>
          <a:bodyPr wrap="square" lIns="0" tIns="0" rIns="0" bIns="0" rtlCol="0" anchor="ctr"/>
          <a:lstStyle/>
          <a:p>
            <a:pPr marL="0" indent="0">
              <a:buNone/>
            </a:pPr>
            <a:r>
              <a:rPr lang="en-US" sz="1100" b="1" kern="0" spc="150" dirty="0">
                <a:solidFill>
                  <a:srgbClr val="7C8A91"/>
                </a:solidFill>
                <a:latin typeface="Calibri" pitchFamily="34" charset="0"/>
                <a:ea typeface="Calibri" pitchFamily="34" charset="-122"/>
                <a:cs typeface="Calibri" pitchFamily="34" charset="-120"/>
              </a:rPr>
              <a:t>THE THREE-LEVEL NAMESPACE</a:t>
            </a:r>
            <a:endParaRPr lang="en-US" sz="1100" dirty="0"/>
          </a:p>
        </p:txBody>
      </p:sp>
      <p:sp>
        <p:nvSpPr>
          <p:cNvPr id="7" name="Shape 5"/>
          <p:cNvSpPr/>
          <p:nvPr/>
        </p:nvSpPr>
        <p:spPr>
          <a:xfrm>
            <a:off x="548640" y="2157984"/>
            <a:ext cx="4572000" cy="841248"/>
          </a:xfrm>
          <a:prstGeom prst="roundRect">
            <a:avLst>
              <a:gd name="adj" fmla="val 10870"/>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8" name="Shape 6"/>
          <p:cNvSpPr/>
          <p:nvPr/>
        </p:nvSpPr>
        <p:spPr>
          <a:xfrm>
            <a:off x="548640" y="2157984"/>
            <a:ext cx="109728" cy="841248"/>
          </a:xfrm>
          <a:prstGeom prst="rect">
            <a:avLst/>
          </a:prstGeom>
          <a:solidFill>
            <a:srgbClr val="FF3621"/>
          </a:solidFill>
          <a:ln/>
        </p:spPr>
        <p:txBody>
          <a:bodyPr/>
          <a:lstStyle/>
          <a:p>
            <a:endParaRPr lang="en-US"/>
          </a:p>
        </p:txBody>
      </p:sp>
      <p:sp>
        <p:nvSpPr>
          <p:cNvPr id="9" name="Shape 7"/>
          <p:cNvSpPr/>
          <p:nvPr/>
        </p:nvSpPr>
        <p:spPr>
          <a:xfrm>
            <a:off x="859536" y="2322576"/>
            <a:ext cx="512064" cy="512064"/>
          </a:xfrm>
          <a:prstGeom prst="ellipse">
            <a:avLst/>
          </a:prstGeom>
          <a:solidFill>
            <a:srgbClr val="FF3621"/>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987552" y="2450592"/>
            <a:ext cx="256032" cy="256032"/>
          </a:xfrm>
          <a:prstGeom prst="rect">
            <a:avLst/>
          </a:prstGeom>
        </p:spPr>
      </p:pic>
      <p:sp>
        <p:nvSpPr>
          <p:cNvPr id="11" name="Text 8"/>
          <p:cNvSpPr/>
          <p:nvPr/>
        </p:nvSpPr>
        <p:spPr>
          <a:xfrm>
            <a:off x="1572768" y="2304288"/>
            <a:ext cx="3291840" cy="310896"/>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Catalog</a:t>
            </a:r>
            <a:endParaRPr lang="en-US" sz="1500" dirty="0"/>
          </a:p>
        </p:txBody>
      </p:sp>
      <p:sp>
        <p:nvSpPr>
          <p:cNvPr id="12" name="Text 9"/>
          <p:cNvSpPr/>
          <p:nvPr/>
        </p:nvSpPr>
        <p:spPr>
          <a:xfrm>
            <a:off x="1572768" y="2615184"/>
            <a:ext cx="3291840" cy="274320"/>
          </a:xfrm>
          <a:prstGeom prst="rect">
            <a:avLst/>
          </a:prstGeom>
          <a:noFill/>
          <a:ln/>
        </p:spPr>
        <p:txBody>
          <a:bodyPr wrap="square" lIns="0" tIns="0" rIns="0" bIns="0" rtlCol="0" anchor="ctr"/>
          <a:lstStyle/>
          <a:p>
            <a:pPr marL="0" indent="0">
              <a:buNone/>
            </a:pPr>
            <a:r>
              <a:rPr lang="en-US" sz="1100" dirty="0">
                <a:solidFill>
                  <a:srgbClr val="38474F"/>
                </a:solidFill>
                <a:latin typeface="Calibri" pitchFamily="34" charset="0"/>
                <a:ea typeface="Calibri" pitchFamily="34" charset="-122"/>
                <a:cs typeface="Calibri" pitchFamily="34" charset="-120"/>
              </a:rPr>
              <a:t>top-level container (per team or environment)</a:t>
            </a:r>
            <a:endParaRPr lang="en-US" sz="1100" dirty="0"/>
          </a:p>
        </p:txBody>
      </p:sp>
      <p:sp>
        <p:nvSpPr>
          <p:cNvPr id="13" name="Shape 10"/>
          <p:cNvSpPr/>
          <p:nvPr/>
        </p:nvSpPr>
        <p:spPr>
          <a:xfrm rot="10800000">
            <a:off x="2755636" y="3035808"/>
            <a:ext cx="158008" cy="219456"/>
          </a:xfrm>
          <a:prstGeom prst="triangle">
            <a:avLst/>
          </a:prstGeom>
          <a:solidFill>
            <a:srgbClr val="FF3621"/>
          </a:solidFill>
          <a:ln/>
        </p:spPr>
        <p:txBody>
          <a:bodyPr/>
          <a:lstStyle/>
          <a:p>
            <a:endParaRPr lang="en-US"/>
          </a:p>
        </p:txBody>
      </p:sp>
      <p:sp>
        <p:nvSpPr>
          <p:cNvPr id="14" name="Shape 11"/>
          <p:cNvSpPr/>
          <p:nvPr/>
        </p:nvSpPr>
        <p:spPr>
          <a:xfrm>
            <a:off x="548640" y="3291840"/>
            <a:ext cx="4572000" cy="841248"/>
          </a:xfrm>
          <a:prstGeom prst="roundRect">
            <a:avLst>
              <a:gd name="adj" fmla="val 10870"/>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5" name="Shape 12"/>
          <p:cNvSpPr/>
          <p:nvPr/>
        </p:nvSpPr>
        <p:spPr>
          <a:xfrm>
            <a:off x="548640" y="3291840"/>
            <a:ext cx="109728" cy="841248"/>
          </a:xfrm>
          <a:prstGeom prst="rect">
            <a:avLst/>
          </a:prstGeom>
          <a:solidFill>
            <a:srgbClr val="0E7C8B"/>
          </a:solidFill>
          <a:ln/>
        </p:spPr>
        <p:txBody>
          <a:bodyPr/>
          <a:lstStyle/>
          <a:p>
            <a:endParaRPr lang="en-US"/>
          </a:p>
        </p:txBody>
      </p:sp>
      <p:sp>
        <p:nvSpPr>
          <p:cNvPr id="16" name="Shape 13"/>
          <p:cNvSpPr/>
          <p:nvPr/>
        </p:nvSpPr>
        <p:spPr>
          <a:xfrm>
            <a:off x="859536" y="3456432"/>
            <a:ext cx="512064" cy="512064"/>
          </a:xfrm>
          <a:prstGeom prst="ellipse">
            <a:avLst/>
          </a:prstGeom>
          <a:solidFill>
            <a:srgbClr val="0E7C8B"/>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987552" y="3584448"/>
            <a:ext cx="256032" cy="256032"/>
          </a:xfrm>
          <a:prstGeom prst="rect">
            <a:avLst/>
          </a:prstGeom>
        </p:spPr>
      </p:pic>
      <p:sp>
        <p:nvSpPr>
          <p:cNvPr id="18" name="Text 14"/>
          <p:cNvSpPr/>
          <p:nvPr/>
        </p:nvSpPr>
        <p:spPr>
          <a:xfrm>
            <a:off x="1572768" y="3438144"/>
            <a:ext cx="3291840" cy="310896"/>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Schema</a:t>
            </a:r>
            <a:endParaRPr lang="en-US" sz="1500" dirty="0"/>
          </a:p>
        </p:txBody>
      </p:sp>
      <p:sp>
        <p:nvSpPr>
          <p:cNvPr id="19" name="Text 15"/>
          <p:cNvSpPr/>
          <p:nvPr/>
        </p:nvSpPr>
        <p:spPr>
          <a:xfrm>
            <a:off x="1572768" y="3749040"/>
            <a:ext cx="3291840" cy="274320"/>
          </a:xfrm>
          <a:prstGeom prst="rect">
            <a:avLst/>
          </a:prstGeom>
          <a:noFill/>
          <a:ln/>
        </p:spPr>
        <p:txBody>
          <a:bodyPr wrap="square" lIns="0" tIns="0" rIns="0" bIns="0" rtlCol="0" anchor="ctr"/>
          <a:lstStyle/>
          <a:p>
            <a:pPr marL="0" indent="0">
              <a:buNone/>
            </a:pPr>
            <a:r>
              <a:rPr lang="en-US" sz="1100" dirty="0">
                <a:solidFill>
                  <a:srgbClr val="38474F"/>
                </a:solidFill>
                <a:latin typeface="Calibri" pitchFamily="34" charset="0"/>
                <a:ea typeface="Calibri" pitchFamily="34" charset="-122"/>
                <a:cs typeface="Calibri" pitchFamily="34" charset="-120"/>
              </a:rPr>
              <a:t>a group of related tables &amp; views</a:t>
            </a:r>
            <a:endParaRPr lang="en-US" sz="1100" dirty="0"/>
          </a:p>
        </p:txBody>
      </p:sp>
      <p:sp>
        <p:nvSpPr>
          <p:cNvPr id="20" name="Shape 16"/>
          <p:cNvSpPr/>
          <p:nvPr/>
        </p:nvSpPr>
        <p:spPr>
          <a:xfrm rot="10800000">
            <a:off x="2755636" y="4169664"/>
            <a:ext cx="158008" cy="219456"/>
          </a:xfrm>
          <a:prstGeom prst="triangle">
            <a:avLst/>
          </a:prstGeom>
          <a:solidFill>
            <a:srgbClr val="FF3621"/>
          </a:solidFill>
          <a:ln/>
        </p:spPr>
        <p:txBody>
          <a:bodyPr/>
          <a:lstStyle/>
          <a:p>
            <a:endParaRPr lang="en-US"/>
          </a:p>
        </p:txBody>
      </p:sp>
      <p:sp>
        <p:nvSpPr>
          <p:cNvPr id="21" name="Shape 17"/>
          <p:cNvSpPr/>
          <p:nvPr/>
        </p:nvSpPr>
        <p:spPr>
          <a:xfrm>
            <a:off x="548640" y="4425696"/>
            <a:ext cx="4572000" cy="841248"/>
          </a:xfrm>
          <a:prstGeom prst="roundRect">
            <a:avLst>
              <a:gd name="adj" fmla="val 10870"/>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2" name="Shape 18"/>
          <p:cNvSpPr/>
          <p:nvPr/>
        </p:nvSpPr>
        <p:spPr>
          <a:xfrm>
            <a:off x="548640" y="4425696"/>
            <a:ext cx="109728" cy="841248"/>
          </a:xfrm>
          <a:prstGeom prst="rect">
            <a:avLst/>
          </a:prstGeom>
          <a:solidFill>
            <a:srgbClr val="0E1B24"/>
          </a:solidFill>
          <a:ln/>
        </p:spPr>
        <p:txBody>
          <a:bodyPr/>
          <a:lstStyle/>
          <a:p>
            <a:endParaRPr lang="en-US"/>
          </a:p>
        </p:txBody>
      </p:sp>
      <p:sp>
        <p:nvSpPr>
          <p:cNvPr id="23" name="Shape 19"/>
          <p:cNvSpPr/>
          <p:nvPr/>
        </p:nvSpPr>
        <p:spPr>
          <a:xfrm>
            <a:off x="859536" y="4590288"/>
            <a:ext cx="512064" cy="512064"/>
          </a:xfrm>
          <a:prstGeom prst="ellipse">
            <a:avLst/>
          </a:prstGeom>
          <a:solidFill>
            <a:srgbClr val="0E1B24"/>
          </a:solidFill>
          <a:ln/>
        </p:spPr>
        <p:txBody>
          <a:bodyPr/>
          <a:lstStyle/>
          <a:p>
            <a:endParaRPr lang="en-US"/>
          </a:p>
        </p:txBody>
      </p:sp>
      <p:pic>
        <p:nvPicPr>
          <p:cNvPr id="24" name="Image 2" descr="preencoded.png"/>
          <p:cNvPicPr>
            <a:picLocks noChangeAspect="1"/>
          </p:cNvPicPr>
          <p:nvPr/>
        </p:nvPicPr>
        <p:blipFill>
          <a:blip r:embed="rId5"/>
          <a:stretch>
            <a:fillRect/>
          </a:stretch>
        </p:blipFill>
        <p:spPr>
          <a:xfrm>
            <a:off x="987552" y="4718304"/>
            <a:ext cx="256032" cy="256032"/>
          </a:xfrm>
          <a:prstGeom prst="rect">
            <a:avLst/>
          </a:prstGeom>
        </p:spPr>
      </p:pic>
      <p:sp>
        <p:nvSpPr>
          <p:cNvPr id="25" name="Text 20"/>
          <p:cNvSpPr/>
          <p:nvPr/>
        </p:nvSpPr>
        <p:spPr>
          <a:xfrm>
            <a:off x="1572768" y="4572000"/>
            <a:ext cx="3291840" cy="310896"/>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Table / View</a:t>
            </a:r>
            <a:endParaRPr lang="en-US" sz="1500" dirty="0"/>
          </a:p>
        </p:txBody>
      </p:sp>
      <p:sp>
        <p:nvSpPr>
          <p:cNvPr id="26" name="Text 21"/>
          <p:cNvSpPr/>
          <p:nvPr/>
        </p:nvSpPr>
        <p:spPr>
          <a:xfrm>
            <a:off x="1572768" y="4882896"/>
            <a:ext cx="3291840" cy="274320"/>
          </a:xfrm>
          <a:prstGeom prst="rect">
            <a:avLst/>
          </a:prstGeom>
          <a:noFill/>
          <a:ln/>
        </p:spPr>
        <p:txBody>
          <a:bodyPr wrap="square" lIns="0" tIns="0" rIns="0" bIns="0" rtlCol="0" anchor="ctr"/>
          <a:lstStyle/>
          <a:p>
            <a:pPr marL="0" indent="0">
              <a:buNone/>
            </a:pPr>
            <a:r>
              <a:rPr lang="en-US" sz="1100" dirty="0">
                <a:solidFill>
                  <a:srgbClr val="38474F"/>
                </a:solidFill>
                <a:latin typeface="Calibri" pitchFamily="34" charset="0"/>
                <a:ea typeface="Calibri" pitchFamily="34" charset="-122"/>
                <a:cs typeface="Calibri" pitchFamily="34" charset="-120"/>
              </a:rPr>
              <a:t>the actual data objects you query</a:t>
            </a:r>
            <a:endParaRPr lang="en-US" sz="1100" dirty="0"/>
          </a:p>
        </p:txBody>
      </p:sp>
      <p:sp>
        <p:nvSpPr>
          <p:cNvPr id="27" name="Shape 22"/>
          <p:cNvSpPr/>
          <p:nvPr/>
        </p:nvSpPr>
        <p:spPr>
          <a:xfrm>
            <a:off x="548640" y="5321808"/>
            <a:ext cx="4572000" cy="457200"/>
          </a:xfrm>
          <a:prstGeom prst="roundRect">
            <a:avLst>
              <a:gd name="adj" fmla="val 16000"/>
            </a:avLst>
          </a:prstGeom>
          <a:solidFill>
            <a:srgbClr val="0E1B24"/>
          </a:solidFill>
          <a:ln/>
        </p:spPr>
        <p:txBody>
          <a:bodyPr/>
          <a:lstStyle/>
          <a:p>
            <a:endParaRPr lang="en-US"/>
          </a:p>
        </p:txBody>
      </p:sp>
      <p:sp>
        <p:nvSpPr>
          <p:cNvPr id="28" name="Text 23"/>
          <p:cNvSpPr/>
          <p:nvPr/>
        </p:nvSpPr>
        <p:spPr>
          <a:xfrm>
            <a:off x="548640" y="5321808"/>
            <a:ext cx="4572000" cy="457200"/>
          </a:xfrm>
          <a:prstGeom prst="rect">
            <a:avLst/>
          </a:prstGeom>
          <a:noFill/>
          <a:ln/>
        </p:spPr>
        <p:txBody>
          <a:bodyPr wrap="square" lIns="0" tIns="0" rIns="0" bIns="0" rtlCol="0" anchor="ctr"/>
          <a:lstStyle/>
          <a:p>
            <a:pPr marL="0" indent="0" algn="ctr">
              <a:buNone/>
            </a:pPr>
            <a:r>
              <a:rPr lang="en-US" sz="1400" b="1" dirty="0">
                <a:solidFill>
                  <a:srgbClr val="FF6F4D"/>
                </a:solidFill>
                <a:latin typeface="Consolas" pitchFamily="34" charset="0"/>
                <a:ea typeface="Consolas" pitchFamily="34" charset="-122"/>
                <a:cs typeface="Consolas" pitchFamily="34" charset="-120"/>
              </a:rPr>
              <a:t>main</a:t>
            </a:r>
            <a:r>
              <a:rPr lang="en-US" sz="1400" dirty="0">
                <a:solidFill>
                  <a:srgbClr val="8597A0"/>
                </a:solidFill>
                <a:latin typeface="Consolas" pitchFamily="34" charset="0"/>
                <a:ea typeface="Consolas" pitchFamily="34" charset="-122"/>
                <a:cs typeface="Consolas" pitchFamily="34" charset="-120"/>
              </a:rPr>
              <a:t> . </a:t>
            </a:r>
            <a:r>
              <a:rPr lang="en-US" sz="1400" b="1" dirty="0">
                <a:solidFill>
                  <a:srgbClr val="FFFFFF"/>
                </a:solidFill>
                <a:latin typeface="Consolas" pitchFamily="34" charset="0"/>
                <a:ea typeface="Consolas" pitchFamily="34" charset="-122"/>
                <a:cs typeface="Consolas" pitchFamily="34" charset="-120"/>
              </a:rPr>
              <a:t>sales</a:t>
            </a:r>
            <a:r>
              <a:rPr lang="en-US" sz="1400" dirty="0">
                <a:solidFill>
                  <a:srgbClr val="8597A0"/>
                </a:solidFill>
                <a:latin typeface="Consolas" pitchFamily="34" charset="0"/>
                <a:ea typeface="Consolas" pitchFamily="34" charset="-122"/>
                <a:cs typeface="Consolas" pitchFamily="34" charset="-120"/>
              </a:rPr>
              <a:t> . </a:t>
            </a:r>
            <a:r>
              <a:rPr lang="en-US" sz="1400" b="1" dirty="0">
                <a:solidFill>
                  <a:srgbClr val="C7D2D8"/>
                </a:solidFill>
                <a:latin typeface="Consolas" pitchFamily="34" charset="0"/>
                <a:ea typeface="Consolas" pitchFamily="34" charset="-122"/>
                <a:cs typeface="Consolas" pitchFamily="34" charset="-120"/>
              </a:rPr>
              <a:t>orders</a:t>
            </a:r>
            <a:endParaRPr lang="en-US" sz="1400" dirty="0"/>
          </a:p>
        </p:txBody>
      </p:sp>
      <p:sp>
        <p:nvSpPr>
          <p:cNvPr id="29" name="Text 24"/>
          <p:cNvSpPr/>
          <p:nvPr/>
        </p:nvSpPr>
        <p:spPr>
          <a:xfrm>
            <a:off x="5577840" y="1828800"/>
            <a:ext cx="6065215" cy="256032"/>
          </a:xfrm>
          <a:prstGeom prst="rect">
            <a:avLst/>
          </a:prstGeom>
          <a:noFill/>
          <a:ln/>
        </p:spPr>
        <p:txBody>
          <a:bodyPr wrap="square" lIns="0" tIns="0" rIns="0" bIns="0" rtlCol="0" anchor="ctr"/>
          <a:lstStyle/>
          <a:p>
            <a:pPr marL="0" indent="0">
              <a:buNone/>
            </a:pPr>
            <a:r>
              <a:rPr lang="en-US" sz="1100" b="1" kern="0" spc="150" dirty="0">
                <a:solidFill>
                  <a:srgbClr val="7C8A91"/>
                </a:solidFill>
                <a:latin typeface="Calibri" pitchFamily="34" charset="0"/>
                <a:ea typeface="Calibri" pitchFamily="34" charset="-122"/>
                <a:cs typeface="Calibri" pitchFamily="34" charset="-120"/>
              </a:rPr>
              <a:t>GOVERNANCE, BUILT IN</a:t>
            </a:r>
            <a:endParaRPr lang="en-US" sz="1100" dirty="0"/>
          </a:p>
        </p:txBody>
      </p:sp>
      <p:sp>
        <p:nvSpPr>
          <p:cNvPr id="30" name="Shape 25"/>
          <p:cNvSpPr/>
          <p:nvPr/>
        </p:nvSpPr>
        <p:spPr>
          <a:xfrm>
            <a:off x="5577840" y="2157984"/>
            <a:ext cx="2922880" cy="1627632"/>
          </a:xfrm>
          <a:prstGeom prst="roundRect">
            <a:avLst>
              <a:gd name="adj" fmla="val 561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1" name="Shape 26"/>
          <p:cNvSpPr/>
          <p:nvPr/>
        </p:nvSpPr>
        <p:spPr>
          <a:xfrm>
            <a:off x="5833872" y="2395728"/>
            <a:ext cx="548640" cy="548640"/>
          </a:xfrm>
          <a:prstGeom prst="ellipse">
            <a:avLst/>
          </a:prstGeom>
          <a:solidFill>
            <a:srgbClr val="FF3621"/>
          </a:solidFill>
          <a:ln/>
        </p:spPr>
        <p:txBody>
          <a:bodyPr/>
          <a:lstStyle/>
          <a:p>
            <a:endParaRPr lang="en-US"/>
          </a:p>
        </p:txBody>
      </p:sp>
      <p:pic>
        <p:nvPicPr>
          <p:cNvPr id="32" name="Image 3" descr="preencoded.png"/>
          <p:cNvPicPr>
            <a:picLocks noChangeAspect="1"/>
          </p:cNvPicPr>
          <p:nvPr/>
        </p:nvPicPr>
        <p:blipFill>
          <a:blip r:embed="rId6"/>
          <a:stretch>
            <a:fillRect/>
          </a:stretch>
        </p:blipFill>
        <p:spPr>
          <a:xfrm>
            <a:off x="5971032" y="2532888"/>
            <a:ext cx="274320" cy="274320"/>
          </a:xfrm>
          <a:prstGeom prst="rect">
            <a:avLst/>
          </a:prstGeom>
        </p:spPr>
      </p:pic>
      <p:sp>
        <p:nvSpPr>
          <p:cNvPr id="33" name="Text 27"/>
          <p:cNvSpPr/>
          <p:nvPr/>
        </p:nvSpPr>
        <p:spPr>
          <a:xfrm>
            <a:off x="5833872" y="3035808"/>
            <a:ext cx="2410816" cy="292608"/>
          </a:xfrm>
          <a:prstGeom prst="rect">
            <a:avLst/>
          </a:prstGeom>
          <a:noFill/>
          <a:ln/>
        </p:spPr>
        <p:txBody>
          <a:bodyPr wrap="square" lIns="0" tIns="0" rIns="0" bIns="0" rtlCol="0" anchor="ctr"/>
          <a:lstStyle/>
          <a:p>
            <a:pPr marL="0" indent="0">
              <a:buNone/>
            </a:pPr>
            <a:r>
              <a:rPr lang="en-US" sz="1350" b="1" dirty="0">
                <a:solidFill>
                  <a:srgbClr val="13242E"/>
                </a:solidFill>
                <a:latin typeface="Trebuchet MS" pitchFamily="34" charset="0"/>
                <a:ea typeface="Trebuchet MS" pitchFamily="34" charset="-122"/>
                <a:cs typeface="Trebuchet MS" pitchFamily="34" charset="-120"/>
              </a:rPr>
              <a:t>Fine-grained access</a:t>
            </a:r>
            <a:endParaRPr lang="en-US" sz="1350" dirty="0"/>
          </a:p>
        </p:txBody>
      </p:sp>
      <p:sp>
        <p:nvSpPr>
          <p:cNvPr id="34" name="Text 28"/>
          <p:cNvSpPr/>
          <p:nvPr/>
        </p:nvSpPr>
        <p:spPr>
          <a:xfrm>
            <a:off x="5833872" y="3310128"/>
            <a:ext cx="2410816" cy="420624"/>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Grant rights at catalog, schema, table — even row &amp; column.</a:t>
            </a:r>
            <a:endParaRPr lang="en-US" sz="1050" dirty="0"/>
          </a:p>
        </p:txBody>
      </p:sp>
      <p:sp>
        <p:nvSpPr>
          <p:cNvPr id="35" name="Shape 29"/>
          <p:cNvSpPr/>
          <p:nvPr/>
        </p:nvSpPr>
        <p:spPr>
          <a:xfrm>
            <a:off x="8720176" y="2157984"/>
            <a:ext cx="2922880" cy="1627632"/>
          </a:xfrm>
          <a:prstGeom prst="roundRect">
            <a:avLst>
              <a:gd name="adj" fmla="val 561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6" name="Shape 30"/>
          <p:cNvSpPr/>
          <p:nvPr/>
        </p:nvSpPr>
        <p:spPr>
          <a:xfrm>
            <a:off x="8976208" y="2395728"/>
            <a:ext cx="548640" cy="548640"/>
          </a:xfrm>
          <a:prstGeom prst="ellipse">
            <a:avLst/>
          </a:prstGeom>
          <a:solidFill>
            <a:srgbClr val="FF3621"/>
          </a:solidFill>
          <a:ln/>
        </p:spPr>
        <p:txBody>
          <a:bodyPr/>
          <a:lstStyle/>
          <a:p>
            <a:endParaRPr lang="en-US"/>
          </a:p>
        </p:txBody>
      </p:sp>
      <p:pic>
        <p:nvPicPr>
          <p:cNvPr id="37" name="Image 4" descr="preencoded.png"/>
          <p:cNvPicPr>
            <a:picLocks noChangeAspect="1"/>
          </p:cNvPicPr>
          <p:nvPr/>
        </p:nvPicPr>
        <p:blipFill>
          <a:blip r:embed="rId7"/>
          <a:stretch>
            <a:fillRect/>
          </a:stretch>
        </p:blipFill>
        <p:spPr>
          <a:xfrm>
            <a:off x="9113368" y="2532888"/>
            <a:ext cx="274320" cy="274320"/>
          </a:xfrm>
          <a:prstGeom prst="rect">
            <a:avLst/>
          </a:prstGeom>
        </p:spPr>
      </p:pic>
      <p:sp>
        <p:nvSpPr>
          <p:cNvPr id="38" name="Text 31"/>
          <p:cNvSpPr/>
          <p:nvPr/>
        </p:nvSpPr>
        <p:spPr>
          <a:xfrm>
            <a:off x="8976208" y="3035808"/>
            <a:ext cx="2410816" cy="292608"/>
          </a:xfrm>
          <a:prstGeom prst="rect">
            <a:avLst/>
          </a:prstGeom>
          <a:noFill/>
          <a:ln/>
        </p:spPr>
        <p:txBody>
          <a:bodyPr wrap="square" lIns="0" tIns="0" rIns="0" bIns="0" rtlCol="0" anchor="ctr"/>
          <a:lstStyle/>
          <a:p>
            <a:pPr marL="0" indent="0">
              <a:buNone/>
            </a:pPr>
            <a:r>
              <a:rPr lang="en-US" sz="1350" b="1" dirty="0">
                <a:solidFill>
                  <a:srgbClr val="13242E"/>
                </a:solidFill>
                <a:latin typeface="Trebuchet MS" pitchFamily="34" charset="0"/>
                <a:ea typeface="Trebuchet MS" pitchFamily="34" charset="-122"/>
                <a:cs typeface="Trebuchet MS" pitchFamily="34" charset="-120"/>
              </a:rPr>
              <a:t>Data lineage</a:t>
            </a:r>
            <a:endParaRPr lang="en-US" sz="1350" dirty="0"/>
          </a:p>
        </p:txBody>
      </p:sp>
      <p:sp>
        <p:nvSpPr>
          <p:cNvPr id="39" name="Text 32"/>
          <p:cNvSpPr/>
          <p:nvPr/>
        </p:nvSpPr>
        <p:spPr>
          <a:xfrm>
            <a:off x="8976208" y="3310128"/>
            <a:ext cx="2410816" cy="420624"/>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See where data came from and what depends on it — captured automatically.</a:t>
            </a:r>
            <a:endParaRPr lang="en-US" sz="1050" dirty="0"/>
          </a:p>
        </p:txBody>
      </p:sp>
      <p:sp>
        <p:nvSpPr>
          <p:cNvPr id="40" name="Shape 33"/>
          <p:cNvSpPr/>
          <p:nvPr/>
        </p:nvSpPr>
        <p:spPr>
          <a:xfrm>
            <a:off x="5577840" y="3968496"/>
            <a:ext cx="2922880" cy="1627632"/>
          </a:xfrm>
          <a:prstGeom prst="roundRect">
            <a:avLst>
              <a:gd name="adj" fmla="val 561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41" name="Shape 34"/>
          <p:cNvSpPr/>
          <p:nvPr/>
        </p:nvSpPr>
        <p:spPr>
          <a:xfrm>
            <a:off x="5833872" y="4206240"/>
            <a:ext cx="548640" cy="548640"/>
          </a:xfrm>
          <a:prstGeom prst="ellipse">
            <a:avLst/>
          </a:prstGeom>
          <a:solidFill>
            <a:srgbClr val="FF3621"/>
          </a:solidFill>
          <a:ln/>
        </p:spPr>
        <p:txBody>
          <a:bodyPr/>
          <a:lstStyle/>
          <a:p>
            <a:endParaRPr lang="en-US"/>
          </a:p>
        </p:txBody>
      </p:sp>
      <p:pic>
        <p:nvPicPr>
          <p:cNvPr id="42" name="Image 5" descr="preencoded.png"/>
          <p:cNvPicPr>
            <a:picLocks noChangeAspect="1"/>
          </p:cNvPicPr>
          <p:nvPr/>
        </p:nvPicPr>
        <p:blipFill>
          <a:blip r:embed="rId8"/>
          <a:stretch>
            <a:fillRect/>
          </a:stretch>
        </p:blipFill>
        <p:spPr>
          <a:xfrm>
            <a:off x="5971032" y="4343400"/>
            <a:ext cx="274320" cy="274320"/>
          </a:xfrm>
          <a:prstGeom prst="rect">
            <a:avLst/>
          </a:prstGeom>
        </p:spPr>
      </p:pic>
      <p:sp>
        <p:nvSpPr>
          <p:cNvPr id="43" name="Text 35"/>
          <p:cNvSpPr/>
          <p:nvPr/>
        </p:nvSpPr>
        <p:spPr>
          <a:xfrm>
            <a:off x="5833872" y="4846320"/>
            <a:ext cx="2410816" cy="292608"/>
          </a:xfrm>
          <a:prstGeom prst="rect">
            <a:avLst/>
          </a:prstGeom>
          <a:noFill/>
          <a:ln/>
        </p:spPr>
        <p:txBody>
          <a:bodyPr wrap="square" lIns="0" tIns="0" rIns="0" bIns="0" rtlCol="0" anchor="ctr"/>
          <a:lstStyle/>
          <a:p>
            <a:pPr marL="0" indent="0">
              <a:buNone/>
            </a:pPr>
            <a:r>
              <a:rPr lang="en-US" sz="1350" b="1" dirty="0">
                <a:solidFill>
                  <a:srgbClr val="13242E"/>
                </a:solidFill>
                <a:latin typeface="Trebuchet MS" pitchFamily="34" charset="0"/>
                <a:ea typeface="Trebuchet MS" pitchFamily="34" charset="-122"/>
                <a:cs typeface="Trebuchet MS" pitchFamily="34" charset="-120"/>
              </a:rPr>
              <a:t>Audit logs</a:t>
            </a:r>
            <a:endParaRPr lang="en-US" sz="1350" dirty="0"/>
          </a:p>
        </p:txBody>
      </p:sp>
      <p:sp>
        <p:nvSpPr>
          <p:cNvPr id="44" name="Text 36"/>
          <p:cNvSpPr/>
          <p:nvPr/>
        </p:nvSpPr>
        <p:spPr>
          <a:xfrm>
            <a:off x="5833872" y="5120640"/>
            <a:ext cx="2410816" cy="420624"/>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A full, queryable record of who accessed what, and when.</a:t>
            </a:r>
            <a:endParaRPr lang="en-US" sz="1050" dirty="0"/>
          </a:p>
        </p:txBody>
      </p:sp>
      <p:sp>
        <p:nvSpPr>
          <p:cNvPr id="45" name="Shape 37"/>
          <p:cNvSpPr/>
          <p:nvPr/>
        </p:nvSpPr>
        <p:spPr>
          <a:xfrm>
            <a:off x="8720176" y="3968496"/>
            <a:ext cx="2922880" cy="1627632"/>
          </a:xfrm>
          <a:prstGeom prst="roundRect">
            <a:avLst>
              <a:gd name="adj" fmla="val 561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46" name="Shape 38"/>
          <p:cNvSpPr/>
          <p:nvPr/>
        </p:nvSpPr>
        <p:spPr>
          <a:xfrm>
            <a:off x="8976208" y="4206240"/>
            <a:ext cx="548640" cy="548640"/>
          </a:xfrm>
          <a:prstGeom prst="ellipse">
            <a:avLst/>
          </a:prstGeom>
          <a:solidFill>
            <a:srgbClr val="FF3621"/>
          </a:solidFill>
          <a:ln/>
        </p:spPr>
        <p:txBody>
          <a:bodyPr/>
          <a:lstStyle/>
          <a:p>
            <a:endParaRPr lang="en-US"/>
          </a:p>
        </p:txBody>
      </p:sp>
      <p:pic>
        <p:nvPicPr>
          <p:cNvPr id="47" name="Image 6" descr="preencoded.png"/>
          <p:cNvPicPr>
            <a:picLocks noChangeAspect="1"/>
          </p:cNvPicPr>
          <p:nvPr/>
        </p:nvPicPr>
        <p:blipFill>
          <a:blip r:embed="rId9"/>
          <a:stretch>
            <a:fillRect/>
          </a:stretch>
        </p:blipFill>
        <p:spPr>
          <a:xfrm>
            <a:off x="9113368" y="4343400"/>
            <a:ext cx="274320" cy="274320"/>
          </a:xfrm>
          <a:prstGeom prst="rect">
            <a:avLst/>
          </a:prstGeom>
        </p:spPr>
      </p:pic>
      <p:sp>
        <p:nvSpPr>
          <p:cNvPr id="48" name="Text 39"/>
          <p:cNvSpPr/>
          <p:nvPr/>
        </p:nvSpPr>
        <p:spPr>
          <a:xfrm>
            <a:off x="8976208" y="4846320"/>
            <a:ext cx="2410816" cy="292608"/>
          </a:xfrm>
          <a:prstGeom prst="rect">
            <a:avLst/>
          </a:prstGeom>
          <a:noFill/>
          <a:ln/>
        </p:spPr>
        <p:txBody>
          <a:bodyPr wrap="square" lIns="0" tIns="0" rIns="0" bIns="0" rtlCol="0" anchor="ctr"/>
          <a:lstStyle/>
          <a:p>
            <a:pPr marL="0" indent="0">
              <a:buNone/>
            </a:pPr>
            <a:r>
              <a:rPr lang="en-US" sz="1350" b="1" dirty="0">
                <a:solidFill>
                  <a:srgbClr val="13242E"/>
                </a:solidFill>
                <a:latin typeface="Trebuchet MS" pitchFamily="34" charset="0"/>
                <a:ea typeface="Trebuchet MS" pitchFamily="34" charset="-122"/>
                <a:cs typeface="Trebuchet MS" pitchFamily="34" charset="-120"/>
              </a:rPr>
              <a:t>Discovery &amp; search</a:t>
            </a:r>
            <a:endParaRPr lang="en-US" sz="1350" dirty="0"/>
          </a:p>
        </p:txBody>
      </p:sp>
      <p:sp>
        <p:nvSpPr>
          <p:cNvPr id="49" name="Text 40"/>
          <p:cNvSpPr/>
          <p:nvPr/>
        </p:nvSpPr>
        <p:spPr>
          <a:xfrm>
            <a:off x="8976208" y="5120640"/>
            <a:ext cx="2410816" cy="420624"/>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One searchable catalog across every team and workspace.</a:t>
            </a:r>
            <a:endParaRPr lang="en-US" sz="1050" dirty="0"/>
          </a:p>
        </p:txBody>
      </p:sp>
      <p:sp>
        <p:nvSpPr>
          <p:cNvPr id="50" name="Text 41"/>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51" name="Text 42"/>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03 · PUTTING IT ALL TOGETHER</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End-to-end: from raw source to insight</a:t>
            </a:r>
            <a:endParaRPr lang="en-US" sz="2900" dirty="0"/>
          </a:p>
        </p:txBody>
      </p:sp>
      <p:sp>
        <p:nvSpPr>
          <p:cNvPr id="5" name="Text 3"/>
          <p:cNvSpPr/>
          <p:nvPr/>
        </p:nvSpPr>
        <p:spPr>
          <a:xfrm>
            <a:off x="548640" y="1572768"/>
            <a:ext cx="11094415" cy="365760"/>
          </a:xfrm>
          <a:prstGeom prst="rect">
            <a:avLst/>
          </a:prstGeom>
          <a:noFill/>
          <a:ln/>
        </p:spPr>
        <p:txBody>
          <a:bodyPr wrap="square" lIns="0" tIns="0" rIns="0" bIns="0" rtlCol="0" anchor="ctr"/>
          <a:lstStyle/>
          <a:p>
            <a:pPr marL="0" indent="0">
              <a:buNone/>
            </a:pPr>
            <a:r>
              <a:rPr lang="en-US" sz="1250" dirty="0">
                <a:solidFill>
                  <a:srgbClr val="38474F"/>
                </a:solidFill>
                <a:latin typeface="Calibri" pitchFamily="34" charset="0"/>
                <a:ea typeface="Calibri" pitchFamily="34" charset="-122"/>
                <a:cs typeface="Calibri" pitchFamily="34" charset="-120"/>
              </a:rPr>
              <a:t>The whole session in one picture — data flows left to right, Spark does the work, Delta stores every layer, and Unity Catalog governs all of it.</a:t>
            </a:r>
            <a:endParaRPr lang="en-US" sz="1250" dirty="0"/>
          </a:p>
        </p:txBody>
      </p:sp>
      <p:sp>
        <p:nvSpPr>
          <p:cNvPr id="6" name="Shape 4"/>
          <p:cNvSpPr/>
          <p:nvPr/>
        </p:nvSpPr>
        <p:spPr>
          <a:xfrm>
            <a:off x="548640" y="2139696"/>
            <a:ext cx="1481328" cy="1298448"/>
          </a:xfrm>
          <a:prstGeom prst="roundRect">
            <a:avLst>
              <a:gd name="adj" fmla="val 633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7" name="Shape 5"/>
          <p:cNvSpPr/>
          <p:nvPr/>
        </p:nvSpPr>
        <p:spPr>
          <a:xfrm>
            <a:off x="1033272" y="2322576"/>
            <a:ext cx="512064" cy="512064"/>
          </a:xfrm>
          <a:prstGeom prst="ellipse">
            <a:avLst/>
          </a:prstGeom>
          <a:solidFill>
            <a:srgbClr val="0E1B24"/>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161288" y="2450592"/>
            <a:ext cx="256032" cy="256032"/>
          </a:xfrm>
          <a:prstGeom prst="rect">
            <a:avLst/>
          </a:prstGeom>
        </p:spPr>
      </p:pic>
      <p:sp>
        <p:nvSpPr>
          <p:cNvPr id="9" name="Text 6"/>
          <p:cNvSpPr/>
          <p:nvPr/>
        </p:nvSpPr>
        <p:spPr>
          <a:xfrm>
            <a:off x="548640" y="2889504"/>
            <a:ext cx="1481328" cy="256032"/>
          </a:xfrm>
          <a:prstGeom prst="rect">
            <a:avLst/>
          </a:prstGeom>
          <a:noFill/>
          <a:ln/>
        </p:spPr>
        <p:txBody>
          <a:bodyPr wrap="square" lIns="0" tIns="0" rIns="0" bIns="0" rtlCol="0" anchor="ctr"/>
          <a:lstStyle/>
          <a:p>
            <a:pPr marL="0" indent="0" algn="ctr">
              <a:buNone/>
            </a:pPr>
            <a:r>
              <a:rPr lang="en-US" sz="1250" b="1" dirty="0">
                <a:solidFill>
                  <a:srgbClr val="13242E"/>
                </a:solidFill>
                <a:latin typeface="Trebuchet MS" pitchFamily="34" charset="0"/>
                <a:ea typeface="Trebuchet MS" pitchFamily="34" charset="-122"/>
                <a:cs typeface="Trebuchet MS" pitchFamily="34" charset="-120"/>
              </a:rPr>
              <a:t>Sources</a:t>
            </a:r>
            <a:endParaRPr lang="en-US" sz="1250" dirty="0"/>
          </a:p>
        </p:txBody>
      </p:sp>
      <p:sp>
        <p:nvSpPr>
          <p:cNvPr id="10" name="Text 7"/>
          <p:cNvSpPr/>
          <p:nvPr/>
        </p:nvSpPr>
        <p:spPr>
          <a:xfrm>
            <a:off x="548640" y="3127248"/>
            <a:ext cx="1481328" cy="219456"/>
          </a:xfrm>
          <a:prstGeom prst="rect">
            <a:avLst/>
          </a:prstGeom>
          <a:noFill/>
          <a:ln/>
        </p:spPr>
        <p:txBody>
          <a:bodyPr wrap="square" lIns="0" tIns="0" rIns="0" bIns="0" rtlCol="0" anchor="ctr"/>
          <a:lstStyle/>
          <a:p>
            <a:pPr marL="0" indent="0" algn="ctr">
              <a:buNone/>
            </a:pPr>
            <a:r>
              <a:rPr lang="en-US" sz="950" dirty="0">
                <a:solidFill>
                  <a:srgbClr val="7C8A91"/>
                </a:solidFill>
                <a:latin typeface="Calibri" pitchFamily="34" charset="0"/>
                <a:ea typeface="Calibri" pitchFamily="34" charset="-122"/>
                <a:cs typeface="Calibri" pitchFamily="34" charset="-120"/>
              </a:rPr>
              <a:t>DBs · apps · files</a:t>
            </a:r>
            <a:endParaRPr lang="en-US" sz="950" dirty="0"/>
          </a:p>
        </p:txBody>
      </p:sp>
      <p:sp>
        <p:nvSpPr>
          <p:cNvPr id="11" name="Shape 8"/>
          <p:cNvSpPr/>
          <p:nvPr/>
        </p:nvSpPr>
        <p:spPr>
          <a:xfrm>
            <a:off x="2067916" y="2657246"/>
            <a:ext cx="365760" cy="263347"/>
          </a:xfrm>
          <a:prstGeom prst="chevron">
            <a:avLst/>
          </a:prstGeom>
          <a:solidFill>
            <a:srgbClr val="FF3621"/>
          </a:solidFill>
          <a:ln/>
        </p:spPr>
        <p:txBody>
          <a:bodyPr/>
          <a:lstStyle/>
          <a:p>
            <a:endParaRPr lang="en-US"/>
          </a:p>
        </p:txBody>
      </p:sp>
      <p:sp>
        <p:nvSpPr>
          <p:cNvPr id="12" name="Shape 9"/>
          <p:cNvSpPr/>
          <p:nvPr/>
        </p:nvSpPr>
        <p:spPr>
          <a:xfrm>
            <a:off x="2471623" y="2139696"/>
            <a:ext cx="1481328" cy="1298448"/>
          </a:xfrm>
          <a:prstGeom prst="roundRect">
            <a:avLst>
              <a:gd name="adj" fmla="val 633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3" name="Shape 10"/>
          <p:cNvSpPr/>
          <p:nvPr/>
        </p:nvSpPr>
        <p:spPr>
          <a:xfrm>
            <a:off x="2956255" y="2322576"/>
            <a:ext cx="512064" cy="512064"/>
          </a:xfrm>
          <a:prstGeom prst="ellipse">
            <a:avLst/>
          </a:prstGeom>
          <a:solidFill>
            <a:srgbClr val="0E1B24"/>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3084271" y="2450592"/>
            <a:ext cx="256032" cy="256032"/>
          </a:xfrm>
          <a:prstGeom prst="rect">
            <a:avLst/>
          </a:prstGeom>
        </p:spPr>
      </p:pic>
      <p:sp>
        <p:nvSpPr>
          <p:cNvPr id="15" name="Text 11"/>
          <p:cNvSpPr/>
          <p:nvPr/>
        </p:nvSpPr>
        <p:spPr>
          <a:xfrm>
            <a:off x="2471623" y="2889504"/>
            <a:ext cx="1481328" cy="256032"/>
          </a:xfrm>
          <a:prstGeom prst="rect">
            <a:avLst/>
          </a:prstGeom>
          <a:noFill/>
          <a:ln/>
        </p:spPr>
        <p:txBody>
          <a:bodyPr wrap="square" lIns="0" tIns="0" rIns="0" bIns="0" rtlCol="0" anchor="ctr"/>
          <a:lstStyle/>
          <a:p>
            <a:pPr marL="0" indent="0" algn="ctr">
              <a:buNone/>
            </a:pPr>
            <a:r>
              <a:rPr lang="en-US" sz="1250" b="1" dirty="0">
                <a:solidFill>
                  <a:srgbClr val="13242E"/>
                </a:solidFill>
                <a:latin typeface="Trebuchet MS" pitchFamily="34" charset="0"/>
                <a:ea typeface="Trebuchet MS" pitchFamily="34" charset="-122"/>
                <a:cs typeface="Trebuchet MS" pitchFamily="34" charset="-120"/>
              </a:rPr>
              <a:t>Ingest</a:t>
            </a:r>
            <a:endParaRPr lang="en-US" sz="1250" dirty="0"/>
          </a:p>
        </p:txBody>
      </p:sp>
      <p:sp>
        <p:nvSpPr>
          <p:cNvPr id="16" name="Text 12"/>
          <p:cNvSpPr/>
          <p:nvPr/>
        </p:nvSpPr>
        <p:spPr>
          <a:xfrm>
            <a:off x="2471623" y="3127248"/>
            <a:ext cx="1481328" cy="219456"/>
          </a:xfrm>
          <a:prstGeom prst="rect">
            <a:avLst/>
          </a:prstGeom>
          <a:noFill/>
          <a:ln/>
        </p:spPr>
        <p:txBody>
          <a:bodyPr wrap="square" lIns="0" tIns="0" rIns="0" bIns="0" rtlCol="0" anchor="ctr"/>
          <a:lstStyle/>
          <a:p>
            <a:pPr marL="0" indent="0" algn="ctr">
              <a:buNone/>
            </a:pPr>
            <a:r>
              <a:rPr lang="en-US" sz="950" dirty="0">
                <a:solidFill>
                  <a:srgbClr val="7C8A91"/>
                </a:solidFill>
                <a:latin typeface="Calibri" pitchFamily="34" charset="0"/>
                <a:ea typeface="Calibri" pitchFamily="34" charset="-122"/>
                <a:cs typeface="Calibri" pitchFamily="34" charset="-120"/>
              </a:rPr>
              <a:t>batch &amp; stream</a:t>
            </a:r>
            <a:endParaRPr lang="en-US" sz="950" dirty="0"/>
          </a:p>
        </p:txBody>
      </p:sp>
      <p:sp>
        <p:nvSpPr>
          <p:cNvPr id="17" name="Shape 13"/>
          <p:cNvSpPr/>
          <p:nvPr/>
        </p:nvSpPr>
        <p:spPr>
          <a:xfrm>
            <a:off x="3990899" y="2657246"/>
            <a:ext cx="365760" cy="263347"/>
          </a:xfrm>
          <a:prstGeom prst="chevron">
            <a:avLst/>
          </a:prstGeom>
          <a:solidFill>
            <a:srgbClr val="FF3621"/>
          </a:solidFill>
          <a:ln/>
        </p:spPr>
        <p:txBody>
          <a:bodyPr/>
          <a:lstStyle/>
          <a:p>
            <a:endParaRPr lang="en-US"/>
          </a:p>
        </p:txBody>
      </p:sp>
      <p:sp>
        <p:nvSpPr>
          <p:cNvPr id="18" name="Shape 14"/>
          <p:cNvSpPr/>
          <p:nvPr/>
        </p:nvSpPr>
        <p:spPr>
          <a:xfrm>
            <a:off x="4394606" y="2139696"/>
            <a:ext cx="1481328" cy="1298448"/>
          </a:xfrm>
          <a:prstGeom prst="roundRect">
            <a:avLst>
              <a:gd name="adj" fmla="val 633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9" name="Shape 15"/>
          <p:cNvSpPr/>
          <p:nvPr/>
        </p:nvSpPr>
        <p:spPr>
          <a:xfrm>
            <a:off x="4879238" y="2322576"/>
            <a:ext cx="512064" cy="512064"/>
          </a:xfrm>
          <a:prstGeom prst="ellipse">
            <a:avLst/>
          </a:prstGeom>
          <a:solidFill>
            <a:srgbClr val="B5793A"/>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5007254" y="2450592"/>
            <a:ext cx="256032" cy="256032"/>
          </a:xfrm>
          <a:prstGeom prst="rect">
            <a:avLst/>
          </a:prstGeom>
        </p:spPr>
      </p:pic>
      <p:sp>
        <p:nvSpPr>
          <p:cNvPr id="21" name="Text 16"/>
          <p:cNvSpPr/>
          <p:nvPr/>
        </p:nvSpPr>
        <p:spPr>
          <a:xfrm>
            <a:off x="4394606" y="2889504"/>
            <a:ext cx="1481328" cy="256032"/>
          </a:xfrm>
          <a:prstGeom prst="rect">
            <a:avLst/>
          </a:prstGeom>
          <a:noFill/>
          <a:ln/>
        </p:spPr>
        <p:txBody>
          <a:bodyPr wrap="square" lIns="0" tIns="0" rIns="0" bIns="0" rtlCol="0" anchor="ctr"/>
          <a:lstStyle/>
          <a:p>
            <a:pPr marL="0" indent="0" algn="ctr">
              <a:buNone/>
            </a:pPr>
            <a:r>
              <a:rPr lang="en-US" sz="1250" b="1" dirty="0">
                <a:solidFill>
                  <a:srgbClr val="13242E"/>
                </a:solidFill>
                <a:latin typeface="Trebuchet MS" pitchFamily="34" charset="0"/>
                <a:ea typeface="Trebuchet MS" pitchFamily="34" charset="-122"/>
                <a:cs typeface="Trebuchet MS" pitchFamily="34" charset="-120"/>
              </a:rPr>
              <a:t>Bronze</a:t>
            </a:r>
            <a:endParaRPr lang="en-US" sz="1250" dirty="0"/>
          </a:p>
        </p:txBody>
      </p:sp>
      <p:sp>
        <p:nvSpPr>
          <p:cNvPr id="22" name="Text 17"/>
          <p:cNvSpPr/>
          <p:nvPr/>
        </p:nvSpPr>
        <p:spPr>
          <a:xfrm>
            <a:off x="4394606" y="3127248"/>
            <a:ext cx="1481328" cy="219456"/>
          </a:xfrm>
          <a:prstGeom prst="rect">
            <a:avLst/>
          </a:prstGeom>
          <a:noFill/>
          <a:ln/>
        </p:spPr>
        <p:txBody>
          <a:bodyPr wrap="square" lIns="0" tIns="0" rIns="0" bIns="0" rtlCol="0" anchor="ctr"/>
          <a:lstStyle/>
          <a:p>
            <a:pPr marL="0" indent="0" algn="ctr">
              <a:buNone/>
            </a:pPr>
            <a:r>
              <a:rPr lang="en-US" sz="950" dirty="0">
                <a:solidFill>
                  <a:srgbClr val="7C8A91"/>
                </a:solidFill>
                <a:latin typeface="Calibri" pitchFamily="34" charset="0"/>
                <a:ea typeface="Calibri" pitchFamily="34" charset="-122"/>
                <a:cs typeface="Calibri" pitchFamily="34" charset="-120"/>
              </a:rPr>
              <a:t>raw</a:t>
            </a:r>
            <a:endParaRPr lang="en-US" sz="950" dirty="0"/>
          </a:p>
        </p:txBody>
      </p:sp>
      <p:sp>
        <p:nvSpPr>
          <p:cNvPr id="23" name="Shape 18"/>
          <p:cNvSpPr/>
          <p:nvPr/>
        </p:nvSpPr>
        <p:spPr>
          <a:xfrm>
            <a:off x="5913882" y="2657246"/>
            <a:ext cx="365760" cy="263347"/>
          </a:xfrm>
          <a:prstGeom prst="chevron">
            <a:avLst/>
          </a:prstGeom>
          <a:solidFill>
            <a:srgbClr val="FF3621"/>
          </a:solidFill>
          <a:ln/>
        </p:spPr>
        <p:txBody>
          <a:bodyPr/>
          <a:lstStyle/>
          <a:p>
            <a:endParaRPr lang="en-US"/>
          </a:p>
        </p:txBody>
      </p:sp>
      <p:sp>
        <p:nvSpPr>
          <p:cNvPr id="24" name="Shape 19"/>
          <p:cNvSpPr/>
          <p:nvPr/>
        </p:nvSpPr>
        <p:spPr>
          <a:xfrm>
            <a:off x="6317590" y="2139696"/>
            <a:ext cx="1481328" cy="1298448"/>
          </a:xfrm>
          <a:prstGeom prst="roundRect">
            <a:avLst>
              <a:gd name="adj" fmla="val 633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5" name="Shape 20"/>
          <p:cNvSpPr/>
          <p:nvPr/>
        </p:nvSpPr>
        <p:spPr>
          <a:xfrm>
            <a:off x="6802222" y="2322576"/>
            <a:ext cx="512064" cy="512064"/>
          </a:xfrm>
          <a:prstGeom prst="ellipse">
            <a:avLst/>
          </a:prstGeom>
          <a:solidFill>
            <a:srgbClr val="7E8C94"/>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6930238" y="2450592"/>
            <a:ext cx="256032" cy="256032"/>
          </a:xfrm>
          <a:prstGeom prst="rect">
            <a:avLst/>
          </a:prstGeom>
        </p:spPr>
      </p:pic>
      <p:sp>
        <p:nvSpPr>
          <p:cNvPr id="27" name="Text 21"/>
          <p:cNvSpPr/>
          <p:nvPr/>
        </p:nvSpPr>
        <p:spPr>
          <a:xfrm>
            <a:off x="6317590" y="2889504"/>
            <a:ext cx="1481328" cy="256032"/>
          </a:xfrm>
          <a:prstGeom prst="rect">
            <a:avLst/>
          </a:prstGeom>
          <a:noFill/>
          <a:ln/>
        </p:spPr>
        <p:txBody>
          <a:bodyPr wrap="square" lIns="0" tIns="0" rIns="0" bIns="0" rtlCol="0" anchor="ctr"/>
          <a:lstStyle/>
          <a:p>
            <a:pPr marL="0" indent="0" algn="ctr">
              <a:buNone/>
            </a:pPr>
            <a:r>
              <a:rPr lang="en-US" sz="1250" b="1" dirty="0">
                <a:solidFill>
                  <a:srgbClr val="13242E"/>
                </a:solidFill>
                <a:latin typeface="Trebuchet MS" pitchFamily="34" charset="0"/>
                <a:ea typeface="Trebuchet MS" pitchFamily="34" charset="-122"/>
                <a:cs typeface="Trebuchet MS" pitchFamily="34" charset="-120"/>
              </a:rPr>
              <a:t>Silver</a:t>
            </a:r>
            <a:endParaRPr lang="en-US" sz="1250" dirty="0"/>
          </a:p>
        </p:txBody>
      </p:sp>
      <p:sp>
        <p:nvSpPr>
          <p:cNvPr id="28" name="Text 22"/>
          <p:cNvSpPr/>
          <p:nvPr/>
        </p:nvSpPr>
        <p:spPr>
          <a:xfrm>
            <a:off x="6317590" y="3127248"/>
            <a:ext cx="1481328" cy="219456"/>
          </a:xfrm>
          <a:prstGeom prst="rect">
            <a:avLst/>
          </a:prstGeom>
          <a:noFill/>
          <a:ln/>
        </p:spPr>
        <p:txBody>
          <a:bodyPr wrap="square" lIns="0" tIns="0" rIns="0" bIns="0" rtlCol="0" anchor="ctr"/>
          <a:lstStyle/>
          <a:p>
            <a:pPr marL="0" indent="0" algn="ctr">
              <a:buNone/>
            </a:pPr>
            <a:r>
              <a:rPr lang="en-US" sz="950" dirty="0">
                <a:solidFill>
                  <a:srgbClr val="7C8A91"/>
                </a:solidFill>
                <a:latin typeface="Calibri" pitchFamily="34" charset="0"/>
                <a:ea typeface="Calibri" pitchFamily="34" charset="-122"/>
                <a:cs typeface="Calibri" pitchFamily="34" charset="-120"/>
              </a:rPr>
              <a:t>cleaned</a:t>
            </a:r>
            <a:endParaRPr lang="en-US" sz="950" dirty="0"/>
          </a:p>
        </p:txBody>
      </p:sp>
      <p:sp>
        <p:nvSpPr>
          <p:cNvPr id="29" name="Shape 23"/>
          <p:cNvSpPr/>
          <p:nvPr/>
        </p:nvSpPr>
        <p:spPr>
          <a:xfrm>
            <a:off x="7836865" y="2657246"/>
            <a:ext cx="365760" cy="263347"/>
          </a:xfrm>
          <a:prstGeom prst="chevron">
            <a:avLst/>
          </a:prstGeom>
          <a:solidFill>
            <a:srgbClr val="FF3621"/>
          </a:solidFill>
          <a:ln/>
        </p:spPr>
        <p:txBody>
          <a:bodyPr/>
          <a:lstStyle/>
          <a:p>
            <a:endParaRPr lang="en-US"/>
          </a:p>
        </p:txBody>
      </p:sp>
      <p:sp>
        <p:nvSpPr>
          <p:cNvPr id="30" name="Shape 24"/>
          <p:cNvSpPr/>
          <p:nvPr/>
        </p:nvSpPr>
        <p:spPr>
          <a:xfrm>
            <a:off x="8240573" y="2139696"/>
            <a:ext cx="1481328" cy="1298448"/>
          </a:xfrm>
          <a:prstGeom prst="roundRect">
            <a:avLst>
              <a:gd name="adj" fmla="val 633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1" name="Shape 25"/>
          <p:cNvSpPr/>
          <p:nvPr/>
        </p:nvSpPr>
        <p:spPr>
          <a:xfrm>
            <a:off x="8725205" y="2322576"/>
            <a:ext cx="512064" cy="512064"/>
          </a:xfrm>
          <a:prstGeom prst="ellipse">
            <a:avLst/>
          </a:prstGeom>
          <a:solidFill>
            <a:srgbClr val="E0A024"/>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8853221" y="2450592"/>
            <a:ext cx="256032" cy="256032"/>
          </a:xfrm>
          <a:prstGeom prst="rect">
            <a:avLst/>
          </a:prstGeom>
        </p:spPr>
      </p:pic>
      <p:sp>
        <p:nvSpPr>
          <p:cNvPr id="33" name="Text 26"/>
          <p:cNvSpPr/>
          <p:nvPr/>
        </p:nvSpPr>
        <p:spPr>
          <a:xfrm>
            <a:off x="8240573" y="2889504"/>
            <a:ext cx="1481328" cy="256032"/>
          </a:xfrm>
          <a:prstGeom prst="rect">
            <a:avLst/>
          </a:prstGeom>
          <a:noFill/>
          <a:ln/>
        </p:spPr>
        <p:txBody>
          <a:bodyPr wrap="square" lIns="0" tIns="0" rIns="0" bIns="0" rtlCol="0" anchor="ctr"/>
          <a:lstStyle/>
          <a:p>
            <a:pPr marL="0" indent="0" algn="ctr">
              <a:buNone/>
            </a:pPr>
            <a:r>
              <a:rPr lang="en-US" sz="1250" b="1" dirty="0">
                <a:solidFill>
                  <a:srgbClr val="13242E"/>
                </a:solidFill>
                <a:latin typeface="Trebuchet MS" pitchFamily="34" charset="0"/>
                <a:ea typeface="Trebuchet MS" pitchFamily="34" charset="-122"/>
                <a:cs typeface="Trebuchet MS" pitchFamily="34" charset="-120"/>
              </a:rPr>
              <a:t>Gold</a:t>
            </a:r>
            <a:endParaRPr lang="en-US" sz="1250" dirty="0"/>
          </a:p>
        </p:txBody>
      </p:sp>
      <p:sp>
        <p:nvSpPr>
          <p:cNvPr id="34" name="Text 27"/>
          <p:cNvSpPr/>
          <p:nvPr/>
        </p:nvSpPr>
        <p:spPr>
          <a:xfrm>
            <a:off x="8240573" y="3127248"/>
            <a:ext cx="1481328" cy="219456"/>
          </a:xfrm>
          <a:prstGeom prst="rect">
            <a:avLst/>
          </a:prstGeom>
          <a:noFill/>
          <a:ln/>
        </p:spPr>
        <p:txBody>
          <a:bodyPr wrap="square" lIns="0" tIns="0" rIns="0" bIns="0" rtlCol="0" anchor="ctr"/>
          <a:lstStyle/>
          <a:p>
            <a:pPr marL="0" indent="0" algn="ctr">
              <a:buNone/>
            </a:pPr>
            <a:r>
              <a:rPr lang="en-US" sz="950" dirty="0">
                <a:solidFill>
                  <a:srgbClr val="7C8A91"/>
                </a:solidFill>
                <a:latin typeface="Calibri" pitchFamily="34" charset="0"/>
                <a:ea typeface="Calibri" pitchFamily="34" charset="-122"/>
                <a:cs typeface="Calibri" pitchFamily="34" charset="-120"/>
              </a:rPr>
              <a:t>business</a:t>
            </a:r>
            <a:endParaRPr lang="en-US" sz="950" dirty="0"/>
          </a:p>
        </p:txBody>
      </p:sp>
      <p:sp>
        <p:nvSpPr>
          <p:cNvPr id="35" name="Shape 28"/>
          <p:cNvSpPr/>
          <p:nvPr/>
        </p:nvSpPr>
        <p:spPr>
          <a:xfrm>
            <a:off x="9759848" y="2657246"/>
            <a:ext cx="365760" cy="263347"/>
          </a:xfrm>
          <a:prstGeom prst="chevron">
            <a:avLst/>
          </a:prstGeom>
          <a:solidFill>
            <a:srgbClr val="FF3621"/>
          </a:solidFill>
          <a:ln/>
        </p:spPr>
        <p:txBody>
          <a:bodyPr/>
          <a:lstStyle/>
          <a:p>
            <a:endParaRPr lang="en-US"/>
          </a:p>
        </p:txBody>
      </p:sp>
      <p:sp>
        <p:nvSpPr>
          <p:cNvPr id="36" name="Shape 29"/>
          <p:cNvSpPr/>
          <p:nvPr/>
        </p:nvSpPr>
        <p:spPr>
          <a:xfrm>
            <a:off x="10163556" y="2139696"/>
            <a:ext cx="1481328" cy="1298448"/>
          </a:xfrm>
          <a:prstGeom prst="roundRect">
            <a:avLst>
              <a:gd name="adj" fmla="val 633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7" name="Shape 30"/>
          <p:cNvSpPr/>
          <p:nvPr/>
        </p:nvSpPr>
        <p:spPr>
          <a:xfrm>
            <a:off x="10648188" y="2322576"/>
            <a:ext cx="512064" cy="512064"/>
          </a:xfrm>
          <a:prstGeom prst="ellipse">
            <a:avLst/>
          </a:prstGeom>
          <a:solidFill>
            <a:srgbClr val="0E7C8B"/>
          </a:solidFill>
          <a:ln/>
        </p:spPr>
        <p:txBody>
          <a:bodyPr/>
          <a:lstStyle/>
          <a:p>
            <a:endParaRPr lang="en-US"/>
          </a:p>
        </p:txBody>
      </p:sp>
      <p:pic>
        <p:nvPicPr>
          <p:cNvPr id="38" name="Image 5" descr="preencoded.png"/>
          <p:cNvPicPr>
            <a:picLocks noChangeAspect="1"/>
          </p:cNvPicPr>
          <p:nvPr/>
        </p:nvPicPr>
        <p:blipFill>
          <a:blip r:embed="rId8"/>
          <a:stretch>
            <a:fillRect/>
          </a:stretch>
        </p:blipFill>
        <p:spPr>
          <a:xfrm>
            <a:off x="10776204" y="2450592"/>
            <a:ext cx="256032" cy="256032"/>
          </a:xfrm>
          <a:prstGeom prst="rect">
            <a:avLst/>
          </a:prstGeom>
        </p:spPr>
      </p:pic>
      <p:sp>
        <p:nvSpPr>
          <p:cNvPr id="39" name="Text 31"/>
          <p:cNvSpPr/>
          <p:nvPr/>
        </p:nvSpPr>
        <p:spPr>
          <a:xfrm>
            <a:off x="10163556" y="2889504"/>
            <a:ext cx="1481328" cy="256032"/>
          </a:xfrm>
          <a:prstGeom prst="rect">
            <a:avLst/>
          </a:prstGeom>
          <a:noFill/>
          <a:ln/>
        </p:spPr>
        <p:txBody>
          <a:bodyPr wrap="square" lIns="0" tIns="0" rIns="0" bIns="0" rtlCol="0" anchor="ctr"/>
          <a:lstStyle/>
          <a:p>
            <a:pPr marL="0" indent="0" algn="ctr">
              <a:buNone/>
            </a:pPr>
            <a:r>
              <a:rPr lang="en-US" sz="1250" b="1" dirty="0">
                <a:solidFill>
                  <a:srgbClr val="13242E"/>
                </a:solidFill>
                <a:latin typeface="Trebuchet MS" pitchFamily="34" charset="0"/>
                <a:ea typeface="Trebuchet MS" pitchFamily="34" charset="-122"/>
                <a:cs typeface="Trebuchet MS" pitchFamily="34" charset="-120"/>
              </a:rPr>
              <a:t>Consume</a:t>
            </a:r>
            <a:endParaRPr lang="en-US" sz="1250" dirty="0"/>
          </a:p>
        </p:txBody>
      </p:sp>
      <p:sp>
        <p:nvSpPr>
          <p:cNvPr id="40" name="Text 32"/>
          <p:cNvSpPr/>
          <p:nvPr/>
        </p:nvSpPr>
        <p:spPr>
          <a:xfrm>
            <a:off x="10163556" y="3127248"/>
            <a:ext cx="1481328" cy="219456"/>
          </a:xfrm>
          <a:prstGeom prst="rect">
            <a:avLst/>
          </a:prstGeom>
          <a:noFill/>
          <a:ln/>
        </p:spPr>
        <p:txBody>
          <a:bodyPr wrap="square" lIns="0" tIns="0" rIns="0" bIns="0" rtlCol="0" anchor="ctr"/>
          <a:lstStyle/>
          <a:p>
            <a:pPr marL="0" indent="0" algn="ctr">
              <a:buNone/>
            </a:pPr>
            <a:r>
              <a:rPr lang="en-US" sz="950" dirty="0">
                <a:solidFill>
                  <a:srgbClr val="7C8A91"/>
                </a:solidFill>
                <a:latin typeface="Calibri" pitchFamily="34" charset="0"/>
                <a:ea typeface="Calibri" pitchFamily="34" charset="-122"/>
                <a:cs typeface="Calibri" pitchFamily="34" charset="-120"/>
              </a:rPr>
              <a:t>BI · ML</a:t>
            </a:r>
            <a:endParaRPr lang="en-US" sz="950" dirty="0"/>
          </a:p>
        </p:txBody>
      </p:sp>
      <p:sp>
        <p:nvSpPr>
          <p:cNvPr id="41" name="Shape 33"/>
          <p:cNvSpPr/>
          <p:nvPr/>
        </p:nvSpPr>
        <p:spPr>
          <a:xfrm rot="10800000">
            <a:off x="6016843" y="3474720"/>
            <a:ext cx="158008" cy="219456"/>
          </a:xfrm>
          <a:prstGeom prst="triangle">
            <a:avLst/>
          </a:prstGeom>
          <a:solidFill>
            <a:srgbClr val="20404C"/>
          </a:solidFill>
          <a:ln/>
        </p:spPr>
        <p:txBody>
          <a:bodyPr/>
          <a:lstStyle/>
          <a:p>
            <a:endParaRPr lang="en-US"/>
          </a:p>
        </p:txBody>
      </p:sp>
      <p:sp>
        <p:nvSpPr>
          <p:cNvPr id="42" name="Shape 34"/>
          <p:cNvSpPr/>
          <p:nvPr/>
        </p:nvSpPr>
        <p:spPr>
          <a:xfrm>
            <a:off x="2471623" y="3730752"/>
            <a:ext cx="7250278" cy="603504"/>
          </a:xfrm>
          <a:prstGeom prst="roundRect">
            <a:avLst>
              <a:gd name="adj" fmla="val 12121"/>
            </a:avLst>
          </a:prstGeom>
          <a:solidFill>
            <a:srgbClr val="0E1B24"/>
          </a:solidFill>
          <a:ln/>
          <a:effectLst>
            <a:outerShdw blurRad="114300" dist="38100" dir="8100000" algn="bl" rotWithShape="0">
              <a:srgbClr val="16242C">
                <a:alpha val="16000"/>
              </a:srgbClr>
            </a:outerShdw>
          </a:effectLst>
        </p:spPr>
        <p:txBody>
          <a:bodyPr/>
          <a:lstStyle/>
          <a:p>
            <a:endParaRPr lang="en-US"/>
          </a:p>
        </p:txBody>
      </p:sp>
      <p:sp>
        <p:nvSpPr>
          <p:cNvPr id="43" name="Shape 35"/>
          <p:cNvSpPr/>
          <p:nvPr/>
        </p:nvSpPr>
        <p:spPr>
          <a:xfrm>
            <a:off x="2745943" y="3849624"/>
            <a:ext cx="365760" cy="365760"/>
          </a:xfrm>
          <a:prstGeom prst="ellipse">
            <a:avLst/>
          </a:prstGeom>
          <a:solidFill>
            <a:srgbClr val="FF3621"/>
          </a:solidFill>
          <a:ln/>
        </p:spPr>
        <p:txBody>
          <a:bodyPr/>
          <a:lstStyle/>
          <a:p>
            <a:endParaRPr lang="en-US"/>
          </a:p>
        </p:txBody>
      </p:sp>
      <p:pic>
        <p:nvPicPr>
          <p:cNvPr id="44" name="Image 6" descr="preencoded.png"/>
          <p:cNvPicPr>
            <a:picLocks noChangeAspect="1"/>
          </p:cNvPicPr>
          <p:nvPr/>
        </p:nvPicPr>
        <p:blipFill>
          <a:blip r:embed="rId9"/>
          <a:stretch>
            <a:fillRect/>
          </a:stretch>
        </p:blipFill>
        <p:spPr>
          <a:xfrm>
            <a:off x="2837383" y="3941064"/>
            <a:ext cx="182880" cy="182880"/>
          </a:xfrm>
          <a:prstGeom prst="rect">
            <a:avLst/>
          </a:prstGeom>
        </p:spPr>
      </p:pic>
      <p:sp>
        <p:nvSpPr>
          <p:cNvPr id="45" name="Text 36"/>
          <p:cNvSpPr/>
          <p:nvPr/>
        </p:nvSpPr>
        <p:spPr>
          <a:xfrm>
            <a:off x="3248863" y="3730752"/>
            <a:ext cx="6244438" cy="60350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Apache Spark on clusters</a:t>
            </a:r>
            <a:r>
              <a:rPr lang="en-US" sz="1250" dirty="0">
                <a:solidFill>
                  <a:srgbClr val="C7D2D8"/>
                </a:solidFill>
                <a:latin typeface="Calibri" pitchFamily="34" charset="0"/>
                <a:ea typeface="Calibri" pitchFamily="34" charset="-122"/>
                <a:cs typeface="Calibri" pitchFamily="34" charset="-120"/>
              </a:rPr>
              <a:t>  —  ingests &amp; transforms every stage</a:t>
            </a:r>
            <a:endParaRPr lang="en-US" sz="1250" dirty="0"/>
          </a:p>
        </p:txBody>
      </p:sp>
      <p:sp>
        <p:nvSpPr>
          <p:cNvPr id="46" name="Shape 37"/>
          <p:cNvSpPr/>
          <p:nvPr/>
        </p:nvSpPr>
        <p:spPr>
          <a:xfrm>
            <a:off x="548640" y="4498848"/>
            <a:ext cx="11094415" cy="603504"/>
          </a:xfrm>
          <a:prstGeom prst="roundRect">
            <a:avLst>
              <a:gd name="adj" fmla="val 12121"/>
            </a:avLst>
          </a:prstGeom>
          <a:solidFill>
            <a:srgbClr val="E7F1F2"/>
          </a:solidFill>
          <a:ln w="12700">
            <a:solidFill>
              <a:srgbClr val="BFE0E3"/>
            </a:solidFill>
            <a:prstDash val="solid"/>
          </a:ln>
        </p:spPr>
        <p:txBody>
          <a:bodyPr/>
          <a:lstStyle/>
          <a:p>
            <a:endParaRPr lang="en-US"/>
          </a:p>
        </p:txBody>
      </p:sp>
      <p:sp>
        <p:nvSpPr>
          <p:cNvPr id="47" name="Shape 38"/>
          <p:cNvSpPr/>
          <p:nvPr/>
        </p:nvSpPr>
        <p:spPr>
          <a:xfrm>
            <a:off x="822960" y="4617720"/>
            <a:ext cx="365760" cy="365760"/>
          </a:xfrm>
          <a:prstGeom prst="ellipse">
            <a:avLst/>
          </a:prstGeom>
          <a:solidFill>
            <a:srgbClr val="0E7C8B"/>
          </a:solidFill>
          <a:ln/>
        </p:spPr>
        <p:txBody>
          <a:bodyPr/>
          <a:lstStyle/>
          <a:p>
            <a:endParaRPr lang="en-US"/>
          </a:p>
        </p:txBody>
      </p:sp>
      <p:pic>
        <p:nvPicPr>
          <p:cNvPr id="48" name="Image 7" descr="preencoded.png"/>
          <p:cNvPicPr>
            <a:picLocks noChangeAspect="1"/>
          </p:cNvPicPr>
          <p:nvPr/>
        </p:nvPicPr>
        <p:blipFill>
          <a:blip r:embed="rId10"/>
          <a:stretch>
            <a:fillRect/>
          </a:stretch>
        </p:blipFill>
        <p:spPr>
          <a:xfrm>
            <a:off x="914400" y="4709160"/>
            <a:ext cx="182880" cy="182880"/>
          </a:xfrm>
          <a:prstGeom prst="rect">
            <a:avLst/>
          </a:prstGeom>
        </p:spPr>
      </p:pic>
      <p:sp>
        <p:nvSpPr>
          <p:cNvPr id="49" name="Text 39"/>
          <p:cNvSpPr/>
          <p:nvPr/>
        </p:nvSpPr>
        <p:spPr>
          <a:xfrm>
            <a:off x="1325880" y="4498848"/>
            <a:ext cx="10088575" cy="603504"/>
          </a:xfrm>
          <a:prstGeom prst="rect">
            <a:avLst/>
          </a:prstGeom>
          <a:noFill/>
          <a:ln/>
        </p:spPr>
        <p:txBody>
          <a:bodyPr wrap="square" lIns="0" tIns="0" rIns="0" bIns="0" rtlCol="0" anchor="ctr"/>
          <a:lstStyle/>
          <a:p>
            <a:pPr marL="0" indent="0">
              <a:buNone/>
            </a:pPr>
            <a:r>
              <a:rPr lang="en-US" sz="1250" b="1" dirty="0">
                <a:solidFill>
                  <a:srgbClr val="0A5C68"/>
                </a:solidFill>
                <a:latin typeface="Calibri" pitchFamily="34" charset="0"/>
                <a:ea typeface="Calibri" pitchFamily="34" charset="-122"/>
                <a:cs typeface="Calibri" pitchFamily="34" charset="-120"/>
              </a:rPr>
              <a:t>Delta Lake</a:t>
            </a:r>
            <a:r>
              <a:rPr lang="en-US" sz="1250" dirty="0">
                <a:solidFill>
                  <a:srgbClr val="0A5C68"/>
                </a:solidFill>
                <a:latin typeface="Calibri" pitchFamily="34" charset="0"/>
                <a:ea typeface="Calibri" pitchFamily="34" charset="-122"/>
                <a:cs typeface="Calibri" pitchFamily="34" charset="-120"/>
              </a:rPr>
              <a:t>  —  every layer stored as an open Delta table on S3 · ADLS · GCS</a:t>
            </a:r>
            <a:endParaRPr lang="en-US" sz="1250" dirty="0"/>
          </a:p>
        </p:txBody>
      </p:sp>
      <p:sp>
        <p:nvSpPr>
          <p:cNvPr id="50" name="Shape 40"/>
          <p:cNvSpPr/>
          <p:nvPr/>
        </p:nvSpPr>
        <p:spPr>
          <a:xfrm>
            <a:off x="548640" y="5266944"/>
            <a:ext cx="11094415" cy="658368"/>
          </a:xfrm>
          <a:prstGeom prst="roundRect">
            <a:avLst>
              <a:gd name="adj" fmla="val 11111"/>
            </a:avLst>
          </a:prstGeom>
          <a:solidFill>
            <a:srgbClr val="172D38"/>
          </a:solidFill>
          <a:ln/>
          <a:effectLst>
            <a:outerShdw blurRad="114300" dist="38100" dir="8100000" algn="bl" rotWithShape="0">
              <a:srgbClr val="16242C">
                <a:alpha val="16000"/>
              </a:srgbClr>
            </a:outerShdw>
          </a:effectLst>
        </p:spPr>
        <p:txBody>
          <a:bodyPr/>
          <a:lstStyle/>
          <a:p>
            <a:endParaRPr lang="en-US"/>
          </a:p>
        </p:txBody>
      </p:sp>
      <p:sp>
        <p:nvSpPr>
          <p:cNvPr id="51" name="Shape 41"/>
          <p:cNvSpPr/>
          <p:nvPr/>
        </p:nvSpPr>
        <p:spPr>
          <a:xfrm>
            <a:off x="822960" y="5413248"/>
            <a:ext cx="365760" cy="365760"/>
          </a:xfrm>
          <a:prstGeom prst="ellipse">
            <a:avLst/>
          </a:prstGeom>
          <a:solidFill>
            <a:srgbClr val="FF3621"/>
          </a:solidFill>
          <a:ln/>
        </p:spPr>
        <p:txBody>
          <a:bodyPr/>
          <a:lstStyle/>
          <a:p>
            <a:endParaRPr lang="en-US"/>
          </a:p>
        </p:txBody>
      </p:sp>
      <p:pic>
        <p:nvPicPr>
          <p:cNvPr id="52" name="Image 8" descr="preencoded.png"/>
          <p:cNvPicPr>
            <a:picLocks noChangeAspect="1"/>
          </p:cNvPicPr>
          <p:nvPr/>
        </p:nvPicPr>
        <p:blipFill>
          <a:blip r:embed="rId11"/>
          <a:stretch>
            <a:fillRect/>
          </a:stretch>
        </p:blipFill>
        <p:spPr>
          <a:xfrm>
            <a:off x="914400" y="5504688"/>
            <a:ext cx="182880" cy="182880"/>
          </a:xfrm>
          <a:prstGeom prst="rect">
            <a:avLst/>
          </a:prstGeom>
        </p:spPr>
      </p:pic>
      <p:sp>
        <p:nvSpPr>
          <p:cNvPr id="53" name="Text 42"/>
          <p:cNvSpPr/>
          <p:nvPr/>
        </p:nvSpPr>
        <p:spPr>
          <a:xfrm>
            <a:off x="1325880" y="5266944"/>
            <a:ext cx="10088575" cy="658368"/>
          </a:xfrm>
          <a:prstGeom prst="rect">
            <a:avLst/>
          </a:prstGeom>
          <a:noFill/>
          <a:ln/>
        </p:spPr>
        <p:txBody>
          <a:bodyPr wrap="square" lIns="0" tIns="0" rIns="0" bIns="0" rtlCol="0" anchor="ctr"/>
          <a:lstStyle/>
          <a:p>
            <a:pPr marL="0" indent="0">
              <a:buNone/>
            </a:pPr>
            <a:r>
              <a:rPr lang="en-US" sz="1250" b="1" dirty="0">
                <a:solidFill>
                  <a:srgbClr val="FF6F4D"/>
                </a:solidFill>
                <a:latin typeface="Calibri" pitchFamily="34" charset="0"/>
                <a:ea typeface="Calibri" pitchFamily="34" charset="-122"/>
                <a:cs typeface="Calibri" pitchFamily="34" charset="-120"/>
              </a:rPr>
              <a:t>Unity Catalog</a:t>
            </a:r>
            <a:r>
              <a:rPr lang="en-US" sz="1250" dirty="0">
                <a:solidFill>
                  <a:srgbClr val="FFFFFF"/>
                </a:solidFill>
                <a:latin typeface="Calibri" pitchFamily="34" charset="0"/>
                <a:ea typeface="Calibri" pitchFamily="34" charset="-122"/>
                <a:cs typeface="Calibri" pitchFamily="34" charset="-120"/>
              </a:rPr>
              <a:t>  —  security, lineage &amp; audit across the entire flow</a:t>
            </a:r>
            <a:endParaRPr lang="en-US" sz="1250" dirty="0"/>
          </a:p>
        </p:txBody>
      </p:sp>
      <p:sp>
        <p:nvSpPr>
          <p:cNvPr id="54" name="Text 4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55" name="Text 44"/>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1B3139"/>
              </a:gs>
              <a:gs pos="100000">
                <a:srgbClr val="0E1C21"/>
              </a:gs>
            </a:gsLst>
            <a:lin ang="14400000" scaled="0"/>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Oval 2"/>
          <p:cNvSpPr/>
          <p:nvPr/>
        </p:nvSpPr>
        <p:spPr>
          <a:xfrm>
            <a:off x="8869680" y="-1463040"/>
            <a:ext cx="4937760" cy="4937760"/>
          </a:xfrm>
          <a:prstGeom prst="ellipse">
            <a:avLst/>
          </a:prstGeom>
          <a:noFill/>
          <a:ln w="15240">
            <a:solidFill>
              <a:srgbClr val="35596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Oval 3"/>
          <p:cNvSpPr/>
          <p:nvPr/>
        </p:nvSpPr>
        <p:spPr>
          <a:xfrm>
            <a:off x="9966960" y="182880"/>
            <a:ext cx="2926080" cy="2926080"/>
          </a:xfrm>
          <a:prstGeom prst="ellipse">
            <a:avLst/>
          </a:prstGeom>
          <a:noFill/>
          <a:ln w="12700">
            <a:solidFill>
              <a:srgbClr val="35596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Hexagon 4"/>
          <p:cNvSpPr/>
          <p:nvPr/>
        </p:nvSpPr>
        <p:spPr>
          <a:xfrm rot="720000">
            <a:off x="9646920" y="4297680"/>
            <a:ext cx="1828800" cy="1645920"/>
          </a:xfrm>
          <a:prstGeom prst="hexagon">
            <a:avLst/>
          </a:prstGeom>
          <a:no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ounded Rectangle 5"/>
          <p:cNvSpPr/>
          <p:nvPr/>
        </p:nvSpPr>
        <p:spPr>
          <a:xfrm rot="1080000">
            <a:off x="11475720" y="2468880"/>
            <a:ext cx="457200" cy="457200"/>
          </a:xfrm>
          <a:prstGeom prst="roundRect">
            <a:avLst>
              <a:gd name="adj" fmla="val 2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Diamond 6"/>
          <p:cNvSpPr/>
          <p:nvPr/>
        </p:nvSpPr>
        <p:spPr>
          <a:xfrm>
            <a:off x="8686800" y="5394960"/>
            <a:ext cx="310896" cy="310896"/>
          </a:xfrm>
          <a:prstGeom prst="diamond">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ounded Rectangle 7"/>
          <p:cNvSpPr/>
          <p:nvPr/>
        </p:nvSpPr>
        <p:spPr>
          <a:xfrm>
            <a:off x="566928" y="2011680"/>
            <a:ext cx="82296" cy="137160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41247" y="1920240"/>
            <a:ext cx="9144000" cy="1005840"/>
          </a:xfrm>
          <a:prstGeom prst="rect">
            <a:avLst/>
          </a:prstGeom>
          <a:noFill/>
        </p:spPr>
        <p:txBody>
          <a:bodyPr wrap="square" lIns="0" tIns="0" rIns="0" bIns="0" anchor="t">
            <a:spAutoFit/>
          </a:bodyPr>
          <a:lstStyle/>
          <a:p>
            <a:pPr algn="l">
              <a:lnSpc>
                <a:spcPct val="100000"/>
              </a:lnSpc>
              <a:spcBef>
                <a:spcPts val="0"/>
              </a:spcBef>
              <a:spcAft>
                <a:spcPts val="200"/>
              </a:spcAft>
            </a:pPr>
            <a:r>
              <a:rPr sz="5400" b="1" i="0">
                <a:solidFill>
                  <a:srgbClr val="FFFFFF"/>
                </a:solidFill>
                <a:latin typeface="Segoe UI"/>
              </a:rPr>
              <a:t>Thank You</a:t>
            </a:r>
          </a:p>
        </p:txBody>
      </p:sp>
      <p:sp>
        <p:nvSpPr>
          <p:cNvPr id="10" name="TextBox 9"/>
          <p:cNvSpPr txBox="1"/>
          <p:nvPr/>
        </p:nvSpPr>
        <p:spPr>
          <a:xfrm>
            <a:off x="859536" y="3017520"/>
            <a:ext cx="9601200" cy="548640"/>
          </a:xfrm>
          <a:prstGeom prst="rect">
            <a:avLst/>
          </a:prstGeom>
          <a:noFill/>
        </p:spPr>
        <p:txBody>
          <a:bodyPr wrap="square" lIns="0" tIns="0" rIns="0" bIns="0" anchor="t">
            <a:spAutoFit/>
          </a:bodyPr>
          <a:lstStyle/>
          <a:p>
            <a:pPr algn="l">
              <a:lnSpc>
                <a:spcPct val="120000"/>
              </a:lnSpc>
              <a:spcBef>
                <a:spcPts val="0"/>
              </a:spcBef>
              <a:spcAft>
                <a:spcPts val="200"/>
              </a:spcAft>
            </a:pPr>
            <a:r>
              <a:rPr sz="1500" b="0" i="0">
                <a:solidFill>
                  <a:srgbClr val="C4D0D4"/>
                </a:solidFill>
                <a:latin typeface="Segoe UI"/>
              </a:rPr>
              <a:t>You now have the full picture — from Big Data fundamentals to the Databricks Lakehouse architecture.</a:t>
            </a:r>
          </a:p>
        </p:txBody>
      </p:sp>
      <p:sp>
        <p:nvSpPr>
          <p:cNvPr id="11" name="TextBox 10"/>
          <p:cNvSpPr txBox="1"/>
          <p:nvPr/>
        </p:nvSpPr>
        <p:spPr>
          <a:xfrm>
            <a:off x="859536" y="3886200"/>
            <a:ext cx="7315200" cy="274320"/>
          </a:xfrm>
          <a:prstGeom prst="rect">
            <a:avLst/>
          </a:prstGeom>
          <a:noFill/>
        </p:spPr>
        <p:txBody>
          <a:bodyPr wrap="square" lIns="0" tIns="0" rIns="0" bIns="0" anchor="t">
            <a:spAutoFit/>
          </a:bodyPr>
          <a:lstStyle/>
          <a:p>
            <a:pPr algn="l">
              <a:lnSpc>
                <a:spcPct val="100000"/>
              </a:lnSpc>
              <a:spcBef>
                <a:spcPts val="0"/>
              </a:spcBef>
              <a:spcAft>
                <a:spcPts val="200"/>
              </a:spcAft>
            </a:pPr>
            <a:r>
              <a:rPr sz="1150" b="1" i="0">
                <a:solidFill>
                  <a:srgbClr val="FF6B57"/>
                </a:solidFill>
                <a:latin typeface="Segoe UI Semibold"/>
              </a:rPr>
              <a:t>KEEP LEARNING</a:t>
            </a:r>
          </a:p>
        </p:txBody>
      </p:sp>
      <p:sp>
        <p:nvSpPr>
          <p:cNvPr id="12" name="Rounded Rectangle 11"/>
          <p:cNvSpPr/>
          <p:nvPr/>
        </p:nvSpPr>
        <p:spPr>
          <a:xfrm>
            <a:off x="859536" y="4224528"/>
            <a:ext cx="2116836" cy="475488"/>
          </a:xfrm>
          <a:prstGeom prst="roundRect">
            <a:avLst>
              <a:gd name="adj" fmla="val 50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100" b="1">
                <a:solidFill>
                  <a:srgbClr val="FFFFFF"/>
                </a:solidFill>
                <a:latin typeface="Segoe UI Semibold"/>
              </a:rPr>
              <a:t>docs.databricks.com</a:t>
            </a:r>
          </a:p>
        </p:txBody>
      </p:sp>
      <p:sp>
        <p:nvSpPr>
          <p:cNvPr id="13" name="Rounded Rectangle 12"/>
          <p:cNvSpPr/>
          <p:nvPr/>
        </p:nvSpPr>
        <p:spPr>
          <a:xfrm>
            <a:off x="3177540" y="4224528"/>
            <a:ext cx="2020824" cy="475488"/>
          </a:xfrm>
          <a:prstGeom prst="roundRect">
            <a:avLst>
              <a:gd name="adj" fmla="val 50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100" b="1">
                <a:solidFill>
                  <a:srgbClr val="FFFFFF"/>
                </a:solidFill>
                <a:latin typeface="Segoe UI Semibold"/>
              </a:rPr>
              <a:t>Databricks Academy</a:t>
            </a:r>
          </a:p>
        </p:txBody>
      </p:sp>
      <p:sp>
        <p:nvSpPr>
          <p:cNvPr id="15" name="Rounded Rectangle 14"/>
          <p:cNvSpPr/>
          <p:nvPr/>
        </p:nvSpPr>
        <p:spPr>
          <a:xfrm>
            <a:off x="5582412" y="4224528"/>
            <a:ext cx="2500884" cy="475488"/>
          </a:xfrm>
          <a:prstGeom prst="roundRect">
            <a:avLst>
              <a:gd name="adj" fmla="val 50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100" b="1" dirty="0">
                <a:solidFill>
                  <a:srgbClr val="FFFFFF"/>
                </a:solidFill>
                <a:latin typeface="Segoe UI Semibold"/>
              </a:rPr>
              <a:t>Delta Lake &amp; Spark docs</a:t>
            </a:r>
          </a:p>
        </p:txBody>
      </p:sp>
      <p:sp>
        <p:nvSpPr>
          <p:cNvPr id="16" name="Oval 15"/>
          <p:cNvSpPr/>
          <p:nvPr/>
        </p:nvSpPr>
        <p:spPr>
          <a:xfrm>
            <a:off x="868679" y="4992624"/>
            <a:ext cx="713232" cy="713232"/>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Can 16"/>
          <p:cNvSpPr/>
          <p:nvPr/>
        </p:nvSpPr>
        <p:spPr>
          <a:xfrm>
            <a:off x="1090780" y="5185196"/>
            <a:ext cx="269031" cy="328086"/>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768096" y="5797296"/>
            <a:ext cx="914400" cy="365760"/>
          </a:xfrm>
          <a:prstGeom prst="rect">
            <a:avLst/>
          </a:prstGeom>
          <a:noFill/>
        </p:spPr>
        <p:txBody>
          <a:bodyPr wrap="square" lIns="0" tIns="0" rIns="0" bIns="0" anchor="t">
            <a:spAutoFit/>
          </a:bodyPr>
          <a:lstStyle/>
          <a:p>
            <a:pPr algn="ctr">
              <a:lnSpc>
                <a:spcPct val="90000"/>
              </a:lnSpc>
              <a:spcBef>
                <a:spcPts val="0"/>
              </a:spcBef>
              <a:spcAft>
                <a:spcPts val="200"/>
              </a:spcAft>
            </a:pPr>
            <a:r>
              <a:rPr sz="950" b="0" i="0">
                <a:solidFill>
                  <a:srgbClr val="C4D0D4"/>
                </a:solidFill>
                <a:latin typeface="Segoe UI"/>
              </a:rPr>
              <a:t>Big Data</a:t>
            </a:r>
          </a:p>
        </p:txBody>
      </p:sp>
      <p:sp>
        <p:nvSpPr>
          <p:cNvPr id="19" name="Oval 18"/>
          <p:cNvSpPr/>
          <p:nvPr/>
        </p:nvSpPr>
        <p:spPr>
          <a:xfrm>
            <a:off x="1920239" y="4992624"/>
            <a:ext cx="713232" cy="713232"/>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Isosceles Triangle 19"/>
          <p:cNvSpPr/>
          <p:nvPr/>
        </p:nvSpPr>
        <p:spPr>
          <a:xfrm>
            <a:off x="2112812" y="5201600"/>
            <a:ext cx="328086" cy="295278"/>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1819655" y="5797296"/>
            <a:ext cx="914400" cy="365760"/>
          </a:xfrm>
          <a:prstGeom prst="rect">
            <a:avLst/>
          </a:prstGeom>
          <a:noFill/>
        </p:spPr>
        <p:txBody>
          <a:bodyPr wrap="square" lIns="0" tIns="0" rIns="0" bIns="0" anchor="t">
            <a:spAutoFit/>
          </a:bodyPr>
          <a:lstStyle/>
          <a:p>
            <a:pPr algn="ctr">
              <a:lnSpc>
                <a:spcPct val="90000"/>
              </a:lnSpc>
              <a:spcBef>
                <a:spcPts val="0"/>
              </a:spcBef>
              <a:spcAft>
                <a:spcPts val="200"/>
              </a:spcAft>
            </a:pPr>
            <a:r>
              <a:rPr sz="950" b="0" i="0">
                <a:solidFill>
                  <a:srgbClr val="C4D0D4"/>
                </a:solidFill>
                <a:latin typeface="Segoe UI"/>
              </a:rPr>
              <a:t>Lakehouse</a:t>
            </a:r>
          </a:p>
        </p:txBody>
      </p:sp>
      <p:sp>
        <p:nvSpPr>
          <p:cNvPr id="22" name="Oval 21"/>
          <p:cNvSpPr/>
          <p:nvPr/>
        </p:nvSpPr>
        <p:spPr>
          <a:xfrm>
            <a:off x="2971799" y="4992624"/>
            <a:ext cx="713232" cy="713232"/>
          </a:xfrm>
          <a:prstGeom prst="ellipse">
            <a:avLst/>
          </a:prstGeom>
          <a:solidFill>
            <a:srgbClr val="F59E0B"/>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Lightning Bolt 22"/>
          <p:cNvSpPr/>
          <p:nvPr/>
        </p:nvSpPr>
        <p:spPr>
          <a:xfrm>
            <a:off x="3213585" y="5185196"/>
            <a:ext cx="229660" cy="328086"/>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2871215" y="5797296"/>
            <a:ext cx="914400" cy="365760"/>
          </a:xfrm>
          <a:prstGeom prst="rect">
            <a:avLst/>
          </a:prstGeom>
          <a:noFill/>
        </p:spPr>
        <p:txBody>
          <a:bodyPr wrap="square" lIns="0" tIns="0" rIns="0" bIns="0" anchor="t">
            <a:spAutoFit/>
          </a:bodyPr>
          <a:lstStyle/>
          <a:p>
            <a:pPr algn="ctr">
              <a:lnSpc>
                <a:spcPct val="90000"/>
              </a:lnSpc>
              <a:spcBef>
                <a:spcPts val="0"/>
              </a:spcBef>
              <a:spcAft>
                <a:spcPts val="200"/>
              </a:spcAft>
            </a:pPr>
            <a:r>
              <a:rPr sz="950" b="0" i="0">
                <a:solidFill>
                  <a:srgbClr val="C4D0D4"/>
                </a:solidFill>
                <a:latin typeface="Segoe UI"/>
              </a:rPr>
              <a:t>Spark</a:t>
            </a:r>
          </a:p>
        </p:txBody>
      </p:sp>
      <p:sp>
        <p:nvSpPr>
          <p:cNvPr id="25" name="Oval 24"/>
          <p:cNvSpPr/>
          <p:nvPr/>
        </p:nvSpPr>
        <p:spPr>
          <a:xfrm>
            <a:off x="4023360" y="4992624"/>
            <a:ext cx="713232" cy="713232"/>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Rounded Rectangle 25"/>
          <p:cNvSpPr/>
          <p:nvPr/>
        </p:nvSpPr>
        <p:spPr>
          <a:xfrm rot="2700000">
            <a:off x="4288111" y="5355801"/>
            <a:ext cx="98426" cy="5249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Rounded Rectangle 26"/>
          <p:cNvSpPr/>
          <p:nvPr/>
        </p:nvSpPr>
        <p:spPr>
          <a:xfrm rot="18480000">
            <a:off x="4360290" y="5283622"/>
            <a:ext cx="190290" cy="5249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TextBox 27"/>
          <p:cNvSpPr txBox="1"/>
          <p:nvPr/>
        </p:nvSpPr>
        <p:spPr>
          <a:xfrm>
            <a:off x="3922776" y="5797296"/>
            <a:ext cx="914400" cy="365760"/>
          </a:xfrm>
          <a:prstGeom prst="rect">
            <a:avLst/>
          </a:prstGeom>
          <a:noFill/>
        </p:spPr>
        <p:txBody>
          <a:bodyPr wrap="square" lIns="0" tIns="0" rIns="0" bIns="0" anchor="t">
            <a:spAutoFit/>
          </a:bodyPr>
          <a:lstStyle/>
          <a:p>
            <a:pPr algn="ctr">
              <a:lnSpc>
                <a:spcPct val="90000"/>
              </a:lnSpc>
              <a:spcBef>
                <a:spcPts val="0"/>
              </a:spcBef>
              <a:spcAft>
                <a:spcPts val="200"/>
              </a:spcAft>
            </a:pPr>
            <a:r>
              <a:rPr sz="950" b="0" i="0">
                <a:solidFill>
                  <a:srgbClr val="C4D0D4"/>
                </a:solidFill>
                <a:latin typeface="Segoe UI"/>
              </a:rPr>
              <a:t>Delta</a:t>
            </a:r>
          </a:p>
        </p:txBody>
      </p:sp>
      <p:sp>
        <p:nvSpPr>
          <p:cNvPr id="32" name="Oval 31"/>
          <p:cNvSpPr/>
          <p:nvPr/>
        </p:nvSpPr>
        <p:spPr>
          <a:xfrm>
            <a:off x="5154930" y="4992624"/>
            <a:ext cx="713232" cy="713232"/>
          </a:xfrm>
          <a:prstGeom prst="ellipse">
            <a:avLst/>
          </a:prstGeom>
          <a:solidFill>
            <a:srgbClr val="7C5CC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Rounded Rectangle 32"/>
          <p:cNvSpPr/>
          <p:nvPr/>
        </p:nvSpPr>
        <p:spPr>
          <a:xfrm>
            <a:off x="5399996" y="5332835"/>
            <a:ext cx="223098" cy="164043"/>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Block Arc 33"/>
          <p:cNvSpPr/>
          <p:nvPr/>
        </p:nvSpPr>
        <p:spPr>
          <a:xfrm>
            <a:off x="6404355" y="5185196"/>
            <a:ext cx="157481" cy="164043"/>
          </a:xfrm>
          <a:prstGeom prst="blockArc">
            <a:avLst>
              <a:gd name="adj1" fmla="val 314159"/>
              <a:gd name="adj2" fmla="val 0"/>
              <a:gd name="adj3"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TextBox 34"/>
          <p:cNvSpPr txBox="1"/>
          <p:nvPr/>
        </p:nvSpPr>
        <p:spPr>
          <a:xfrm>
            <a:off x="5054346" y="5797296"/>
            <a:ext cx="914400" cy="365760"/>
          </a:xfrm>
          <a:prstGeom prst="rect">
            <a:avLst/>
          </a:prstGeom>
          <a:noFill/>
        </p:spPr>
        <p:txBody>
          <a:bodyPr wrap="square" lIns="0" tIns="0" rIns="0" bIns="0" anchor="t">
            <a:spAutoFit/>
          </a:bodyPr>
          <a:lstStyle/>
          <a:p>
            <a:pPr algn="ctr">
              <a:lnSpc>
                <a:spcPct val="90000"/>
              </a:lnSpc>
              <a:spcBef>
                <a:spcPts val="0"/>
              </a:spcBef>
              <a:spcAft>
                <a:spcPts val="200"/>
              </a:spcAft>
            </a:pPr>
            <a:r>
              <a:rPr sz="950" b="0" i="0">
                <a:solidFill>
                  <a:srgbClr val="C4D0D4"/>
                </a:solidFill>
                <a:latin typeface="Segoe UI"/>
              </a:rPr>
              <a:t>Unity Catalog</a:t>
            </a:r>
          </a:p>
        </p:txBody>
      </p:sp>
      <p:sp>
        <p:nvSpPr>
          <p:cNvPr id="36" name="TextBox 35"/>
          <p:cNvSpPr txBox="1"/>
          <p:nvPr/>
        </p:nvSpPr>
        <p:spPr>
          <a:xfrm>
            <a:off x="7955279" y="5989320"/>
            <a:ext cx="3669487" cy="274320"/>
          </a:xfrm>
          <a:prstGeom prst="rect">
            <a:avLst/>
          </a:prstGeom>
          <a:noFill/>
        </p:spPr>
        <p:txBody>
          <a:bodyPr wrap="square" lIns="0" tIns="0" rIns="0" bIns="0" anchor="t">
            <a:spAutoFit/>
          </a:bodyPr>
          <a:lstStyle/>
          <a:p>
            <a:pPr algn="r">
              <a:lnSpc>
                <a:spcPct val="100000"/>
              </a:lnSpc>
              <a:spcBef>
                <a:spcPts val="0"/>
              </a:spcBef>
              <a:spcAft>
                <a:spcPts val="200"/>
              </a:spcAft>
            </a:pPr>
            <a:r>
              <a:rPr sz="1200" b="0" i="1">
                <a:solidFill>
                  <a:srgbClr val="9AA6AB"/>
                </a:solidFill>
                <a:latin typeface="Segoe UI"/>
              </a:rPr>
              <a:t>Questions &amp; discussion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430</TotalTime>
  <Words>4555</Words>
  <Application>Microsoft Office PowerPoint</Application>
  <PresentationFormat>Widescreen</PresentationFormat>
  <Paragraphs>448</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Consolas</vt:lpstr>
      <vt:lpstr>Georgia</vt:lpstr>
      <vt:lpstr>Segoe UI</vt:lpstr>
      <vt:lpstr>Segoe UI Semibold</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&amp; the Databricks Lakehouse</dc:title>
  <dc:subject>PptxGenJS Presentation</dc:subject>
  <dc:creator>Enterprise Data Training</dc:creator>
  <cp:lastModifiedBy>Raja, Senthilnathan</cp:lastModifiedBy>
  <cp:revision>9</cp:revision>
  <dcterms:created xsi:type="dcterms:W3CDTF">2026-06-08T07:16:53Z</dcterms:created>
  <dcterms:modified xsi:type="dcterms:W3CDTF">2026-09-06T13:32:59Z</dcterms:modified>
</cp:coreProperties>
</file>