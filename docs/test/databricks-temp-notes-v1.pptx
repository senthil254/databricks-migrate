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8" r:id="rId22"/>
    <p:sldId id="279" r:id="rId23"/>
    <p:sldId id="280" r:id="rId24"/>
    <p:sldId id="288" r:id="rId25"/>
    <p:sldId id="290" r:id="rId26"/>
    <p:sldId id="291" r:id="rId27"/>
    <p:sldId id="292" r:id="rId28"/>
    <p:sldId id="293" r:id="rId29"/>
    <p:sldId id="294" r:id="rId30"/>
    <p:sldId id="295" r:id="rId31"/>
    <p:sldId id="296" r:id="rId32"/>
    <p:sldId id="297" r:id="rId33"/>
    <p:sldId id="298" r:id="rId34"/>
    <p:sldId id="299" r:id="rId35"/>
    <p:sldId id="300"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287" r:id="rId6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221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This session takes a complete beginner from 'what is big data' to understanding how the Databricks Lakehouse is architected. Set expectations: three modules — Big Data fundamentals, an introduction to Databricks, and Databricks architecture. Tell the audience the goal is intuition first, then the technical detail, all in plain language. Ask the room who works as a data engineer, analyst, scientist, or architect so you can pitch examples to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slide. Walk left to right. Module 1 builds shared vocabulary so nobody is lost later. Module 2 introduces Databricks as the product that solves big-data pain. Module 3 opens the hood on the architecture. Reassure beginners: each module starts simple. Tell engineers and architects the depth ramps up in Module 3. Keep this to about a minute.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opener. Pause here. One line: the reason 'big data' became a discipline is that ordinary databases and single servers simply stopped coping with the size, speed, and shape of modern data. In the next few slides we'll quantify that and give it a shared vocabulary — the 5 Vs.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stakes with three callouts. Don't read the numbers robotically — use them to land one idea: scale has changed by orders of magnitude. Concrete examples: a single connected car or factory line emits data continuously; a retailer logs every click and scan. Tie it forward: this is exactly the volume, speed, and variety that traditional databases were never built for, which is the next slide. Be honest that the figures are estimates that move around — they're for intuition.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plain-English definition and let it breathe. The three drivers on the right are the 'why traditional tools break' summary: size, speed, shape. A relatable analogy: one very strong librarian can manage a small library, but to run a national archive you need many librarians working in parallel — that's a cluster. This sets up the 5 Vs, which formalise these ideas.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concept of Module 1. Explain each V with one enterprise example: Volume — every card swipe at a bank; Velocity — fraud must be caught in milliseconds, not overnight; Variety — call recordings and PDFs alongside tables; Veracity — duplicate or wrong addresses break analytics; Value — none of it matters unless it drives a decision. Stress that Value is the point of the other four. Many people learn '3 Vs' first (Volume, Velocity, Variety) — note that Veracity and Value were added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contrast to make big data concrete. The two ideas that matter most: structure (big data embraces messy formats, not just tables) and scaling (scale OUT by adding cheap machines, instead of scaling UP to one expensive supercomputer). Schema-on-read means you can land raw data first and decide its shape later — flexible, but you trade some upfront discipline. End by saying: these capabilities are exactly what platforms like Databricks provide out of the box.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the problems any big-data platform must solve — and a checklist we'll return to when we evaluate Databricks. Tie each to a business consequence: slow processing delays decisions; poor quality erodes trust in dashboards; weak governance risks fines. The punchline going into Module 2: stitching separate tools together to solve all six is painful, which is the gap Databricks set out to close.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mental model the audience can reuse for any data project. Teal stages capture and move data; red stages refine and use it. Walk one example end-to-end: a retailer's app and store sensors (Sources) stream events (Ingestion) into a data lake (Storage), Spark cleans and joins them (Processing), data scientists and analysts model and query (Analytics), and leaders see it in a dashboard (Visualization). Key message: Databricks can run every one of these stages on a single platform — the focus of Module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theory in outcomes your audience cares about. Pick the one or two industries closest to the room and expand. Common thread across all four: combine many data sources, process at scale, and act quickly — often with machine learning. This closes Module 1: we know what big data is, why it's hard, and what it's worth. Module 2 introduces the platform built to deliver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opener. Bridge from Module 1: every big-data challenge we listed — storage, processing, integration, quality, governance, cost — has traditionally needed a different tool. Databricks' big idea is to put them on one platform on top of your data. We'll define it, explain why it exists, and introduce the Lakehouse.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slowly — every word counts: unified (one place), cloud-based, Lakehouse (next slides), and it spans the whole lifecycle. The four pillars on the right are the kinds of work it supports. The credibility line matters: the people who built Databricks created Apache Spark at UC Berkeley and open-sourced Delta Lake and MLflow — so the platform is built on technologies they invented. Avoid weak phrasing like 'just a cloud analytics tool' — that undersells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concept in the deck. Use the equation: warehouses gave us reliable, fast SQL but were rigid and expensive; lakes gave us cheap, flexible storage but no reliability or guarantees. The Lakehouse merges them — you get warehouse-grade reliability and performance directly on cheap, open data-lake storage. The four chips are how it delivers that: ACID transactions for reliability, open formats so you're not locked in, BI and AI on the same data, and one copy so there are no silos. Delta Lake (Module 3) is the technology that makes it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'unified' visually. Four very different roles — engineer, analyst, scientist, ML engineer — all work on the SAME platform sitting on ONE copy of data in cheap cloud storage. Contrast with the old world where each role had its own tool and its own copy. The payoff: collaboration with no data movement, and consistent governance. Name the cloud stores (S3, ADLS, GCS) so people know Databricks runs on all major clouds. This previews the components we'll detail next: Workspace, Spark, Delta, ML, Unity Catalog.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toolkit — one sentence each, no deep dives yet. Workspace is where people actually work (notebooks). Spark is the engine doing heavy lifting. Delta Lake is the reliable storage format. MLflow manages the machine-learning lifecycle. Unity Catalog governs and secures everything. Tell the audience: Spark, Delta Lake and Unity Catalog return in Module 3 with their own architecture slides. This is the map before the detail.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six benefits straight back to the six big-data challenges from Module 1 — that's the satisfying payoff. Storage cost → cost-efficient; processing → elastic scale; integration → unified; quality/trust → governed and Delta reliability; governance → Unity Catalog; skills → one platform instead of many tools to learn. 'Open' is worth emphasising for architects worried about lock-in. Then transition: now that we know what and why, let's open the hood — Module 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opener — the technical heart of the session. Set the tone for a mixed audience: we'll start with the big architectural picture (control vs compute plane), then zoom into Spark, clusters, Delta Lake, the medallion pattern, governance, and finally trace data end to end. Tell beginners to focus on the shapes and arrows; tell engineers and architects the detail they want is coming.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keystone. Two planes. The CONTROL PLANE is run by Databricks and holds the things you click and manage — the web UI, notebooks, job scheduler, cluster manager and Unity Catalog. It contains no customer data; it orchestrates. The COMPUTE PLANE is where processing happens: clusters made of a Driver plus Workers running Spark. Crucially, your data lives in YOUR cloud storage and is read by compute — it doesn't get shipped to Databricks. Note terminology: the compute plane was historically called the 'data plane'; Databricks now says compute plane, with two flavours — classic (runs in your cloud VPC) and serverless (Databricks manages the machines). This separation is why Databricks is secure and scalable.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Spark with the orchestra analogy: the Driver is the conductor with the score (the plan); the Cluster Manager hands out chairs and instruments (resources); the Executors are the players performing in parallel. The key intuition for beginners is parallelism — Spark splits a huge dataset into partitions and works on many at once, which is why it's fast on data a single machine couldn't handle. The right-hand steps trace one job end to end. Tie back: this Driver-plus-Workers cluster is exactly what sits in the compute plane from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 Lake is the technology that makes the Lakehouse possible — keep that link explicit. A Delta table is just normal Parquet data files PLUS a transaction log (the _delta_log folder) that records every change. That log is what turns a messy data lake into something reliable: ACID transactions (no half-written results), time travel (query yesterday's version or undo a bad load), schema enforcement (reject malformed data), and one table that serves both streaming and batch. And it all sits on cheap, open cloud storage — no proprietary database required. If someone asks 'why not just a warehouse?', this is the answer: warehouse reliability on open lake storage.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clusters — they're just rented cloud machines running Spark, and the skill is turning them on and off wisely. Two main types: an ALL-PURPOSE cluster is interactive and shared — you and your teammates attach notebooks to it and explore; it stays warm while you work. A JOB cluster is created on demand for a single scheduled job and destroyed the moment it finishes — that's the cheap, clean way to run production pipelines. Autoscaling means you set a minimum and maximum number of workers and Databricks adds or removes machines with the workload, so you don't pay for idle capacity. Finally, classic vs serverless: classic compute runs inside your own cloud account and takes a few minutes to spin up; serverless is managed by Databricks and starts in seconds. Land the cost tip — auto-terminate and job clusters are the two easiest ways to control spend.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Unity Catalog is Databricks' governance layer — the single place you control and track data, no matter how many workspaces you run. First, the three-level namespace: every object is addressed as catalog.schema.table (for example main.sales.orders). A catalog is a top-level container — often one per team or per environment like dev/prod; a schema groups related tables and views; and tables or views hold the actual data. Because everything lives in one model, you get four things for free: fine-grained access control (grant permissions right down to specific rows and columns), automatic data lineage (a map of where each table came from and what depends on it — invaluable when something breaks or for audits), audit logs (who queried what and when), and discovery (one searchable catalog so people find trusted data instead of re-inventing it). The headline: define a rule once and it applies everywhere.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 take a breath and connect every dot from the day. Read the top row left to right: data starts in SOURCES (operational databases, apps, files, streaming events). It's INGESTED in batch or real time, then refined through BRONZE → SILVER → GOLD — the medallion pattern. Finally it's CONSUMED by dashboards, SQL and machine learning. Now the three layers underneath, which is the architecture story: APACHE SPARK running on clusters is the engine that does the ingesting and transforming at every stage. DELTA LAKE is where each layer physically lives — open Delta tables sitting on your own cheap cloud storage. And UNITY CATALOG wraps the whole thing in one consistent layer of security, lineage and audit. So: Spark is the muscle, Delta is the storage, Unity Catalog is the rulebook, and the medallion flow is how data climbs from raw to valuable. If someone remembers only one slide, make it this 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congratulating the audience and recapping the six pillars shown as icons. Point to the self-study resources — the official docs, Databricks Academy (free role-based learning paths and certifications), and the free Community Edition / Express tier where they can practice hands-on. Invite questions and offer to go deeper on any architecture topic. If this is part of a series, preview the next session (e.g., hands-on notebooks, Delta Live Tables / Lakeflow, or Mosaic AI).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0959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8.png"/><Relationship Id="rId7"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9.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1.png"/><Relationship Id="rId10" Type="http://schemas.openxmlformats.org/officeDocument/2006/relationships/image" Target="../media/image5.png"/><Relationship Id="rId4" Type="http://schemas.openxmlformats.org/officeDocument/2006/relationships/image" Target="../media/image22.png"/><Relationship Id="rId9"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7.png"/><Relationship Id="rId7"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2.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22.png"/><Relationship Id="rId4" Type="http://schemas.openxmlformats.org/officeDocument/2006/relationships/image" Target="../media/image41.png"/><Relationship Id="rId9" Type="http://schemas.openxmlformats.org/officeDocument/2006/relationships/image" Target="../media/image44.png"/></Relationships>
</file>

<file path=ppt/slides/_rels/slide2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9.png"/><Relationship Id="rId5" Type="http://schemas.openxmlformats.org/officeDocument/2006/relationships/image" Target="../media/image15.png"/><Relationship Id="rId10" Type="http://schemas.openxmlformats.org/officeDocument/2006/relationships/image" Target="../media/image27.png"/><Relationship Id="rId4" Type="http://schemas.openxmlformats.org/officeDocument/2006/relationships/image" Target="../media/image46.png"/><Relationship Id="rId9"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1.png"/><Relationship Id="rId7"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42.png"/><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49.png"/><Relationship Id="rId7" Type="http://schemas.openxmlformats.org/officeDocument/2006/relationships/image" Target="../media/image6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61.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1.png"/><Relationship Id="rId7"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41.png"/><Relationship Id="rId7"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42.png"/><Relationship Id="rId10" Type="http://schemas.openxmlformats.org/officeDocument/2006/relationships/image" Target="../media/image69.png"/><Relationship Id="rId4" Type="http://schemas.openxmlformats.org/officeDocument/2006/relationships/image" Target="../media/image58.png"/><Relationship Id="rId9"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7.png"/><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9.png"/><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42.png"/><Relationship Id="rId7"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41.png"/><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41.png"/><Relationship Id="rId7" Type="http://schemas.openxmlformats.org/officeDocument/2006/relationships/image" Target="../media/image11.png"/><Relationship Id="rId12" Type="http://schemas.openxmlformats.org/officeDocument/2006/relationships/image" Target="../media/image66.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8.png"/><Relationship Id="rId5" Type="http://schemas.openxmlformats.org/officeDocument/2006/relationships/image" Target="../media/image42.png"/><Relationship Id="rId10" Type="http://schemas.openxmlformats.org/officeDocument/2006/relationships/image" Target="../media/image69.png"/><Relationship Id="rId4" Type="http://schemas.openxmlformats.org/officeDocument/2006/relationships/image" Target="../media/image58.png"/><Relationship Id="rId9" Type="http://schemas.openxmlformats.org/officeDocument/2006/relationships/image" Target="../media/image2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36.png"/><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76.png"/><Relationship Id="rId4" Type="http://schemas.openxmlformats.org/officeDocument/2006/relationships/image" Target="../media/image7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79.png"/><Relationship Id="rId7" Type="http://schemas.openxmlformats.org/officeDocument/2006/relationships/image" Target="../media/image36.png"/><Relationship Id="rId12" Type="http://schemas.openxmlformats.org/officeDocument/2006/relationships/image" Target="../media/image66.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73.png"/><Relationship Id="rId11" Type="http://schemas.openxmlformats.org/officeDocument/2006/relationships/image" Target="../media/image82.png"/><Relationship Id="rId5" Type="http://schemas.openxmlformats.org/officeDocument/2006/relationships/image" Target="../media/image77.png"/><Relationship Id="rId10" Type="http://schemas.openxmlformats.org/officeDocument/2006/relationships/image" Target="../media/image9.png"/><Relationship Id="rId4" Type="http://schemas.openxmlformats.org/officeDocument/2006/relationships/image" Target="../media/image80.png"/><Relationship Id="rId9" Type="http://schemas.openxmlformats.org/officeDocument/2006/relationships/image" Target="../media/image8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4"/>
        </a:solidFill>
        <a:effectLst/>
      </p:bgPr>
    </p:bg>
    <p:spTree>
      <p:nvGrpSpPr>
        <p:cNvPr id="1" name=""/>
        <p:cNvGrpSpPr/>
        <p:nvPr/>
      </p:nvGrpSpPr>
      <p:grpSpPr>
        <a:xfrm>
          <a:off x="0" y="0"/>
          <a:ext cx="0" cy="0"/>
          <a:chOff x="0" y="0"/>
          <a:chExt cx="0" cy="0"/>
        </a:xfrm>
      </p:grpSpPr>
      <p:sp>
        <p:nvSpPr>
          <p:cNvPr id="2" name="Shape 0"/>
          <p:cNvSpPr/>
          <p:nvPr/>
        </p:nvSpPr>
        <p:spPr>
          <a:xfrm>
            <a:off x="8823960" y="1051560"/>
            <a:ext cx="841248" cy="841248"/>
          </a:xfrm>
          <a:prstGeom prst="roundRect">
            <a:avLst>
              <a:gd name="adj" fmla="val 8696"/>
            </a:avLst>
          </a:prstGeom>
          <a:solidFill>
            <a:srgbClr val="FF3621">
              <a:alpha val="82000"/>
            </a:srgbClr>
          </a:solidFill>
          <a:ln/>
        </p:spPr>
        <p:txBody>
          <a:bodyPr/>
          <a:lstStyle/>
          <a:p>
            <a:endParaRPr lang="en-US"/>
          </a:p>
        </p:txBody>
      </p:sp>
      <p:sp>
        <p:nvSpPr>
          <p:cNvPr id="3" name="Shape 1"/>
          <p:cNvSpPr/>
          <p:nvPr/>
        </p:nvSpPr>
        <p:spPr>
          <a:xfrm>
            <a:off x="9921240" y="1051560"/>
            <a:ext cx="841248" cy="841248"/>
          </a:xfrm>
          <a:prstGeom prst="roundRect">
            <a:avLst>
              <a:gd name="adj" fmla="val 8696"/>
            </a:avLst>
          </a:prstGeom>
          <a:solidFill>
            <a:srgbClr val="0E1B24"/>
          </a:solidFill>
          <a:ln w="15875">
            <a:solidFill>
              <a:srgbClr val="20404C"/>
            </a:solidFill>
            <a:prstDash val="solid"/>
          </a:ln>
        </p:spPr>
        <p:txBody>
          <a:bodyPr/>
          <a:lstStyle/>
          <a:p>
            <a:endParaRPr lang="en-US"/>
          </a:p>
        </p:txBody>
      </p:sp>
      <p:sp>
        <p:nvSpPr>
          <p:cNvPr id="4" name="Shape 2"/>
          <p:cNvSpPr/>
          <p:nvPr/>
        </p:nvSpPr>
        <p:spPr>
          <a:xfrm>
            <a:off x="11018520" y="1051560"/>
            <a:ext cx="841248" cy="841248"/>
          </a:xfrm>
          <a:prstGeom prst="roundRect">
            <a:avLst>
              <a:gd name="adj" fmla="val 8696"/>
            </a:avLst>
          </a:prstGeom>
          <a:solidFill>
            <a:srgbClr val="0E7C8B">
              <a:alpha val="70000"/>
            </a:srgbClr>
          </a:solidFill>
          <a:ln/>
        </p:spPr>
        <p:txBody>
          <a:bodyPr/>
          <a:lstStyle/>
          <a:p>
            <a:endParaRPr lang="en-US"/>
          </a:p>
        </p:txBody>
      </p:sp>
      <p:sp>
        <p:nvSpPr>
          <p:cNvPr id="5" name="Shape 3"/>
          <p:cNvSpPr/>
          <p:nvPr/>
        </p:nvSpPr>
        <p:spPr>
          <a:xfrm>
            <a:off x="8823960" y="2148840"/>
            <a:ext cx="841248" cy="841248"/>
          </a:xfrm>
          <a:prstGeom prst="roundRect">
            <a:avLst>
              <a:gd name="adj" fmla="val 8696"/>
            </a:avLst>
          </a:prstGeom>
          <a:solidFill>
            <a:srgbClr val="0E1B24"/>
          </a:solidFill>
          <a:ln w="15875">
            <a:solidFill>
              <a:srgbClr val="20404C"/>
            </a:solidFill>
            <a:prstDash val="solid"/>
          </a:ln>
        </p:spPr>
        <p:txBody>
          <a:bodyPr/>
          <a:lstStyle/>
          <a:p>
            <a:endParaRPr lang="en-US"/>
          </a:p>
        </p:txBody>
      </p:sp>
      <p:sp>
        <p:nvSpPr>
          <p:cNvPr id="6" name="Shape 4"/>
          <p:cNvSpPr/>
          <p:nvPr/>
        </p:nvSpPr>
        <p:spPr>
          <a:xfrm>
            <a:off x="9921240" y="2148840"/>
            <a:ext cx="841248" cy="841248"/>
          </a:xfrm>
          <a:prstGeom prst="roundRect">
            <a:avLst>
              <a:gd name="adj" fmla="val 8696"/>
            </a:avLst>
          </a:prstGeom>
          <a:solidFill>
            <a:srgbClr val="0E7C8B">
              <a:alpha val="70000"/>
            </a:srgbClr>
          </a:solidFill>
          <a:ln/>
        </p:spPr>
        <p:txBody>
          <a:bodyPr/>
          <a:lstStyle/>
          <a:p>
            <a:endParaRPr lang="en-US"/>
          </a:p>
        </p:txBody>
      </p:sp>
      <p:sp>
        <p:nvSpPr>
          <p:cNvPr id="7" name="Shape 5"/>
          <p:cNvSpPr/>
          <p:nvPr/>
        </p:nvSpPr>
        <p:spPr>
          <a:xfrm>
            <a:off x="11018520" y="2148840"/>
            <a:ext cx="841248" cy="841248"/>
          </a:xfrm>
          <a:prstGeom prst="roundRect">
            <a:avLst>
              <a:gd name="adj" fmla="val 8696"/>
            </a:avLst>
          </a:prstGeom>
          <a:solidFill>
            <a:srgbClr val="FF3621">
              <a:alpha val="82000"/>
            </a:srgbClr>
          </a:solidFill>
          <a:ln/>
        </p:spPr>
        <p:txBody>
          <a:bodyPr/>
          <a:lstStyle/>
          <a:p>
            <a:endParaRPr lang="en-US"/>
          </a:p>
        </p:txBody>
      </p:sp>
      <p:sp>
        <p:nvSpPr>
          <p:cNvPr id="8" name="Shape 6"/>
          <p:cNvSpPr/>
          <p:nvPr/>
        </p:nvSpPr>
        <p:spPr>
          <a:xfrm>
            <a:off x="8823960" y="3246120"/>
            <a:ext cx="841248" cy="841248"/>
          </a:xfrm>
          <a:prstGeom prst="roundRect">
            <a:avLst>
              <a:gd name="adj" fmla="val 8696"/>
            </a:avLst>
          </a:prstGeom>
          <a:solidFill>
            <a:srgbClr val="0E7C8B">
              <a:alpha val="70000"/>
            </a:srgbClr>
          </a:solidFill>
          <a:ln/>
        </p:spPr>
        <p:txBody>
          <a:bodyPr/>
          <a:lstStyle/>
          <a:p>
            <a:endParaRPr lang="en-US"/>
          </a:p>
        </p:txBody>
      </p:sp>
      <p:sp>
        <p:nvSpPr>
          <p:cNvPr id="9" name="Shape 7"/>
          <p:cNvSpPr/>
          <p:nvPr/>
        </p:nvSpPr>
        <p:spPr>
          <a:xfrm>
            <a:off x="9921240" y="3246120"/>
            <a:ext cx="841248" cy="841248"/>
          </a:xfrm>
          <a:prstGeom prst="roundRect">
            <a:avLst>
              <a:gd name="adj" fmla="val 8696"/>
            </a:avLst>
          </a:prstGeom>
          <a:solidFill>
            <a:srgbClr val="FF3621">
              <a:alpha val="82000"/>
            </a:srgbClr>
          </a:solidFill>
          <a:ln/>
        </p:spPr>
        <p:txBody>
          <a:bodyPr/>
          <a:lstStyle/>
          <a:p>
            <a:endParaRPr lang="en-US"/>
          </a:p>
        </p:txBody>
      </p:sp>
      <p:sp>
        <p:nvSpPr>
          <p:cNvPr id="10" name="Shape 8"/>
          <p:cNvSpPr/>
          <p:nvPr/>
        </p:nvSpPr>
        <p:spPr>
          <a:xfrm>
            <a:off x="11018520" y="3246120"/>
            <a:ext cx="841248" cy="841248"/>
          </a:xfrm>
          <a:prstGeom prst="roundRect">
            <a:avLst>
              <a:gd name="adj" fmla="val 8696"/>
            </a:avLst>
          </a:prstGeom>
          <a:solidFill>
            <a:srgbClr val="0E1B24"/>
          </a:solidFill>
          <a:ln w="15875">
            <a:solidFill>
              <a:srgbClr val="20404C"/>
            </a:solidFill>
            <a:prstDash val="solid"/>
          </a:ln>
        </p:spPr>
        <p:txBody>
          <a:bodyPr/>
          <a:lstStyle/>
          <a:p>
            <a:endParaRPr lang="en-US"/>
          </a:p>
        </p:txBody>
      </p:sp>
      <p:sp>
        <p:nvSpPr>
          <p:cNvPr id="11" name="Shape 9"/>
          <p:cNvSpPr/>
          <p:nvPr/>
        </p:nvSpPr>
        <p:spPr>
          <a:xfrm>
            <a:off x="548640" y="2212848"/>
            <a:ext cx="457200" cy="155448"/>
          </a:xfrm>
          <a:prstGeom prst="rect">
            <a:avLst/>
          </a:prstGeom>
          <a:solidFill>
            <a:srgbClr val="FF3621"/>
          </a:solidFill>
          <a:ln/>
        </p:spPr>
        <p:txBody>
          <a:bodyPr/>
          <a:lstStyle/>
          <a:p>
            <a:endParaRPr lang="en-US"/>
          </a:p>
        </p:txBody>
      </p:sp>
      <p:sp>
        <p:nvSpPr>
          <p:cNvPr id="13" name="Text 11"/>
          <p:cNvSpPr/>
          <p:nvPr/>
        </p:nvSpPr>
        <p:spPr>
          <a:xfrm>
            <a:off x="472799" y="2542032"/>
            <a:ext cx="7685083" cy="1828800"/>
          </a:xfrm>
          <a:prstGeom prst="rect">
            <a:avLst/>
          </a:prstGeom>
          <a:noFill/>
          <a:ln/>
        </p:spPr>
        <p:txBody>
          <a:bodyPr wrap="square" lIns="0" tIns="0" rIns="0" bIns="0" rtlCol="0" anchor="ctr"/>
          <a:lstStyle/>
          <a:p>
            <a:pPr marL="0" indent="0">
              <a:lnSpc>
                <a:spcPct val="98000"/>
              </a:lnSpc>
              <a:buNone/>
            </a:pPr>
            <a:r>
              <a:rPr lang="en-US" sz="5000" b="1" dirty="0">
                <a:solidFill>
                  <a:srgbClr val="FFFFFF"/>
                </a:solidFill>
                <a:latin typeface="Trebuchet MS" pitchFamily="34" charset="0"/>
                <a:ea typeface="Trebuchet MS" pitchFamily="34" charset="-122"/>
                <a:cs typeface="Trebuchet MS" pitchFamily="34" charset="-120"/>
              </a:rPr>
              <a:t>Big Data Fundamentals &amp;
</a:t>
            </a:r>
            <a:endParaRPr lang="en-US" sz="5000" dirty="0"/>
          </a:p>
          <a:p>
            <a:pPr marL="0" indent="0">
              <a:lnSpc>
                <a:spcPct val="98000"/>
              </a:lnSpc>
              <a:buNone/>
            </a:pPr>
            <a:r>
              <a:rPr lang="en-US" sz="5000" b="1" dirty="0">
                <a:solidFill>
                  <a:srgbClr val="FF3621"/>
                </a:solidFill>
                <a:latin typeface="Trebuchet MS" pitchFamily="34" charset="0"/>
                <a:ea typeface="Trebuchet MS" pitchFamily="34" charset="-122"/>
                <a:cs typeface="Trebuchet MS" pitchFamily="34" charset="-120"/>
              </a:rPr>
              <a:t>Databricks</a:t>
            </a:r>
            <a:endParaRPr lang="en-US" sz="5000" dirty="0"/>
          </a:p>
        </p:txBody>
      </p:sp>
      <p:sp>
        <p:nvSpPr>
          <p:cNvPr id="14" name="Text 12"/>
          <p:cNvSpPr/>
          <p:nvPr/>
        </p:nvSpPr>
        <p:spPr>
          <a:xfrm>
            <a:off x="548640" y="4498848"/>
            <a:ext cx="7498080" cy="548640"/>
          </a:xfrm>
          <a:prstGeom prst="rect">
            <a:avLst/>
          </a:prstGeom>
          <a:noFill/>
          <a:ln/>
        </p:spPr>
        <p:txBody>
          <a:bodyPr wrap="square" lIns="0" tIns="0" rIns="0" bIns="0" rtlCol="0" anchor="ctr"/>
          <a:lstStyle/>
          <a:p>
            <a:pPr marL="0" indent="0">
              <a:buNone/>
            </a:pPr>
            <a:r>
              <a:rPr lang="en-US" sz="1600" dirty="0">
                <a:solidFill>
                  <a:srgbClr val="C7D2D8"/>
                </a:solidFill>
                <a:latin typeface="Calibri" pitchFamily="34" charset="0"/>
                <a:ea typeface="Calibri" pitchFamily="34" charset="-122"/>
                <a:cs typeface="Calibri" pitchFamily="34" charset="-120"/>
              </a:rPr>
              <a:t>Foundations of Big Data, the Databricks platform, and modern data architecture.</a:t>
            </a:r>
            <a:endParaRPr lang="en-US" sz="1600" dirty="0"/>
          </a:p>
        </p:txBody>
      </p:sp>
      <p:sp>
        <p:nvSpPr>
          <p:cNvPr id="15" name="Shape 13"/>
          <p:cNvSpPr/>
          <p:nvPr/>
        </p:nvSpPr>
        <p:spPr>
          <a:xfrm>
            <a:off x="548640" y="5440680"/>
            <a:ext cx="7040880" cy="0"/>
          </a:xfrm>
          <a:prstGeom prst="line">
            <a:avLst/>
          </a:prstGeom>
          <a:noFill/>
          <a:ln w="12700">
            <a:solidFill>
              <a:srgbClr val="20404C"/>
            </a:solidFill>
            <a:prstDash val="solid"/>
          </a:ln>
        </p:spPr>
        <p:txBody>
          <a:bodyPr/>
          <a:lstStyle/>
          <a:p>
            <a:endParaRPr lang="en-US"/>
          </a:p>
        </p:txBody>
      </p:sp>
      <p:sp>
        <p:nvSpPr>
          <p:cNvPr id="16" name="Text 14"/>
          <p:cNvSpPr/>
          <p:nvPr/>
        </p:nvSpPr>
        <p:spPr>
          <a:xfrm>
            <a:off x="548640" y="5596128"/>
            <a:ext cx="105156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3 Modules</a:t>
            </a:r>
            <a:r>
              <a:rPr lang="en-US" sz="1300" dirty="0">
                <a:solidFill>
                  <a:srgbClr val="8597A0"/>
                </a:solidFill>
                <a:latin typeface="Calibri" pitchFamily="34" charset="0"/>
                <a:ea typeface="Calibri" pitchFamily="34" charset="-122"/>
                <a:cs typeface="Calibri" pitchFamily="34" charset="-120"/>
              </a:rPr>
              <a:t>   ·   Beginner → Intermediate   ·   Data Engineers · Analysts · Scientists · Architects</a:t>
            </a:r>
            <a:endParaRPr lang="en-US" sz="1300" dirty="0"/>
          </a:p>
        </p:txBody>
      </p:sp>
      <p:sp>
        <p:nvSpPr>
          <p:cNvPr id="17" name="Text 1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8597A0"/>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18" name="Text 1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8597A0"/>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WHAT WE'LL COVER</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Three modules, one data journey</a:t>
            </a:r>
            <a:endParaRPr lang="en-US" sz="2900" dirty="0"/>
          </a:p>
        </p:txBody>
      </p:sp>
      <p:sp>
        <p:nvSpPr>
          <p:cNvPr id="5" name="Shape 3"/>
          <p:cNvSpPr/>
          <p:nvPr/>
        </p:nvSpPr>
        <p:spPr>
          <a:xfrm>
            <a:off x="548640" y="1783080"/>
            <a:ext cx="3456432" cy="4160520"/>
          </a:xfrm>
          <a:prstGeom prst="roundRect">
            <a:avLst>
              <a:gd name="adj" fmla="val 264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548640" y="1783080"/>
            <a:ext cx="3456432" cy="109728"/>
          </a:xfrm>
          <a:prstGeom prst="rect">
            <a:avLst/>
          </a:prstGeom>
          <a:solidFill>
            <a:srgbClr val="FF3621"/>
          </a:solidFill>
          <a:ln/>
        </p:spPr>
        <p:txBody>
          <a:bodyPr/>
          <a:lstStyle/>
          <a:p>
            <a:endParaRPr lang="en-US"/>
          </a:p>
        </p:txBody>
      </p:sp>
      <p:sp>
        <p:nvSpPr>
          <p:cNvPr id="7" name="Shape 5"/>
          <p:cNvSpPr/>
          <p:nvPr/>
        </p:nvSpPr>
        <p:spPr>
          <a:xfrm>
            <a:off x="960120" y="2240280"/>
            <a:ext cx="841248" cy="841248"/>
          </a:xfrm>
          <a:prstGeom prst="ellipse">
            <a:avLst/>
          </a:prstGeom>
          <a:solidFill>
            <a:srgbClr val="0E1B2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70432" y="2450592"/>
            <a:ext cx="420624" cy="420624"/>
          </a:xfrm>
          <a:prstGeom prst="rect">
            <a:avLst/>
          </a:prstGeom>
        </p:spPr>
      </p:pic>
      <p:sp>
        <p:nvSpPr>
          <p:cNvPr id="9" name="Shape 6"/>
          <p:cNvSpPr/>
          <p:nvPr/>
        </p:nvSpPr>
        <p:spPr>
          <a:xfrm>
            <a:off x="3090672" y="2240280"/>
            <a:ext cx="548640" cy="548640"/>
          </a:xfrm>
          <a:prstGeom prst="ellipse">
            <a:avLst/>
          </a:prstGeom>
          <a:solidFill>
            <a:srgbClr val="F2F5F6"/>
          </a:solidFill>
          <a:ln w="12700">
            <a:solidFill>
              <a:srgbClr val="DDE4E7"/>
            </a:solidFill>
            <a:prstDash val="solid"/>
          </a:ln>
        </p:spPr>
        <p:txBody>
          <a:bodyPr/>
          <a:lstStyle/>
          <a:p>
            <a:endParaRPr lang="en-US"/>
          </a:p>
        </p:txBody>
      </p:sp>
      <p:sp>
        <p:nvSpPr>
          <p:cNvPr id="10" name="Text 7"/>
          <p:cNvSpPr/>
          <p:nvPr/>
        </p:nvSpPr>
        <p:spPr>
          <a:xfrm>
            <a:off x="3090672" y="2240280"/>
            <a:ext cx="548640" cy="548640"/>
          </a:xfrm>
          <a:prstGeom prst="rect">
            <a:avLst/>
          </a:prstGeom>
          <a:noFill/>
          <a:ln/>
        </p:spPr>
        <p:txBody>
          <a:bodyPr wrap="square" lIns="0" tIns="0" rIns="0" bIns="0" rtlCol="0" anchor="ctr"/>
          <a:lstStyle/>
          <a:p>
            <a:pPr marL="0" indent="0" algn="ctr">
              <a:buNone/>
            </a:pPr>
            <a:r>
              <a:rPr lang="en-US" sz="2200" b="1" dirty="0">
                <a:solidFill>
                  <a:srgbClr val="FF3621"/>
                </a:solidFill>
                <a:latin typeface="Trebuchet MS" pitchFamily="34" charset="0"/>
                <a:ea typeface="Trebuchet MS" pitchFamily="34" charset="-122"/>
                <a:cs typeface="Trebuchet MS" pitchFamily="34" charset="-120"/>
              </a:rPr>
              <a:t>1</a:t>
            </a:r>
            <a:endParaRPr lang="en-US" sz="2200" dirty="0"/>
          </a:p>
        </p:txBody>
      </p:sp>
      <p:sp>
        <p:nvSpPr>
          <p:cNvPr id="11" name="Text 8"/>
          <p:cNvSpPr/>
          <p:nvPr/>
        </p:nvSpPr>
        <p:spPr>
          <a:xfrm>
            <a:off x="960120" y="3264408"/>
            <a:ext cx="2724912" cy="256032"/>
          </a:xfrm>
          <a:prstGeom prst="rect">
            <a:avLst/>
          </a:prstGeom>
          <a:noFill/>
          <a:ln/>
        </p:spPr>
        <p:txBody>
          <a:bodyPr wrap="square" lIns="0" tIns="0" rIns="0" bIns="0" rtlCol="0" anchor="ctr"/>
          <a:lstStyle/>
          <a:p>
            <a:pPr marL="0" indent="0">
              <a:buNone/>
            </a:pPr>
            <a:r>
              <a:rPr lang="en-US" sz="1100" b="1" kern="0" spc="200" dirty="0">
                <a:solidFill>
                  <a:srgbClr val="7C8A91"/>
                </a:solidFill>
                <a:latin typeface="Calibri" pitchFamily="34" charset="0"/>
                <a:ea typeface="Calibri" pitchFamily="34" charset="-122"/>
                <a:cs typeface="Calibri" pitchFamily="34" charset="-120"/>
              </a:rPr>
              <a:t>MODULE 1</a:t>
            </a:r>
            <a:endParaRPr lang="en-US" sz="1100" dirty="0"/>
          </a:p>
        </p:txBody>
      </p:sp>
      <p:sp>
        <p:nvSpPr>
          <p:cNvPr id="12" name="Text 9"/>
          <p:cNvSpPr/>
          <p:nvPr/>
        </p:nvSpPr>
        <p:spPr>
          <a:xfrm>
            <a:off x="960120" y="3520440"/>
            <a:ext cx="2724912" cy="713232"/>
          </a:xfrm>
          <a:prstGeom prst="rect">
            <a:avLst/>
          </a:prstGeom>
          <a:noFill/>
          <a:ln/>
        </p:spPr>
        <p:txBody>
          <a:bodyPr wrap="square" lIns="0" tIns="0" rIns="0" bIns="0" rtlCol="0" anchor="ctr"/>
          <a:lstStyle/>
          <a:p>
            <a:pPr marL="0" indent="0">
              <a:buNone/>
            </a:pPr>
            <a:r>
              <a:rPr lang="en-US" sz="1900" b="1" dirty="0">
                <a:solidFill>
                  <a:srgbClr val="13242E"/>
                </a:solidFill>
                <a:latin typeface="Trebuchet MS" pitchFamily="34" charset="0"/>
                <a:ea typeface="Trebuchet MS" pitchFamily="34" charset="-122"/>
                <a:cs typeface="Trebuchet MS" pitchFamily="34" charset="-120"/>
              </a:rPr>
              <a:t>Big Data Fundamentals</a:t>
            </a:r>
            <a:endParaRPr lang="en-US" sz="1900" dirty="0"/>
          </a:p>
        </p:txBody>
      </p:sp>
      <p:sp>
        <p:nvSpPr>
          <p:cNvPr id="13" name="Text 10"/>
          <p:cNvSpPr/>
          <p:nvPr/>
        </p:nvSpPr>
        <p:spPr>
          <a:xfrm>
            <a:off x="1005840" y="4325112"/>
            <a:ext cx="2633472" cy="1463040"/>
          </a:xfrm>
          <a:prstGeom prst="rect">
            <a:avLst/>
          </a:prstGeom>
          <a:noFill/>
          <a:ln/>
        </p:spPr>
        <p:txBody>
          <a:bodyPr wrap="square" lIns="0" tIns="0" rIns="0" bIns="0" rtlCol="0" anchor="ctr"/>
          <a:lstStyle/>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What Big Data really means</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The 5 Vs that define it</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Traditional data vs Big Data</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Challenges &amp; the ecosystem</a:t>
            </a:r>
            <a:endParaRPr lang="en-US" sz="1250" dirty="0"/>
          </a:p>
        </p:txBody>
      </p:sp>
      <p:sp>
        <p:nvSpPr>
          <p:cNvPr id="14" name="Shape 11"/>
          <p:cNvSpPr/>
          <p:nvPr/>
        </p:nvSpPr>
        <p:spPr>
          <a:xfrm>
            <a:off x="4367632" y="1783080"/>
            <a:ext cx="3456432" cy="4160520"/>
          </a:xfrm>
          <a:prstGeom prst="roundRect">
            <a:avLst>
              <a:gd name="adj" fmla="val 264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4367632" y="1783080"/>
            <a:ext cx="3456432" cy="109728"/>
          </a:xfrm>
          <a:prstGeom prst="rect">
            <a:avLst/>
          </a:prstGeom>
          <a:solidFill>
            <a:srgbClr val="FF3621"/>
          </a:solidFill>
          <a:ln/>
        </p:spPr>
        <p:txBody>
          <a:bodyPr/>
          <a:lstStyle/>
          <a:p>
            <a:endParaRPr lang="en-US"/>
          </a:p>
        </p:txBody>
      </p:sp>
      <p:sp>
        <p:nvSpPr>
          <p:cNvPr id="16" name="Shape 13"/>
          <p:cNvSpPr/>
          <p:nvPr/>
        </p:nvSpPr>
        <p:spPr>
          <a:xfrm>
            <a:off x="4779112" y="2240280"/>
            <a:ext cx="841248" cy="841248"/>
          </a:xfrm>
          <a:prstGeom prst="ellipse">
            <a:avLst/>
          </a:prstGeom>
          <a:solidFill>
            <a:srgbClr val="0E1B24"/>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989424" y="2450592"/>
            <a:ext cx="420624" cy="420624"/>
          </a:xfrm>
          <a:prstGeom prst="rect">
            <a:avLst/>
          </a:prstGeom>
        </p:spPr>
      </p:pic>
      <p:sp>
        <p:nvSpPr>
          <p:cNvPr id="18" name="Shape 14"/>
          <p:cNvSpPr/>
          <p:nvPr/>
        </p:nvSpPr>
        <p:spPr>
          <a:xfrm>
            <a:off x="6909664" y="2240280"/>
            <a:ext cx="548640" cy="548640"/>
          </a:xfrm>
          <a:prstGeom prst="ellipse">
            <a:avLst/>
          </a:prstGeom>
          <a:solidFill>
            <a:srgbClr val="F2F5F6"/>
          </a:solidFill>
          <a:ln w="12700">
            <a:solidFill>
              <a:srgbClr val="DDE4E7"/>
            </a:solidFill>
            <a:prstDash val="solid"/>
          </a:ln>
        </p:spPr>
        <p:txBody>
          <a:bodyPr/>
          <a:lstStyle/>
          <a:p>
            <a:endParaRPr lang="en-US"/>
          </a:p>
        </p:txBody>
      </p:sp>
      <p:sp>
        <p:nvSpPr>
          <p:cNvPr id="19" name="Text 15"/>
          <p:cNvSpPr/>
          <p:nvPr/>
        </p:nvSpPr>
        <p:spPr>
          <a:xfrm>
            <a:off x="6909664" y="2240280"/>
            <a:ext cx="548640" cy="548640"/>
          </a:xfrm>
          <a:prstGeom prst="rect">
            <a:avLst/>
          </a:prstGeom>
          <a:noFill/>
          <a:ln/>
        </p:spPr>
        <p:txBody>
          <a:bodyPr wrap="square" lIns="0" tIns="0" rIns="0" bIns="0" rtlCol="0" anchor="ctr"/>
          <a:lstStyle/>
          <a:p>
            <a:pPr marL="0" indent="0" algn="ctr">
              <a:buNone/>
            </a:pPr>
            <a:r>
              <a:rPr lang="en-US" sz="2200" b="1" dirty="0">
                <a:solidFill>
                  <a:srgbClr val="FF3621"/>
                </a:solidFill>
                <a:latin typeface="Trebuchet MS" pitchFamily="34" charset="0"/>
                <a:ea typeface="Trebuchet MS" pitchFamily="34" charset="-122"/>
                <a:cs typeface="Trebuchet MS" pitchFamily="34" charset="-120"/>
              </a:rPr>
              <a:t>2</a:t>
            </a:r>
            <a:endParaRPr lang="en-US" sz="2200" dirty="0"/>
          </a:p>
        </p:txBody>
      </p:sp>
      <p:sp>
        <p:nvSpPr>
          <p:cNvPr id="20" name="Text 16"/>
          <p:cNvSpPr/>
          <p:nvPr/>
        </p:nvSpPr>
        <p:spPr>
          <a:xfrm>
            <a:off x="4779112" y="3264408"/>
            <a:ext cx="2724912" cy="256032"/>
          </a:xfrm>
          <a:prstGeom prst="rect">
            <a:avLst/>
          </a:prstGeom>
          <a:noFill/>
          <a:ln/>
        </p:spPr>
        <p:txBody>
          <a:bodyPr wrap="square" lIns="0" tIns="0" rIns="0" bIns="0" rtlCol="0" anchor="ctr"/>
          <a:lstStyle/>
          <a:p>
            <a:pPr marL="0" indent="0">
              <a:buNone/>
            </a:pPr>
            <a:r>
              <a:rPr lang="en-US" sz="1100" b="1" kern="0" spc="200" dirty="0">
                <a:solidFill>
                  <a:srgbClr val="7C8A91"/>
                </a:solidFill>
                <a:latin typeface="Calibri" pitchFamily="34" charset="0"/>
                <a:ea typeface="Calibri" pitchFamily="34" charset="-122"/>
                <a:cs typeface="Calibri" pitchFamily="34" charset="-120"/>
              </a:rPr>
              <a:t>MODULE 2</a:t>
            </a:r>
            <a:endParaRPr lang="en-US" sz="1100" dirty="0"/>
          </a:p>
        </p:txBody>
      </p:sp>
      <p:sp>
        <p:nvSpPr>
          <p:cNvPr id="21" name="Text 17"/>
          <p:cNvSpPr/>
          <p:nvPr/>
        </p:nvSpPr>
        <p:spPr>
          <a:xfrm>
            <a:off x="4779112" y="3520440"/>
            <a:ext cx="2724912" cy="713232"/>
          </a:xfrm>
          <a:prstGeom prst="rect">
            <a:avLst/>
          </a:prstGeom>
          <a:noFill/>
          <a:ln/>
        </p:spPr>
        <p:txBody>
          <a:bodyPr wrap="square" lIns="0" tIns="0" rIns="0" bIns="0" rtlCol="0" anchor="ctr"/>
          <a:lstStyle/>
          <a:p>
            <a:pPr marL="0" indent="0">
              <a:buNone/>
            </a:pPr>
            <a:r>
              <a:rPr lang="en-US" sz="1900" b="1" dirty="0">
                <a:solidFill>
                  <a:srgbClr val="13242E"/>
                </a:solidFill>
                <a:latin typeface="Trebuchet MS" pitchFamily="34" charset="0"/>
                <a:ea typeface="Trebuchet MS" pitchFamily="34" charset="-122"/>
                <a:cs typeface="Trebuchet MS" pitchFamily="34" charset="-120"/>
              </a:rPr>
              <a:t>Introduction to Databricks</a:t>
            </a:r>
            <a:endParaRPr lang="en-US" sz="1900" dirty="0"/>
          </a:p>
        </p:txBody>
      </p:sp>
      <p:sp>
        <p:nvSpPr>
          <p:cNvPr id="22" name="Text 18"/>
          <p:cNvSpPr/>
          <p:nvPr/>
        </p:nvSpPr>
        <p:spPr>
          <a:xfrm>
            <a:off x="4824832" y="4325112"/>
            <a:ext cx="2633472" cy="1463040"/>
          </a:xfrm>
          <a:prstGeom prst="rect">
            <a:avLst/>
          </a:prstGeom>
          <a:noFill/>
          <a:ln/>
        </p:spPr>
        <p:txBody>
          <a:bodyPr wrap="square" lIns="0" tIns="0" rIns="0" bIns="0" rtlCol="0" anchor="ctr"/>
          <a:lstStyle/>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What Databricks is &amp; why</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The Lakehouse concept</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One platform, every persona</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Core components &amp; benefits</a:t>
            </a:r>
            <a:endParaRPr lang="en-US" sz="1250" dirty="0"/>
          </a:p>
        </p:txBody>
      </p:sp>
      <p:sp>
        <p:nvSpPr>
          <p:cNvPr id="23" name="Shape 19"/>
          <p:cNvSpPr/>
          <p:nvPr/>
        </p:nvSpPr>
        <p:spPr>
          <a:xfrm>
            <a:off x="8186623" y="1783080"/>
            <a:ext cx="3456432" cy="4160520"/>
          </a:xfrm>
          <a:prstGeom prst="roundRect">
            <a:avLst>
              <a:gd name="adj" fmla="val 264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4" name="Shape 20"/>
          <p:cNvSpPr/>
          <p:nvPr/>
        </p:nvSpPr>
        <p:spPr>
          <a:xfrm>
            <a:off x="8186623" y="1783080"/>
            <a:ext cx="3456432" cy="109728"/>
          </a:xfrm>
          <a:prstGeom prst="rect">
            <a:avLst/>
          </a:prstGeom>
          <a:solidFill>
            <a:srgbClr val="FF3621"/>
          </a:solidFill>
          <a:ln/>
        </p:spPr>
        <p:txBody>
          <a:bodyPr/>
          <a:lstStyle/>
          <a:p>
            <a:endParaRPr lang="en-US"/>
          </a:p>
        </p:txBody>
      </p:sp>
      <p:sp>
        <p:nvSpPr>
          <p:cNvPr id="25" name="Shape 21"/>
          <p:cNvSpPr/>
          <p:nvPr/>
        </p:nvSpPr>
        <p:spPr>
          <a:xfrm>
            <a:off x="8598103" y="2240280"/>
            <a:ext cx="841248" cy="841248"/>
          </a:xfrm>
          <a:prstGeom prst="ellipse">
            <a:avLst/>
          </a:prstGeom>
          <a:solidFill>
            <a:srgbClr val="0E1B24"/>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8808415" y="2450592"/>
            <a:ext cx="420624" cy="420624"/>
          </a:xfrm>
          <a:prstGeom prst="rect">
            <a:avLst/>
          </a:prstGeom>
        </p:spPr>
      </p:pic>
      <p:sp>
        <p:nvSpPr>
          <p:cNvPr id="27" name="Shape 22"/>
          <p:cNvSpPr/>
          <p:nvPr/>
        </p:nvSpPr>
        <p:spPr>
          <a:xfrm>
            <a:off x="10728655" y="2240280"/>
            <a:ext cx="548640" cy="548640"/>
          </a:xfrm>
          <a:prstGeom prst="ellipse">
            <a:avLst/>
          </a:prstGeom>
          <a:solidFill>
            <a:srgbClr val="F2F5F6"/>
          </a:solidFill>
          <a:ln w="12700">
            <a:solidFill>
              <a:srgbClr val="DDE4E7"/>
            </a:solidFill>
            <a:prstDash val="solid"/>
          </a:ln>
        </p:spPr>
        <p:txBody>
          <a:bodyPr/>
          <a:lstStyle/>
          <a:p>
            <a:endParaRPr lang="en-US"/>
          </a:p>
        </p:txBody>
      </p:sp>
      <p:sp>
        <p:nvSpPr>
          <p:cNvPr id="28" name="Text 23"/>
          <p:cNvSpPr/>
          <p:nvPr/>
        </p:nvSpPr>
        <p:spPr>
          <a:xfrm>
            <a:off x="10728655" y="2240280"/>
            <a:ext cx="548640" cy="548640"/>
          </a:xfrm>
          <a:prstGeom prst="rect">
            <a:avLst/>
          </a:prstGeom>
          <a:noFill/>
          <a:ln/>
        </p:spPr>
        <p:txBody>
          <a:bodyPr wrap="square" lIns="0" tIns="0" rIns="0" bIns="0" rtlCol="0" anchor="ctr"/>
          <a:lstStyle/>
          <a:p>
            <a:pPr marL="0" indent="0" algn="ctr">
              <a:buNone/>
            </a:pPr>
            <a:r>
              <a:rPr lang="en-US" sz="2200" b="1" dirty="0">
                <a:solidFill>
                  <a:srgbClr val="FF3621"/>
                </a:solidFill>
                <a:latin typeface="Trebuchet MS" pitchFamily="34" charset="0"/>
                <a:ea typeface="Trebuchet MS" pitchFamily="34" charset="-122"/>
                <a:cs typeface="Trebuchet MS" pitchFamily="34" charset="-120"/>
              </a:rPr>
              <a:t>3</a:t>
            </a:r>
            <a:endParaRPr lang="en-US" sz="2200" dirty="0"/>
          </a:p>
        </p:txBody>
      </p:sp>
      <p:sp>
        <p:nvSpPr>
          <p:cNvPr id="29" name="Text 24"/>
          <p:cNvSpPr/>
          <p:nvPr/>
        </p:nvSpPr>
        <p:spPr>
          <a:xfrm>
            <a:off x="8598103" y="3264408"/>
            <a:ext cx="2724912" cy="256032"/>
          </a:xfrm>
          <a:prstGeom prst="rect">
            <a:avLst/>
          </a:prstGeom>
          <a:noFill/>
          <a:ln/>
        </p:spPr>
        <p:txBody>
          <a:bodyPr wrap="square" lIns="0" tIns="0" rIns="0" bIns="0" rtlCol="0" anchor="ctr"/>
          <a:lstStyle/>
          <a:p>
            <a:pPr marL="0" indent="0">
              <a:buNone/>
            </a:pPr>
            <a:r>
              <a:rPr lang="en-US" sz="1100" b="1" kern="0" spc="200" dirty="0">
                <a:solidFill>
                  <a:srgbClr val="7C8A91"/>
                </a:solidFill>
                <a:latin typeface="Calibri" pitchFamily="34" charset="0"/>
                <a:ea typeface="Calibri" pitchFamily="34" charset="-122"/>
                <a:cs typeface="Calibri" pitchFamily="34" charset="-120"/>
              </a:rPr>
              <a:t>MODULE 3</a:t>
            </a:r>
            <a:endParaRPr lang="en-US" sz="1100" dirty="0"/>
          </a:p>
        </p:txBody>
      </p:sp>
      <p:sp>
        <p:nvSpPr>
          <p:cNvPr id="30" name="Text 25"/>
          <p:cNvSpPr/>
          <p:nvPr/>
        </p:nvSpPr>
        <p:spPr>
          <a:xfrm>
            <a:off x="8598103" y="3520440"/>
            <a:ext cx="2724912" cy="713232"/>
          </a:xfrm>
          <a:prstGeom prst="rect">
            <a:avLst/>
          </a:prstGeom>
          <a:noFill/>
          <a:ln/>
        </p:spPr>
        <p:txBody>
          <a:bodyPr wrap="square" lIns="0" tIns="0" rIns="0" bIns="0" rtlCol="0" anchor="ctr"/>
          <a:lstStyle/>
          <a:p>
            <a:pPr marL="0" indent="0">
              <a:buNone/>
            </a:pPr>
            <a:r>
              <a:rPr lang="en-US" sz="1900" b="1" dirty="0">
                <a:solidFill>
                  <a:srgbClr val="13242E"/>
                </a:solidFill>
                <a:latin typeface="Trebuchet MS" pitchFamily="34" charset="0"/>
                <a:ea typeface="Trebuchet MS" pitchFamily="34" charset="-122"/>
                <a:cs typeface="Trebuchet MS" pitchFamily="34" charset="-120"/>
              </a:rPr>
              <a:t>Databricks Architecture</a:t>
            </a:r>
            <a:endParaRPr lang="en-US" sz="1900" dirty="0"/>
          </a:p>
        </p:txBody>
      </p:sp>
      <p:sp>
        <p:nvSpPr>
          <p:cNvPr id="31" name="Text 26"/>
          <p:cNvSpPr/>
          <p:nvPr/>
        </p:nvSpPr>
        <p:spPr>
          <a:xfrm>
            <a:off x="8643823" y="4325112"/>
            <a:ext cx="2633472" cy="1463040"/>
          </a:xfrm>
          <a:prstGeom prst="rect">
            <a:avLst/>
          </a:prstGeom>
          <a:noFill/>
          <a:ln/>
        </p:spPr>
        <p:txBody>
          <a:bodyPr wrap="square" lIns="0" tIns="0" rIns="0" bIns="0" rtlCol="0" anchor="ctr"/>
          <a:lstStyle/>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Control &amp; compute plane</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Spark engine &amp; clusters</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Delta Lake &amp; Medallion</a:t>
            </a:r>
            <a:endParaRPr lang="en-US" sz="1250" dirty="0"/>
          </a:p>
          <a:p>
            <a:pPr marL="177800" indent="-177800">
              <a:spcAft>
                <a:spcPts val="700"/>
              </a:spcAft>
              <a:buSzPct val="100000"/>
              <a:buChar char="•"/>
            </a:pPr>
            <a:r>
              <a:rPr lang="en-US" sz="1250" dirty="0">
                <a:solidFill>
                  <a:srgbClr val="38474F"/>
                </a:solidFill>
                <a:latin typeface="Calibri" pitchFamily="34" charset="0"/>
                <a:ea typeface="Calibri" pitchFamily="34" charset="-122"/>
                <a:cs typeface="Calibri" pitchFamily="34" charset="-120"/>
              </a:rPr>
              <a:t>Unity Catalog &amp; data flow</a:t>
            </a:r>
            <a:endParaRPr lang="en-US" sz="1250" dirty="0"/>
          </a:p>
        </p:txBody>
      </p:sp>
      <p:sp>
        <p:nvSpPr>
          <p:cNvPr id="32"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3" name="Text 2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24"/>
        </a:solidFill>
        <a:effectLst/>
      </p:bgPr>
    </p:bg>
    <p:spTree>
      <p:nvGrpSpPr>
        <p:cNvPr id="1" name=""/>
        <p:cNvGrpSpPr/>
        <p:nvPr/>
      </p:nvGrpSpPr>
      <p:grpSpPr>
        <a:xfrm>
          <a:off x="0" y="0"/>
          <a:ext cx="0" cy="0"/>
          <a:chOff x="0" y="0"/>
          <a:chExt cx="0" cy="0"/>
        </a:xfrm>
      </p:grpSpPr>
      <p:sp>
        <p:nvSpPr>
          <p:cNvPr id="2" name="Text 0"/>
          <p:cNvSpPr/>
          <p:nvPr/>
        </p:nvSpPr>
        <p:spPr>
          <a:xfrm>
            <a:off x="7680960" y="914400"/>
            <a:ext cx="4572000" cy="4572000"/>
          </a:xfrm>
          <a:prstGeom prst="rect">
            <a:avLst/>
          </a:prstGeom>
          <a:noFill/>
          <a:ln/>
        </p:spPr>
        <p:txBody>
          <a:bodyPr wrap="square" lIns="0" tIns="0" rIns="0" bIns="0" rtlCol="0" anchor="ctr"/>
          <a:lstStyle/>
          <a:p>
            <a:pPr marL="0" indent="0" algn="r">
              <a:buNone/>
            </a:pPr>
            <a:r>
              <a:rPr lang="en-US" sz="30000" b="1" dirty="0">
                <a:solidFill>
                  <a:srgbClr val="172D38"/>
                </a:solidFill>
                <a:latin typeface="Trebuchet MS" pitchFamily="34" charset="0"/>
                <a:ea typeface="Trebuchet MS" pitchFamily="34" charset="-122"/>
                <a:cs typeface="Trebuchet MS" pitchFamily="34" charset="-120"/>
              </a:rPr>
              <a:t>01</a:t>
            </a:r>
            <a:endParaRPr lang="en-US" sz="30000" dirty="0"/>
          </a:p>
        </p:txBody>
      </p:sp>
      <p:sp>
        <p:nvSpPr>
          <p:cNvPr id="3" name="Shape 1"/>
          <p:cNvSpPr/>
          <p:nvPr/>
        </p:nvSpPr>
        <p:spPr>
          <a:xfrm>
            <a:off x="548640" y="2651760"/>
            <a:ext cx="548640" cy="164592"/>
          </a:xfrm>
          <a:prstGeom prst="rect">
            <a:avLst/>
          </a:prstGeom>
          <a:solidFill>
            <a:srgbClr val="FF3621"/>
          </a:solidFill>
          <a:ln/>
        </p:spPr>
        <p:txBody>
          <a:bodyPr/>
          <a:lstStyle/>
          <a:p>
            <a:endParaRPr lang="en-US"/>
          </a:p>
        </p:txBody>
      </p:sp>
      <p:sp>
        <p:nvSpPr>
          <p:cNvPr id="4" name="Text 2"/>
          <p:cNvSpPr/>
          <p:nvPr/>
        </p:nvSpPr>
        <p:spPr>
          <a:xfrm>
            <a:off x="1225296" y="2578608"/>
            <a:ext cx="5486400" cy="310896"/>
          </a:xfrm>
          <a:prstGeom prst="rect">
            <a:avLst/>
          </a:prstGeom>
          <a:noFill/>
          <a:ln/>
        </p:spPr>
        <p:txBody>
          <a:bodyPr wrap="square" lIns="0" tIns="0" rIns="0" bIns="0" rtlCol="0" anchor="ctr"/>
          <a:lstStyle/>
          <a:p>
            <a:pPr marL="0" indent="0">
              <a:buNone/>
            </a:pPr>
            <a:r>
              <a:rPr lang="en-US" sz="1400" b="1" kern="0" spc="300" dirty="0">
                <a:solidFill>
                  <a:srgbClr val="FF6F4D"/>
                </a:solidFill>
                <a:latin typeface="Calibri" pitchFamily="34" charset="0"/>
                <a:ea typeface="Calibri" pitchFamily="34" charset="-122"/>
                <a:cs typeface="Calibri" pitchFamily="34" charset="-120"/>
              </a:rPr>
              <a:t>MODULE 01</a:t>
            </a:r>
            <a:endParaRPr lang="en-US" sz="1400" dirty="0"/>
          </a:p>
        </p:txBody>
      </p:sp>
      <p:sp>
        <p:nvSpPr>
          <p:cNvPr id="5" name="Text 3"/>
          <p:cNvSpPr/>
          <p:nvPr/>
        </p:nvSpPr>
        <p:spPr>
          <a:xfrm>
            <a:off x="548640" y="2999232"/>
            <a:ext cx="8229600" cy="914400"/>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Big Data Fundamentals</a:t>
            </a:r>
            <a:endParaRPr lang="en-US" sz="4600" dirty="0"/>
          </a:p>
        </p:txBody>
      </p:sp>
      <p:sp>
        <p:nvSpPr>
          <p:cNvPr id="6" name="Text 4"/>
          <p:cNvSpPr/>
          <p:nvPr/>
        </p:nvSpPr>
        <p:spPr>
          <a:xfrm>
            <a:off x="548640" y="4041648"/>
            <a:ext cx="7132320" cy="548640"/>
          </a:xfrm>
          <a:prstGeom prst="rect">
            <a:avLst/>
          </a:prstGeom>
          <a:noFill/>
          <a:ln/>
        </p:spPr>
        <p:txBody>
          <a:bodyPr wrap="square" lIns="0" tIns="0" rIns="0" bIns="0" rtlCol="0" anchor="ctr"/>
          <a:lstStyle/>
          <a:p>
            <a:pPr marL="0" indent="0">
              <a:buNone/>
            </a:pPr>
            <a:r>
              <a:rPr lang="en-US" sz="1600" dirty="0">
                <a:solidFill>
                  <a:srgbClr val="C7D2D8"/>
                </a:solidFill>
                <a:latin typeface="Calibri" pitchFamily="34" charset="0"/>
                <a:ea typeface="Calibri" pitchFamily="34" charset="-122"/>
                <a:cs typeface="Calibri" pitchFamily="34" charset="-120"/>
              </a:rPr>
              <a:t>Why data outgrew traditional tools — and the language we use to describe it.</a:t>
            </a:r>
            <a:endParaRPr lang="en-US" sz="160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8597A0"/>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8" name="Text 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8597A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THE CASE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Why Big Data matters now</a:t>
            </a:r>
            <a:endParaRPr lang="en-US" sz="2900" dirty="0"/>
          </a:p>
        </p:txBody>
      </p:sp>
      <p:sp>
        <p:nvSpPr>
          <p:cNvPr id="5" name="Text 3"/>
          <p:cNvSpPr/>
          <p:nvPr/>
        </p:nvSpPr>
        <p:spPr>
          <a:xfrm>
            <a:off x="548640" y="1737360"/>
            <a:ext cx="11094415" cy="731520"/>
          </a:xfrm>
          <a:prstGeom prst="rect">
            <a:avLst/>
          </a:prstGeom>
          <a:noFill/>
          <a:ln/>
        </p:spPr>
        <p:txBody>
          <a:bodyPr wrap="square" lIns="0" tIns="0" rIns="0" bIns="0" rtlCol="0" anchor="ctr"/>
          <a:lstStyle/>
          <a:p>
            <a:pPr marL="0" indent="0">
              <a:buNone/>
            </a:pPr>
            <a:r>
              <a:rPr lang="en-US" sz="1450" dirty="0">
                <a:solidFill>
                  <a:srgbClr val="38474F"/>
                </a:solidFill>
                <a:latin typeface="Calibri" pitchFamily="34" charset="0"/>
                <a:ea typeface="Calibri" pitchFamily="34" charset="-122"/>
                <a:cs typeface="Calibri" pitchFamily="34" charset="-120"/>
              </a:rPr>
              <a:t>Data is being created faster than ever — from phones, sensors, apps, and machines. The organisations that can store, process, and learn from it move faster, serve customers better, and power modern AI.</a:t>
            </a:r>
            <a:endParaRPr lang="en-US" sz="1450" dirty="0"/>
          </a:p>
        </p:txBody>
      </p:sp>
      <p:sp>
        <p:nvSpPr>
          <p:cNvPr id="6" name="Shape 4"/>
          <p:cNvSpPr/>
          <p:nvPr/>
        </p:nvSpPr>
        <p:spPr>
          <a:xfrm>
            <a:off x="548640" y="2697480"/>
            <a:ext cx="3456432"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960120" y="3081528"/>
            <a:ext cx="713232" cy="713232"/>
          </a:xfrm>
          <a:prstGeom prst="ellipse">
            <a:avLst/>
          </a:prstGeom>
          <a:solidFill>
            <a:srgbClr val="FF3621"/>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38428" y="3259836"/>
            <a:ext cx="356616" cy="356616"/>
          </a:xfrm>
          <a:prstGeom prst="rect">
            <a:avLst/>
          </a:prstGeom>
        </p:spPr>
      </p:pic>
      <p:sp>
        <p:nvSpPr>
          <p:cNvPr id="9" name="Text 6"/>
          <p:cNvSpPr/>
          <p:nvPr/>
        </p:nvSpPr>
        <p:spPr>
          <a:xfrm>
            <a:off x="932688" y="3813048"/>
            <a:ext cx="2724912" cy="640080"/>
          </a:xfrm>
          <a:prstGeom prst="rect">
            <a:avLst/>
          </a:prstGeom>
          <a:noFill/>
          <a:ln/>
        </p:spPr>
        <p:txBody>
          <a:bodyPr wrap="square" lIns="0" tIns="0" rIns="0" bIns="0" rtlCol="0" anchor="ctr"/>
          <a:lstStyle/>
          <a:p>
            <a:pPr marL="0" indent="0">
              <a:buNone/>
            </a:pPr>
            <a:r>
              <a:rPr lang="en-US" sz="3800" b="1" dirty="0">
                <a:solidFill>
                  <a:srgbClr val="13242E"/>
                </a:solidFill>
                <a:latin typeface="Trebuchet MS" pitchFamily="34" charset="0"/>
                <a:ea typeface="Trebuchet MS" pitchFamily="34" charset="-122"/>
                <a:cs typeface="Trebuchet MS" pitchFamily="34" charset="-120"/>
              </a:rPr>
              <a:t>330M+ TB</a:t>
            </a:r>
            <a:endParaRPr lang="en-US" sz="3800" dirty="0"/>
          </a:p>
        </p:txBody>
      </p:sp>
      <p:sp>
        <p:nvSpPr>
          <p:cNvPr id="10" name="Text 7"/>
          <p:cNvSpPr/>
          <p:nvPr/>
        </p:nvSpPr>
        <p:spPr>
          <a:xfrm>
            <a:off x="960120" y="4453128"/>
            <a:ext cx="2679192" cy="50292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new data created every day worldwide (est.)</a:t>
            </a:r>
            <a:endParaRPr lang="en-US" sz="1250" dirty="0"/>
          </a:p>
        </p:txBody>
      </p:sp>
      <p:sp>
        <p:nvSpPr>
          <p:cNvPr id="11" name="Shape 8"/>
          <p:cNvSpPr/>
          <p:nvPr/>
        </p:nvSpPr>
        <p:spPr>
          <a:xfrm>
            <a:off x="4367632" y="2697480"/>
            <a:ext cx="3456432"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2" name="Shape 9"/>
          <p:cNvSpPr/>
          <p:nvPr/>
        </p:nvSpPr>
        <p:spPr>
          <a:xfrm>
            <a:off x="4779112" y="3081528"/>
            <a:ext cx="713232" cy="713232"/>
          </a:xfrm>
          <a:prstGeom prst="ellipse">
            <a:avLst/>
          </a:prstGeom>
          <a:solidFill>
            <a:srgbClr val="FF3621"/>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57420" y="3259836"/>
            <a:ext cx="356616" cy="356616"/>
          </a:xfrm>
          <a:prstGeom prst="rect">
            <a:avLst/>
          </a:prstGeom>
        </p:spPr>
      </p:pic>
      <p:sp>
        <p:nvSpPr>
          <p:cNvPr id="14" name="Text 10"/>
          <p:cNvSpPr/>
          <p:nvPr/>
        </p:nvSpPr>
        <p:spPr>
          <a:xfrm>
            <a:off x="4751680" y="3813048"/>
            <a:ext cx="2724912" cy="640080"/>
          </a:xfrm>
          <a:prstGeom prst="rect">
            <a:avLst/>
          </a:prstGeom>
          <a:noFill/>
          <a:ln/>
        </p:spPr>
        <p:txBody>
          <a:bodyPr wrap="square" lIns="0" tIns="0" rIns="0" bIns="0" rtlCol="0" anchor="ctr"/>
          <a:lstStyle/>
          <a:p>
            <a:pPr marL="0" indent="0">
              <a:buNone/>
            </a:pPr>
            <a:r>
              <a:rPr lang="en-US" sz="3800" b="1" dirty="0">
                <a:solidFill>
                  <a:srgbClr val="13242E"/>
                </a:solidFill>
                <a:latin typeface="Trebuchet MS" pitchFamily="34" charset="0"/>
                <a:ea typeface="Trebuchet MS" pitchFamily="34" charset="-122"/>
                <a:cs typeface="Trebuchet MS" pitchFamily="34" charset="-120"/>
              </a:rPr>
              <a:t>~90%</a:t>
            </a:r>
            <a:endParaRPr lang="en-US" sz="3800" dirty="0"/>
          </a:p>
        </p:txBody>
      </p:sp>
      <p:sp>
        <p:nvSpPr>
          <p:cNvPr id="15" name="Text 11"/>
          <p:cNvSpPr/>
          <p:nvPr/>
        </p:nvSpPr>
        <p:spPr>
          <a:xfrm>
            <a:off x="4779112" y="4453128"/>
            <a:ext cx="2679192" cy="50292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of all data was generated in just the last few years</a:t>
            </a:r>
            <a:endParaRPr lang="en-US" sz="1250" dirty="0"/>
          </a:p>
        </p:txBody>
      </p:sp>
      <p:sp>
        <p:nvSpPr>
          <p:cNvPr id="16" name="Shape 12"/>
          <p:cNvSpPr/>
          <p:nvPr/>
        </p:nvSpPr>
        <p:spPr>
          <a:xfrm>
            <a:off x="8186623" y="2697480"/>
            <a:ext cx="3456432"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7" name="Shape 13"/>
          <p:cNvSpPr/>
          <p:nvPr/>
        </p:nvSpPr>
        <p:spPr>
          <a:xfrm>
            <a:off x="8598103" y="3081528"/>
            <a:ext cx="713232" cy="713232"/>
          </a:xfrm>
          <a:prstGeom prst="ellipse">
            <a:avLst/>
          </a:prstGeom>
          <a:solidFill>
            <a:srgbClr val="FF3621"/>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776411" y="3259836"/>
            <a:ext cx="356616" cy="356616"/>
          </a:xfrm>
          <a:prstGeom prst="rect">
            <a:avLst/>
          </a:prstGeom>
        </p:spPr>
      </p:pic>
      <p:sp>
        <p:nvSpPr>
          <p:cNvPr id="19" name="Text 14"/>
          <p:cNvSpPr/>
          <p:nvPr/>
        </p:nvSpPr>
        <p:spPr>
          <a:xfrm>
            <a:off x="8570671" y="3813048"/>
            <a:ext cx="2724912" cy="640080"/>
          </a:xfrm>
          <a:prstGeom prst="rect">
            <a:avLst/>
          </a:prstGeom>
          <a:noFill/>
          <a:ln/>
        </p:spPr>
        <p:txBody>
          <a:bodyPr wrap="square" lIns="0" tIns="0" rIns="0" bIns="0" rtlCol="0" anchor="ctr"/>
          <a:lstStyle/>
          <a:p>
            <a:pPr marL="0" indent="0">
              <a:buNone/>
            </a:pPr>
            <a:r>
              <a:rPr lang="en-US" sz="3800" b="1" dirty="0">
                <a:solidFill>
                  <a:srgbClr val="13242E"/>
                </a:solidFill>
                <a:latin typeface="Trebuchet MS" pitchFamily="34" charset="0"/>
                <a:ea typeface="Trebuchet MS" pitchFamily="34" charset="-122"/>
                <a:cs typeface="Trebuchet MS" pitchFamily="34" charset="-120"/>
              </a:rPr>
              <a:t>15B+</a:t>
            </a:r>
            <a:endParaRPr lang="en-US" sz="3800" dirty="0"/>
          </a:p>
        </p:txBody>
      </p:sp>
      <p:sp>
        <p:nvSpPr>
          <p:cNvPr id="20" name="Text 15"/>
          <p:cNvSpPr/>
          <p:nvPr/>
        </p:nvSpPr>
        <p:spPr>
          <a:xfrm>
            <a:off x="8598103" y="4453128"/>
            <a:ext cx="2679192" cy="50292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connected IoT devices streaming data (est.)</a:t>
            </a:r>
            <a:endParaRPr lang="en-US" sz="1250" dirty="0"/>
          </a:p>
        </p:txBody>
      </p:sp>
      <p:sp>
        <p:nvSpPr>
          <p:cNvPr id="21" name="Text 16"/>
          <p:cNvSpPr/>
          <p:nvPr/>
        </p:nvSpPr>
        <p:spPr>
          <a:xfrm>
            <a:off x="548640" y="5212080"/>
            <a:ext cx="11094415" cy="274320"/>
          </a:xfrm>
          <a:prstGeom prst="rect">
            <a:avLst/>
          </a:prstGeom>
          <a:noFill/>
          <a:ln/>
        </p:spPr>
        <p:txBody>
          <a:bodyPr wrap="square" lIns="0" tIns="0" rIns="0" bIns="0" rtlCol="0" anchor="ctr"/>
          <a:lstStyle/>
          <a:p>
            <a:pPr marL="0" indent="0">
              <a:buNone/>
            </a:pPr>
            <a:r>
              <a:rPr lang="en-US" sz="1050" i="1" dirty="0">
                <a:solidFill>
                  <a:srgbClr val="7C8A91"/>
                </a:solidFill>
                <a:latin typeface="Calibri" pitchFamily="34" charset="0"/>
                <a:ea typeface="Calibri" pitchFamily="34" charset="-122"/>
                <a:cs typeface="Calibri" pitchFamily="34" charset="-120"/>
              </a:rPr>
              <a:t>Figures are widely-cited industry estimates and vary by source — use them to convey scale, not precision.</a:t>
            </a:r>
            <a:endParaRPr lang="en-US" sz="1050" dirty="0"/>
          </a:p>
        </p:txBody>
      </p:sp>
      <p:sp>
        <p:nvSpPr>
          <p:cNvPr id="22" name="Text 1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23" name="Text 1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DEFINITION</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What exactly is Big Data?</a:t>
            </a:r>
            <a:endParaRPr lang="en-US" sz="2900" dirty="0"/>
          </a:p>
        </p:txBody>
      </p:sp>
      <p:sp>
        <p:nvSpPr>
          <p:cNvPr id="5" name="Shape 3"/>
          <p:cNvSpPr/>
          <p:nvPr/>
        </p:nvSpPr>
        <p:spPr>
          <a:xfrm>
            <a:off x="548640" y="1783080"/>
            <a:ext cx="6400800" cy="3886200"/>
          </a:xfrm>
          <a:prstGeom prst="roundRect">
            <a:avLst>
              <a:gd name="adj" fmla="val 2353"/>
            </a:avLst>
          </a:prstGeom>
          <a:solidFill>
            <a:srgbClr val="0E1B24"/>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Text 4"/>
          <p:cNvSpPr/>
          <p:nvPr/>
        </p:nvSpPr>
        <p:spPr>
          <a:xfrm>
            <a:off x="777240" y="1783080"/>
            <a:ext cx="1097280" cy="1097280"/>
          </a:xfrm>
          <a:prstGeom prst="rect">
            <a:avLst/>
          </a:prstGeom>
          <a:noFill/>
          <a:ln/>
        </p:spPr>
        <p:txBody>
          <a:bodyPr wrap="square" lIns="0" tIns="0" rIns="0" bIns="0" rtlCol="0" anchor="ctr"/>
          <a:lstStyle/>
          <a:p>
            <a:pPr marL="0" indent="0">
              <a:buNone/>
            </a:pPr>
            <a:r>
              <a:rPr lang="en-US" sz="9000" b="1" dirty="0">
                <a:solidFill>
                  <a:srgbClr val="FF3621"/>
                </a:solidFill>
                <a:latin typeface="Georgia" pitchFamily="34" charset="0"/>
                <a:ea typeface="Georgia" pitchFamily="34" charset="-122"/>
                <a:cs typeface="Georgia" pitchFamily="34" charset="-120"/>
              </a:rPr>
              <a:t>“</a:t>
            </a:r>
            <a:endParaRPr lang="en-US" sz="9000" dirty="0"/>
          </a:p>
        </p:txBody>
      </p:sp>
      <p:sp>
        <p:nvSpPr>
          <p:cNvPr id="7" name="Text 5"/>
          <p:cNvSpPr/>
          <p:nvPr/>
        </p:nvSpPr>
        <p:spPr>
          <a:xfrm>
            <a:off x="1051560" y="2697480"/>
            <a:ext cx="5486400" cy="1554480"/>
          </a:xfrm>
          <a:prstGeom prst="rect">
            <a:avLst/>
          </a:prstGeom>
          <a:noFill/>
          <a:ln/>
        </p:spPr>
        <p:txBody>
          <a:bodyPr wrap="square" lIns="0" tIns="0" rIns="0" bIns="0" rtlCol="0" anchor="ctr"/>
          <a:lstStyle/>
          <a:p>
            <a:pPr marL="0" indent="0">
              <a:lnSpc>
                <a:spcPct val="104000"/>
              </a:lnSpc>
              <a:buNone/>
            </a:pPr>
            <a:r>
              <a:rPr lang="en-US" sz="2100" b="1" dirty="0">
                <a:solidFill>
                  <a:srgbClr val="FFFFFF"/>
                </a:solidFill>
                <a:latin typeface="Trebuchet MS" pitchFamily="34" charset="0"/>
                <a:ea typeface="Trebuchet MS" pitchFamily="34" charset="-122"/>
                <a:cs typeface="Trebuchet MS" pitchFamily="34" charset="-120"/>
              </a:rPr>
              <a:t>Big Data is data so large, fast-moving and varied that traditional databases and a single machine can no longer store or process it in a reasonable time.</a:t>
            </a:r>
            <a:endParaRPr lang="en-US" sz="2100" dirty="0"/>
          </a:p>
        </p:txBody>
      </p:sp>
      <p:sp>
        <p:nvSpPr>
          <p:cNvPr id="8" name="Text 6"/>
          <p:cNvSpPr/>
          <p:nvPr/>
        </p:nvSpPr>
        <p:spPr>
          <a:xfrm>
            <a:off x="1051560" y="4526280"/>
            <a:ext cx="5486400" cy="822960"/>
          </a:xfrm>
          <a:prstGeom prst="rect">
            <a:avLst/>
          </a:prstGeom>
          <a:noFill/>
          <a:ln/>
        </p:spPr>
        <p:txBody>
          <a:bodyPr wrap="square" lIns="0" tIns="0" rIns="0" bIns="0" rtlCol="0" anchor="ctr"/>
          <a:lstStyle/>
          <a:p>
            <a:pPr marL="0" indent="0">
              <a:buNone/>
            </a:pPr>
            <a:r>
              <a:rPr lang="en-US" sz="1400" dirty="0">
                <a:solidFill>
                  <a:srgbClr val="C7D2D8"/>
                </a:solidFill>
                <a:latin typeface="Calibri" pitchFamily="34" charset="0"/>
                <a:ea typeface="Calibri" pitchFamily="34" charset="-122"/>
                <a:cs typeface="Calibri" pitchFamily="34" charset="-120"/>
              </a:rPr>
              <a:t>So instead of one bigger computer, we spread the work across many — a distributed cluster.</a:t>
            </a:r>
            <a:endParaRPr lang="en-US" sz="1400" dirty="0"/>
          </a:p>
        </p:txBody>
      </p:sp>
      <p:sp>
        <p:nvSpPr>
          <p:cNvPr id="9" name="Shape 7"/>
          <p:cNvSpPr/>
          <p:nvPr/>
        </p:nvSpPr>
        <p:spPr>
          <a:xfrm>
            <a:off x="7269480" y="1783080"/>
            <a:ext cx="4373575" cy="1188720"/>
          </a:xfrm>
          <a:prstGeom prst="roundRect">
            <a:avLst>
              <a:gd name="adj" fmla="val 769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0" name="Shape 8"/>
          <p:cNvSpPr/>
          <p:nvPr/>
        </p:nvSpPr>
        <p:spPr>
          <a:xfrm>
            <a:off x="7562088" y="2075688"/>
            <a:ext cx="603504" cy="603504"/>
          </a:xfrm>
          <a:prstGeom prst="ellipse">
            <a:avLst/>
          </a:prstGeom>
          <a:solidFill>
            <a:srgbClr val="FF3621"/>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7712964" y="2226564"/>
            <a:ext cx="301752" cy="301752"/>
          </a:xfrm>
          <a:prstGeom prst="rect">
            <a:avLst/>
          </a:prstGeom>
        </p:spPr>
      </p:pic>
      <p:sp>
        <p:nvSpPr>
          <p:cNvPr id="12" name="Text 9"/>
          <p:cNvSpPr/>
          <p:nvPr/>
        </p:nvSpPr>
        <p:spPr>
          <a:xfrm>
            <a:off x="8321040" y="1984248"/>
            <a:ext cx="3093415" cy="365760"/>
          </a:xfrm>
          <a:prstGeom prst="rect">
            <a:avLst/>
          </a:prstGeom>
          <a:noFill/>
          <a:ln/>
        </p:spPr>
        <p:txBody>
          <a:bodyPr wrap="square" lIns="0" tIns="0" rIns="0" bIns="0" rtlCol="0" anchor="ctr"/>
          <a:lstStyle/>
          <a:p>
            <a:pPr marL="0" indent="0">
              <a:buNone/>
            </a:pPr>
            <a:r>
              <a:rPr lang="en-US" sz="1450" b="1" dirty="0">
                <a:solidFill>
                  <a:srgbClr val="13242E"/>
                </a:solidFill>
                <a:latin typeface="Trebuchet MS" pitchFamily="34" charset="0"/>
                <a:ea typeface="Trebuchet MS" pitchFamily="34" charset="-122"/>
                <a:cs typeface="Trebuchet MS" pitchFamily="34" charset="-120"/>
              </a:rPr>
              <a:t>Too big for one server</a:t>
            </a:r>
            <a:endParaRPr lang="en-US" sz="1450" dirty="0"/>
          </a:p>
        </p:txBody>
      </p:sp>
      <p:sp>
        <p:nvSpPr>
          <p:cNvPr id="13" name="Text 10"/>
          <p:cNvSpPr/>
          <p:nvPr/>
        </p:nvSpPr>
        <p:spPr>
          <a:xfrm>
            <a:off x="8321040" y="2331720"/>
            <a:ext cx="3093415" cy="54864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Datasets outgrow the disk and memory of any single machine.</a:t>
            </a:r>
            <a:endParaRPr lang="en-US" sz="1150" dirty="0"/>
          </a:p>
        </p:txBody>
      </p:sp>
      <p:sp>
        <p:nvSpPr>
          <p:cNvPr id="14" name="Shape 11"/>
          <p:cNvSpPr/>
          <p:nvPr/>
        </p:nvSpPr>
        <p:spPr>
          <a:xfrm>
            <a:off x="7269480" y="3131820"/>
            <a:ext cx="4373575" cy="1188720"/>
          </a:xfrm>
          <a:prstGeom prst="roundRect">
            <a:avLst>
              <a:gd name="adj" fmla="val 769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7562088" y="3424428"/>
            <a:ext cx="603504" cy="603504"/>
          </a:xfrm>
          <a:prstGeom prst="ellipse">
            <a:avLst/>
          </a:prstGeom>
          <a:solidFill>
            <a:srgbClr val="FF3621"/>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712964" y="3575304"/>
            <a:ext cx="301752" cy="301752"/>
          </a:xfrm>
          <a:prstGeom prst="rect">
            <a:avLst/>
          </a:prstGeom>
        </p:spPr>
      </p:pic>
      <p:sp>
        <p:nvSpPr>
          <p:cNvPr id="17" name="Text 13"/>
          <p:cNvSpPr/>
          <p:nvPr/>
        </p:nvSpPr>
        <p:spPr>
          <a:xfrm>
            <a:off x="8321040" y="3332988"/>
            <a:ext cx="3093415" cy="365760"/>
          </a:xfrm>
          <a:prstGeom prst="rect">
            <a:avLst/>
          </a:prstGeom>
          <a:noFill/>
          <a:ln/>
        </p:spPr>
        <p:txBody>
          <a:bodyPr wrap="square" lIns="0" tIns="0" rIns="0" bIns="0" rtlCol="0" anchor="ctr"/>
          <a:lstStyle/>
          <a:p>
            <a:pPr marL="0" indent="0">
              <a:buNone/>
            </a:pPr>
            <a:r>
              <a:rPr lang="en-US" sz="1450" b="1" dirty="0">
                <a:solidFill>
                  <a:srgbClr val="13242E"/>
                </a:solidFill>
                <a:latin typeface="Trebuchet MS" pitchFamily="34" charset="0"/>
                <a:ea typeface="Trebuchet MS" pitchFamily="34" charset="-122"/>
                <a:cs typeface="Trebuchet MS" pitchFamily="34" charset="-120"/>
              </a:rPr>
              <a:t>Arrives too fast</a:t>
            </a:r>
            <a:endParaRPr lang="en-US" sz="1450" dirty="0"/>
          </a:p>
        </p:txBody>
      </p:sp>
      <p:sp>
        <p:nvSpPr>
          <p:cNvPr id="18" name="Text 14"/>
          <p:cNvSpPr/>
          <p:nvPr/>
        </p:nvSpPr>
        <p:spPr>
          <a:xfrm>
            <a:off x="8321040" y="3680460"/>
            <a:ext cx="3093415" cy="54864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Streams pour in continuously — too quick for overnight batches.</a:t>
            </a:r>
            <a:endParaRPr lang="en-US" sz="1150" dirty="0"/>
          </a:p>
        </p:txBody>
      </p:sp>
      <p:sp>
        <p:nvSpPr>
          <p:cNvPr id="19" name="Shape 15"/>
          <p:cNvSpPr/>
          <p:nvPr/>
        </p:nvSpPr>
        <p:spPr>
          <a:xfrm>
            <a:off x="7269480" y="4480560"/>
            <a:ext cx="4373575" cy="1188720"/>
          </a:xfrm>
          <a:prstGeom prst="roundRect">
            <a:avLst>
              <a:gd name="adj" fmla="val 769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0" name="Shape 16"/>
          <p:cNvSpPr/>
          <p:nvPr/>
        </p:nvSpPr>
        <p:spPr>
          <a:xfrm>
            <a:off x="7562088" y="4773168"/>
            <a:ext cx="603504" cy="603504"/>
          </a:xfrm>
          <a:prstGeom prst="ellipse">
            <a:avLst/>
          </a:prstGeom>
          <a:solidFill>
            <a:srgbClr val="FF3621"/>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7712964" y="4924044"/>
            <a:ext cx="301752" cy="301752"/>
          </a:xfrm>
          <a:prstGeom prst="rect">
            <a:avLst/>
          </a:prstGeom>
        </p:spPr>
      </p:pic>
      <p:sp>
        <p:nvSpPr>
          <p:cNvPr id="22" name="Text 17"/>
          <p:cNvSpPr/>
          <p:nvPr/>
        </p:nvSpPr>
        <p:spPr>
          <a:xfrm>
            <a:off x="8321040" y="4681728"/>
            <a:ext cx="3093415" cy="365760"/>
          </a:xfrm>
          <a:prstGeom prst="rect">
            <a:avLst/>
          </a:prstGeom>
          <a:noFill/>
          <a:ln/>
        </p:spPr>
        <p:txBody>
          <a:bodyPr wrap="square" lIns="0" tIns="0" rIns="0" bIns="0" rtlCol="0" anchor="ctr"/>
          <a:lstStyle/>
          <a:p>
            <a:pPr marL="0" indent="0">
              <a:buNone/>
            </a:pPr>
            <a:r>
              <a:rPr lang="en-US" sz="1450" b="1" dirty="0">
                <a:solidFill>
                  <a:srgbClr val="13242E"/>
                </a:solidFill>
                <a:latin typeface="Trebuchet MS" pitchFamily="34" charset="0"/>
                <a:ea typeface="Trebuchet MS" pitchFamily="34" charset="-122"/>
                <a:cs typeface="Trebuchet MS" pitchFamily="34" charset="-120"/>
              </a:rPr>
              <a:t>Too many shapes</a:t>
            </a:r>
            <a:endParaRPr lang="en-US" sz="1450" dirty="0"/>
          </a:p>
        </p:txBody>
      </p:sp>
      <p:sp>
        <p:nvSpPr>
          <p:cNvPr id="23" name="Text 18"/>
          <p:cNvSpPr/>
          <p:nvPr/>
        </p:nvSpPr>
        <p:spPr>
          <a:xfrm>
            <a:off x="8321040" y="5029200"/>
            <a:ext cx="3093415" cy="54864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Tables, JSON, text, images, video — not just neat rows.</a:t>
            </a:r>
            <a:endParaRPr lang="en-US" sz="1150" dirty="0"/>
          </a:p>
        </p:txBody>
      </p:sp>
      <p:sp>
        <p:nvSpPr>
          <p:cNvPr id="24" name="Text 19"/>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25" name="Text 20"/>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CORE CONCEPT</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The 5 Vs of Big Data</a:t>
            </a:r>
            <a:endParaRPr lang="en-US" sz="2900" dirty="0"/>
          </a:p>
        </p:txBody>
      </p:sp>
      <p:sp>
        <p:nvSpPr>
          <p:cNvPr id="5" name="Text 3"/>
          <p:cNvSpPr/>
          <p:nvPr/>
        </p:nvSpPr>
        <p:spPr>
          <a:xfrm>
            <a:off x="548640" y="1627632"/>
            <a:ext cx="11094415" cy="320040"/>
          </a:xfrm>
          <a:prstGeom prst="rect">
            <a:avLst/>
          </a:prstGeom>
          <a:noFill/>
          <a:ln/>
        </p:spPr>
        <p:txBody>
          <a:bodyPr wrap="square" lIns="0" tIns="0" rIns="0" bIns="0" rtlCol="0" anchor="ctr"/>
          <a:lstStyle/>
          <a:p>
            <a:pPr marL="0" indent="0">
              <a:buNone/>
            </a:pPr>
            <a:r>
              <a:rPr lang="en-US" sz="1400" dirty="0">
                <a:solidFill>
                  <a:srgbClr val="7C8A91"/>
                </a:solidFill>
                <a:latin typeface="Calibri" pitchFamily="34" charset="0"/>
                <a:ea typeface="Calibri" pitchFamily="34" charset="-122"/>
                <a:cs typeface="Calibri" pitchFamily="34" charset="-120"/>
              </a:rPr>
              <a:t>The five characteristics that define a big-data problem.</a:t>
            </a:r>
            <a:endParaRPr lang="en-US" sz="1400" dirty="0"/>
          </a:p>
        </p:txBody>
      </p:sp>
      <p:sp>
        <p:nvSpPr>
          <p:cNvPr id="6" name="Shape 4"/>
          <p:cNvSpPr/>
          <p:nvPr/>
        </p:nvSpPr>
        <p:spPr>
          <a:xfrm>
            <a:off x="548640"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548640" y="2331720"/>
            <a:ext cx="1993392" cy="91440"/>
          </a:xfrm>
          <a:prstGeom prst="rect">
            <a:avLst/>
          </a:prstGeom>
          <a:solidFill>
            <a:srgbClr val="FF3621"/>
          </a:solidFill>
          <a:ln/>
        </p:spPr>
        <p:txBody>
          <a:bodyPr/>
          <a:lstStyle/>
          <a:p>
            <a:endParaRPr lang="en-US"/>
          </a:p>
        </p:txBody>
      </p:sp>
      <p:sp>
        <p:nvSpPr>
          <p:cNvPr id="8" name="Shape 6"/>
          <p:cNvSpPr/>
          <p:nvPr/>
        </p:nvSpPr>
        <p:spPr>
          <a:xfrm>
            <a:off x="1124712" y="2697480"/>
            <a:ext cx="841248" cy="841248"/>
          </a:xfrm>
          <a:prstGeom prst="ellipse">
            <a:avLst/>
          </a:prstGeom>
          <a:solidFill>
            <a:srgbClr val="FF362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335024" y="2907792"/>
            <a:ext cx="420624" cy="420624"/>
          </a:xfrm>
          <a:prstGeom prst="rect">
            <a:avLst/>
          </a:prstGeom>
        </p:spPr>
      </p:pic>
      <p:sp>
        <p:nvSpPr>
          <p:cNvPr id="10" name="Text 7"/>
          <p:cNvSpPr/>
          <p:nvPr/>
        </p:nvSpPr>
        <p:spPr>
          <a:xfrm>
            <a:off x="640080"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01</a:t>
            </a:r>
            <a:endParaRPr lang="en-US" sz="1100" dirty="0"/>
          </a:p>
        </p:txBody>
      </p:sp>
      <p:sp>
        <p:nvSpPr>
          <p:cNvPr id="11" name="Text 8"/>
          <p:cNvSpPr/>
          <p:nvPr/>
        </p:nvSpPr>
        <p:spPr>
          <a:xfrm>
            <a:off x="640080"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Volume</a:t>
            </a:r>
            <a:endParaRPr lang="en-US" sz="1900" dirty="0"/>
          </a:p>
        </p:txBody>
      </p:sp>
      <p:sp>
        <p:nvSpPr>
          <p:cNvPr id="12" name="Text 9"/>
          <p:cNvSpPr/>
          <p:nvPr/>
        </p:nvSpPr>
        <p:spPr>
          <a:xfrm>
            <a:off x="749808"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Massive scale — terabytes to petabytes and beyond.</a:t>
            </a:r>
            <a:endParaRPr lang="en-US" sz="1100" dirty="0"/>
          </a:p>
        </p:txBody>
      </p:sp>
      <p:sp>
        <p:nvSpPr>
          <p:cNvPr id="13" name="Shape 10"/>
          <p:cNvSpPr/>
          <p:nvPr/>
        </p:nvSpPr>
        <p:spPr>
          <a:xfrm>
            <a:off x="2527516" y="3842857"/>
            <a:ext cx="310896" cy="223845"/>
          </a:xfrm>
          <a:prstGeom prst="chevron">
            <a:avLst/>
          </a:prstGeom>
          <a:solidFill>
            <a:srgbClr val="FF3621"/>
          </a:solidFill>
          <a:ln/>
        </p:spPr>
        <p:txBody>
          <a:bodyPr/>
          <a:lstStyle/>
          <a:p>
            <a:endParaRPr lang="en-US"/>
          </a:p>
        </p:txBody>
      </p:sp>
      <p:sp>
        <p:nvSpPr>
          <p:cNvPr id="14" name="Shape 11"/>
          <p:cNvSpPr/>
          <p:nvPr/>
        </p:nvSpPr>
        <p:spPr>
          <a:xfrm>
            <a:off x="2823896"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2823896" y="2331720"/>
            <a:ext cx="1993392" cy="91440"/>
          </a:xfrm>
          <a:prstGeom prst="rect">
            <a:avLst/>
          </a:prstGeom>
          <a:solidFill>
            <a:srgbClr val="FF3621"/>
          </a:solidFill>
          <a:ln/>
        </p:spPr>
        <p:txBody>
          <a:bodyPr/>
          <a:lstStyle/>
          <a:p>
            <a:endParaRPr lang="en-US"/>
          </a:p>
        </p:txBody>
      </p:sp>
      <p:sp>
        <p:nvSpPr>
          <p:cNvPr id="16" name="Shape 13"/>
          <p:cNvSpPr/>
          <p:nvPr/>
        </p:nvSpPr>
        <p:spPr>
          <a:xfrm>
            <a:off x="3399968" y="2697480"/>
            <a:ext cx="841248" cy="841248"/>
          </a:xfrm>
          <a:prstGeom prst="ellipse">
            <a:avLst/>
          </a:prstGeom>
          <a:solidFill>
            <a:srgbClr val="FF3621"/>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3610280" y="2907792"/>
            <a:ext cx="420624" cy="420624"/>
          </a:xfrm>
          <a:prstGeom prst="rect">
            <a:avLst/>
          </a:prstGeom>
        </p:spPr>
      </p:pic>
      <p:sp>
        <p:nvSpPr>
          <p:cNvPr id="18" name="Text 14"/>
          <p:cNvSpPr/>
          <p:nvPr/>
        </p:nvSpPr>
        <p:spPr>
          <a:xfrm>
            <a:off x="2915336"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02</a:t>
            </a:r>
            <a:endParaRPr lang="en-US" sz="1100" dirty="0"/>
          </a:p>
        </p:txBody>
      </p:sp>
      <p:sp>
        <p:nvSpPr>
          <p:cNvPr id="19" name="Text 15"/>
          <p:cNvSpPr/>
          <p:nvPr/>
        </p:nvSpPr>
        <p:spPr>
          <a:xfrm>
            <a:off x="2915336"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Velocity</a:t>
            </a:r>
            <a:endParaRPr lang="en-US" sz="1900" dirty="0"/>
          </a:p>
        </p:txBody>
      </p:sp>
      <p:sp>
        <p:nvSpPr>
          <p:cNvPr id="20" name="Text 16"/>
          <p:cNvSpPr/>
          <p:nvPr/>
        </p:nvSpPr>
        <p:spPr>
          <a:xfrm>
            <a:off x="3025064"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Speed of arrival — streaming and near real-time.</a:t>
            </a:r>
            <a:endParaRPr lang="en-US" sz="1100" dirty="0"/>
          </a:p>
        </p:txBody>
      </p:sp>
      <p:sp>
        <p:nvSpPr>
          <p:cNvPr id="21" name="Shape 17"/>
          <p:cNvSpPr/>
          <p:nvPr/>
        </p:nvSpPr>
        <p:spPr>
          <a:xfrm>
            <a:off x="4802772" y="3842857"/>
            <a:ext cx="310896" cy="223845"/>
          </a:xfrm>
          <a:prstGeom prst="chevron">
            <a:avLst/>
          </a:prstGeom>
          <a:solidFill>
            <a:srgbClr val="FF3621"/>
          </a:solidFill>
          <a:ln/>
        </p:spPr>
        <p:txBody>
          <a:bodyPr/>
          <a:lstStyle/>
          <a:p>
            <a:endParaRPr lang="en-US"/>
          </a:p>
        </p:txBody>
      </p:sp>
      <p:sp>
        <p:nvSpPr>
          <p:cNvPr id="22" name="Shape 18"/>
          <p:cNvSpPr/>
          <p:nvPr/>
        </p:nvSpPr>
        <p:spPr>
          <a:xfrm>
            <a:off x="5099152"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3" name="Shape 19"/>
          <p:cNvSpPr/>
          <p:nvPr/>
        </p:nvSpPr>
        <p:spPr>
          <a:xfrm>
            <a:off x="5099152" y="2331720"/>
            <a:ext cx="1993392" cy="91440"/>
          </a:xfrm>
          <a:prstGeom prst="rect">
            <a:avLst/>
          </a:prstGeom>
          <a:solidFill>
            <a:srgbClr val="FF3621"/>
          </a:solidFill>
          <a:ln/>
        </p:spPr>
        <p:txBody>
          <a:bodyPr/>
          <a:lstStyle/>
          <a:p>
            <a:endParaRPr lang="en-US"/>
          </a:p>
        </p:txBody>
      </p:sp>
      <p:sp>
        <p:nvSpPr>
          <p:cNvPr id="24" name="Shape 20"/>
          <p:cNvSpPr/>
          <p:nvPr/>
        </p:nvSpPr>
        <p:spPr>
          <a:xfrm>
            <a:off x="5675224" y="2697480"/>
            <a:ext cx="841248" cy="841248"/>
          </a:xfrm>
          <a:prstGeom prst="ellipse">
            <a:avLst/>
          </a:prstGeom>
          <a:solidFill>
            <a:srgbClr val="FF3621"/>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5885536" y="2907792"/>
            <a:ext cx="420624" cy="420624"/>
          </a:xfrm>
          <a:prstGeom prst="rect">
            <a:avLst/>
          </a:prstGeom>
        </p:spPr>
      </p:pic>
      <p:sp>
        <p:nvSpPr>
          <p:cNvPr id="26" name="Text 21"/>
          <p:cNvSpPr/>
          <p:nvPr/>
        </p:nvSpPr>
        <p:spPr>
          <a:xfrm>
            <a:off x="5190592"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03</a:t>
            </a:r>
            <a:endParaRPr lang="en-US" sz="1100" dirty="0"/>
          </a:p>
        </p:txBody>
      </p:sp>
      <p:sp>
        <p:nvSpPr>
          <p:cNvPr id="27" name="Text 22"/>
          <p:cNvSpPr/>
          <p:nvPr/>
        </p:nvSpPr>
        <p:spPr>
          <a:xfrm>
            <a:off x="5190592"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Variety</a:t>
            </a:r>
            <a:endParaRPr lang="en-US" sz="1900" dirty="0"/>
          </a:p>
        </p:txBody>
      </p:sp>
      <p:sp>
        <p:nvSpPr>
          <p:cNvPr id="28" name="Text 23"/>
          <p:cNvSpPr/>
          <p:nvPr/>
        </p:nvSpPr>
        <p:spPr>
          <a:xfrm>
            <a:off x="5300320"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Many formats — structured, text, images, video.</a:t>
            </a:r>
            <a:endParaRPr lang="en-US" sz="1100" dirty="0"/>
          </a:p>
        </p:txBody>
      </p:sp>
      <p:sp>
        <p:nvSpPr>
          <p:cNvPr id="29" name="Shape 24"/>
          <p:cNvSpPr/>
          <p:nvPr/>
        </p:nvSpPr>
        <p:spPr>
          <a:xfrm>
            <a:off x="7078028" y="3842857"/>
            <a:ext cx="310896" cy="223845"/>
          </a:xfrm>
          <a:prstGeom prst="chevron">
            <a:avLst/>
          </a:prstGeom>
          <a:solidFill>
            <a:srgbClr val="FF3621"/>
          </a:solidFill>
          <a:ln/>
        </p:spPr>
        <p:txBody>
          <a:bodyPr/>
          <a:lstStyle/>
          <a:p>
            <a:endParaRPr lang="en-US"/>
          </a:p>
        </p:txBody>
      </p:sp>
      <p:sp>
        <p:nvSpPr>
          <p:cNvPr id="30" name="Shape 25"/>
          <p:cNvSpPr/>
          <p:nvPr/>
        </p:nvSpPr>
        <p:spPr>
          <a:xfrm>
            <a:off x="7374407"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6"/>
          <p:cNvSpPr/>
          <p:nvPr/>
        </p:nvSpPr>
        <p:spPr>
          <a:xfrm>
            <a:off x="7374407" y="2331720"/>
            <a:ext cx="1993392" cy="91440"/>
          </a:xfrm>
          <a:prstGeom prst="rect">
            <a:avLst/>
          </a:prstGeom>
          <a:solidFill>
            <a:srgbClr val="FF3621"/>
          </a:solidFill>
          <a:ln/>
        </p:spPr>
        <p:txBody>
          <a:bodyPr/>
          <a:lstStyle/>
          <a:p>
            <a:endParaRPr lang="en-US"/>
          </a:p>
        </p:txBody>
      </p:sp>
      <p:sp>
        <p:nvSpPr>
          <p:cNvPr id="32" name="Shape 27"/>
          <p:cNvSpPr/>
          <p:nvPr/>
        </p:nvSpPr>
        <p:spPr>
          <a:xfrm>
            <a:off x="7950479" y="2697480"/>
            <a:ext cx="841248" cy="841248"/>
          </a:xfrm>
          <a:prstGeom prst="ellipse">
            <a:avLst/>
          </a:prstGeom>
          <a:solidFill>
            <a:srgbClr val="FF3621"/>
          </a:solidFill>
          <a:ln/>
        </p:spPr>
        <p:txBody>
          <a:bodyPr/>
          <a:lstStyle/>
          <a:p>
            <a:endParaRPr lang="en-US"/>
          </a:p>
        </p:txBody>
      </p:sp>
      <p:pic>
        <p:nvPicPr>
          <p:cNvPr id="33" name="Image 3" descr="preencoded.png"/>
          <p:cNvPicPr>
            <a:picLocks noChangeAspect="1"/>
          </p:cNvPicPr>
          <p:nvPr/>
        </p:nvPicPr>
        <p:blipFill>
          <a:blip r:embed="rId6"/>
          <a:stretch>
            <a:fillRect/>
          </a:stretch>
        </p:blipFill>
        <p:spPr>
          <a:xfrm>
            <a:off x="8160791" y="2907792"/>
            <a:ext cx="420624" cy="420624"/>
          </a:xfrm>
          <a:prstGeom prst="rect">
            <a:avLst/>
          </a:prstGeom>
        </p:spPr>
      </p:pic>
      <p:sp>
        <p:nvSpPr>
          <p:cNvPr id="34" name="Text 28"/>
          <p:cNvSpPr/>
          <p:nvPr/>
        </p:nvSpPr>
        <p:spPr>
          <a:xfrm>
            <a:off x="7465847"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04</a:t>
            </a:r>
            <a:endParaRPr lang="en-US" sz="1100" dirty="0"/>
          </a:p>
        </p:txBody>
      </p:sp>
      <p:sp>
        <p:nvSpPr>
          <p:cNvPr id="35" name="Text 29"/>
          <p:cNvSpPr/>
          <p:nvPr/>
        </p:nvSpPr>
        <p:spPr>
          <a:xfrm>
            <a:off x="7465847"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Veracity</a:t>
            </a:r>
            <a:endParaRPr lang="en-US" sz="1900" dirty="0"/>
          </a:p>
        </p:txBody>
      </p:sp>
      <p:sp>
        <p:nvSpPr>
          <p:cNvPr id="36" name="Text 30"/>
          <p:cNvSpPr/>
          <p:nvPr/>
        </p:nvSpPr>
        <p:spPr>
          <a:xfrm>
            <a:off x="7575575"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Trustworthiness — quality, accuracy and noise.</a:t>
            </a:r>
            <a:endParaRPr lang="en-US" sz="1100" dirty="0"/>
          </a:p>
        </p:txBody>
      </p:sp>
      <p:sp>
        <p:nvSpPr>
          <p:cNvPr id="37" name="Shape 31"/>
          <p:cNvSpPr/>
          <p:nvPr/>
        </p:nvSpPr>
        <p:spPr>
          <a:xfrm>
            <a:off x="9353283" y="3842857"/>
            <a:ext cx="310896" cy="223845"/>
          </a:xfrm>
          <a:prstGeom prst="chevron">
            <a:avLst/>
          </a:prstGeom>
          <a:solidFill>
            <a:srgbClr val="FF3621"/>
          </a:solidFill>
          <a:ln/>
        </p:spPr>
        <p:txBody>
          <a:bodyPr/>
          <a:lstStyle/>
          <a:p>
            <a:endParaRPr lang="en-US"/>
          </a:p>
        </p:txBody>
      </p:sp>
      <p:sp>
        <p:nvSpPr>
          <p:cNvPr id="38" name="Shape 32"/>
          <p:cNvSpPr/>
          <p:nvPr/>
        </p:nvSpPr>
        <p:spPr>
          <a:xfrm>
            <a:off x="9649663" y="2331720"/>
            <a:ext cx="1993392" cy="324612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9" name="Shape 33"/>
          <p:cNvSpPr/>
          <p:nvPr/>
        </p:nvSpPr>
        <p:spPr>
          <a:xfrm>
            <a:off x="9649663" y="2331720"/>
            <a:ext cx="1993392" cy="91440"/>
          </a:xfrm>
          <a:prstGeom prst="rect">
            <a:avLst/>
          </a:prstGeom>
          <a:solidFill>
            <a:srgbClr val="FF3621"/>
          </a:solidFill>
          <a:ln/>
        </p:spPr>
        <p:txBody>
          <a:bodyPr/>
          <a:lstStyle/>
          <a:p>
            <a:endParaRPr lang="en-US"/>
          </a:p>
        </p:txBody>
      </p:sp>
      <p:sp>
        <p:nvSpPr>
          <p:cNvPr id="40" name="Shape 34"/>
          <p:cNvSpPr/>
          <p:nvPr/>
        </p:nvSpPr>
        <p:spPr>
          <a:xfrm>
            <a:off x="10225735" y="2697480"/>
            <a:ext cx="841248" cy="841248"/>
          </a:xfrm>
          <a:prstGeom prst="ellipse">
            <a:avLst/>
          </a:prstGeom>
          <a:solidFill>
            <a:srgbClr val="FF3621"/>
          </a:solidFill>
          <a:ln/>
        </p:spPr>
        <p:txBody>
          <a:bodyPr/>
          <a:lstStyle/>
          <a:p>
            <a:endParaRPr lang="en-US"/>
          </a:p>
        </p:txBody>
      </p:sp>
      <p:pic>
        <p:nvPicPr>
          <p:cNvPr id="41" name="Image 4" descr="preencoded.png"/>
          <p:cNvPicPr>
            <a:picLocks noChangeAspect="1"/>
          </p:cNvPicPr>
          <p:nvPr/>
        </p:nvPicPr>
        <p:blipFill>
          <a:blip r:embed="rId7"/>
          <a:stretch>
            <a:fillRect/>
          </a:stretch>
        </p:blipFill>
        <p:spPr>
          <a:xfrm>
            <a:off x="10436047" y="2907792"/>
            <a:ext cx="420624" cy="420624"/>
          </a:xfrm>
          <a:prstGeom prst="rect">
            <a:avLst/>
          </a:prstGeom>
        </p:spPr>
      </p:pic>
      <p:sp>
        <p:nvSpPr>
          <p:cNvPr id="42" name="Text 35"/>
          <p:cNvSpPr/>
          <p:nvPr/>
        </p:nvSpPr>
        <p:spPr>
          <a:xfrm>
            <a:off x="9741103" y="3657600"/>
            <a:ext cx="1810512" cy="274320"/>
          </a:xfrm>
          <a:prstGeom prst="rect">
            <a:avLst/>
          </a:prstGeom>
          <a:noFill/>
          <a:ln/>
        </p:spPr>
        <p:txBody>
          <a:bodyPr wrap="square" lIns="0" tIns="0" rIns="0" bIns="0" rtlCol="0" anchor="ctr"/>
          <a:lstStyle/>
          <a:p>
            <a:pPr marL="0" indent="0" algn="ctr">
              <a:buNone/>
            </a:pPr>
            <a:r>
              <a:rPr lang="en-US" sz="1100" b="1" kern="0" spc="200" dirty="0">
                <a:solidFill>
                  <a:srgbClr val="7C8A91"/>
                </a:solidFill>
                <a:latin typeface="Calibri" pitchFamily="34" charset="0"/>
                <a:ea typeface="Calibri" pitchFamily="34" charset="-122"/>
                <a:cs typeface="Calibri" pitchFamily="34" charset="-120"/>
              </a:rPr>
              <a:t>05</a:t>
            </a:r>
            <a:endParaRPr lang="en-US" sz="1100" dirty="0"/>
          </a:p>
        </p:txBody>
      </p:sp>
      <p:sp>
        <p:nvSpPr>
          <p:cNvPr id="43" name="Text 36"/>
          <p:cNvSpPr/>
          <p:nvPr/>
        </p:nvSpPr>
        <p:spPr>
          <a:xfrm>
            <a:off x="9741103" y="3913632"/>
            <a:ext cx="1810512" cy="411480"/>
          </a:xfrm>
          <a:prstGeom prst="rect">
            <a:avLst/>
          </a:prstGeom>
          <a:noFill/>
          <a:ln/>
        </p:spPr>
        <p:txBody>
          <a:bodyPr wrap="square" lIns="0" tIns="0" rIns="0" bIns="0" rtlCol="0" anchor="ctr"/>
          <a:lstStyle/>
          <a:p>
            <a:pPr marL="0" indent="0" algn="ctr">
              <a:buNone/>
            </a:pPr>
            <a:r>
              <a:rPr lang="en-US" sz="1900" b="1" dirty="0">
                <a:solidFill>
                  <a:srgbClr val="13242E"/>
                </a:solidFill>
                <a:latin typeface="Trebuchet MS" pitchFamily="34" charset="0"/>
                <a:ea typeface="Trebuchet MS" pitchFamily="34" charset="-122"/>
                <a:cs typeface="Trebuchet MS" pitchFamily="34" charset="-120"/>
              </a:rPr>
              <a:t>Value</a:t>
            </a:r>
            <a:endParaRPr lang="en-US" sz="1900" dirty="0"/>
          </a:p>
        </p:txBody>
      </p:sp>
      <p:sp>
        <p:nvSpPr>
          <p:cNvPr id="44" name="Text 37"/>
          <p:cNvSpPr/>
          <p:nvPr/>
        </p:nvSpPr>
        <p:spPr>
          <a:xfrm>
            <a:off x="9850831" y="4416552"/>
            <a:ext cx="1591056" cy="100584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Turning raw data into decisions and outcomes.</a:t>
            </a:r>
            <a:endParaRPr lang="en-US" sz="1100" dirty="0"/>
          </a:p>
        </p:txBody>
      </p:sp>
      <p:sp>
        <p:nvSpPr>
          <p:cNvPr id="45" name="Text 38"/>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6" name="Text 39"/>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COMPARISON</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Traditional data vs Big Data</a:t>
            </a:r>
            <a:endParaRPr lang="en-US" sz="2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3968496"/>
        </p:xfrm>
        <a:graphic>
          <a:graphicData uri="http://schemas.openxmlformats.org/drawingml/2006/table">
            <a:tbl>
              <a:tblPr/>
              <a:tblGrid>
                <a:gridCol w="2651760">
                  <a:extLst>
                    <a:ext uri="{9D8B030D-6E8A-4147-A177-3AD203B41FA5}">
                      <a16:colId xmlns:a16="http://schemas.microsoft.com/office/drawing/2014/main" val="20000"/>
                    </a:ext>
                  </a:extLst>
                </a:gridCol>
                <a:gridCol w="4224528">
                  <a:extLst>
                    <a:ext uri="{9D8B030D-6E8A-4147-A177-3AD203B41FA5}">
                      <a16:colId xmlns:a16="http://schemas.microsoft.com/office/drawing/2014/main" val="20001"/>
                    </a:ext>
                  </a:extLst>
                </a:gridCol>
                <a:gridCol w="4215384">
                  <a:extLst>
                    <a:ext uri="{9D8B030D-6E8A-4147-A177-3AD203B41FA5}">
                      <a16:colId xmlns:a16="http://schemas.microsoft.com/office/drawing/2014/main" val="20002"/>
                    </a:ext>
                  </a:extLst>
                </a:gridCol>
              </a:tblGrid>
              <a:tr h="566928">
                <a:tc>
                  <a:txBody>
                    <a:bodyP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Aspect</a:t>
                      </a:r>
                      <a:endParaRPr lang="en-US" sz="1500" dirty="0">
                        <a:latin typeface="Trebuchet MS" charset="0"/>
                        <a:ea typeface="Trebuchet MS" charset="0"/>
                        <a:cs typeface="Trebuchet MS"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0E1B24"/>
                    </a:solidFill>
                  </a:tcPr>
                </a:tc>
                <a:tc>
                  <a:txBody>
                    <a:bodyP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Traditional Data</a:t>
                      </a:r>
                      <a:endParaRPr lang="en-US" sz="1500" dirty="0">
                        <a:latin typeface="Trebuchet MS" charset="0"/>
                        <a:ea typeface="Trebuchet MS" charset="0"/>
                        <a:cs typeface="Trebuchet MS"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20404C"/>
                    </a:solidFill>
                  </a:tcPr>
                </a:tc>
                <a:tc>
                  <a:txBody>
                    <a:bodyP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Big Data</a:t>
                      </a:r>
                      <a:endParaRPr lang="en-US" sz="1500" dirty="0">
                        <a:latin typeface="Trebuchet MS" charset="0"/>
                        <a:ea typeface="Trebuchet MS" charset="0"/>
                        <a:cs typeface="Trebuchet MS"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3621"/>
                    </a:solidFill>
                  </a:tcPr>
                </a:tc>
                <a:extLst>
                  <a:ext uri="{0D108BD9-81ED-4DB2-BD59-A6C34878D82A}">
                    <a16:rowId xmlns:a16="http://schemas.microsoft.com/office/drawing/2014/main" val="10000"/>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Scale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Gigabytes to a few terabytes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Terabytes to petabytes and beyond</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1"/>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Structure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Mostly structured rows &amp; columns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Structured, semi-structured &amp; unstructured</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2"/>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Where it runs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One server / one database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Distributed across many machines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3"/>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Schema</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Defined before writing (schema-on-write)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Often applied when reading (schema-on-read)</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4"/>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Scaling</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Scale up — a bigger machine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Scale out — add more machines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5"/>
                  </a:ext>
                </a:extLst>
              </a:tr>
              <a:tr h="566928">
                <a:tc>
                  <a:txBody>
                    <a:bodyPr/>
                    <a:lstStyle/>
                    <a:p>
                      <a:pPr marL="0" indent="0" algn="l">
                        <a:buNone/>
                      </a:pPr>
                      <a:r>
                        <a:rPr lang="en-US" sz="1250" b="1" dirty="0">
                          <a:solidFill>
                            <a:srgbClr val="7C8A91"/>
                          </a:solidFill>
                          <a:latin typeface="Calibri" pitchFamily="34" charset="0"/>
                          <a:ea typeface="Calibri" pitchFamily="34" charset="-122"/>
                          <a:cs typeface="Calibri" pitchFamily="34" charset="-120"/>
                        </a:rPr>
                        <a:t>Typical tools</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38474F"/>
                          </a:solidFill>
                          <a:latin typeface="Calibri" pitchFamily="34" charset="0"/>
                          <a:ea typeface="Calibri" pitchFamily="34" charset="-122"/>
                          <a:cs typeface="Calibri" pitchFamily="34" charset="-120"/>
                        </a:rPr>
                        <a:t>Relational databases, SQL</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3242E"/>
                          </a:solidFill>
                          <a:latin typeface="Calibri" pitchFamily="34" charset="0"/>
                          <a:ea typeface="Calibri" pitchFamily="34" charset="-122"/>
                          <a:cs typeface="Calibri" pitchFamily="34" charset="-120"/>
                        </a:rPr>
                        <a:t>Spark, data lakes, the Lakehouse</a:t>
                      </a:r>
                      <a:endParaRPr lang="en-US" sz="1250" dirty="0">
                        <a:latin typeface="Calibri" charset="0"/>
                        <a:ea typeface="Calibri" charset="0"/>
                        <a:cs typeface="Calibri" charset="0"/>
                      </a:endParaRPr>
                    </a:p>
                  </a:txBody>
                  <a:tcPr marL="101600" marR="101600" marT="38100" marB="38100" anchor="ctr">
                    <a:lnL w="12700" cap="flat" cmpd="sng" algn="ctr">
                      <a:solidFill>
                        <a:srgbClr val="DDE4E7"/>
                      </a:solidFill>
                      <a:prstDash val="solid"/>
                      <a:round/>
                      <a:headEnd type="none" w="med" len="med"/>
                      <a:tailEnd type="none" w="med" len="med"/>
                    </a:lnL>
                    <a:lnR w="12700" cap="flat" cmpd="sng" algn="ctr">
                      <a:solidFill>
                        <a:srgbClr val="DDE4E7"/>
                      </a:solidFill>
                      <a:prstDash val="solid"/>
                      <a:round/>
                      <a:headEnd type="none" w="med" len="med"/>
                      <a:tailEnd type="none" w="med" len="med"/>
                    </a:lnR>
                    <a:lnT w="12700" cap="flat" cmpd="sng" algn="ctr">
                      <a:solidFill>
                        <a:srgbClr val="DDE4E7"/>
                      </a:solidFill>
                      <a:prstDash val="solid"/>
                      <a:round/>
                      <a:headEnd type="none" w="med" len="med"/>
                      <a:tailEnd type="none" w="med" len="med"/>
                    </a:lnT>
                    <a:lnB w="12700" cap="flat" cmpd="sng" algn="ctr">
                      <a:solidFill>
                        <a:srgbClr val="DDE4E7"/>
                      </a:solidFill>
                      <a:prstDash val="solid"/>
                      <a:round/>
                      <a:headEnd type="none" w="med" len="med"/>
                      <a:tailEnd type="none" w="med" len="med"/>
                    </a:lnB>
                    <a:solidFill>
                      <a:srgbClr val="FFF1EE"/>
                    </a:solidFill>
                  </a:tcPr>
                </a:tc>
                <a:extLst>
                  <a:ext uri="{0D108BD9-81ED-4DB2-BD59-A6C34878D82A}">
                    <a16:rowId xmlns:a16="http://schemas.microsoft.com/office/drawing/2014/main" val="10006"/>
                  </a:ext>
                </a:extLst>
              </a:tr>
            </a:tbl>
          </a:graphicData>
        </a:graphic>
      </p:graphicFrame>
      <p:sp>
        <p:nvSpPr>
          <p:cNvPr id="6"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7" name="Text 4"/>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REALITY CHECK</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The challenges of Big Data</a:t>
            </a:r>
            <a:endParaRPr lang="en-US" sz="2900" dirty="0"/>
          </a:p>
        </p:txBody>
      </p:sp>
      <p:sp>
        <p:nvSpPr>
          <p:cNvPr id="5" name="Shape 3"/>
          <p:cNvSpPr/>
          <p:nvPr/>
        </p:nvSpPr>
        <p:spPr>
          <a:xfrm>
            <a:off x="548640"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914400" y="2194560"/>
            <a:ext cx="676656" cy="676656"/>
          </a:xfrm>
          <a:prstGeom prst="ellipse">
            <a:avLst/>
          </a:prstGeom>
          <a:solidFill>
            <a:srgbClr val="FF362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83564" y="2363724"/>
            <a:ext cx="338328" cy="338328"/>
          </a:xfrm>
          <a:prstGeom prst="rect">
            <a:avLst/>
          </a:prstGeom>
        </p:spPr>
      </p:pic>
      <p:sp>
        <p:nvSpPr>
          <p:cNvPr id="8" name="Text 5"/>
          <p:cNvSpPr/>
          <p:nvPr/>
        </p:nvSpPr>
        <p:spPr>
          <a:xfrm>
            <a:off x="914400"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Storing it affordably</a:t>
            </a:r>
            <a:endParaRPr lang="en-US" sz="1500" dirty="0"/>
          </a:p>
        </p:txBody>
      </p:sp>
      <p:sp>
        <p:nvSpPr>
          <p:cNvPr id="9" name="Text 6"/>
          <p:cNvSpPr/>
          <p:nvPr/>
        </p:nvSpPr>
        <p:spPr>
          <a:xfrm>
            <a:off x="914400"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Petabytes must be kept reliably without runaway cost.</a:t>
            </a:r>
            <a:endParaRPr lang="en-US" sz="1150" dirty="0"/>
          </a:p>
        </p:txBody>
      </p:sp>
      <p:sp>
        <p:nvSpPr>
          <p:cNvPr id="10" name="Shape 7"/>
          <p:cNvSpPr/>
          <p:nvPr/>
        </p:nvSpPr>
        <p:spPr>
          <a:xfrm>
            <a:off x="4367632"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1" name="Shape 8"/>
          <p:cNvSpPr/>
          <p:nvPr/>
        </p:nvSpPr>
        <p:spPr>
          <a:xfrm>
            <a:off x="4733392" y="2194560"/>
            <a:ext cx="676656" cy="676656"/>
          </a:xfrm>
          <a:prstGeom prst="ellipse">
            <a:avLst/>
          </a:prstGeom>
          <a:solidFill>
            <a:srgbClr val="FF362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902556" y="2363724"/>
            <a:ext cx="338328" cy="338328"/>
          </a:xfrm>
          <a:prstGeom prst="rect">
            <a:avLst/>
          </a:prstGeom>
        </p:spPr>
      </p:pic>
      <p:sp>
        <p:nvSpPr>
          <p:cNvPr id="13" name="Text 9"/>
          <p:cNvSpPr/>
          <p:nvPr/>
        </p:nvSpPr>
        <p:spPr>
          <a:xfrm>
            <a:off x="4733392"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Processing it fast</a:t>
            </a:r>
            <a:endParaRPr lang="en-US" sz="1500" dirty="0"/>
          </a:p>
        </p:txBody>
      </p:sp>
      <p:sp>
        <p:nvSpPr>
          <p:cNvPr id="14" name="Text 10"/>
          <p:cNvSpPr/>
          <p:nvPr/>
        </p:nvSpPr>
        <p:spPr>
          <a:xfrm>
            <a:off x="4733392"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Queries and jobs must finish in minutes, not days.</a:t>
            </a:r>
            <a:endParaRPr lang="en-US" sz="1150" dirty="0"/>
          </a:p>
        </p:txBody>
      </p:sp>
      <p:sp>
        <p:nvSpPr>
          <p:cNvPr id="15" name="Shape 11"/>
          <p:cNvSpPr/>
          <p:nvPr/>
        </p:nvSpPr>
        <p:spPr>
          <a:xfrm>
            <a:off x="8186623"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6" name="Shape 12"/>
          <p:cNvSpPr/>
          <p:nvPr/>
        </p:nvSpPr>
        <p:spPr>
          <a:xfrm>
            <a:off x="8552383" y="2194560"/>
            <a:ext cx="676656" cy="676656"/>
          </a:xfrm>
          <a:prstGeom prst="ellipse">
            <a:avLst/>
          </a:prstGeom>
          <a:solidFill>
            <a:srgbClr val="FF3621"/>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721547" y="2363724"/>
            <a:ext cx="338328" cy="338328"/>
          </a:xfrm>
          <a:prstGeom prst="rect">
            <a:avLst/>
          </a:prstGeom>
        </p:spPr>
      </p:pic>
      <p:sp>
        <p:nvSpPr>
          <p:cNvPr id="18" name="Text 13"/>
          <p:cNvSpPr/>
          <p:nvPr/>
        </p:nvSpPr>
        <p:spPr>
          <a:xfrm>
            <a:off x="8552383"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Integrating sources</a:t>
            </a:r>
            <a:endParaRPr lang="en-US" sz="1500" dirty="0"/>
          </a:p>
        </p:txBody>
      </p:sp>
      <p:sp>
        <p:nvSpPr>
          <p:cNvPr id="19" name="Text 14"/>
          <p:cNvSpPr/>
          <p:nvPr/>
        </p:nvSpPr>
        <p:spPr>
          <a:xfrm>
            <a:off x="8552383"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Dozens of systems and formats have to come together.</a:t>
            </a:r>
            <a:endParaRPr lang="en-US" sz="1150" dirty="0"/>
          </a:p>
        </p:txBody>
      </p:sp>
      <p:sp>
        <p:nvSpPr>
          <p:cNvPr id="20" name="Shape 15"/>
          <p:cNvSpPr/>
          <p:nvPr/>
        </p:nvSpPr>
        <p:spPr>
          <a:xfrm>
            <a:off x="548640"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1" name="Shape 16"/>
          <p:cNvSpPr/>
          <p:nvPr/>
        </p:nvSpPr>
        <p:spPr>
          <a:xfrm>
            <a:off x="914400" y="4160520"/>
            <a:ext cx="676656" cy="676656"/>
          </a:xfrm>
          <a:prstGeom prst="ellipse">
            <a:avLst/>
          </a:prstGeom>
          <a:solidFill>
            <a:srgbClr val="FF362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083564" y="4329684"/>
            <a:ext cx="338328" cy="338328"/>
          </a:xfrm>
          <a:prstGeom prst="rect">
            <a:avLst/>
          </a:prstGeom>
        </p:spPr>
      </p:pic>
      <p:sp>
        <p:nvSpPr>
          <p:cNvPr id="23" name="Text 17"/>
          <p:cNvSpPr/>
          <p:nvPr/>
        </p:nvSpPr>
        <p:spPr>
          <a:xfrm>
            <a:off x="914400"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Keeping it trustworthy</a:t>
            </a:r>
            <a:endParaRPr lang="en-US" sz="1500" dirty="0"/>
          </a:p>
        </p:txBody>
      </p:sp>
      <p:sp>
        <p:nvSpPr>
          <p:cNvPr id="24" name="Text 18"/>
          <p:cNvSpPr/>
          <p:nvPr/>
        </p:nvSpPr>
        <p:spPr>
          <a:xfrm>
            <a:off x="914400"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Duplicates, gaps and errors quietly break analytics.</a:t>
            </a:r>
            <a:endParaRPr lang="en-US" sz="1150" dirty="0"/>
          </a:p>
        </p:txBody>
      </p:sp>
      <p:sp>
        <p:nvSpPr>
          <p:cNvPr id="25" name="Shape 19"/>
          <p:cNvSpPr/>
          <p:nvPr/>
        </p:nvSpPr>
        <p:spPr>
          <a:xfrm>
            <a:off x="4367632"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6" name="Shape 20"/>
          <p:cNvSpPr/>
          <p:nvPr/>
        </p:nvSpPr>
        <p:spPr>
          <a:xfrm>
            <a:off x="4733392" y="4160520"/>
            <a:ext cx="676656" cy="676656"/>
          </a:xfrm>
          <a:prstGeom prst="ellipse">
            <a:avLst/>
          </a:prstGeom>
          <a:solidFill>
            <a:srgbClr val="FF3621"/>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4902556" y="4329684"/>
            <a:ext cx="338328" cy="338328"/>
          </a:xfrm>
          <a:prstGeom prst="rect">
            <a:avLst/>
          </a:prstGeom>
        </p:spPr>
      </p:pic>
      <p:sp>
        <p:nvSpPr>
          <p:cNvPr id="28" name="Text 21"/>
          <p:cNvSpPr/>
          <p:nvPr/>
        </p:nvSpPr>
        <p:spPr>
          <a:xfrm>
            <a:off x="4733392"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Security &amp; governance</a:t>
            </a:r>
            <a:endParaRPr lang="en-US" sz="1500" dirty="0"/>
          </a:p>
        </p:txBody>
      </p:sp>
      <p:sp>
        <p:nvSpPr>
          <p:cNvPr id="29" name="Text 22"/>
          <p:cNvSpPr/>
          <p:nvPr/>
        </p:nvSpPr>
        <p:spPr>
          <a:xfrm>
            <a:off x="4733392"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Access, privacy and compliance across every dataset.</a:t>
            </a:r>
            <a:endParaRPr lang="en-US" sz="1150" dirty="0"/>
          </a:p>
        </p:txBody>
      </p:sp>
      <p:sp>
        <p:nvSpPr>
          <p:cNvPr id="30" name="Shape 23"/>
          <p:cNvSpPr/>
          <p:nvPr/>
        </p:nvSpPr>
        <p:spPr>
          <a:xfrm>
            <a:off x="8186623"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4"/>
          <p:cNvSpPr/>
          <p:nvPr/>
        </p:nvSpPr>
        <p:spPr>
          <a:xfrm>
            <a:off x="8552383" y="4160520"/>
            <a:ext cx="676656" cy="676656"/>
          </a:xfrm>
          <a:prstGeom prst="ellipse">
            <a:avLst/>
          </a:prstGeom>
          <a:solidFill>
            <a:srgbClr val="FF3621"/>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721547" y="4329684"/>
            <a:ext cx="338328" cy="338328"/>
          </a:xfrm>
          <a:prstGeom prst="rect">
            <a:avLst/>
          </a:prstGeom>
        </p:spPr>
      </p:pic>
      <p:sp>
        <p:nvSpPr>
          <p:cNvPr id="33" name="Text 25"/>
          <p:cNvSpPr/>
          <p:nvPr/>
        </p:nvSpPr>
        <p:spPr>
          <a:xfrm>
            <a:off x="8552383"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Skills &amp; cost</a:t>
            </a:r>
            <a:endParaRPr lang="en-US" sz="1500" dirty="0"/>
          </a:p>
        </p:txBody>
      </p:sp>
      <p:sp>
        <p:nvSpPr>
          <p:cNvPr id="34" name="Text 26"/>
          <p:cNvSpPr/>
          <p:nvPr/>
        </p:nvSpPr>
        <p:spPr>
          <a:xfrm>
            <a:off x="8552383"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Specialist tools and people are scarce and expensive.</a:t>
            </a:r>
            <a:endParaRPr lang="en-US" sz="1150" dirty="0"/>
          </a:p>
        </p:txBody>
      </p:sp>
      <p:sp>
        <p:nvSpPr>
          <p:cNvPr id="35"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6" name="Text 2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THE PIPELINE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The Big Data ecosystem</a:t>
            </a:r>
            <a:endParaRPr lang="en-US" sz="2900" dirty="0"/>
          </a:p>
        </p:txBody>
      </p:sp>
      <p:sp>
        <p:nvSpPr>
          <p:cNvPr id="5" name="Text 3"/>
          <p:cNvSpPr/>
          <p:nvPr/>
        </p:nvSpPr>
        <p:spPr>
          <a:xfrm>
            <a:off x="548640" y="1627632"/>
            <a:ext cx="11094415" cy="320040"/>
          </a:xfrm>
          <a:prstGeom prst="rect">
            <a:avLst/>
          </a:prstGeom>
          <a:noFill/>
          <a:ln/>
        </p:spPr>
        <p:txBody>
          <a:bodyPr wrap="square" lIns="0" tIns="0" rIns="0" bIns="0" rtlCol="0" anchor="ctr"/>
          <a:lstStyle/>
          <a:p>
            <a:pPr marL="0" indent="0">
              <a:buNone/>
            </a:pPr>
            <a:r>
              <a:rPr lang="en-US" sz="1400" dirty="0">
                <a:solidFill>
                  <a:srgbClr val="7C8A91"/>
                </a:solidFill>
                <a:latin typeface="Calibri" pitchFamily="34" charset="0"/>
                <a:ea typeface="Calibri" pitchFamily="34" charset="-122"/>
                <a:cs typeface="Calibri" pitchFamily="34" charset="-120"/>
              </a:rPr>
              <a:t>Most data platforms move information through the same six stages, left to right.</a:t>
            </a:r>
            <a:endParaRPr lang="en-US" sz="1400" dirty="0"/>
          </a:p>
        </p:txBody>
      </p:sp>
      <p:sp>
        <p:nvSpPr>
          <p:cNvPr id="6" name="Shape 4"/>
          <p:cNvSpPr/>
          <p:nvPr/>
        </p:nvSpPr>
        <p:spPr>
          <a:xfrm>
            <a:off x="548640"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969264" y="2898648"/>
            <a:ext cx="786384" cy="786384"/>
          </a:xfrm>
          <a:prstGeom prst="ellipse">
            <a:avLst/>
          </a:prstGeom>
          <a:solidFill>
            <a:srgbClr val="0E7C8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65860" y="3095244"/>
            <a:ext cx="393192" cy="393192"/>
          </a:xfrm>
          <a:prstGeom prst="rect">
            <a:avLst/>
          </a:prstGeom>
        </p:spPr>
      </p:pic>
      <p:sp>
        <p:nvSpPr>
          <p:cNvPr id="9" name="Text 6"/>
          <p:cNvSpPr/>
          <p:nvPr/>
        </p:nvSpPr>
        <p:spPr>
          <a:xfrm>
            <a:off x="548640"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1</a:t>
            </a:r>
            <a:endParaRPr lang="en-US" sz="950" dirty="0"/>
          </a:p>
        </p:txBody>
      </p:sp>
      <p:sp>
        <p:nvSpPr>
          <p:cNvPr id="10" name="Text 7"/>
          <p:cNvSpPr/>
          <p:nvPr/>
        </p:nvSpPr>
        <p:spPr>
          <a:xfrm>
            <a:off x="548640"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Sources</a:t>
            </a:r>
            <a:endParaRPr lang="en-US" sz="1500" dirty="0"/>
          </a:p>
        </p:txBody>
      </p:sp>
      <p:sp>
        <p:nvSpPr>
          <p:cNvPr id="11" name="Text 8"/>
          <p:cNvSpPr/>
          <p:nvPr/>
        </p:nvSpPr>
        <p:spPr>
          <a:xfrm>
            <a:off x="621792"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apps · IoT · logs</a:t>
            </a:r>
            <a:endParaRPr lang="en-US" sz="1050" dirty="0"/>
          </a:p>
        </p:txBody>
      </p:sp>
      <p:sp>
        <p:nvSpPr>
          <p:cNvPr id="12" name="Shape 9"/>
          <p:cNvSpPr/>
          <p:nvPr/>
        </p:nvSpPr>
        <p:spPr>
          <a:xfrm>
            <a:off x="2171974" y="3878885"/>
            <a:ext cx="274320" cy="197510"/>
          </a:xfrm>
          <a:prstGeom prst="chevron">
            <a:avLst/>
          </a:prstGeom>
          <a:solidFill>
            <a:srgbClr val="0E7C8B"/>
          </a:solidFill>
          <a:ln/>
        </p:spPr>
        <p:txBody>
          <a:bodyPr/>
          <a:lstStyle/>
          <a:p>
            <a:endParaRPr lang="en-US"/>
          </a:p>
        </p:txBody>
      </p:sp>
      <p:sp>
        <p:nvSpPr>
          <p:cNvPr id="13" name="Shape 10"/>
          <p:cNvSpPr/>
          <p:nvPr/>
        </p:nvSpPr>
        <p:spPr>
          <a:xfrm>
            <a:off x="2441997"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4" name="Shape 11"/>
          <p:cNvSpPr/>
          <p:nvPr/>
        </p:nvSpPr>
        <p:spPr>
          <a:xfrm>
            <a:off x="2862621" y="2898648"/>
            <a:ext cx="786384" cy="786384"/>
          </a:xfrm>
          <a:prstGeom prst="ellipse">
            <a:avLst/>
          </a:prstGeom>
          <a:solidFill>
            <a:srgbClr val="0E7C8B"/>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059217" y="3095244"/>
            <a:ext cx="393192" cy="393192"/>
          </a:xfrm>
          <a:prstGeom prst="rect">
            <a:avLst/>
          </a:prstGeom>
        </p:spPr>
      </p:pic>
      <p:sp>
        <p:nvSpPr>
          <p:cNvPr id="16" name="Text 12"/>
          <p:cNvSpPr/>
          <p:nvPr/>
        </p:nvSpPr>
        <p:spPr>
          <a:xfrm>
            <a:off x="2441997"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2</a:t>
            </a:r>
            <a:endParaRPr lang="en-US" sz="950" dirty="0"/>
          </a:p>
        </p:txBody>
      </p:sp>
      <p:sp>
        <p:nvSpPr>
          <p:cNvPr id="17" name="Text 13"/>
          <p:cNvSpPr/>
          <p:nvPr/>
        </p:nvSpPr>
        <p:spPr>
          <a:xfrm>
            <a:off x="2441997"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Ingestion</a:t>
            </a:r>
            <a:endParaRPr lang="en-US" sz="1500" dirty="0"/>
          </a:p>
        </p:txBody>
      </p:sp>
      <p:sp>
        <p:nvSpPr>
          <p:cNvPr id="18" name="Text 14"/>
          <p:cNvSpPr/>
          <p:nvPr/>
        </p:nvSpPr>
        <p:spPr>
          <a:xfrm>
            <a:off x="2515149"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streaming · batch</a:t>
            </a:r>
            <a:endParaRPr lang="en-US" sz="1050" dirty="0"/>
          </a:p>
        </p:txBody>
      </p:sp>
      <p:sp>
        <p:nvSpPr>
          <p:cNvPr id="19" name="Shape 15"/>
          <p:cNvSpPr/>
          <p:nvPr/>
        </p:nvSpPr>
        <p:spPr>
          <a:xfrm>
            <a:off x="4065331" y="3878885"/>
            <a:ext cx="274320" cy="197510"/>
          </a:xfrm>
          <a:prstGeom prst="chevron">
            <a:avLst/>
          </a:prstGeom>
          <a:solidFill>
            <a:srgbClr val="0E7C8B"/>
          </a:solidFill>
          <a:ln/>
        </p:spPr>
        <p:txBody>
          <a:bodyPr/>
          <a:lstStyle/>
          <a:p>
            <a:endParaRPr lang="en-US"/>
          </a:p>
        </p:txBody>
      </p:sp>
      <p:sp>
        <p:nvSpPr>
          <p:cNvPr id="20" name="Shape 16"/>
          <p:cNvSpPr/>
          <p:nvPr/>
        </p:nvSpPr>
        <p:spPr>
          <a:xfrm>
            <a:off x="4335353"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1" name="Shape 17"/>
          <p:cNvSpPr/>
          <p:nvPr/>
        </p:nvSpPr>
        <p:spPr>
          <a:xfrm>
            <a:off x="4755977" y="2898648"/>
            <a:ext cx="786384" cy="786384"/>
          </a:xfrm>
          <a:prstGeom prst="ellipse">
            <a:avLst/>
          </a:prstGeom>
          <a:solidFill>
            <a:srgbClr val="0E7C8B"/>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4952573" y="3095244"/>
            <a:ext cx="393192" cy="393192"/>
          </a:xfrm>
          <a:prstGeom prst="rect">
            <a:avLst/>
          </a:prstGeom>
        </p:spPr>
      </p:pic>
      <p:sp>
        <p:nvSpPr>
          <p:cNvPr id="23" name="Text 18"/>
          <p:cNvSpPr/>
          <p:nvPr/>
        </p:nvSpPr>
        <p:spPr>
          <a:xfrm>
            <a:off x="4335353"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3</a:t>
            </a:r>
            <a:endParaRPr lang="en-US" sz="950" dirty="0"/>
          </a:p>
        </p:txBody>
      </p:sp>
      <p:sp>
        <p:nvSpPr>
          <p:cNvPr id="24" name="Text 19"/>
          <p:cNvSpPr/>
          <p:nvPr/>
        </p:nvSpPr>
        <p:spPr>
          <a:xfrm>
            <a:off x="4335353"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Storage</a:t>
            </a:r>
            <a:endParaRPr lang="en-US" sz="1500" dirty="0"/>
          </a:p>
        </p:txBody>
      </p:sp>
      <p:sp>
        <p:nvSpPr>
          <p:cNvPr id="25" name="Text 20"/>
          <p:cNvSpPr/>
          <p:nvPr/>
        </p:nvSpPr>
        <p:spPr>
          <a:xfrm>
            <a:off x="4408505"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data lake · Delta</a:t>
            </a:r>
            <a:endParaRPr lang="en-US" sz="1050" dirty="0"/>
          </a:p>
        </p:txBody>
      </p:sp>
      <p:sp>
        <p:nvSpPr>
          <p:cNvPr id="26" name="Shape 21"/>
          <p:cNvSpPr/>
          <p:nvPr/>
        </p:nvSpPr>
        <p:spPr>
          <a:xfrm>
            <a:off x="5958688" y="3878885"/>
            <a:ext cx="274320" cy="197510"/>
          </a:xfrm>
          <a:prstGeom prst="chevron">
            <a:avLst/>
          </a:prstGeom>
          <a:solidFill>
            <a:srgbClr val="FF3621"/>
          </a:solidFill>
          <a:ln/>
        </p:spPr>
        <p:txBody>
          <a:bodyPr/>
          <a:lstStyle/>
          <a:p>
            <a:endParaRPr lang="en-US"/>
          </a:p>
        </p:txBody>
      </p:sp>
      <p:sp>
        <p:nvSpPr>
          <p:cNvPr id="27" name="Shape 22"/>
          <p:cNvSpPr/>
          <p:nvPr/>
        </p:nvSpPr>
        <p:spPr>
          <a:xfrm>
            <a:off x="6228710"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8" name="Shape 23"/>
          <p:cNvSpPr/>
          <p:nvPr/>
        </p:nvSpPr>
        <p:spPr>
          <a:xfrm>
            <a:off x="6649334" y="2898648"/>
            <a:ext cx="786384" cy="786384"/>
          </a:xfrm>
          <a:prstGeom prst="ellipse">
            <a:avLst/>
          </a:prstGeom>
          <a:solidFill>
            <a:srgbClr val="FF3621"/>
          </a:solidFill>
          <a:ln/>
        </p:spPr>
        <p:txBody>
          <a:bodyPr/>
          <a:lstStyle/>
          <a:p>
            <a:endParaRPr lang="en-US"/>
          </a:p>
        </p:txBody>
      </p:sp>
      <p:pic>
        <p:nvPicPr>
          <p:cNvPr id="29" name="Image 3" descr="preencoded.png"/>
          <p:cNvPicPr>
            <a:picLocks noChangeAspect="1"/>
          </p:cNvPicPr>
          <p:nvPr/>
        </p:nvPicPr>
        <p:blipFill>
          <a:blip r:embed="rId6"/>
          <a:stretch>
            <a:fillRect/>
          </a:stretch>
        </p:blipFill>
        <p:spPr>
          <a:xfrm>
            <a:off x="6845930" y="3095244"/>
            <a:ext cx="393192" cy="393192"/>
          </a:xfrm>
          <a:prstGeom prst="rect">
            <a:avLst/>
          </a:prstGeom>
        </p:spPr>
      </p:pic>
      <p:sp>
        <p:nvSpPr>
          <p:cNvPr id="30" name="Text 24"/>
          <p:cNvSpPr/>
          <p:nvPr/>
        </p:nvSpPr>
        <p:spPr>
          <a:xfrm>
            <a:off x="6228710"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4</a:t>
            </a:r>
            <a:endParaRPr lang="en-US" sz="950" dirty="0"/>
          </a:p>
        </p:txBody>
      </p:sp>
      <p:sp>
        <p:nvSpPr>
          <p:cNvPr id="31" name="Text 25"/>
          <p:cNvSpPr/>
          <p:nvPr/>
        </p:nvSpPr>
        <p:spPr>
          <a:xfrm>
            <a:off x="6228710"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Processing</a:t>
            </a:r>
            <a:endParaRPr lang="en-US" sz="1500" dirty="0"/>
          </a:p>
        </p:txBody>
      </p:sp>
      <p:sp>
        <p:nvSpPr>
          <p:cNvPr id="32" name="Text 26"/>
          <p:cNvSpPr/>
          <p:nvPr/>
        </p:nvSpPr>
        <p:spPr>
          <a:xfrm>
            <a:off x="6301862"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Spark · SQL</a:t>
            </a:r>
            <a:endParaRPr lang="en-US" sz="1050" dirty="0"/>
          </a:p>
        </p:txBody>
      </p:sp>
      <p:sp>
        <p:nvSpPr>
          <p:cNvPr id="33" name="Shape 27"/>
          <p:cNvSpPr/>
          <p:nvPr/>
        </p:nvSpPr>
        <p:spPr>
          <a:xfrm>
            <a:off x="7852044" y="3878885"/>
            <a:ext cx="274320" cy="197510"/>
          </a:xfrm>
          <a:prstGeom prst="chevron">
            <a:avLst/>
          </a:prstGeom>
          <a:solidFill>
            <a:srgbClr val="FF3621"/>
          </a:solidFill>
          <a:ln/>
        </p:spPr>
        <p:txBody>
          <a:bodyPr/>
          <a:lstStyle/>
          <a:p>
            <a:endParaRPr lang="en-US"/>
          </a:p>
        </p:txBody>
      </p:sp>
      <p:sp>
        <p:nvSpPr>
          <p:cNvPr id="34" name="Shape 28"/>
          <p:cNvSpPr/>
          <p:nvPr/>
        </p:nvSpPr>
        <p:spPr>
          <a:xfrm>
            <a:off x="8122067" y="2514600"/>
            <a:ext cx="1627632" cy="2926080"/>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5" name="Shape 29"/>
          <p:cNvSpPr/>
          <p:nvPr/>
        </p:nvSpPr>
        <p:spPr>
          <a:xfrm>
            <a:off x="8542691" y="2898648"/>
            <a:ext cx="786384" cy="786384"/>
          </a:xfrm>
          <a:prstGeom prst="ellipse">
            <a:avLst/>
          </a:prstGeom>
          <a:solidFill>
            <a:srgbClr val="FF3621"/>
          </a:solidFill>
          <a:ln/>
        </p:spPr>
        <p:txBody>
          <a:bodyPr/>
          <a:lstStyle/>
          <a:p>
            <a:endParaRPr lang="en-US"/>
          </a:p>
        </p:txBody>
      </p:sp>
      <p:pic>
        <p:nvPicPr>
          <p:cNvPr id="36" name="Image 4" descr="preencoded.png"/>
          <p:cNvPicPr>
            <a:picLocks noChangeAspect="1"/>
          </p:cNvPicPr>
          <p:nvPr/>
        </p:nvPicPr>
        <p:blipFill>
          <a:blip r:embed="rId7"/>
          <a:stretch>
            <a:fillRect/>
          </a:stretch>
        </p:blipFill>
        <p:spPr>
          <a:xfrm>
            <a:off x="8739287" y="3095244"/>
            <a:ext cx="393192" cy="393192"/>
          </a:xfrm>
          <a:prstGeom prst="rect">
            <a:avLst/>
          </a:prstGeom>
        </p:spPr>
      </p:pic>
      <p:sp>
        <p:nvSpPr>
          <p:cNvPr id="37" name="Text 30"/>
          <p:cNvSpPr/>
          <p:nvPr/>
        </p:nvSpPr>
        <p:spPr>
          <a:xfrm>
            <a:off x="8122067"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5</a:t>
            </a:r>
            <a:endParaRPr lang="en-US" sz="950" dirty="0"/>
          </a:p>
        </p:txBody>
      </p:sp>
      <p:sp>
        <p:nvSpPr>
          <p:cNvPr id="38" name="Text 31"/>
          <p:cNvSpPr/>
          <p:nvPr/>
        </p:nvSpPr>
        <p:spPr>
          <a:xfrm>
            <a:off x="8122067"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Analytics</a:t>
            </a:r>
            <a:endParaRPr lang="en-US" sz="1500" dirty="0"/>
          </a:p>
        </p:txBody>
      </p:sp>
      <p:sp>
        <p:nvSpPr>
          <p:cNvPr id="39" name="Text 32"/>
          <p:cNvSpPr/>
          <p:nvPr/>
        </p:nvSpPr>
        <p:spPr>
          <a:xfrm>
            <a:off x="8195219"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BI · ML</a:t>
            </a:r>
            <a:endParaRPr lang="en-US" sz="1050" dirty="0"/>
          </a:p>
        </p:txBody>
      </p:sp>
      <p:sp>
        <p:nvSpPr>
          <p:cNvPr id="40" name="Shape 33"/>
          <p:cNvSpPr/>
          <p:nvPr/>
        </p:nvSpPr>
        <p:spPr>
          <a:xfrm>
            <a:off x="9745401" y="3878885"/>
            <a:ext cx="274320" cy="197510"/>
          </a:xfrm>
          <a:prstGeom prst="chevron">
            <a:avLst/>
          </a:prstGeom>
          <a:solidFill>
            <a:srgbClr val="FF3621"/>
          </a:solidFill>
          <a:ln/>
        </p:spPr>
        <p:txBody>
          <a:bodyPr/>
          <a:lstStyle/>
          <a:p>
            <a:endParaRPr lang="en-US"/>
          </a:p>
        </p:txBody>
      </p:sp>
      <p:sp>
        <p:nvSpPr>
          <p:cNvPr id="41" name="Shape 34"/>
          <p:cNvSpPr/>
          <p:nvPr/>
        </p:nvSpPr>
        <p:spPr>
          <a:xfrm>
            <a:off x="10015423" y="2514600"/>
            <a:ext cx="1627632" cy="2926080"/>
          </a:xfrm>
          <a:prstGeom prst="roundRect">
            <a:avLst>
              <a:gd name="adj" fmla="val 561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42" name="Shape 35"/>
          <p:cNvSpPr/>
          <p:nvPr/>
        </p:nvSpPr>
        <p:spPr>
          <a:xfrm>
            <a:off x="10436047" y="2898648"/>
            <a:ext cx="786384" cy="786384"/>
          </a:xfrm>
          <a:prstGeom prst="ellipse">
            <a:avLst/>
          </a:prstGeom>
          <a:solidFill>
            <a:srgbClr val="FF3621"/>
          </a:solidFill>
          <a:ln/>
        </p:spPr>
        <p:txBody>
          <a:bodyPr/>
          <a:lstStyle/>
          <a:p>
            <a:endParaRPr lang="en-US"/>
          </a:p>
        </p:txBody>
      </p:sp>
      <p:pic>
        <p:nvPicPr>
          <p:cNvPr id="43" name="Image 5" descr="preencoded.png"/>
          <p:cNvPicPr>
            <a:picLocks noChangeAspect="1"/>
          </p:cNvPicPr>
          <p:nvPr/>
        </p:nvPicPr>
        <p:blipFill>
          <a:blip r:embed="rId8"/>
          <a:stretch>
            <a:fillRect/>
          </a:stretch>
        </p:blipFill>
        <p:spPr>
          <a:xfrm>
            <a:off x="10632643" y="3095244"/>
            <a:ext cx="393192" cy="393192"/>
          </a:xfrm>
          <a:prstGeom prst="rect">
            <a:avLst/>
          </a:prstGeom>
        </p:spPr>
      </p:pic>
      <p:sp>
        <p:nvSpPr>
          <p:cNvPr id="44" name="Text 36"/>
          <p:cNvSpPr/>
          <p:nvPr/>
        </p:nvSpPr>
        <p:spPr>
          <a:xfrm>
            <a:off x="10015423" y="3813048"/>
            <a:ext cx="1627632" cy="237744"/>
          </a:xfrm>
          <a:prstGeom prst="rect">
            <a:avLst/>
          </a:prstGeom>
          <a:noFill/>
          <a:ln/>
        </p:spPr>
        <p:txBody>
          <a:bodyPr wrap="square" lIns="0" tIns="0" rIns="0" bIns="0" rtlCol="0" anchor="ctr"/>
          <a:lstStyle/>
          <a:p>
            <a:pPr marL="0" indent="0" algn="ctr">
              <a:buNone/>
            </a:pPr>
            <a:r>
              <a:rPr lang="en-US" sz="950" b="1" kern="0" spc="200" dirty="0">
                <a:solidFill>
                  <a:srgbClr val="7C8A91"/>
                </a:solidFill>
                <a:latin typeface="Calibri" pitchFamily="34" charset="0"/>
                <a:ea typeface="Calibri" pitchFamily="34" charset="-122"/>
                <a:cs typeface="Calibri" pitchFamily="34" charset="-120"/>
              </a:rPr>
              <a:t>STEP 6</a:t>
            </a:r>
            <a:endParaRPr lang="en-US" sz="950" dirty="0"/>
          </a:p>
        </p:txBody>
      </p:sp>
      <p:sp>
        <p:nvSpPr>
          <p:cNvPr id="45" name="Text 37"/>
          <p:cNvSpPr/>
          <p:nvPr/>
        </p:nvSpPr>
        <p:spPr>
          <a:xfrm>
            <a:off x="10015423" y="4050792"/>
            <a:ext cx="1627632" cy="411480"/>
          </a:xfrm>
          <a:prstGeom prst="rect">
            <a:avLst/>
          </a:prstGeom>
          <a:noFill/>
          <a:ln/>
        </p:spPr>
        <p:txBody>
          <a:bodyPr wrap="square" lIns="0" tIns="0" rIns="0" bIns="0" rtlCol="0" anchor="ctr"/>
          <a:lstStyle/>
          <a:p>
            <a:pPr marL="0" indent="0" algn="ctr">
              <a:buNone/>
            </a:pPr>
            <a:r>
              <a:rPr lang="en-US" sz="1500" b="1" dirty="0">
                <a:solidFill>
                  <a:srgbClr val="13242E"/>
                </a:solidFill>
                <a:latin typeface="Trebuchet MS" pitchFamily="34" charset="0"/>
                <a:ea typeface="Trebuchet MS" pitchFamily="34" charset="-122"/>
                <a:cs typeface="Trebuchet MS" pitchFamily="34" charset="-120"/>
              </a:rPr>
              <a:t>Visualization</a:t>
            </a:r>
            <a:endParaRPr lang="en-US" sz="1500" dirty="0"/>
          </a:p>
        </p:txBody>
      </p:sp>
      <p:sp>
        <p:nvSpPr>
          <p:cNvPr id="46" name="Text 38"/>
          <p:cNvSpPr/>
          <p:nvPr/>
        </p:nvSpPr>
        <p:spPr>
          <a:xfrm>
            <a:off x="10088575" y="4526280"/>
            <a:ext cx="1481328" cy="548640"/>
          </a:xfrm>
          <a:prstGeom prst="rect">
            <a:avLst/>
          </a:prstGeom>
          <a:noFill/>
          <a:ln/>
        </p:spPr>
        <p:txBody>
          <a:bodyPr wrap="square" lIns="0" tIns="0" rIns="0" bIns="0" rtlCol="0" anchor="ctr"/>
          <a:lstStyle/>
          <a:p>
            <a:pPr marL="0" indent="0" algn="ctr">
              <a:buNone/>
            </a:pPr>
            <a:r>
              <a:rPr lang="en-US" sz="1050" dirty="0">
                <a:solidFill>
                  <a:srgbClr val="38474F"/>
                </a:solidFill>
                <a:latin typeface="Calibri" pitchFamily="34" charset="0"/>
                <a:ea typeface="Calibri" pitchFamily="34" charset="-122"/>
                <a:cs typeface="Calibri" pitchFamily="34" charset="-120"/>
              </a:rPr>
              <a:t>dashboards</a:t>
            </a:r>
            <a:endParaRPr lang="en-US" sz="1050" dirty="0"/>
          </a:p>
        </p:txBody>
      </p:sp>
      <p:sp>
        <p:nvSpPr>
          <p:cNvPr id="47" name="Text 39"/>
          <p:cNvSpPr/>
          <p:nvPr/>
        </p:nvSpPr>
        <p:spPr>
          <a:xfrm>
            <a:off x="548640" y="5623560"/>
            <a:ext cx="11094415" cy="320040"/>
          </a:xfrm>
          <a:prstGeom prst="rect">
            <a:avLst/>
          </a:prstGeom>
          <a:noFill/>
          <a:ln/>
        </p:spPr>
        <p:txBody>
          <a:bodyPr wrap="square" lIns="0" tIns="0" rIns="0" bIns="0" rtlCol="0" anchor="ctr"/>
          <a:lstStyle/>
          <a:p>
            <a:pPr marL="0" indent="0" algn="ctr">
              <a:buNone/>
            </a:pPr>
            <a:r>
              <a:rPr lang="en-US" sz="1200" b="1" dirty="0">
                <a:solidFill>
                  <a:srgbClr val="0E7C8B"/>
                </a:solidFill>
                <a:latin typeface="Calibri" pitchFamily="34" charset="0"/>
                <a:ea typeface="Calibri" pitchFamily="34" charset="-122"/>
                <a:cs typeface="Calibri" pitchFamily="34" charset="-120"/>
              </a:rPr>
              <a:t>Capture &amp; move</a:t>
            </a:r>
            <a:r>
              <a:rPr lang="en-US" sz="1200" dirty="0">
                <a:solidFill>
                  <a:srgbClr val="DDE4E7"/>
                </a:solidFill>
                <a:latin typeface="Calibri" pitchFamily="34" charset="0"/>
                <a:ea typeface="Calibri" pitchFamily="34" charset="-122"/>
                <a:cs typeface="Calibri" pitchFamily="34" charset="-120"/>
              </a:rPr>
              <a:t>   |   </a:t>
            </a:r>
            <a:r>
              <a:rPr lang="en-US" sz="1200" b="1" dirty="0">
                <a:solidFill>
                  <a:srgbClr val="FF3621"/>
                </a:solidFill>
                <a:latin typeface="Calibri" pitchFamily="34" charset="0"/>
                <a:ea typeface="Calibri" pitchFamily="34" charset="-122"/>
                <a:cs typeface="Calibri" pitchFamily="34" charset="-120"/>
              </a:rPr>
              <a:t>Refine &amp; use</a:t>
            </a:r>
            <a:endParaRPr lang="en-US" sz="1200" dirty="0"/>
          </a:p>
        </p:txBody>
      </p:sp>
      <p:sp>
        <p:nvSpPr>
          <p:cNvPr id="48" name="Text 4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9" name="Text 41"/>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01 · IN THE WILD</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Big Data in the real world</a:t>
            </a:r>
            <a:endParaRPr lang="en-US" sz="2900" dirty="0"/>
          </a:p>
        </p:txBody>
      </p:sp>
      <p:sp>
        <p:nvSpPr>
          <p:cNvPr id="5" name="Shape 3"/>
          <p:cNvSpPr/>
          <p:nvPr/>
        </p:nvSpPr>
        <p:spPr>
          <a:xfrm>
            <a:off x="548640" y="1874520"/>
            <a:ext cx="5440680" cy="1783080"/>
          </a:xfrm>
          <a:prstGeom prst="roundRect">
            <a:avLst>
              <a:gd name="adj" fmla="val 512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548640" y="1874520"/>
            <a:ext cx="109728" cy="1783080"/>
          </a:xfrm>
          <a:prstGeom prst="rect">
            <a:avLst/>
          </a:prstGeom>
          <a:solidFill>
            <a:srgbClr val="FF3621"/>
          </a:solidFill>
          <a:ln/>
        </p:spPr>
        <p:txBody>
          <a:bodyPr/>
          <a:lstStyle/>
          <a:p>
            <a:endParaRPr lang="en-US"/>
          </a:p>
        </p:txBody>
      </p:sp>
      <p:sp>
        <p:nvSpPr>
          <p:cNvPr id="7" name="Shape 5"/>
          <p:cNvSpPr/>
          <p:nvPr/>
        </p:nvSpPr>
        <p:spPr>
          <a:xfrm>
            <a:off x="932688" y="2331720"/>
            <a:ext cx="868680" cy="868680"/>
          </a:xfrm>
          <a:prstGeom prst="ellipse">
            <a:avLst/>
          </a:prstGeom>
          <a:solidFill>
            <a:srgbClr val="0E1B2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49858" y="2548890"/>
            <a:ext cx="434340" cy="434340"/>
          </a:xfrm>
          <a:prstGeom prst="rect">
            <a:avLst/>
          </a:prstGeom>
        </p:spPr>
      </p:pic>
      <p:sp>
        <p:nvSpPr>
          <p:cNvPr id="9" name="Text 6"/>
          <p:cNvSpPr/>
          <p:nvPr/>
        </p:nvSpPr>
        <p:spPr>
          <a:xfrm>
            <a:off x="2011680" y="2167128"/>
            <a:ext cx="3703320" cy="411480"/>
          </a:xfrm>
          <a:prstGeom prst="rect">
            <a:avLst/>
          </a:prstGeom>
          <a:noFill/>
          <a:ln/>
        </p:spPr>
        <p:txBody>
          <a:bodyPr wrap="square" lIns="0" tIns="0" rIns="0" bIns="0" rtlCol="0" anchor="ctr"/>
          <a:lstStyle/>
          <a:p>
            <a:pPr marL="0" indent="0">
              <a:buNone/>
            </a:pPr>
            <a:r>
              <a:rPr lang="en-US" sz="1700" b="1" dirty="0">
                <a:solidFill>
                  <a:srgbClr val="13242E"/>
                </a:solidFill>
                <a:latin typeface="Trebuchet MS" pitchFamily="34" charset="0"/>
                <a:ea typeface="Trebuchet MS" pitchFamily="34" charset="-122"/>
                <a:cs typeface="Trebuchet MS" pitchFamily="34" charset="-120"/>
              </a:rPr>
              <a:t>Retail &amp; E-commerce</a:t>
            </a:r>
            <a:endParaRPr lang="en-US" sz="1700" dirty="0"/>
          </a:p>
        </p:txBody>
      </p:sp>
      <p:sp>
        <p:nvSpPr>
          <p:cNvPr id="10" name="Text 7"/>
          <p:cNvSpPr/>
          <p:nvPr/>
        </p:nvSpPr>
        <p:spPr>
          <a:xfrm>
            <a:off x="2057400" y="2660904"/>
            <a:ext cx="3611880" cy="86868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Personalised recommendations</a:t>
            </a:r>
            <a:endParaRPr lang="en-US" sz="1250" dirty="0"/>
          </a:p>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Real-time demand forecasting</a:t>
            </a:r>
            <a:endParaRPr lang="en-US" sz="1250" dirty="0"/>
          </a:p>
        </p:txBody>
      </p:sp>
      <p:sp>
        <p:nvSpPr>
          <p:cNvPr id="11" name="Shape 8"/>
          <p:cNvSpPr/>
          <p:nvPr/>
        </p:nvSpPr>
        <p:spPr>
          <a:xfrm>
            <a:off x="6202375" y="1874520"/>
            <a:ext cx="5440680" cy="1783080"/>
          </a:xfrm>
          <a:prstGeom prst="roundRect">
            <a:avLst>
              <a:gd name="adj" fmla="val 512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2" name="Shape 9"/>
          <p:cNvSpPr/>
          <p:nvPr/>
        </p:nvSpPr>
        <p:spPr>
          <a:xfrm>
            <a:off x="6202375" y="1874520"/>
            <a:ext cx="109728" cy="1783080"/>
          </a:xfrm>
          <a:prstGeom prst="rect">
            <a:avLst/>
          </a:prstGeom>
          <a:solidFill>
            <a:srgbClr val="FF3621"/>
          </a:solidFill>
          <a:ln/>
        </p:spPr>
        <p:txBody>
          <a:bodyPr/>
          <a:lstStyle/>
          <a:p>
            <a:endParaRPr lang="en-US"/>
          </a:p>
        </p:txBody>
      </p:sp>
      <p:sp>
        <p:nvSpPr>
          <p:cNvPr id="13" name="Shape 10"/>
          <p:cNvSpPr/>
          <p:nvPr/>
        </p:nvSpPr>
        <p:spPr>
          <a:xfrm>
            <a:off x="6586423" y="2331720"/>
            <a:ext cx="868680" cy="868680"/>
          </a:xfrm>
          <a:prstGeom prst="ellipse">
            <a:avLst/>
          </a:prstGeom>
          <a:solidFill>
            <a:srgbClr val="0E1B24"/>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6803593" y="2548890"/>
            <a:ext cx="434340" cy="434340"/>
          </a:xfrm>
          <a:prstGeom prst="rect">
            <a:avLst/>
          </a:prstGeom>
        </p:spPr>
      </p:pic>
      <p:sp>
        <p:nvSpPr>
          <p:cNvPr id="15" name="Text 11"/>
          <p:cNvSpPr/>
          <p:nvPr/>
        </p:nvSpPr>
        <p:spPr>
          <a:xfrm>
            <a:off x="7665415" y="2167128"/>
            <a:ext cx="3703320" cy="411480"/>
          </a:xfrm>
          <a:prstGeom prst="rect">
            <a:avLst/>
          </a:prstGeom>
          <a:noFill/>
          <a:ln/>
        </p:spPr>
        <p:txBody>
          <a:bodyPr wrap="square" lIns="0" tIns="0" rIns="0" bIns="0" rtlCol="0" anchor="ctr"/>
          <a:lstStyle/>
          <a:p>
            <a:pPr marL="0" indent="0">
              <a:buNone/>
            </a:pPr>
            <a:r>
              <a:rPr lang="en-US" sz="1700" b="1" dirty="0">
                <a:solidFill>
                  <a:srgbClr val="13242E"/>
                </a:solidFill>
                <a:latin typeface="Trebuchet MS" pitchFamily="34" charset="0"/>
                <a:ea typeface="Trebuchet MS" pitchFamily="34" charset="-122"/>
                <a:cs typeface="Trebuchet MS" pitchFamily="34" charset="-120"/>
              </a:rPr>
              <a:t>Banking &amp; Finance</a:t>
            </a:r>
            <a:endParaRPr lang="en-US" sz="1700" dirty="0"/>
          </a:p>
        </p:txBody>
      </p:sp>
      <p:sp>
        <p:nvSpPr>
          <p:cNvPr id="16" name="Text 12"/>
          <p:cNvSpPr/>
          <p:nvPr/>
        </p:nvSpPr>
        <p:spPr>
          <a:xfrm>
            <a:off x="7711135" y="2660904"/>
            <a:ext cx="3611880" cy="86868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Fraud detection in milliseconds</a:t>
            </a:r>
            <a:endParaRPr lang="en-US" sz="1250" dirty="0"/>
          </a:p>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Credit risk &amp; regulatory reporting</a:t>
            </a:r>
            <a:endParaRPr lang="en-US" sz="1250" dirty="0"/>
          </a:p>
        </p:txBody>
      </p:sp>
      <p:sp>
        <p:nvSpPr>
          <p:cNvPr id="17" name="Shape 13"/>
          <p:cNvSpPr/>
          <p:nvPr/>
        </p:nvSpPr>
        <p:spPr>
          <a:xfrm>
            <a:off x="548640" y="3794760"/>
            <a:ext cx="5440680" cy="1783080"/>
          </a:xfrm>
          <a:prstGeom prst="roundRect">
            <a:avLst>
              <a:gd name="adj" fmla="val 512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8" name="Shape 14"/>
          <p:cNvSpPr/>
          <p:nvPr/>
        </p:nvSpPr>
        <p:spPr>
          <a:xfrm>
            <a:off x="548640" y="3794760"/>
            <a:ext cx="109728" cy="1783080"/>
          </a:xfrm>
          <a:prstGeom prst="rect">
            <a:avLst/>
          </a:prstGeom>
          <a:solidFill>
            <a:srgbClr val="FF3621"/>
          </a:solidFill>
          <a:ln/>
        </p:spPr>
        <p:txBody>
          <a:bodyPr/>
          <a:lstStyle/>
          <a:p>
            <a:endParaRPr lang="en-US"/>
          </a:p>
        </p:txBody>
      </p:sp>
      <p:sp>
        <p:nvSpPr>
          <p:cNvPr id="19" name="Shape 15"/>
          <p:cNvSpPr/>
          <p:nvPr/>
        </p:nvSpPr>
        <p:spPr>
          <a:xfrm>
            <a:off x="932688" y="4251960"/>
            <a:ext cx="868680" cy="868680"/>
          </a:xfrm>
          <a:prstGeom prst="ellipse">
            <a:avLst/>
          </a:prstGeom>
          <a:solidFill>
            <a:srgbClr val="0E1B24"/>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1149858" y="4469130"/>
            <a:ext cx="434340" cy="434340"/>
          </a:xfrm>
          <a:prstGeom prst="rect">
            <a:avLst/>
          </a:prstGeom>
        </p:spPr>
      </p:pic>
      <p:sp>
        <p:nvSpPr>
          <p:cNvPr id="21" name="Text 16"/>
          <p:cNvSpPr/>
          <p:nvPr/>
        </p:nvSpPr>
        <p:spPr>
          <a:xfrm>
            <a:off x="2011680" y="4087368"/>
            <a:ext cx="3703320" cy="411480"/>
          </a:xfrm>
          <a:prstGeom prst="rect">
            <a:avLst/>
          </a:prstGeom>
          <a:noFill/>
          <a:ln/>
        </p:spPr>
        <p:txBody>
          <a:bodyPr wrap="square" lIns="0" tIns="0" rIns="0" bIns="0" rtlCol="0" anchor="ctr"/>
          <a:lstStyle/>
          <a:p>
            <a:pPr marL="0" indent="0">
              <a:buNone/>
            </a:pPr>
            <a:r>
              <a:rPr lang="en-US" sz="1700" b="1" dirty="0">
                <a:solidFill>
                  <a:srgbClr val="13242E"/>
                </a:solidFill>
                <a:latin typeface="Trebuchet MS" pitchFamily="34" charset="0"/>
                <a:ea typeface="Trebuchet MS" pitchFamily="34" charset="-122"/>
                <a:cs typeface="Trebuchet MS" pitchFamily="34" charset="-120"/>
              </a:rPr>
              <a:t>Healthcare &amp; Life Sciences</a:t>
            </a:r>
            <a:endParaRPr lang="en-US" sz="1700" dirty="0"/>
          </a:p>
        </p:txBody>
      </p:sp>
      <p:sp>
        <p:nvSpPr>
          <p:cNvPr id="22" name="Text 17"/>
          <p:cNvSpPr/>
          <p:nvPr/>
        </p:nvSpPr>
        <p:spPr>
          <a:xfrm>
            <a:off x="2057400" y="4581144"/>
            <a:ext cx="3611880" cy="86868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Patient 360 &amp; population health</a:t>
            </a:r>
            <a:endParaRPr lang="en-US" sz="1250" dirty="0"/>
          </a:p>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Genomics and drug research</a:t>
            </a:r>
            <a:endParaRPr lang="en-US" sz="1250" dirty="0"/>
          </a:p>
        </p:txBody>
      </p:sp>
      <p:sp>
        <p:nvSpPr>
          <p:cNvPr id="23" name="Shape 18"/>
          <p:cNvSpPr/>
          <p:nvPr/>
        </p:nvSpPr>
        <p:spPr>
          <a:xfrm>
            <a:off x="6202375" y="3794760"/>
            <a:ext cx="5440680" cy="1783080"/>
          </a:xfrm>
          <a:prstGeom prst="roundRect">
            <a:avLst>
              <a:gd name="adj" fmla="val 512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4" name="Shape 19"/>
          <p:cNvSpPr/>
          <p:nvPr/>
        </p:nvSpPr>
        <p:spPr>
          <a:xfrm>
            <a:off x="6202375" y="3794760"/>
            <a:ext cx="109728" cy="1783080"/>
          </a:xfrm>
          <a:prstGeom prst="rect">
            <a:avLst/>
          </a:prstGeom>
          <a:solidFill>
            <a:srgbClr val="FF3621"/>
          </a:solidFill>
          <a:ln/>
        </p:spPr>
        <p:txBody>
          <a:bodyPr/>
          <a:lstStyle/>
          <a:p>
            <a:endParaRPr lang="en-US"/>
          </a:p>
        </p:txBody>
      </p:sp>
      <p:sp>
        <p:nvSpPr>
          <p:cNvPr id="25" name="Shape 20"/>
          <p:cNvSpPr/>
          <p:nvPr/>
        </p:nvSpPr>
        <p:spPr>
          <a:xfrm>
            <a:off x="6586423" y="4251960"/>
            <a:ext cx="868680" cy="868680"/>
          </a:xfrm>
          <a:prstGeom prst="ellipse">
            <a:avLst/>
          </a:prstGeom>
          <a:solidFill>
            <a:srgbClr val="0E1B24"/>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803593" y="4469130"/>
            <a:ext cx="434340" cy="434340"/>
          </a:xfrm>
          <a:prstGeom prst="rect">
            <a:avLst/>
          </a:prstGeom>
        </p:spPr>
      </p:pic>
      <p:sp>
        <p:nvSpPr>
          <p:cNvPr id="27" name="Text 21"/>
          <p:cNvSpPr/>
          <p:nvPr/>
        </p:nvSpPr>
        <p:spPr>
          <a:xfrm>
            <a:off x="7665415" y="4087368"/>
            <a:ext cx="3703320" cy="411480"/>
          </a:xfrm>
          <a:prstGeom prst="rect">
            <a:avLst/>
          </a:prstGeom>
          <a:noFill/>
          <a:ln/>
        </p:spPr>
        <p:txBody>
          <a:bodyPr wrap="square" lIns="0" tIns="0" rIns="0" bIns="0" rtlCol="0" anchor="ctr"/>
          <a:lstStyle/>
          <a:p>
            <a:pPr marL="0" indent="0">
              <a:buNone/>
            </a:pPr>
            <a:r>
              <a:rPr lang="en-US" sz="1700" b="1" dirty="0">
                <a:solidFill>
                  <a:srgbClr val="13242E"/>
                </a:solidFill>
                <a:latin typeface="Trebuchet MS" pitchFamily="34" charset="0"/>
                <a:ea typeface="Trebuchet MS" pitchFamily="34" charset="-122"/>
                <a:cs typeface="Trebuchet MS" pitchFamily="34" charset="-120"/>
              </a:rPr>
              <a:t>Manufacturing &amp; IoT</a:t>
            </a:r>
            <a:endParaRPr lang="en-US" sz="1700" dirty="0"/>
          </a:p>
        </p:txBody>
      </p:sp>
      <p:sp>
        <p:nvSpPr>
          <p:cNvPr id="28" name="Text 22"/>
          <p:cNvSpPr/>
          <p:nvPr/>
        </p:nvSpPr>
        <p:spPr>
          <a:xfrm>
            <a:off x="7711135" y="4581144"/>
            <a:ext cx="3611880" cy="868680"/>
          </a:xfrm>
          <a:prstGeom prst="rect">
            <a:avLst/>
          </a:prstGeom>
          <a:noFill/>
          <a:ln/>
        </p:spPr>
        <p:txBody>
          <a:bodyPr wrap="square" lIns="0" tIns="0" rIns="0" bIns="0" rtlCol="0" anchor="ctr"/>
          <a:lstStyle/>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Predictive maintenance</a:t>
            </a:r>
            <a:endParaRPr lang="en-US" sz="1250" dirty="0"/>
          </a:p>
          <a:p>
            <a:pPr marL="165100" indent="-165100">
              <a:spcAft>
                <a:spcPts val="500"/>
              </a:spcAft>
              <a:buSzPct val="100000"/>
              <a:buChar char="•"/>
            </a:pPr>
            <a:r>
              <a:rPr lang="en-US" sz="1250" dirty="0">
                <a:solidFill>
                  <a:srgbClr val="38474F"/>
                </a:solidFill>
                <a:latin typeface="Calibri" pitchFamily="34" charset="0"/>
                <a:ea typeface="Calibri" pitchFamily="34" charset="-122"/>
                <a:cs typeface="Calibri" pitchFamily="34" charset="-120"/>
              </a:rPr>
              <a:t>Quality &amp; supply-chain optimisation</a:t>
            </a:r>
            <a:endParaRPr lang="en-US" sz="1250" dirty="0"/>
          </a:p>
        </p:txBody>
      </p:sp>
      <p:sp>
        <p:nvSpPr>
          <p:cNvPr id="29" name="Text 2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0" name="Text 24"/>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24"/>
        </a:solidFill>
        <a:effectLst/>
      </p:bgPr>
    </p:bg>
    <p:spTree>
      <p:nvGrpSpPr>
        <p:cNvPr id="1" name=""/>
        <p:cNvGrpSpPr/>
        <p:nvPr/>
      </p:nvGrpSpPr>
      <p:grpSpPr>
        <a:xfrm>
          <a:off x="0" y="0"/>
          <a:ext cx="0" cy="0"/>
          <a:chOff x="0" y="0"/>
          <a:chExt cx="0" cy="0"/>
        </a:xfrm>
      </p:grpSpPr>
      <p:sp>
        <p:nvSpPr>
          <p:cNvPr id="2" name="Text 0"/>
          <p:cNvSpPr/>
          <p:nvPr/>
        </p:nvSpPr>
        <p:spPr>
          <a:xfrm>
            <a:off x="7680960" y="914400"/>
            <a:ext cx="4572000" cy="4572000"/>
          </a:xfrm>
          <a:prstGeom prst="rect">
            <a:avLst/>
          </a:prstGeom>
          <a:noFill/>
          <a:ln/>
        </p:spPr>
        <p:txBody>
          <a:bodyPr wrap="square" lIns="0" tIns="0" rIns="0" bIns="0" rtlCol="0" anchor="ctr"/>
          <a:lstStyle/>
          <a:p>
            <a:pPr marL="0" indent="0" algn="r">
              <a:buNone/>
            </a:pPr>
            <a:r>
              <a:rPr lang="en-US" sz="30000" b="1" dirty="0">
                <a:solidFill>
                  <a:srgbClr val="172D38"/>
                </a:solidFill>
                <a:latin typeface="Trebuchet MS" pitchFamily="34" charset="0"/>
                <a:ea typeface="Trebuchet MS" pitchFamily="34" charset="-122"/>
                <a:cs typeface="Trebuchet MS" pitchFamily="34" charset="-120"/>
              </a:rPr>
              <a:t>02</a:t>
            </a:r>
            <a:endParaRPr lang="en-US" sz="30000" dirty="0"/>
          </a:p>
        </p:txBody>
      </p:sp>
      <p:sp>
        <p:nvSpPr>
          <p:cNvPr id="3" name="Shape 1"/>
          <p:cNvSpPr/>
          <p:nvPr/>
        </p:nvSpPr>
        <p:spPr>
          <a:xfrm>
            <a:off x="548640" y="2651760"/>
            <a:ext cx="548640" cy="164592"/>
          </a:xfrm>
          <a:prstGeom prst="rect">
            <a:avLst/>
          </a:prstGeom>
          <a:solidFill>
            <a:srgbClr val="FF3621"/>
          </a:solidFill>
          <a:ln/>
        </p:spPr>
        <p:txBody>
          <a:bodyPr/>
          <a:lstStyle/>
          <a:p>
            <a:endParaRPr lang="en-US"/>
          </a:p>
        </p:txBody>
      </p:sp>
      <p:sp>
        <p:nvSpPr>
          <p:cNvPr id="4" name="Text 2"/>
          <p:cNvSpPr/>
          <p:nvPr/>
        </p:nvSpPr>
        <p:spPr>
          <a:xfrm>
            <a:off x="1225296" y="2578608"/>
            <a:ext cx="5486400" cy="310896"/>
          </a:xfrm>
          <a:prstGeom prst="rect">
            <a:avLst/>
          </a:prstGeom>
          <a:noFill/>
          <a:ln/>
        </p:spPr>
        <p:txBody>
          <a:bodyPr wrap="square" lIns="0" tIns="0" rIns="0" bIns="0" rtlCol="0" anchor="ctr"/>
          <a:lstStyle/>
          <a:p>
            <a:pPr marL="0" indent="0">
              <a:buNone/>
            </a:pPr>
            <a:r>
              <a:rPr lang="en-US" sz="1400" b="1" kern="0" spc="300" dirty="0">
                <a:solidFill>
                  <a:srgbClr val="FF6F4D"/>
                </a:solidFill>
                <a:latin typeface="Calibri" pitchFamily="34" charset="0"/>
                <a:ea typeface="Calibri" pitchFamily="34" charset="-122"/>
                <a:cs typeface="Calibri" pitchFamily="34" charset="-120"/>
              </a:rPr>
              <a:t>MODULE 02</a:t>
            </a:r>
            <a:endParaRPr lang="en-US" sz="1400" dirty="0"/>
          </a:p>
        </p:txBody>
      </p:sp>
      <p:sp>
        <p:nvSpPr>
          <p:cNvPr id="5" name="Text 3"/>
          <p:cNvSpPr/>
          <p:nvPr/>
        </p:nvSpPr>
        <p:spPr>
          <a:xfrm>
            <a:off x="548640" y="2999232"/>
            <a:ext cx="8412480" cy="914400"/>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Introduction to Databricks</a:t>
            </a:r>
            <a:endParaRPr lang="en-US" sz="4600" dirty="0"/>
          </a:p>
        </p:txBody>
      </p:sp>
      <p:sp>
        <p:nvSpPr>
          <p:cNvPr id="6" name="Text 4"/>
          <p:cNvSpPr/>
          <p:nvPr/>
        </p:nvSpPr>
        <p:spPr>
          <a:xfrm>
            <a:off x="548640" y="4041648"/>
            <a:ext cx="7223760" cy="548640"/>
          </a:xfrm>
          <a:prstGeom prst="rect">
            <a:avLst/>
          </a:prstGeom>
          <a:noFill/>
          <a:ln/>
        </p:spPr>
        <p:txBody>
          <a:bodyPr wrap="square" lIns="0" tIns="0" rIns="0" bIns="0" rtlCol="0" anchor="ctr"/>
          <a:lstStyle/>
          <a:p>
            <a:pPr marL="0" indent="0">
              <a:buNone/>
            </a:pPr>
            <a:r>
              <a:rPr lang="en-US" sz="1600" dirty="0">
                <a:solidFill>
                  <a:srgbClr val="C7D2D8"/>
                </a:solidFill>
                <a:latin typeface="Calibri" pitchFamily="34" charset="0"/>
                <a:ea typeface="Calibri" pitchFamily="34" charset="-122"/>
                <a:cs typeface="Calibri" pitchFamily="34" charset="-120"/>
              </a:rPr>
              <a:t>One platform that unifies data engineering, analytics, data science and AI.</a:t>
            </a:r>
            <a:endParaRPr lang="en-US" sz="160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8597A0"/>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8" name="Text 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8597A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DEFINITION</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What is Databricks?</a:t>
            </a:r>
            <a:endParaRPr lang="en-US" sz="2900" dirty="0"/>
          </a:p>
        </p:txBody>
      </p:sp>
      <p:sp>
        <p:nvSpPr>
          <p:cNvPr id="5" name="Shape 3"/>
          <p:cNvSpPr/>
          <p:nvPr/>
        </p:nvSpPr>
        <p:spPr>
          <a:xfrm>
            <a:off x="548640" y="1783080"/>
            <a:ext cx="6400800" cy="3886200"/>
          </a:xfrm>
          <a:prstGeom prst="roundRect">
            <a:avLst>
              <a:gd name="adj" fmla="val 2353"/>
            </a:avLst>
          </a:prstGeom>
          <a:solidFill>
            <a:srgbClr val="0E1B24"/>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Text 4"/>
          <p:cNvSpPr/>
          <p:nvPr/>
        </p:nvSpPr>
        <p:spPr>
          <a:xfrm>
            <a:off x="777240" y="1783080"/>
            <a:ext cx="1097280" cy="1097280"/>
          </a:xfrm>
          <a:prstGeom prst="rect">
            <a:avLst/>
          </a:prstGeom>
          <a:noFill/>
          <a:ln/>
        </p:spPr>
        <p:txBody>
          <a:bodyPr wrap="square" lIns="0" tIns="0" rIns="0" bIns="0" rtlCol="0" anchor="ctr"/>
          <a:lstStyle/>
          <a:p>
            <a:pPr marL="0" indent="0">
              <a:buNone/>
            </a:pPr>
            <a:r>
              <a:rPr lang="en-US" sz="9000" b="1" dirty="0">
                <a:solidFill>
                  <a:srgbClr val="FF3621"/>
                </a:solidFill>
                <a:latin typeface="Georgia" pitchFamily="34" charset="0"/>
                <a:ea typeface="Georgia" pitchFamily="34" charset="-122"/>
                <a:cs typeface="Georgia" pitchFamily="34" charset="-120"/>
              </a:rPr>
              <a:t>“</a:t>
            </a:r>
            <a:endParaRPr lang="en-US" sz="9000" dirty="0"/>
          </a:p>
        </p:txBody>
      </p:sp>
      <p:sp>
        <p:nvSpPr>
          <p:cNvPr id="7" name="Text 5"/>
          <p:cNvSpPr/>
          <p:nvPr/>
        </p:nvSpPr>
        <p:spPr>
          <a:xfrm>
            <a:off x="1051560" y="2606040"/>
            <a:ext cx="5486400" cy="1828800"/>
          </a:xfrm>
          <a:prstGeom prst="rect">
            <a:avLst/>
          </a:prstGeom>
          <a:noFill/>
          <a:ln/>
        </p:spPr>
        <p:txBody>
          <a:bodyPr wrap="square" lIns="0" tIns="0" rIns="0" bIns="0" rtlCol="0" anchor="ctr"/>
          <a:lstStyle/>
          <a:p>
            <a:pPr marL="0" indent="0">
              <a:lnSpc>
                <a:spcPct val="104000"/>
              </a:lnSpc>
              <a:buNone/>
            </a:pPr>
            <a:r>
              <a:rPr lang="en-US" sz="1900" b="1" dirty="0">
                <a:solidFill>
                  <a:srgbClr val="FFFFFF"/>
                </a:solidFill>
                <a:latin typeface="Trebuchet MS" pitchFamily="34" charset="0"/>
                <a:ea typeface="Trebuchet MS" pitchFamily="34" charset="-122"/>
                <a:cs typeface="Trebuchet MS" pitchFamily="34" charset="-120"/>
              </a:rPr>
              <a:t>Databricks is a unified, cloud-based Lakehouse platform that brings data engineering, warehousing, data science, AI and machine learning into one collaborative environment — powered by Apache Spark.</a:t>
            </a:r>
            <a:endParaRPr lang="en-US" sz="1900" dirty="0"/>
          </a:p>
        </p:txBody>
      </p:sp>
      <p:sp>
        <p:nvSpPr>
          <p:cNvPr id="8" name="Shape 6"/>
          <p:cNvSpPr/>
          <p:nvPr/>
        </p:nvSpPr>
        <p:spPr>
          <a:xfrm>
            <a:off x="1051560" y="4892040"/>
            <a:ext cx="5394960" cy="0"/>
          </a:xfrm>
          <a:prstGeom prst="line">
            <a:avLst/>
          </a:prstGeom>
          <a:noFill/>
          <a:ln w="12700">
            <a:solidFill>
              <a:srgbClr val="20404C"/>
            </a:solidFill>
            <a:prstDash val="solid"/>
          </a:ln>
        </p:spPr>
        <p:txBody>
          <a:bodyPr/>
          <a:lstStyle/>
          <a:p>
            <a:endParaRPr lang="en-US"/>
          </a:p>
        </p:txBody>
      </p:sp>
      <p:sp>
        <p:nvSpPr>
          <p:cNvPr id="9" name="Text 7"/>
          <p:cNvSpPr/>
          <p:nvPr/>
        </p:nvSpPr>
        <p:spPr>
          <a:xfrm>
            <a:off x="1051560" y="5029200"/>
            <a:ext cx="5486400" cy="457200"/>
          </a:xfrm>
          <a:prstGeom prst="rect">
            <a:avLst/>
          </a:prstGeom>
          <a:noFill/>
          <a:ln/>
        </p:spPr>
        <p:txBody>
          <a:bodyPr wrap="square" lIns="0" tIns="0" rIns="0" bIns="0" rtlCol="0" anchor="ctr"/>
          <a:lstStyle/>
          <a:p>
            <a:pPr marL="0" indent="0">
              <a:buNone/>
            </a:pPr>
            <a:r>
              <a:rPr lang="en-US" sz="1300" i="1" dirty="0">
                <a:solidFill>
                  <a:srgbClr val="C7D2D8"/>
                </a:solidFill>
                <a:latin typeface="Calibri" pitchFamily="34" charset="0"/>
                <a:ea typeface="Calibri" pitchFamily="34" charset="-122"/>
                <a:cs typeface="Calibri" pitchFamily="34" charset="-120"/>
              </a:rPr>
              <a:t>Built by the original creators of Apache Spark, Delta Lake and MLflow.</a:t>
            </a:r>
            <a:endParaRPr lang="en-US" sz="1300" dirty="0"/>
          </a:p>
        </p:txBody>
      </p:sp>
      <p:sp>
        <p:nvSpPr>
          <p:cNvPr id="10" name="Shape 8"/>
          <p:cNvSpPr/>
          <p:nvPr/>
        </p:nvSpPr>
        <p:spPr>
          <a:xfrm>
            <a:off x="7269480" y="1783080"/>
            <a:ext cx="2113636"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1" name="Shape 9"/>
          <p:cNvSpPr/>
          <p:nvPr/>
        </p:nvSpPr>
        <p:spPr>
          <a:xfrm>
            <a:off x="7562088" y="2093976"/>
            <a:ext cx="640080" cy="640080"/>
          </a:xfrm>
          <a:prstGeom prst="ellipse">
            <a:avLst/>
          </a:prstGeom>
          <a:solidFill>
            <a:srgbClr val="FF3621"/>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7722108" y="2253996"/>
            <a:ext cx="320040" cy="320040"/>
          </a:xfrm>
          <a:prstGeom prst="rect">
            <a:avLst/>
          </a:prstGeom>
        </p:spPr>
      </p:pic>
      <p:sp>
        <p:nvSpPr>
          <p:cNvPr id="13" name="Text 10"/>
          <p:cNvSpPr/>
          <p:nvPr/>
        </p:nvSpPr>
        <p:spPr>
          <a:xfrm>
            <a:off x="7543800" y="2807208"/>
            <a:ext cx="1610716"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Engineering</a:t>
            </a:r>
            <a:endParaRPr lang="en-US" sz="1400" dirty="0"/>
          </a:p>
        </p:txBody>
      </p:sp>
      <p:sp>
        <p:nvSpPr>
          <p:cNvPr id="14" name="Text 11"/>
          <p:cNvSpPr/>
          <p:nvPr/>
        </p:nvSpPr>
        <p:spPr>
          <a:xfrm>
            <a:off x="7543800" y="3136392"/>
            <a:ext cx="1610716" cy="32004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Reliable pipelines</a:t>
            </a:r>
            <a:endParaRPr lang="en-US" sz="1100" dirty="0"/>
          </a:p>
        </p:txBody>
      </p:sp>
      <p:sp>
        <p:nvSpPr>
          <p:cNvPr id="15" name="Shape 12"/>
          <p:cNvSpPr/>
          <p:nvPr/>
        </p:nvSpPr>
        <p:spPr>
          <a:xfrm>
            <a:off x="9529420" y="1783080"/>
            <a:ext cx="2113636"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6" name="Shape 13"/>
          <p:cNvSpPr/>
          <p:nvPr/>
        </p:nvSpPr>
        <p:spPr>
          <a:xfrm>
            <a:off x="9822028" y="2093976"/>
            <a:ext cx="640080" cy="640080"/>
          </a:xfrm>
          <a:prstGeom prst="ellipse">
            <a:avLst/>
          </a:prstGeom>
          <a:solidFill>
            <a:srgbClr val="FF3621"/>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9982048" y="2253996"/>
            <a:ext cx="320040" cy="320040"/>
          </a:xfrm>
          <a:prstGeom prst="rect">
            <a:avLst/>
          </a:prstGeom>
        </p:spPr>
      </p:pic>
      <p:sp>
        <p:nvSpPr>
          <p:cNvPr id="18" name="Text 14"/>
          <p:cNvSpPr/>
          <p:nvPr/>
        </p:nvSpPr>
        <p:spPr>
          <a:xfrm>
            <a:off x="9803740" y="2807208"/>
            <a:ext cx="1610716"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SQL &amp; Warehousing</a:t>
            </a:r>
            <a:endParaRPr lang="en-US" sz="1400" dirty="0"/>
          </a:p>
        </p:txBody>
      </p:sp>
      <p:sp>
        <p:nvSpPr>
          <p:cNvPr id="19" name="Text 15"/>
          <p:cNvSpPr/>
          <p:nvPr/>
        </p:nvSpPr>
        <p:spPr>
          <a:xfrm>
            <a:off x="9803740" y="3136392"/>
            <a:ext cx="1610716" cy="32004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Fast analytics &amp; BI</a:t>
            </a:r>
            <a:endParaRPr lang="en-US" sz="1100" dirty="0"/>
          </a:p>
        </p:txBody>
      </p:sp>
      <p:sp>
        <p:nvSpPr>
          <p:cNvPr id="20" name="Shape 16"/>
          <p:cNvSpPr/>
          <p:nvPr/>
        </p:nvSpPr>
        <p:spPr>
          <a:xfrm>
            <a:off x="7269480" y="3703320"/>
            <a:ext cx="2113636"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1" name="Shape 17"/>
          <p:cNvSpPr/>
          <p:nvPr/>
        </p:nvSpPr>
        <p:spPr>
          <a:xfrm>
            <a:off x="7562088" y="4014216"/>
            <a:ext cx="640080" cy="640080"/>
          </a:xfrm>
          <a:prstGeom prst="ellipse">
            <a:avLst/>
          </a:prstGeom>
          <a:solidFill>
            <a:srgbClr val="FF3621"/>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7722108" y="4174236"/>
            <a:ext cx="320040" cy="320040"/>
          </a:xfrm>
          <a:prstGeom prst="rect">
            <a:avLst/>
          </a:prstGeom>
        </p:spPr>
      </p:pic>
      <p:sp>
        <p:nvSpPr>
          <p:cNvPr id="23" name="Text 18"/>
          <p:cNvSpPr/>
          <p:nvPr/>
        </p:nvSpPr>
        <p:spPr>
          <a:xfrm>
            <a:off x="7543800" y="4727448"/>
            <a:ext cx="1610716"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Science &amp; AI</a:t>
            </a:r>
            <a:endParaRPr lang="en-US" sz="1400" dirty="0"/>
          </a:p>
        </p:txBody>
      </p:sp>
      <p:sp>
        <p:nvSpPr>
          <p:cNvPr id="24" name="Text 19"/>
          <p:cNvSpPr/>
          <p:nvPr/>
        </p:nvSpPr>
        <p:spPr>
          <a:xfrm>
            <a:off x="7543800" y="5056632"/>
            <a:ext cx="1610716" cy="32004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Models &amp; machine learning</a:t>
            </a:r>
            <a:endParaRPr lang="en-US" sz="1100" dirty="0"/>
          </a:p>
        </p:txBody>
      </p:sp>
      <p:sp>
        <p:nvSpPr>
          <p:cNvPr id="25" name="Shape 20"/>
          <p:cNvSpPr/>
          <p:nvPr/>
        </p:nvSpPr>
        <p:spPr>
          <a:xfrm>
            <a:off x="9529420" y="3703320"/>
            <a:ext cx="2113636"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6" name="Shape 21"/>
          <p:cNvSpPr/>
          <p:nvPr/>
        </p:nvSpPr>
        <p:spPr>
          <a:xfrm>
            <a:off x="9822028" y="4014216"/>
            <a:ext cx="640080" cy="640080"/>
          </a:xfrm>
          <a:prstGeom prst="ellipse">
            <a:avLst/>
          </a:prstGeom>
          <a:solidFill>
            <a:srgbClr val="FF3621"/>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982048" y="4174236"/>
            <a:ext cx="320040" cy="320040"/>
          </a:xfrm>
          <a:prstGeom prst="rect">
            <a:avLst/>
          </a:prstGeom>
        </p:spPr>
      </p:pic>
      <p:sp>
        <p:nvSpPr>
          <p:cNvPr id="28" name="Text 22"/>
          <p:cNvSpPr/>
          <p:nvPr/>
        </p:nvSpPr>
        <p:spPr>
          <a:xfrm>
            <a:off x="9803740" y="4727448"/>
            <a:ext cx="1610716"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Governance</a:t>
            </a:r>
            <a:endParaRPr lang="en-US" sz="1400" dirty="0"/>
          </a:p>
        </p:txBody>
      </p:sp>
      <p:sp>
        <p:nvSpPr>
          <p:cNvPr id="29" name="Text 23"/>
          <p:cNvSpPr/>
          <p:nvPr/>
        </p:nvSpPr>
        <p:spPr>
          <a:xfrm>
            <a:off x="9803740" y="5056632"/>
            <a:ext cx="1610716" cy="32004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Secure, governed data</a:t>
            </a:r>
            <a:endParaRPr lang="en-US" sz="1100" dirty="0"/>
          </a:p>
        </p:txBody>
      </p:sp>
      <p:sp>
        <p:nvSpPr>
          <p:cNvPr id="30" name="Text 24"/>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1" name="Text 25"/>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KEY IDEA</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The Lakehouse: best of both worlds</a:t>
            </a:r>
            <a:endParaRPr lang="en-US" sz="2900" dirty="0"/>
          </a:p>
        </p:txBody>
      </p:sp>
      <p:sp>
        <p:nvSpPr>
          <p:cNvPr id="5" name="Shape 3"/>
          <p:cNvSpPr/>
          <p:nvPr/>
        </p:nvSpPr>
        <p:spPr>
          <a:xfrm>
            <a:off x="548640" y="2011680"/>
            <a:ext cx="3270809"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1809140" y="2331720"/>
            <a:ext cx="749808" cy="749808"/>
          </a:xfrm>
          <a:prstGeom prst="ellipse">
            <a:avLst/>
          </a:prstGeom>
          <a:solidFill>
            <a:srgbClr val="0E7C8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996592" y="2519172"/>
            <a:ext cx="374904" cy="374904"/>
          </a:xfrm>
          <a:prstGeom prst="rect">
            <a:avLst/>
          </a:prstGeom>
        </p:spPr>
      </p:pic>
      <p:sp>
        <p:nvSpPr>
          <p:cNvPr id="8" name="Text 5"/>
          <p:cNvSpPr/>
          <p:nvPr/>
        </p:nvSpPr>
        <p:spPr>
          <a:xfrm>
            <a:off x="548640" y="3200400"/>
            <a:ext cx="3270809" cy="365760"/>
          </a:xfrm>
          <a:prstGeom prst="rect">
            <a:avLst/>
          </a:prstGeom>
          <a:noFill/>
          <a:ln/>
        </p:spPr>
        <p:txBody>
          <a:bodyPr wrap="square" lIns="0" tIns="0" rIns="0" bIns="0" rtlCol="0" anchor="ctr"/>
          <a:lstStyle/>
          <a:p>
            <a:pPr marL="0" indent="0" algn="ctr">
              <a:buNone/>
            </a:pPr>
            <a:r>
              <a:rPr lang="en-US" sz="1600" b="1" dirty="0">
                <a:solidFill>
                  <a:srgbClr val="13242E"/>
                </a:solidFill>
                <a:latin typeface="Trebuchet MS" pitchFamily="34" charset="0"/>
                <a:ea typeface="Trebuchet MS" pitchFamily="34" charset="-122"/>
                <a:cs typeface="Trebuchet MS" pitchFamily="34" charset="-120"/>
              </a:rPr>
              <a:t>Data Warehouse</a:t>
            </a:r>
            <a:endParaRPr lang="en-US" sz="1600" dirty="0"/>
          </a:p>
        </p:txBody>
      </p:sp>
      <p:sp>
        <p:nvSpPr>
          <p:cNvPr id="9" name="Text 6"/>
          <p:cNvSpPr/>
          <p:nvPr/>
        </p:nvSpPr>
        <p:spPr>
          <a:xfrm>
            <a:off x="822960" y="3639312"/>
            <a:ext cx="2722169" cy="640080"/>
          </a:xfrm>
          <a:prstGeom prst="rect">
            <a:avLst/>
          </a:prstGeom>
          <a:noFill/>
          <a:ln/>
        </p:spPr>
        <p:txBody>
          <a:bodyPr wrap="square" lIns="0" tIns="0" rIns="0" bIns="0" rtlCol="0" anchor="ctr"/>
          <a:lstStyle/>
          <a:p>
            <a:pPr marL="0" indent="0" algn="ctr">
              <a:buNone/>
            </a:pPr>
            <a:r>
              <a:rPr lang="en-US" sz="1150" dirty="0">
                <a:solidFill>
                  <a:srgbClr val="38474F"/>
                </a:solidFill>
                <a:latin typeface="Calibri" pitchFamily="34" charset="0"/>
                <a:ea typeface="Calibri" pitchFamily="34" charset="-122"/>
                <a:cs typeface="Calibri" pitchFamily="34" charset="-120"/>
              </a:rPr>
              <a:t>Fast, reliable SQL &amp; BI — but rigid and costly for big, raw data.</a:t>
            </a:r>
            <a:endParaRPr lang="en-US" sz="1150" dirty="0"/>
          </a:p>
        </p:txBody>
      </p:sp>
      <p:sp>
        <p:nvSpPr>
          <p:cNvPr id="10" name="Shape 7"/>
          <p:cNvSpPr/>
          <p:nvPr/>
        </p:nvSpPr>
        <p:spPr>
          <a:xfrm>
            <a:off x="4459529" y="2011680"/>
            <a:ext cx="3270809" cy="2331720"/>
          </a:xfrm>
          <a:prstGeom prst="roundRect">
            <a:avLst>
              <a:gd name="adj" fmla="val 3922"/>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1" name="Shape 8"/>
          <p:cNvSpPr/>
          <p:nvPr/>
        </p:nvSpPr>
        <p:spPr>
          <a:xfrm>
            <a:off x="5720029" y="2331720"/>
            <a:ext cx="749808" cy="749808"/>
          </a:xfrm>
          <a:prstGeom prst="ellipse">
            <a:avLst/>
          </a:prstGeom>
          <a:solidFill>
            <a:srgbClr val="0E7C8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907481" y="2519172"/>
            <a:ext cx="374904" cy="374904"/>
          </a:xfrm>
          <a:prstGeom prst="rect">
            <a:avLst/>
          </a:prstGeom>
        </p:spPr>
      </p:pic>
      <p:sp>
        <p:nvSpPr>
          <p:cNvPr id="13" name="Text 9"/>
          <p:cNvSpPr/>
          <p:nvPr/>
        </p:nvSpPr>
        <p:spPr>
          <a:xfrm>
            <a:off x="4459529" y="3200400"/>
            <a:ext cx="3270809" cy="365760"/>
          </a:xfrm>
          <a:prstGeom prst="rect">
            <a:avLst/>
          </a:prstGeom>
          <a:noFill/>
          <a:ln/>
        </p:spPr>
        <p:txBody>
          <a:bodyPr wrap="square" lIns="0" tIns="0" rIns="0" bIns="0" rtlCol="0" anchor="ctr"/>
          <a:lstStyle/>
          <a:p>
            <a:pPr marL="0" indent="0" algn="ctr">
              <a:buNone/>
            </a:pPr>
            <a:r>
              <a:rPr lang="en-US" sz="1600" b="1" dirty="0">
                <a:solidFill>
                  <a:srgbClr val="13242E"/>
                </a:solidFill>
                <a:latin typeface="Trebuchet MS" pitchFamily="34" charset="0"/>
                <a:ea typeface="Trebuchet MS" pitchFamily="34" charset="-122"/>
                <a:cs typeface="Trebuchet MS" pitchFamily="34" charset="-120"/>
              </a:rPr>
              <a:t>Data Lake</a:t>
            </a:r>
            <a:endParaRPr lang="en-US" sz="1600" dirty="0"/>
          </a:p>
        </p:txBody>
      </p:sp>
      <p:sp>
        <p:nvSpPr>
          <p:cNvPr id="14" name="Text 10"/>
          <p:cNvSpPr/>
          <p:nvPr/>
        </p:nvSpPr>
        <p:spPr>
          <a:xfrm>
            <a:off x="4733849" y="3639312"/>
            <a:ext cx="2722169" cy="640080"/>
          </a:xfrm>
          <a:prstGeom prst="rect">
            <a:avLst/>
          </a:prstGeom>
          <a:noFill/>
          <a:ln/>
        </p:spPr>
        <p:txBody>
          <a:bodyPr wrap="square" lIns="0" tIns="0" rIns="0" bIns="0" rtlCol="0" anchor="ctr"/>
          <a:lstStyle/>
          <a:p>
            <a:pPr marL="0" indent="0" algn="ctr">
              <a:buNone/>
            </a:pPr>
            <a:r>
              <a:rPr lang="en-US" sz="1150" dirty="0">
                <a:solidFill>
                  <a:srgbClr val="38474F"/>
                </a:solidFill>
                <a:latin typeface="Calibri" pitchFamily="34" charset="0"/>
                <a:ea typeface="Calibri" pitchFamily="34" charset="-122"/>
                <a:cs typeface="Calibri" pitchFamily="34" charset="-120"/>
              </a:rPr>
              <a:t>Cheap storage for any data — but messy, with no guarantees.</a:t>
            </a:r>
            <a:endParaRPr lang="en-US" sz="1150" dirty="0"/>
          </a:p>
        </p:txBody>
      </p:sp>
      <p:sp>
        <p:nvSpPr>
          <p:cNvPr id="15" name="Shape 11"/>
          <p:cNvSpPr/>
          <p:nvPr/>
        </p:nvSpPr>
        <p:spPr>
          <a:xfrm>
            <a:off x="8370418" y="2011680"/>
            <a:ext cx="3270809" cy="2331720"/>
          </a:xfrm>
          <a:prstGeom prst="roundRect">
            <a:avLst>
              <a:gd name="adj" fmla="val 3922"/>
            </a:avLst>
          </a:prstGeom>
          <a:solidFill>
            <a:srgbClr val="0E1B24"/>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6" name="Shape 12"/>
          <p:cNvSpPr/>
          <p:nvPr/>
        </p:nvSpPr>
        <p:spPr>
          <a:xfrm>
            <a:off x="8370418" y="2011680"/>
            <a:ext cx="3270809" cy="91440"/>
          </a:xfrm>
          <a:prstGeom prst="rect">
            <a:avLst/>
          </a:prstGeom>
          <a:solidFill>
            <a:srgbClr val="FF3621"/>
          </a:solidFill>
          <a:ln/>
        </p:spPr>
        <p:txBody>
          <a:bodyPr/>
          <a:lstStyle/>
          <a:p>
            <a:endParaRPr lang="en-US"/>
          </a:p>
        </p:txBody>
      </p:sp>
      <p:sp>
        <p:nvSpPr>
          <p:cNvPr id="17" name="Shape 13"/>
          <p:cNvSpPr/>
          <p:nvPr/>
        </p:nvSpPr>
        <p:spPr>
          <a:xfrm>
            <a:off x="9630918" y="2331720"/>
            <a:ext cx="749808" cy="749808"/>
          </a:xfrm>
          <a:prstGeom prst="ellipse">
            <a:avLst/>
          </a:prstGeom>
          <a:solidFill>
            <a:srgbClr val="FF3621"/>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9818370" y="2519172"/>
            <a:ext cx="374904" cy="374904"/>
          </a:xfrm>
          <a:prstGeom prst="rect">
            <a:avLst/>
          </a:prstGeom>
        </p:spPr>
      </p:pic>
      <p:sp>
        <p:nvSpPr>
          <p:cNvPr id="19" name="Text 14"/>
          <p:cNvSpPr/>
          <p:nvPr/>
        </p:nvSpPr>
        <p:spPr>
          <a:xfrm>
            <a:off x="8370418" y="3200400"/>
            <a:ext cx="3270809"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Lakehouse</a:t>
            </a:r>
            <a:endParaRPr lang="en-US" sz="1600" dirty="0"/>
          </a:p>
        </p:txBody>
      </p:sp>
      <p:sp>
        <p:nvSpPr>
          <p:cNvPr id="20" name="Text 15"/>
          <p:cNvSpPr/>
          <p:nvPr/>
        </p:nvSpPr>
        <p:spPr>
          <a:xfrm>
            <a:off x="8644738" y="3639312"/>
            <a:ext cx="2722169" cy="640080"/>
          </a:xfrm>
          <a:prstGeom prst="rect">
            <a:avLst/>
          </a:prstGeom>
          <a:noFill/>
          <a:ln/>
        </p:spPr>
        <p:txBody>
          <a:bodyPr wrap="square" lIns="0" tIns="0" rIns="0" bIns="0" rtlCol="0" anchor="ctr"/>
          <a:lstStyle/>
          <a:p>
            <a:pPr marL="0" indent="0" algn="ctr">
              <a:buNone/>
            </a:pPr>
            <a:r>
              <a:rPr lang="en-US" sz="1150" dirty="0">
                <a:solidFill>
                  <a:srgbClr val="E8EEF1"/>
                </a:solidFill>
                <a:latin typeface="Calibri" pitchFamily="34" charset="0"/>
                <a:ea typeface="Calibri" pitchFamily="34" charset="-122"/>
                <a:cs typeface="Calibri" pitchFamily="34" charset="-120"/>
              </a:rPr>
              <a:t>One layer: reliable like a warehouse, open &amp; cheap like a lake.</a:t>
            </a:r>
            <a:endParaRPr lang="en-US" sz="1150" dirty="0"/>
          </a:p>
        </p:txBody>
      </p:sp>
      <p:sp>
        <p:nvSpPr>
          <p:cNvPr id="21" name="Text 16"/>
          <p:cNvSpPr/>
          <p:nvPr/>
        </p:nvSpPr>
        <p:spPr>
          <a:xfrm>
            <a:off x="3819449" y="2514600"/>
            <a:ext cx="640080" cy="1280160"/>
          </a:xfrm>
          <a:prstGeom prst="rect">
            <a:avLst/>
          </a:prstGeom>
          <a:noFill/>
          <a:ln/>
        </p:spPr>
        <p:txBody>
          <a:bodyPr wrap="square" lIns="0" tIns="0" rIns="0" bIns="0" rtlCol="0" anchor="ctr"/>
          <a:lstStyle/>
          <a:p>
            <a:pPr marL="0" indent="0" algn="ctr">
              <a:buNone/>
            </a:pPr>
            <a:r>
              <a:rPr lang="en-US" sz="4600" b="1" dirty="0">
                <a:solidFill>
                  <a:srgbClr val="7C8A91"/>
                </a:solidFill>
                <a:latin typeface="Trebuchet MS" pitchFamily="34" charset="0"/>
                <a:ea typeface="Trebuchet MS" pitchFamily="34" charset="-122"/>
                <a:cs typeface="Trebuchet MS" pitchFamily="34" charset="-120"/>
              </a:rPr>
              <a:t>+</a:t>
            </a:r>
            <a:endParaRPr lang="en-US" sz="4600" dirty="0"/>
          </a:p>
        </p:txBody>
      </p:sp>
      <p:sp>
        <p:nvSpPr>
          <p:cNvPr id="22" name="Text 17"/>
          <p:cNvSpPr/>
          <p:nvPr/>
        </p:nvSpPr>
        <p:spPr>
          <a:xfrm>
            <a:off x="7730338" y="2514600"/>
            <a:ext cx="640080" cy="1280160"/>
          </a:xfrm>
          <a:prstGeom prst="rect">
            <a:avLst/>
          </a:prstGeom>
          <a:noFill/>
          <a:ln/>
        </p:spPr>
        <p:txBody>
          <a:bodyPr wrap="square" lIns="0" tIns="0" rIns="0" bIns="0" rtlCol="0" anchor="ctr"/>
          <a:lstStyle/>
          <a:p>
            <a:pPr marL="0" indent="0" algn="ctr">
              <a:buNone/>
            </a:pPr>
            <a:r>
              <a:rPr lang="en-US" sz="4600" b="1" dirty="0">
                <a:solidFill>
                  <a:srgbClr val="FF3621"/>
                </a:solidFill>
                <a:latin typeface="Trebuchet MS" pitchFamily="34" charset="0"/>
                <a:ea typeface="Trebuchet MS" pitchFamily="34" charset="-122"/>
                <a:cs typeface="Trebuchet MS" pitchFamily="34" charset="-120"/>
              </a:rPr>
              <a:t>=</a:t>
            </a:r>
            <a:endParaRPr lang="en-US" sz="4600" dirty="0"/>
          </a:p>
        </p:txBody>
      </p:sp>
      <p:sp>
        <p:nvSpPr>
          <p:cNvPr id="23" name="Shape 18"/>
          <p:cNvSpPr/>
          <p:nvPr/>
        </p:nvSpPr>
        <p:spPr>
          <a:xfrm>
            <a:off x="548640" y="4892040"/>
            <a:ext cx="2615184" cy="868680"/>
          </a:xfrm>
          <a:prstGeom prst="roundRect">
            <a:avLst>
              <a:gd name="adj" fmla="val 1052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4" name="Shape 19"/>
          <p:cNvSpPr/>
          <p:nvPr/>
        </p:nvSpPr>
        <p:spPr>
          <a:xfrm>
            <a:off x="749808" y="5097780"/>
            <a:ext cx="457200" cy="457200"/>
          </a:xfrm>
          <a:prstGeom prst="ellipse">
            <a:avLst/>
          </a:prstGeom>
          <a:solidFill>
            <a:srgbClr val="FF3621"/>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864108" y="5212080"/>
            <a:ext cx="228600" cy="228600"/>
          </a:xfrm>
          <a:prstGeom prst="rect">
            <a:avLst/>
          </a:prstGeom>
        </p:spPr>
      </p:pic>
      <p:sp>
        <p:nvSpPr>
          <p:cNvPr id="26" name="Text 20"/>
          <p:cNvSpPr/>
          <p:nvPr/>
        </p:nvSpPr>
        <p:spPr>
          <a:xfrm>
            <a:off x="1325880" y="4892040"/>
            <a:ext cx="1700784" cy="868680"/>
          </a:xfrm>
          <a:prstGeom prst="rect">
            <a:avLst/>
          </a:prstGeom>
          <a:noFill/>
          <a:ln/>
        </p:spPr>
        <p:txBody>
          <a:bodyPr wrap="square" lIns="0" tIns="0" rIns="0" bIns="0" rtlCol="0" anchor="ctr"/>
          <a:lstStyle/>
          <a:p>
            <a:pPr marL="0" indent="0">
              <a:buNone/>
            </a:pPr>
            <a:r>
              <a:rPr lang="en-US" sz="1200" b="1" dirty="0">
                <a:solidFill>
                  <a:srgbClr val="13242E"/>
                </a:solidFill>
                <a:latin typeface="Calibri" pitchFamily="34" charset="0"/>
                <a:ea typeface="Calibri" pitchFamily="34" charset="-122"/>
                <a:cs typeface="Calibri" pitchFamily="34" charset="-120"/>
              </a:rPr>
              <a:t>ACID transactions</a:t>
            </a:r>
            <a:endParaRPr lang="en-US" sz="1200" dirty="0"/>
          </a:p>
        </p:txBody>
      </p:sp>
      <p:sp>
        <p:nvSpPr>
          <p:cNvPr id="27" name="Shape 21"/>
          <p:cNvSpPr/>
          <p:nvPr/>
        </p:nvSpPr>
        <p:spPr>
          <a:xfrm>
            <a:off x="3375050" y="4892040"/>
            <a:ext cx="2615184" cy="868680"/>
          </a:xfrm>
          <a:prstGeom prst="roundRect">
            <a:avLst>
              <a:gd name="adj" fmla="val 1052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8" name="Shape 22"/>
          <p:cNvSpPr/>
          <p:nvPr/>
        </p:nvSpPr>
        <p:spPr>
          <a:xfrm>
            <a:off x="3576218" y="5097780"/>
            <a:ext cx="457200" cy="457200"/>
          </a:xfrm>
          <a:prstGeom prst="ellipse">
            <a:avLst/>
          </a:prstGeom>
          <a:solidFill>
            <a:srgbClr val="FF3621"/>
          </a:solidFill>
          <a:ln/>
        </p:spPr>
        <p:txBody>
          <a:bodyPr/>
          <a:lstStyle/>
          <a:p>
            <a:endParaRPr lang="en-US"/>
          </a:p>
        </p:txBody>
      </p:sp>
      <p:pic>
        <p:nvPicPr>
          <p:cNvPr id="29" name="Image 4" descr="preencoded.png"/>
          <p:cNvPicPr>
            <a:picLocks noChangeAspect="1"/>
          </p:cNvPicPr>
          <p:nvPr/>
        </p:nvPicPr>
        <p:blipFill>
          <a:blip r:embed="rId5"/>
          <a:stretch>
            <a:fillRect/>
          </a:stretch>
        </p:blipFill>
        <p:spPr>
          <a:xfrm>
            <a:off x="3690518" y="5212080"/>
            <a:ext cx="228600" cy="228600"/>
          </a:xfrm>
          <a:prstGeom prst="rect">
            <a:avLst/>
          </a:prstGeom>
        </p:spPr>
      </p:pic>
      <p:sp>
        <p:nvSpPr>
          <p:cNvPr id="30" name="Text 23"/>
          <p:cNvSpPr/>
          <p:nvPr/>
        </p:nvSpPr>
        <p:spPr>
          <a:xfrm>
            <a:off x="4152290" y="4892040"/>
            <a:ext cx="1700784" cy="868680"/>
          </a:xfrm>
          <a:prstGeom prst="rect">
            <a:avLst/>
          </a:prstGeom>
          <a:noFill/>
          <a:ln/>
        </p:spPr>
        <p:txBody>
          <a:bodyPr wrap="square" lIns="0" tIns="0" rIns="0" bIns="0" rtlCol="0" anchor="ctr"/>
          <a:lstStyle/>
          <a:p>
            <a:pPr marL="0" indent="0">
              <a:buNone/>
            </a:pPr>
            <a:r>
              <a:rPr lang="en-US" sz="1200" b="1" dirty="0">
                <a:solidFill>
                  <a:srgbClr val="13242E"/>
                </a:solidFill>
                <a:latin typeface="Calibri" pitchFamily="34" charset="0"/>
                <a:ea typeface="Calibri" pitchFamily="34" charset="-122"/>
                <a:cs typeface="Calibri" pitchFamily="34" charset="-120"/>
              </a:rPr>
              <a:t>Open formats (Delta)</a:t>
            </a:r>
            <a:endParaRPr lang="en-US" sz="1200" dirty="0"/>
          </a:p>
        </p:txBody>
      </p:sp>
      <p:sp>
        <p:nvSpPr>
          <p:cNvPr id="31" name="Shape 24"/>
          <p:cNvSpPr/>
          <p:nvPr/>
        </p:nvSpPr>
        <p:spPr>
          <a:xfrm>
            <a:off x="6201461" y="4892040"/>
            <a:ext cx="2615184" cy="868680"/>
          </a:xfrm>
          <a:prstGeom prst="roundRect">
            <a:avLst>
              <a:gd name="adj" fmla="val 1052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2" name="Shape 25"/>
          <p:cNvSpPr/>
          <p:nvPr/>
        </p:nvSpPr>
        <p:spPr>
          <a:xfrm>
            <a:off x="6402629" y="5097780"/>
            <a:ext cx="457200" cy="457200"/>
          </a:xfrm>
          <a:prstGeom prst="ellipse">
            <a:avLst/>
          </a:prstGeom>
          <a:solidFill>
            <a:srgbClr val="FF3621"/>
          </a:solidFill>
          <a:ln/>
        </p:spPr>
        <p:txBody>
          <a:bodyPr/>
          <a:lstStyle/>
          <a:p>
            <a:endParaRPr lang="en-US"/>
          </a:p>
        </p:txBody>
      </p:sp>
      <p:pic>
        <p:nvPicPr>
          <p:cNvPr id="33" name="Image 5" descr="preencoded.png"/>
          <p:cNvPicPr>
            <a:picLocks noChangeAspect="1"/>
          </p:cNvPicPr>
          <p:nvPr/>
        </p:nvPicPr>
        <p:blipFill>
          <a:blip r:embed="rId7"/>
          <a:stretch>
            <a:fillRect/>
          </a:stretch>
        </p:blipFill>
        <p:spPr>
          <a:xfrm>
            <a:off x="6516929" y="5212080"/>
            <a:ext cx="228600" cy="228600"/>
          </a:xfrm>
          <a:prstGeom prst="rect">
            <a:avLst/>
          </a:prstGeom>
        </p:spPr>
      </p:pic>
      <p:sp>
        <p:nvSpPr>
          <p:cNvPr id="34" name="Text 26"/>
          <p:cNvSpPr/>
          <p:nvPr/>
        </p:nvSpPr>
        <p:spPr>
          <a:xfrm>
            <a:off x="6978701" y="4892040"/>
            <a:ext cx="1700784" cy="868680"/>
          </a:xfrm>
          <a:prstGeom prst="rect">
            <a:avLst/>
          </a:prstGeom>
          <a:noFill/>
          <a:ln/>
        </p:spPr>
        <p:txBody>
          <a:bodyPr wrap="square" lIns="0" tIns="0" rIns="0" bIns="0" rtlCol="0" anchor="ctr"/>
          <a:lstStyle/>
          <a:p>
            <a:pPr marL="0" indent="0">
              <a:buNone/>
            </a:pPr>
            <a:r>
              <a:rPr lang="en-US" sz="1200" b="1" dirty="0">
                <a:solidFill>
                  <a:srgbClr val="13242E"/>
                </a:solidFill>
                <a:latin typeface="Calibri" pitchFamily="34" charset="0"/>
                <a:ea typeface="Calibri" pitchFamily="34" charset="-122"/>
                <a:cs typeface="Calibri" pitchFamily="34" charset="-120"/>
              </a:rPr>
              <a:t>BI + AI together</a:t>
            </a:r>
            <a:endParaRPr lang="en-US" sz="1200" dirty="0"/>
          </a:p>
        </p:txBody>
      </p:sp>
      <p:sp>
        <p:nvSpPr>
          <p:cNvPr id="35" name="Shape 27"/>
          <p:cNvSpPr/>
          <p:nvPr/>
        </p:nvSpPr>
        <p:spPr>
          <a:xfrm>
            <a:off x="9027871" y="4892040"/>
            <a:ext cx="2615184" cy="868680"/>
          </a:xfrm>
          <a:prstGeom prst="roundRect">
            <a:avLst>
              <a:gd name="adj" fmla="val 10526"/>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6" name="Shape 28"/>
          <p:cNvSpPr/>
          <p:nvPr/>
        </p:nvSpPr>
        <p:spPr>
          <a:xfrm>
            <a:off x="9229039" y="5097780"/>
            <a:ext cx="457200" cy="457200"/>
          </a:xfrm>
          <a:prstGeom prst="ellipse">
            <a:avLst/>
          </a:prstGeom>
          <a:solidFill>
            <a:srgbClr val="FF3621"/>
          </a:solidFill>
          <a:ln/>
        </p:spPr>
        <p:txBody>
          <a:bodyPr/>
          <a:lstStyle/>
          <a:p>
            <a:endParaRPr lang="en-US"/>
          </a:p>
        </p:txBody>
      </p:sp>
      <p:pic>
        <p:nvPicPr>
          <p:cNvPr id="37" name="Image 6" descr="preencoded.png"/>
          <p:cNvPicPr>
            <a:picLocks noChangeAspect="1"/>
          </p:cNvPicPr>
          <p:nvPr/>
        </p:nvPicPr>
        <p:blipFill>
          <a:blip r:embed="rId8"/>
          <a:stretch>
            <a:fillRect/>
          </a:stretch>
        </p:blipFill>
        <p:spPr>
          <a:xfrm>
            <a:off x="9343339" y="5212080"/>
            <a:ext cx="228600" cy="228600"/>
          </a:xfrm>
          <a:prstGeom prst="rect">
            <a:avLst/>
          </a:prstGeom>
        </p:spPr>
      </p:pic>
      <p:sp>
        <p:nvSpPr>
          <p:cNvPr id="38" name="Text 29"/>
          <p:cNvSpPr/>
          <p:nvPr/>
        </p:nvSpPr>
        <p:spPr>
          <a:xfrm>
            <a:off x="9805111" y="4892040"/>
            <a:ext cx="1700784" cy="868680"/>
          </a:xfrm>
          <a:prstGeom prst="rect">
            <a:avLst/>
          </a:prstGeom>
          <a:noFill/>
          <a:ln/>
        </p:spPr>
        <p:txBody>
          <a:bodyPr wrap="square" lIns="0" tIns="0" rIns="0" bIns="0" rtlCol="0" anchor="ctr"/>
          <a:lstStyle/>
          <a:p>
            <a:pPr marL="0" indent="0">
              <a:buNone/>
            </a:pPr>
            <a:r>
              <a:rPr lang="en-US" sz="1200" b="1" dirty="0">
                <a:solidFill>
                  <a:srgbClr val="13242E"/>
                </a:solidFill>
                <a:latin typeface="Calibri" pitchFamily="34" charset="0"/>
                <a:ea typeface="Calibri" pitchFamily="34" charset="-122"/>
                <a:cs typeface="Calibri" pitchFamily="34" charset="-120"/>
              </a:rPr>
              <a:t>One copy of data</a:t>
            </a:r>
            <a:endParaRPr lang="en-US" sz="1200" dirty="0"/>
          </a:p>
        </p:txBody>
      </p:sp>
      <p:sp>
        <p:nvSpPr>
          <p:cNvPr id="39" name="Text 3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0" name="Text 31"/>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UNIFIED PLATFORM</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One platform, every data persona</a:t>
            </a:r>
            <a:endParaRPr lang="en-US" sz="2900" dirty="0"/>
          </a:p>
        </p:txBody>
      </p:sp>
      <p:sp>
        <p:nvSpPr>
          <p:cNvPr id="5" name="Shape 3"/>
          <p:cNvSpPr/>
          <p:nvPr/>
        </p:nvSpPr>
        <p:spPr>
          <a:xfrm>
            <a:off x="548640" y="1783080"/>
            <a:ext cx="2587752" cy="1554480"/>
          </a:xfrm>
          <a:prstGeom prst="roundRect">
            <a:avLst>
              <a:gd name="adj" fmla="val 588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822960" y="2093976"/>
            <a:ext cx="658368" cy="658368"/>
          </a:xfrm>
          <a:prstGeom prst="ellipse">
            <a:avLst/>
          </a:prstGeom>
          <a:solidFill>
            <a:srgbClr val="FF362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87552" y="2258568"/>
            <a:ext cx="329184" cy="329184"/>
          </a:xfrm>
          <a:prstGeom prst="rect">
            <a:avLst/>
          </a:prstGeom>
        </p:spPr>
      </p:pic>
      <p:sp>
        <p:nvSpPr>
          <p:cNvPr id="8" name="Text 5"/>
          <p:cNvSpPr/>
          <p:nvPr/>
        </p:nvSpPr>
        <p:spPr>
          <a:xfrm>
            <a:off x="1609344" y="2057400"/>
            <a:ext cx="1399032"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Engineer</a:t>
            </a:r>
            <a:endParaRPr lang="en-US" sz="1400" dirty="0"/>
          </a:p>
        </p:txBody>
      </p:sp>
      <p:sp>
        <p:nvSpPr>
          <p:cNvPr id="9" name="Text 6"/>
          <p:cNvSpPr/>
          <p:nvPr/>
        </p:nvSpPr>
        <p:spPr>
          <a:xfrm>
            <a:off x="1609344" y="2441448"/>
            <a:ext cx="1353312" cy="6400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Builds &amp; runs pipelines</a:t>
            </a:r>
            <a:endParaRPr lang="en-US" sz="1050" dirty="0"/>
          </a:p>
        </p:txBody>
      </p:sp>
      <p:sp>
        <p:nvSpPr>
          <p:cNvPr id="10" name="Shape 7"/>
          <p:cNvSpPr/>
          <p:nvPr/>
        </p:nvSpPr>
        <p:spPr>
          <a:xfrm>
            <a:off x="1842516" y="3337560"/>
            <a:ext cx="0" cy="384048"/>
          </a:xfrm>
          <a:prstGeom prst="line">
            <a:avLst/>
          </a:prstGeom>
          <a:noFill/>
          <a:ln w="19050">
            <a:solidFill>
              <a:srgbClr val="7C8A91"/>
            </a:solidFill>
            <a:prstDash val="solid"/>
          </a:ln>
        </p:spPr>
        <p:txBody>
          <a:bodyPr/>
          <a:lstStyle/>
          <a:p>
            <a:endParaRPr lang="en-US"/>
          </a:p>
        </p:txBody>
      </p:sp>
      <p:sp>
        <p:nvSpPr>
          <p:cNvPr id="11" name="Shape 8"/>
          <p:cNvSpPr/>
          <p:nvPr/>
        </p:nvSpPr>
        <p:spPr>
          <a:xfrm>
            <a:off x="1796796" y="3666744"/>
            <a:ext cx="91440" cy="91440"/>
          </a:xfrm>
          <a:prstGeom prst="ellipse">
            <a:avLst/>
          </a:prstGeom>
          <a:solidFill>
            <a:srgbClr val="FF3621"/>
          </a:solidFill>
          <a:ln/>
        </p:spPr>
        <p:txBody>
          <a:bodyPr/>
          <a:lstStyle/>
          <a:p>
            <a:endParaRPr lang="en-US"/>
          </a:p>
        </p:txBody>
      </p:sp>
      <p:sp>
        <p:nvSpPr>
          <p:cNvPr id="12" name="Shape 9"/>
          <p:cNvSpPr/>
          <p:nvPr/>
        </p:nvSpPr>
        <p:spPr>
          <a:xfrm>
            <a:off x="3384194" y="1783080"/>
            <a:ext cx="2587752" cy="1554480"/>
          </a:xfrm>
          <a:prstGeom prst="roundRect">
            <a:avLst>
              <a:gd name="adj" fmla="val 588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3" name="Shape 10"/>
          <p:cNvSpPr/>
          <p:nvPr/>
        </p:nvSpPr>
        <p:spPr>
          <a:xfrm>
            <a:off x="3658514" y="2093976"/>
            <a:ext cx="658368" cy="658368"/>
          </a:xfrm>
          <a:prstGeom prst="ellipse">
            <a:avLst/>
          </a:prstGeom>
          <a:solidFill>
            <a:srgbClr val="FF362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823106" y="2258568"/>
            <a:ext cx="329184" cy="329184"/>
          </a:xfrm>
          <a:prstGeom prst="rect">
            <a:avLst/>
          </a:prstGeom>
        </p:spPr>
      </p:pic>
      <p:sp>
        <p:nvSpPr>
          <p:cNvPr id="15" name="Text 11"/>
          <p:cNvSpPr/>
          <p:nvPr/>
        </p:nvSpPr>
        <p:spPr>
          <a:xfrm>
            <a:off x="4444898" y="2057400"/>
            <a:ext cx="1399032"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Analyst</a:t>
            </a:r>
            <a:endParaRPr lang="en-US" sz="1400" dirty="0"/>
          </a:p>
        </p:txBody>
      </p:sp>
      <p:sp>
        <p:nvSpPr>
          <p:cNvPr id="16" name="Text 12"/>
          <p:cNvSpPr/>
          <p:nvPr/>
        </p:nvSpPr>
        <p:spPr>
          <a:xfrm>
            <a:off x="4444898" y="2441448"/>
            <a:ext cx="1353312" cy="6400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Queries with SQL &amp; BI</a:t>
            </a:r>
            <a:endParaRPr lang="en-US" sz="1050" dirty="0"/>
          </a:p>
        </p:txBody>
      </p:sp>
      <p:sp>
        <p:nvSpPr>
          <p:cNvPr id="17" name="Shape 13"/>
          <p:cNvSpPr/>
          <p:nvPr/>
        </p:nvSpPr>
        <p:spPr>
          <a:xfrm>
            <a:off x="4678070" y="3337560"/>
            <a:ext cx="0" cy="384048"/>
          </a:xfrm>
          <a:prstGeom prst="line">
            <a:avLst/>
          </a:prstGeom>
          <a:noFill/>
          <a:ln w="19050">
            <a:solidFill>
              <a:srgbClr val="7C8A91"/>
            </a:solidFill>
            <a:prstDash val="solid"/>
          </a:ln>
        </p:spPr>
        <p:txBody>
          <a:bodyPr/>
          <a:lstStyle/>
          <a:p>
            <a:endParaRPr lang="en-US"/>
          </a:p>
        </p:txBody>
      </p:sp>
      <p:sp>
        <p:nvSpPr>
          <p:cNvPr id="18" name="Shape 14"/>
          <p:cNvSpPr/>
          <p:nvPr/>
        </p:nvSpPr>
        <p:spPr>
          <a:xfrm>
            <a:off x="4632350" y="3666744"/>
            <a:ext cx="91440" cy="91440"/>
          </a:xfrm>
          <a:prstGeom prst="ellipse">
            <a:avLst/>
          </a:prstGeom>
          <a:solidFill>
            <a:srgbClr val="FF3621"/>
          </a:solidFill>
          <a:ln/>
        </p:spPr>
        <p:txBody>
          <a:bodyPr/>
          <a:lstStyle/>
          <a:p>
            <a:endParaRPr lang="en-US"/>
          </a:p>
        </p:txBody>
      </p:sp>
      <p:sp>
        <p:nvSpPr>
          <p:cNvPr id="19" name="Shape 15"/>
          <p:cNvSpPr/>
          <p:nvPr/>
        </p:nvSpPr>
        <p:spPr>
          <a:xfrm>
            <a:off x="6219749" y="1783080"/>
            <a:ext cx="2587752" cy="1554480"/>
          </a:xfrm>
          <a:prstGeom prst="roundRect">
            <a:avLst>
              <a:gd name="adj" fmla="val 588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0" name="Shape 16"/>
          <p:cNvSpPr/>
          <p:nvPr/>
        </p:nvSpPr>
        <p:spPr>
          <a:xfrm>
            <a:off x="6494069" y="2093976"/>
            <a:ext cx="658368" cy="658368"/>
          </a:xfrm>
          <a:prstGeom prst="ellipse">
            <a:avLst/>
          </a:prstGeom>
          <a:solidFill>
            <a:srgbClr val="FF3621"/>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6658661" y="2258568"/>
            <a:ext cx="329184" cy="329184"/>
          </a:xfrm>
          <a:prstGeom prst="rect">
            <a:avLst/>
          </a:prstGeom>
        </p:spPr>
      </p:pic>
      <p:sp>
        <p:nvSpPr>
          <p:cNvPr id="22" name="Text 17"/>
          <p:cNvSpPr/>
          <p:nvPr/>
        </p:nvSpPr>
        <p:spPr>
          <a:xfrm>
            <a:off x="7280453" y="2057400"/>
            <a:ext cx="1399032"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Data Scientist</a:t>
            </a:r>
            <a:endParaRPr lang="en-US" sz="1400" dirty="0"/>
          </a:p>
        </p:txBody>
      </p:sp>
      <p:sp>
        <p:nvSpPr>
          <p:cNvPr id="23" name="Text 18"/>
          <p:cNvSpPr/>
          <p:nvPr/>
        </p:nvSpPr>
        <p:spPr>
          <a:xfrm>
            <a:off x="7280453" y="2441448"/>
            <a:ext cx="1353312" cy="6400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Explores &amp; experiments</a:t>
            </a:r>
            <a:endParaRPr lang="en-US" sz="1050" dirty="0"/>
          </a:p>
        </p:txBody>
      </p:sp>
      <p:sp>
        <p:nvSpPr>
          <p:cNvPr id="24" name="Shape 19"/>
          <p:cNvSpPr/>
          <p:nvPr/>
        </p:nvSpPr>
        <p:spPr>
          <a:xfrm>
            <a:off x="7513625" y="3337560"/>
            <a:ext cx="0" cy="384048"/>
          </a:xfrm>
          <a:prstGeom prst="line">
            <a:avLst/>
          </a:prstGeom>
          <a:noFill/>
          <a:ln w="19050">
            <a:solidFill>
              <a:srgbClr val="7C8A91"/>
            </a:solidFill>
            <a:prstDash val="solid"/>
          </a:ln>
        </p:spPr>
        <p:txBody>
          <a:bodyPr/>
          <a:lstStyle/>
          <a:p>
            <a:endParaRPr lang="en-US"/>
          </a:p>
        </p:txBody>
      </p:sp>
      <p:sp>
        <p:nvSpPr>
          <p:cNvPr id="25" name="Shape 20"/>
          <p:cNvSpPr/>
          <p:nvPr/>
        </p:nvSpPr>
        <p:spPr>
          <a:xfrm>
            <a:off x="7467905" y="3666744"/>
            <a:ext cx="91440" cy="91440"/>
          </a:xfrm>
          <a:prstGeom prst="ellipse">
            <a:avLst/>
          </a:prstGeom>
          <a:solidFill>
            <a:srgbClr val="FF3621"/>
          </a:solidFill>
          <a:ln/>
        </p:spPr>
        <p:txBody>
          <a:bodyPr/>
          <a:lstStyle/>
          <a:p>
            <a:endParaRPr lang="en-US"/>
          </a:p>
        </p:txBody>
      </p:sp>
      <p:sp>
        <p:nvSpPr>
          <p:cNvPr id="26" name="Shape 21"/>
          <p:cNvSpPr/>
          <p:nvPr/>
        </p:nvSpPr>
        <p:spPr>
          <a:xfrm>
            <a:off x="9055303" y="1783080"/>
            <a:ext cx="2587752" cy="1554480"/>
          </a:xfrm>
          <a:prstGeom prst="roundRect">
            <a:avLst>
              <a:gd name="adj" fmla="val 588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7" name="Shape 22"/>
          <p:cNvSpPr/>
          <p:nvPr/>
        </p:nvSpPr>
        <p:spPr>
          <a:xfrm>
            <a:off x="9329623" y="2093976"/>
            <a:ext cx="658368" cy="658368"/>
          </a:xfrm>
          <a:prstGeom prst="ellipse">
            <a:avLst/>
          </a:prstGeom>
          <a:solidFill>
            <a:srgbClr val="FF3621"/>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9494215" y="2258568"/>
            <a:ext cx="329184" cy="329184"/>
          </a:xfrm>
          <a:prstGeom prst="rect">
            <a:avLst/>
          </a:prstGeom>
        </p:spPr>
      </p:pic>
      <p:sp>
        <p:nvSpPr>
          <p:cNvPr id="29" name="Text 23"/>
          <p:cNvSpPr/>
          <p:nvPr/>
        </p:nvSpPr>
        <p:spPr>
          <a:xfrm>
            <a:off x="10116007" y="2057400"/>
            <a:ext cx="1399032" cy="365760"/>
          </a:xfrm>
          <a:prstGeom prst="rect">
            <a:avLst/>
          </a:prstGeom>
          <a:noFill/>
          <a:ln/>
        </p:spPr>
        <p:txBody>
          <a:bodyPr wrap="square" lIns="0" tIns="0" rIns="0" bIns="0" rtlCol="0" anchor="ctr"/>
          <a:lstStyle/>
          <a:p>
            <a:pPr marL="0" indent="0">
              <a:buNone/>
            </a:pPr>
            <a:r>
              <a:rPr lang="en-US" sz="1400" b="1" dirty="0">
                <a:solidFill>
                  <a:srgbClr val="13242E"/>
                </a:solidFill>
                <a:latin typeface="Trebuchet MS" pitchFamily="34" charset="0"/>
                <a:ea typeface="Trebuchet MS" pitchFamily="34" charset="-122"/>
                <a:cs typeface="Trebuchet MS" pitchFamily="34" charset="-120"/>
              </a:rPr>
              <a:t>ML Engineer</a:t>
            </a:r>
            <a:endParaRPr lang="en-US" sz="1400" dirty="0"/>
          </a:p>
        </p:txBody>
      </p:sp>
      <p:sp>
        <p:nvSpPr>
          <p:cNvPr id="30" name="Text 24"/>
          <p:cNvSpPr/>
          <p:nvPr/>
        </p:nvSpPr>
        <p:spPr>
          <a:xfrm>
            <a:off x="10116007" y="2441448"/>
            <a:ext cx="1353312" cy="6400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Trains &amp; deploys models</a:t>
            </a:r>
            <a:endParaRPr lang="en-US" sz="1050" dirty="0"/>
          </a:p>
        </p:txBody>
      </p:sp>
      <p:sp>
        <p:nvSpPr>
          <p:cNvPr id="31" name="Shape 25"/>
          <p:cNvSpPr/>
          <p:nvPr/>
        </p:nvSpPr>
        <p:spPr>
          <a:xfrm>
            <a:off x="10349179" y="3337560"/>
            <a:ext cx="0" cy="384048"/>
          </a:xfrm>
          <a:prstGeom prst="line">
            <a:avLst/>
          </a:prstGeom>
          <a:noFill/>
          <a:ln w="19050">
            <a:solidFill>
              <a:srgbClr val="7C8A91"/>
            </a:solidFill>
            <a:prstDash val="solid"/>
          </a:ln>
        </p:spPr>
        <p:txBody>
          <a:bodyPr/>
          <a:lstStyle/>
          <a:p>
            <a:endParaRPr lang="en-US"/>
          </a:p>
        </p:txBody>
      </p:sp>
      <p:sp>
        <p:nvSpPr>
          <p:cNvPr id="32" name="Shape 26"/>
          <p:cNvSpPr/>
          <p:nvPr/>
        </p:nvSpPr>
        <p:spPr>
          <a:xfrm>
            <a:off x="10303459" y="3666744"/>
            <a:ext cx="91440" cy="91440"/>
          </a:xfrm>
          <a:prstGeom prst="ellipse">
            <a:avLst/>
          </a:prstGeom>
          <a:solidFill>
            <a:srgbClr val="FF3621"/>
          </a:solidFill>
          <a:ln/>
        </p:spPr>
        <p:txBody>
          <a:bodyPr/>
          <a:lstStyle/>
          <a:p>
            <a:endParaRPr lang="en-US"/>
          </a:p>
        </p:txBody>
      </p:sp>
      <p:sp>
        <p:nvSpPr>
          <p:cNvPr id="33" name="Shape 27"/>
          <p:cNvSpPr/>
          <p:nvPr/>
        </p:nvSpPr>
        <p:spPr>
          <a:xfrm>
            <a:off x="548640" y="3886200"/>
            <a:ext cx="11094415" cy="914400"/>
          </a:xfrm>
          <a:prstGeom prst="roundRect">
            <a:avLst>
              <a:gd name="adj" fmla="val 10000"/>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34" name="Shape 28"/>
          <p:cNvSpPr/>
          <p:nvPr/>
        </p:nvSpPr>
        <p:spPr>
          <a:xfrm>
            <a:off x="548640" y="3886200"/>
            <a:ext cx="128016" cy="914400"/>
          </a:xfrm>
          <a:prstGeom prst="rect">
            <a:avLst/>
          </a:prstGeom>
          <a:solidFill>
            <a:srgbClr val="FF3621"/>
          </a:solidFill>
          <a:ln/>
        </p:spPr>
        <p:txBody>
          <a:bodyPr/>
          <a:lstStyle/>
          <a:p>
            <a:endParaRPr lang="en-US"/>
          </a:p>
        </p:txBody>
      </p:sp>
      <p:sp>
        <p:nvSpPr>
          <p:cNvPr id="35" name="Shape 29"/>
          <p:cNvSpPr/>
          <p:nvPr/>
        </p:nvSpPr>
        <p:spPr>
          <a:xfrm>
            <a:off x="960120" y="4069080"/>
            <a:ext cx="548640" cy="548640"/>
          </a:xfrm>
          <a:prstGeom prst="ellipse">
            <a:avLst/>
          </a:prstGeom>
          <a:solidFill>
            <a:srgbClr val="FF3621"/>
          </a:solidFill>
          <a:ln/>
        </p:spPr>
        <p:txBody>
          <a:bodyPr/>
          <a:lstStyle/>
          <a:p>
            <a:endParaRPr lang="en-US"/>
          </a:p>
        </p:txBody>
      </p:sp>
      <p:pic>
        <p:nvPicPr>
          <p:cNvPr id="36" name="Image 4" descr="preencoded.png"/>
          <p:cNvPicPr>
            <a:picLocks noChangeAspect="1"/>
          </p:cNvPicPr>
          <p:nvPr/>
        </p:nvPicPr>
        <p:blipFill>
          <a:blip r:embed="rId7"/>
          <a:stretch>
            <a:fillRect/>
          </a:stretch>
        </p:blipFill>
        <p:spPr>
          <a:xfrm>
            <a:off x="1097280" y="4206240"/>
            <a:ext cx="274320" cy="274320"/>
          </a:xfrm>
          <a:prstGeom prst="rect">
            <a:avLst/>
          </a:prstGeom>
        </p:spPr>
      </p:pic>
      <p:sp>
        <p:nvSpPr>
          <p:cNvPr id="37" name="Text 30"/>
          <p:cNvSpPr/>
          <p:nvPr/>
        </p:nvSpPr>
        <p:spPr>
          <a:xfrm>
            <a:off x="1737360" y="3886200"/>
            <a:ext cx="6400800" cy="914400"/>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Databricks Lakehouse Platform</a:t>
            </a:r>
            <a:endParaRPr lang="en-US" sz="1900" dirty="0"/>
          </a:p>
        </p:txBody>
      </p:sp>
      <p:sp>
        <p:nvSpPr>
          <p:cNvPr id="38" name="Text 31"/>
          <p:cNvSpPr/>
          <p:nvPr/>
        </p:nvSpPr>
        <p:spPr>
          <a:xfrm>
            <a:off x="6949440" y="3886200"/>
            <a:ext cx="4327855" cy="914400"/>
          </a:xfrm>
          <a:prstGeom prst="rect">
            <a:avLst/>
          </a:prstGeom>
          <a:noFill/>
          <a:ln/>
        </p:spPr>
        <p:txBody>
          <a:bodyPr wrap="square" lIns="0" tIns="0" rIns="0" bIns="0" rtlCol="0" anchor="ctr"/>
          <a:lstStyle/>
          <a:p>
            <a:pPr marL="0" indent="0" algn="r">
              <a:buNone/>
            </a:pPr>
            <a:r>
              <a:rPr lang="en-US" sz="1250" dirty="0">
                <a:solidFill>
                  <a:srgbClr val="C7D2D8"/>
                </a:solidFill>
                <a:latin typeface="Calibri" pitchFamily="34" charset="0"/>
                <a:ea typeface="Calibri" pitchFamily="34" charset="-122"/>
                <a:cs typeface="Calibri" pitchFamily="34" charset="-120"/>
              </a:rPr>
              <a:t>Workspace · Spark · Delta Lake · ML · Unity Catalog</a:t>
            </a:r>
            <a:endParaRPr lang="en-US" sz="1250" dirty="0"/>
          </a:p>
        </p:txBody>
      </p:sp>
      <p:sp>
        <p:nvSpPr>
          <p:cNvPr id="39" name="Shape 32"/>
          <p:cNvSpPr/>
          <p:nvPr/>
        </p:nvSpPr>
        <p:spPr>
          <a:xfrm>
            <a:off x="548640" y="5029200"/>
            <a:ext cx="11094415" cy="777240"/>
          </a:xfrm>
          <a:prstGeom prst="roundRect">
            <a:avLst>
              <a:gd name="adj" fmla="val 9412"/>
            </a:avLst>
          </a:prstGeom>
          <a:solidFill>
            <a:srgbClr val="F2F5F6"/>
          </a:solidFill>
          <a:ln w="12700">
            <a:solidFill>
              <a:srgbClr val="DDE4E7"/>
            </a:solidFill>
            <a:prstDash val="solid"/>
          </a:ln>
        </p:spPr>
        <p:txBody>
          <a:bodyPr/>
          <a:lstStyle/>
          <a:p>
            <a:endParaRPr lang="en-US"/>
          </a:p>
        </p:txBody>
      </p:sp>
      <p:sp>
        <p:nvSpPr>
          <p:cNvPr id="40" name="Shape 33"/>
          <p:cNvSpPr/>
          <p:nvPr/>
        </p:nvSpPr>
        <p:spPr>
          <a:xfrm>
            <a:off x="960120" y="5193792"/>
            <a:ext cx="457200" cy="457200"/>
          </a:xfrm>
          <a:prstGeom prst="ellipse">
            <a:avLst/>
          </a:prstGeom>
          <a:solidFill>
            <a:srgbClr val="0E7C8B"/>
          </a:solidFill>
          <a:ln/>
        </p:spPr>
        <p:txBody>
          <a:bodyPr/>
          <a:lstStyle/>
          <a:p>
            <a:endParaRPr lang="en-US"/>
          </a:p>
        </p:txBody>
      </p:sp>
      <p:pic>
        <p:nvPicPr>
          <p:cNvPr id="41" name="Image 5" descr="preencoded.png"/>
          <p:cNvPicPr>
            <a:picLocks noChangeAspect="1"/>
          </p:cNvPicPr>
          <p:nvPr/>
        </p:nvPicPr>
        <p:blipFill>
          <a:blip r:embed="rId8"/>
          <a:stretch>
            <a:fillRect/>
          </a:stretch>
        </p:blipFill>
        <p:spPr>
          <a:xfrm>
            <a:off x="1074420" y="5308092"/>
            <a:ext cx="228600" cy="228600"/>
          </a:xfrm>
          <a:prstGeom prst="rect">
            <a:avLst/>
          </a:prstGeom>
        </p:spPr>
      </p:pic>
      <p:sp>
        <p:nvSpPr>
          <p:cNvPr id="42" name="Text 34"/>
          <p:cNvSpPr/>
          <p:nvPr/>
        </p:nvSpPr>
        <p:spPr>
          <a:xfrm>
            <a:off x="1691640" y="5029200"/>
            <a:ext cx="9722815" cy="777240"/>
          </a:xfrm>
          <a:prstGeom prst="rect">
            <a:avLst/>
          </a:prstGeom>
          <a:noFill/>
          <a:ln/>
        </p:spPr>
        <p:txBody>
          <a:bodyPr wrap="square" lIns="0" tIns="0" rIns="0" bIns="0" rtlCol="0" anchor="ctr"/>
          <a:lstStyle/>
          <a:p>
            <a:pPr marL="0" indent="0">
              <a:buNone/>
            </a:pPr>
            <a:r>
              <a:rPr lang="en-US" sz="1300" b="1" dirty="0">
                <a:solidFill>
                  <a:srgbClr val="13242E"/>
                </a:solidFill>
                <a:latin typeface="Calibri" pitchFamily="34" charset="0"/>
                <a:ea typeface="Calibri" pitchFamily="34" charset="-122"/>
                <a:cs typeface="Calibri" pitchFamily="34" charset="-120"/>
              </a:rPr>
              <a:t>One copy of data  ·  Delta Lake on your cloud storage (S3 · ADLS · GCS)</a:t>
            </a:r>
            <a:endParaRPr lang="en-US" sz="1300" dirty="0"/>
          </a:p>
        </p:txBody>
      </p:sp>
      <p:sp>
        <p:nvSpPr>
          <p:cNvPr id="43" name="Text 3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4" name="Text 3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THE TOOLKIT</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Databricks core components</a:t>
            </a:r>
            <a:endParaRPr lang="en-US" sz="2900" dirty="0"/>
          </a:p>
        </p:txBody>
      </p:sp>
      <p:sp>
        <p:nvSpPr>
          <p:cNvPr id="5" name="Text 3"/>
          <p:cNvSpPr/>
          <p:nvPr/>
        </p:nvSpPr>
        <p:spPr>
          <a:xfrm>
            <a:off x="548640" y="1627632"/>
            <a:ext cx="11094415" cy="320040"/>
          </a:xfrm>
          <a:prstGeom prst="rect">
            <a:avLst/>
          </a:prstGeom>
          <a:noFill/>
          <a:ln/>
        </p:spPr>
        <p:txBody>
          <a:bodyPr wrap="square" lIns="0" tIns="0" rIns="0" bIns="0" rtlCol="0" anchor="ctr"/>
          <a:lstStyle/>
          <a:p>
            <a:pPr marL="0" indent="0">
              <a:buNone/>
            </a:pPr>
            <a:r>
              <a:rPr lang="en-US" sz="1400" dirty="0">
                <a:solidFill>
                  <a:srgbClr val="7C8A91"/>
                </a:solidFill>
                <a:latin typeface="Calibri" pitchFamily="34" charset="0"/>
                <a:ea typeface="Calibri" pitchFamily="34" charset="-122"/>
                <a:cs typeface="Calibri" pitchFamily="34" charset="-120"/>
              </a:rPr>
              <a:t>Five building blocks you'll meet again and again.</a:t>
            </a:r>
            <a:endParaRPr lang="en-US" sz="1400" dirty="0"/>
          </a:p>
        </p:txBody>
      </p:sp>
      <p:sp>
        <p:nvSpPr>
          <p:cNvPr id="6" name="Shape 4"/>
          <p:cNvSpPr/>
          <p:nvPr/>
        </p:nvSpPr>
        <p:spPr>
          <a:xfrm>
            <a:off x="548640"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548640" y="2286000"/>
            <a:ext cx="1993392" cy="91440"/>
          </a:xfrm>
          <a:prstGeom prst="rect">
            <a:avLst/>
          </a:prstGeom>
          <a:solidFill>
            <a:srgbClr val="FF3621"/>
          </a:solidFill>
          <a:ln/>
        </p:spPr>
        <p:txBody>
          <a:bodyPr/>
          <a:lstStyle/>
          <a:p>
            <a:endParaRPr lang="en-US"/>
          </a:p>
        </p:txBody>
      </p:sp>
      <p:sp>
        <p:nvSpPr>
          <p:cNvPr id="8" name="Shape 6"/>
          <p:cNvSpPr/>
          <p:nvPr/>
        </p:nvSpPr>
        <p:spPr>
          <a:xfrm>
            <a:off x="1124712" y="2670048"/>
            <a:ext cx="841248" cy="841248"/>
          </a:xfrm>
          <a:prstGeom prst="ellipse">
            <a:avLst/>
          </a:prstGeom>
          <a:solidFill>
            <a:srgbClr val="0E1B24"/>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335024" y="2880360"/>
            <a:ext cx="420624" cy="420624"/>
          </a:xfrm>
          <a:prstGeom prst="rect">
            <a:avLst/>
          </a:prstGeom>
        </p:spPr>
      </p:pic>
      <p:sp>
        <p:nvSpPr>
          <p:cNvPr id="10" name="Text 7"/>
          <p:cNvSpPr/>
          <p:nvPr/>
        </p:nvSpPr>
        <p:spPr>
          <a:xfrm>
            <a:off x="640080"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Workspace</a:t>
            </a:r>
            <a:endParaRPr lang="en-US" sz="1650" dirty="0"/>
          </a:p>
        </p:txBody>
      </p:sp>
      <p:sp>
        <p:nvSpPr>
          <p:cNvPr id="11" name="Text 8"/>
          <p:cNvSpPr/>
          <p:nvPr/>
        </p:nvSpPr>
        <p:spPr>
          <a:xfrm>
            <a:off x="731520"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Collaborative notebooks, jobs and dashboards.</a:t>
            </a:r>
            <a:endParaRPr lang="en-US" sz="1100" dirty="0"/>
          </a:p>
        </p:txBody>
      </p:sp>
      <p:sp>
        <p:nvSpPr>
          <p:cNvPr id="12" name="Shape 9"/>
          <p:cNvSpPr/>
          <p:nvPr/>
        </p:nvSpPr>
        <p:spPr>
          <a:xfrm>
            <a:off x="2823896"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3" name="Shape 10"/>
          <p:cNvSpPr/>
          <p:nvPr/>
        </p:nvSpPr>
        <p:spPr>
          <a:xfrm>
            <a:off x="2823896" y="2286000"/>
            <a:ext cx="1993392" cy="91440"/>
          </a:xfrm>
          <a:prstGeom prst="rect">
            <a:avLst/>
          </a:prstGeom>
          <a:solidFill>
            <a:srgbClr val="FF3621"/>
          </a:solidFill>
          <a:ln/>
        </p:spPr>
        <p:txBody>
          <a:bodyPr/>
          <a:lstStyle/>
          <a:p>
            <a:endParaRPr lang="en-US"/>
          </a:p>
        </p:txBody>
      </p:sp>
      <p:sp>
        <p:nvSpPr>
          <p:cNvPr id="14" name="Shape 11"/>
          <p:cNvSpPr/>
          <p:nvPr/>
        </p:nvSpPr>
        <p:spPr>
          <a:xfrm>
            <a:off x="3399968" y="2670048"/>
            <a:ext cx="841248" cy="841248"/>
          </a:xfrm>
          <a:prstGeom prst="ellipse">
            <a:avLst/>
          </a:prstGeom>
          <a:solidFill>
            <a:srgbClr val="0E1B24"/>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610280" y="2880360"/>
            <a:ext cx="420624" cy="420624"/>
          </a:xfrm>
          <a:prstGeom prst="rect">
            <a:avLst/>
          </a:prstGeom>
        </p:spPr>
      </p:pic>
      <p:sp>
        <p:nvSpPr>
          <p:cNvPr id="16" name="Text 12"/>
          <p:cNvSpPr/>
          <p:nvPr/>
        </p:nvSpPr>
        <p:spPr>
          <a:xfrm>
            <a:off x="2915336"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Spark Engine</a:t>
            </a:r>
            <a:endParaRPr lang="en-US" sz="1650" dirty="0"/>
          </a:p>
        </p:txBody>
      </p:sp>
      <p:sp>
        <p:nvSpPr>
          <p:cNvPr id="17" name="Text 13"/>
          <p:cNvSpPr/>
          <p:nvPr/>
        </p:nvSpPr>
        <p:spPr>
          <a:xfrm>
            <a:off x="3006776"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Distributed processing for huge datasets.</a:t>
            </a:r>
            <a:endParaRPr lang="en-US" sz="1100" dirty="0"/>
          </a:p>
        </p:txBody>
      </p:sp>
      <p:sp>
        <p:nvSpPr>
          <p:cNvPr id="18" name="Shape 14"/>
          <p:cNvSpPr/>
          <p:nvPr/>
        </p:nvSpPr>
        <p:spPr>
          <a:xfrm>
            <a:off x="5099152"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9" name="Shape 15"/>
          <p:cNvSpPr/>
          <p:nvPr/>
        </p:nvSpPr>
        <p:spPr>
          <a:xfrm>
            <a:off x="5099152" y="2286000"/>
            <a:ext cx="1993392" cy="91440"/>
          </a:xfrm>
          <a:prstGeom prst="rect">
            <a:avLst/>
          </a:prstGeom>
          <a:solidFill>
            <a:srgbClr val="FF3621"/>
          </a:solidFill>
          <a:ln/>
        </p:spPr>
        <p:txBody>
          <a:bodyPr/>
          <a:lstStyle/>
          <a:p>
            <a:endParaRPr lang="en-US"/>
          </a:p>
        </p:txBody>
      </p:sp>
      <p:sp>
        <p:nvSpPr>
          <p:cNvPr id="20" name="Shape 16"/>
          <p:cNvSpPr/>
          <p:nvPr/>
        </p:nvSpPr>
        <p:spPr>
          <a:xfrm>
            <a:off x="5675224" y="2670048"/>
            <a:ext cx="841248" cy="841248"/>
          </a:xfrm>
          <a:prstGeom prst="ellipse">
            <a:avLst/>
          </a:prstGeom>
          <a:solidFill>
            <a:srgbClr val="0E1B24"/>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885536" y="2880360"/>
            <a:ext cx="420624" cy="420624"/>
          </a:xfrm>
          <a:prstGeom prst="rect">
            <a:avLst/>
          </a:prstGeom>
        </p:spPr>
      </p:pic>
      <p:sp>
        <p:nvSpPr>
          <p:cNvPr id="22" name="Text 17"/>
          <p:cNvSpPr/>
          <p:nvPr/>
        </p:nvSpPr>
        <p:spPr>
          <a:xfrm>
            <a:off x="5190592"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Delta Lake</a:t>
            </a:r>
            <a:endParaRPr lang="en-US" sz="1650" dirty="0"/>
          </a:p>
        </p:txBody>
      </p:sp>
      <p:sp>
        <p:nvSpPr>
          <p:cNvPr id="23" name="Text 18"/>
          <p:cNvSpPr/>
          <p:nvPr/>
        </p:nvSpPr>
        <p:spPr>
          <a:xfrm>
            <a:off x="5282032"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Reliable, ACID storage in an open format.</a:t>
            </a:r>
            <a:endParaRPr lang="en-US" sz="1100" dirty="0"/>
          </a:p>
        </p:txBody>
      </p:sp>
      <p:sp>
        <p:nvSpPr>
          <p:cNvPr id="24" name="Shape 19"/>
          <p:cNvSpPr/>
          <p:nvPr/>
        </p:nvSpPr>
        <p:spPr>
          <a:xfrm>
            <a:off x="7374407"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5" name="Shape 20"/>
          <p:cNvSpPr/>
          <p:nvPr/>
        </p:nvSpPr>
        <p:spPr>
          <a:xfrm>
            <a:off x="7374407" y="2286000"/>
            <a:ext cx="1993392" cy="91440"/>
          </a:xfrm>
          <a:prstGeom prst="rect">
            <a:avLst/>
          </a:prstGeom>
          <a:solidFill>
            <a:srgbClr val="FF3621"/>
          </a:solidFill>
          <a:ln/>
        </p:spPr>
        <p:txBody>
          <a:bodyPr/>
          <a:lstStyle/>
          <a:p>
            <a:endParaRPr lang="en-US"/>
          </a:p>
        </p:txBody>
      </p:sp>
      <p:sp>
        <p:nvSpPr>
          <p:cNvPr id="26" name="Shape 21"/>
          <p:cNvSpPr/>
          <p:nvPr/>
        </p:nvSpPr>
        <p:spPr>
          <a:xfrm>
            <a:off x="7950479" y="2670048"/>
            <a:ext cx="841248" cy="841248"/>
          </a:xfrm>
          <a:prstGeom prst="ellipse">
            <a:avLst/>
          </a:prstGeom>
          <a:solidFill>
            <a:srgbClr val="0E1B24"/>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8160791" y="2880360"/>
            <a:ext cx="420624" cy="420624"/>
          </a:xfrm>
          <a:prstGeom prst="rect">
            <a:avLst/>
          </a:prstGeom>
        </p:spPr>
      </p:pic>
      <p:sp>
        <p:nvSpPr>
          <p:cNvPr id="28" name="Text 22"/>
          <p:cNvSpPr/>
          <p:nvPr/>
        </p:nvSpPr>
        <p:spPr>
          <a:xfrm>
            <a:off x="7465847"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MLflow</a:t>
            </a:r>
            <a:endParaRPr lang="en-US" sz="1650" dirty="0"/>
          </a:p>
        </p:txBody>
      </p:sp>
      <p:sp>
        <p:nvSpPr>
          <p:cNvPr id="29" name="Text 23"/>
          <p:cNvSpPr/>
          <p:nvPr/>
        </p:nvSpPr>
        <p:spPr>
          <a:xfrm>
            <a:off x="7557287"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Track, manage and deploy ML models.</a:t>
            </a:r>
            <a:endParaRPr lang="en-US" sz="1100" dirty="0"/>
          </a:p>
        </p:txBody>
      </p:sp>
      <p:sp>
        <p:nvSpPr>
          <p:cNvPr id="30" name="Shape 24"/>
          <p:cNvSpPr/>
          <p:nvPr/>
        </p:nvSpPr>
        <p:spPr>
          <a:xfrm>
            <a:off x="9649663" y="2286000"/>
            <a:ext cx="1993392" cy="3291840"/>
          </a:xfrm>
          <a:prstGeom prst="roundRect">
            <a:avLst>
              <a:gd name="adj" fmla="val 4587"/>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5"/>
          <p:cNvSpPr/>
          <p:nvPr/>
        </p:nvSpPr>
        <p:spPr>
          <a:xfrm>
            <a:off x="9649663" y="2286000"/>
            <a:ext cx="1993392" cy="91440"/>
          </a:xfrm>
          <a:prstGeom prst="rect">
            <a:avLst/>
          </a:prstGeom>
          <a:solidFill>
            <a:srgbClr val="FF3621"/>
          </a:solidFill>
          <a:ln/>
        </p:spPr>
        <p:txBody>
          <a:bodyPr/>
          <a:lstStyle/>
          <a:p>
            <a:endParaRPr lang="en-US"/>
          </a:p>
        </p:txBody>
      </p:sp>
      <p:sp>
        <p:nvSpPr>
          <p:cNvPr id="32" name="Shape 26"/>
          <p:cNvSpPr/>
          <p:nvPr/>
        </p:nvSpPr>
        <p:spPr>
          <a:xfrm>
            <a:off x="10225735" y="2670048"/>
            <a:ext cx="841248" cy="841248"/>
          </a:xfrm>
          <a:prstGeom prst="ellipse">
            <a:avLst/>
          </a:prstGeom>
          <a:solidFill>
            <a:srgbClr val="0E1B24"/>
          </a:solidFill>
          <a:ln/>
        </p:spPr>
        <p:txBody>
          <a:bodyPr/>
          <a:lstStyle/>
          <a:p>
            <a:endParaRPr lang="en-US"/>
          </a:p>
        </p:txBody>
      </p:sp>
      <p:pic>
        <p:nvPicPr>
          <p:cNvPr id="33" name="Image 4" descr="preencoded.png"/>
          <p:cNvPicPr>
            <a:picLocks noChangeAspect="1"/>
          </p:cNvPicPr>
          <p:nvPr/>
        </p:nvPicPr>
        <p:blipFill>
          <a:blip r:embed="rId7"/>
          <a:stretch>
            <a:fillRect/>
          </a:stretch>
        </p:blipFill>
        <p:spPr>
          <a:xfrm>
            <a:off x="10436047" y="2880360"/>
            <a:ext cx="420624" cy="420624"/>
          </a:xfrm>
          <a:prstGeom prst="rect">
            <a:avLst/>
          </a:prstGeom>
        </p:spPr>
      </p:pic>
      <p:sp>
        <p:nvSpPr>
          <p:cNvPr id="34" name="Text 27"/>
          <p:cNvSpPr/>
          <p:nvPr/>
        </p:nvSpPr>
        <p:spPr>
          <a:xfrm>
            <a:off x="9741103" y="3749040"/>
            <a:ext cx="1810512" cy="457200"/>
          </a:xfrm>
          <a:prstGeom prst="rect">
            <a:avLst/>
          </a:prstGeom>
          <a:noFill/>
          <a:ln/>
        </p:spPr>
        <p:txBody>
          <a:bodyPr wrap="square" lIns="0" tIns="0" rIns="0" bIns="0" rtlCol="0" anchor="ctr"/>
          <a:lstStyle/>
          <a:p>
            <a:pPr marL="0" indent="0" algn="ctr">
              <a:buNone/>
            </a:pPr>
            <a:r>
              <a:rPr lang="en-US" sz="1650" b="1" dirty="0">
                <a:solidFill>
                  <a:srgbClr val="13242E"/>
                </a:solidFill>
                <a:latin typeface="Trebuchet MS" pitchFamily="34" charset="0"/>
                <a:ea typeface="Trebuchet MS" pitchFamily="34" charset="-122"/>
                <a:cs typeface="Trebuchet MS" pitchFamily="34" charset="-120"/>
              </a:rPr>
              <a:t>Unity Catalog</a:t>
            </a:r>
            <a:endParaRPr lang="en-US" sz="1650" dirty="0"/>
          </a:p>
        </p:txBody>
      </p:sp>
      <p:sp>
        <p:nvSpPr>
          <p:cNvPr id="35" name="Text 28"/>
          <p:cNvSpPr/>
          <p:nvPr/>
        </p:nvSpPr>
        <p:spPr>
          <a:xfrm>
            <a:off x="9832543" y="4251960"/>
            <a:ext cx="1627632" cy="1143000"/>
          </a:xfrm>
          <a:prstGeom prst="rect">
            <a:avLst/>
          </a:prstGeom>
          <a:noFill/>
          <a:ln/>
        </p:spPr>
        <p:txBody>
          <a:bodyPr wrap="square" lIns="0" tIns="0" rIns="0" bIns="0" rtlCol="0" anchor="ctr"/>
          <a:lstStyle/>
          <a:p>
            <a:pPr marL="0" indent="0" algn="ctr">
              <a:buNone/>
            </a:pPr>
            <a:r>
              <a:rPr lang="en-US" sz="1100" dirty="0">
                <a:solidFill>
                  <a:srgbClr val="38474F"/>
                </a:solidFill>
                <a:latin typeface="Calibri" pitchFamily="34" charset="0"/>
                <a:ea typeface="Calibri" pitchFamily="34" charset="-122"/>
                <a:cs typeface="Calibri" pitchFamily="34" charset="-120"/>
              </a:rPr>
              <a:t>Unified governance, security and lineage.</a:t>
            </a:r>
            <a:endParaRPr lang="en-US" sz="1100" dirty="0"/>
          </a:p>
        </p:txBody>
      </p:sp>
      <p:sp>
        <p:nvSpPr>
          <p:cNvPr id="36" name="Text 29"/>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7" name="Text 30"/>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02 · PAYOFF</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Key benefits of Databricks</a:t>
            </a:r>
            <a:endParaRPr lang="en-US" sz="2900" dirty="0"/>
          </a:p>
        </p:txBody>
      </p:sp>
      <p:sp>
        <p:nvSpPr>
          <p:cNvPr id="5" name="Shape 3"/>
          <p:cNvSpPr/>
          <p:nvPr/>
        </p:nvSpPr>
        <p:spPr>
          <a:xfrm>
            <a:off x="548640"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914400" y="2194560"/>
            <a:ext cx="676656" cy="676656"/>
          </a:xfrm>
          <a:prstGeom prst="ellipse">
            <a:avLst/>
          </a:prstGeom>
          <a:solidFill>
            <a:srgbClr val="FF362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83564" y="2363724"/>
            <a:ext cx="338328" cy="338328"/>
          </a:xfrm>
          <a:prstGeom prst="rect">
            <a:avLst/>
          </a:prstGeom>
        </p:spPr>
      </p:pic>
      <p:sp>
        <p:nvSpPr>
          <p:cNvPr id="8" name="Text 5"/>
          <p:cNvSpPr/>
          <p:nvPr/>
        </p:nvSpPr>
        <p:spPr>
          <a:xfrm>
            <a:off x="914400"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Unified</a:t>
            </a:r>
            <a:endParaRPr lang="en-US" sz="1500" dirty="0"/>
          </a:p>
        </p:txBody>
      </p:sp>
      <p:sp>
        <p:nvSpPr>
          <p:cNvPr id="9" name="Text 6"/>
          <p:cNvSpPr/>
          <p:nvPr/>
        </p:nvSpPr>
        <p:spPr>
          <a:xfrm>
            <a:off x="914400"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One platform for data engineering, analytics and AI.</a:t>
            </a:r>
            <a:endParaRPr lang="en-US" sz="1150" dirty="0"/>
          </a:p>
        </p:txBody>
      </p:sp>
      <p:sp>
        <p:nvSpPr>
          <p:cNvPr id="10" name="Shape 7"/>
          <p:cNvSpPr/>
          <p:nvPr/>
        </p:nvSpPr>
        <p:spPr>
          <a:xfrm>
            <a:off x="4367632"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1" name="Shape 8"/>
          <p:cNvSpPr/>
          <p:nvPr/>
        </p:nvSpPr>
        <p:spPr>
          <a:xfrm>
            <a:off x="4733392" y="2194560"/>
            <a:ext cx="676656" cy="676656"/>
          </a:xfrm>
          <a:prstGeom prst="ellipse">
            <a:avLst/>
          </a:prstGeom>
          <a:solidFill>
            <a:srgbClr val="FF362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902556" y="2363724"/>
            <a:ext cx="338328" cy="338328"/>
          </a:xfrm>
          <a:prstGeom prst="rect">
            <a:avLst/>
          </a:prstGeom>
        </p:spPr>
      </p:pic>
      <p:sp>
        <p:nvSpPr>
          <p:cNvPr id="13" name="Text 9"/>
          <p:cNvSpPr/>
          <p:nvPr/>
        </p:nvSpPr>
        <p:spPr>
          <a:xfrm>
            <a:off x="4733392"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Open</a:t>
            </a:r>
            <a:endParaRPr lang="en-US" sz="1500" dirty="0"/>
          </a:p>
        </p:txBody>
      </p:sp>
      <p:sp>
        <p:nvSpPr>
          <p:cNvPr id="14" name="Text 10"/>
          <p:cNvSpPr/>
          <p:nvPr/>
        </p:nvSpPr>
        <p:spPr>
          <a:xfrm>
            <a:off x="4733392"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Open formats and standards — no vendor lock-in.</a:t>
            </a:r>
            <a:endParaRPr lang="en-US" sz="1150" dirty="0"/>
          </a:p>
        </p:txBody>
      </p:sp>
      <p:sp>
        <p:nvSpPr>
          <p:cNvPr id="15" name="Shape 11"/>
          <p:cNvSpPr/>
          <p:nvPr/>
        </p:nvSpPr>
        <p:spPr>
          <a:xfrm>
            <a:off x="8186623" y="182880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6" name="Shape 12"/>
          <p:cNvSpPr/>
          <p:nvPr/>
        </p:nvSpPr>
        <p:spPr>
          <a:xfrm>
            <a:off x="8552383" y="2194560"/>
            <a:ext cx="676656" cy="676656"/>
          </a:xfrm>
          <a:prstGeom prst="ellipse">
            <a:avLst/>
          </a:prstGeom>
          <a:solidFill>
            <a:srgbClr val="FF3621"/>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721547" y="2363724"/>
            <a:ext cx="338328" cy="338328"/>
          </a:xfrm>
          <a:prstGeom prst="rect">
            <a:avLst/>
          </a:prstGeom>
        </p:spPr>
      </p:pic>
      <p:sp>
        <p:nvSpPr>
          <p:cNvPr id="18" name="Text 13"/>
          <p:cNvSpPr/>
          <p:nvPr/>
        </p:nvSpPr>
        <p:spPr>
          <a:xfrm>
            <a:off x="8552383" y="292608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Elastic scale</a:t>
            </a:r>
            <a:endParaRPr lang="en-US" sz="1500" dirty="0"/>
          </a:p>
        </p:txBody>
      </p:sp>
      <p:sp>
        <p:nvSpPr>
          <p:cNvPr id="19" name="Text 14"/>
          <p:cNvSpPr/>
          <p:nvPr/>
        </p:nvSpPr>
        <p:spPr>
          <a:xfrm>
            <a:off x="8552383" y="321868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Scales out on demand; spin compute up and down.</a:t>
            </a:r>
            <a:endParaRPr lang="en-US" sz="1150" dirty="0"/>
          </a:p>
        </p:txBody>
      </p:sp>
      <p:sp>
        <p:nvSpPr>
          <p:cNvPr id="20" name="Shape 15"/>
          <p:cNvSpPr/>
          <p:nvPr/>
        </p:nvSpPr>
        <p:spPr>
          <a:xfrm>
            <a:off x="548640"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1" name="Shape 16"/>
          <p:cNvSpPr/>
          <p:nvPr/>
        </p:nvSpPr>
        <p:spPr>
          <a:xfrm>
            <a:off x="914400" y="4160520"/>
            <a:ext cx="676656" cy="676656"/>
          </a:xfrm>
          <a:prstGeom prst="ellipse">
            <a:avLst/>
          </a:prstGeom>
          <a:solidFill>
            <a:srgbClr val="FF362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083564" y="4329684"/>
            <a:ext cx="338328" cy="338328"/>
          </a:xfrm>
          <a:prstGeom prst="rect">
            <a:avLst/>
          </a:prstGeom>
        </p:spPr>
      </p:pic>
      <p:sp>
        <p:nvSpPr>
          <p:cNvPr id="23" name="Text 17"/>
          <p:cNvSpPr/>
          <p:nvPr/>
        </p:nvSpPr>
        <p:spPr>
          <a:xfrm>
            <a:off x="914400"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Collaborative</a:t>
            </a:r>
            <a:endParaRPr lang="en-US" sz="1500" dirty="0"/>
          </a:p>
        </p:txBody>
      </p:sp>
      <p:sp>
        <p:nvSpPr>
          <p:cNvPr id="24" name="Text 18"/>
          <p:cNvSpPr/>
          <p:nvPr/>
        </p:nvSpPr>
        <p:spPr>
          <a:xfrm>
            <a:off x="914400"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Teams share notebooks, data and results live.</a:t>
            </a:r>
            <a:endParaRPr lang="en-US" sz="1150" dirty="0"/>
          </a:p>
        </p:txBody>
      </p:sp>
      <p:sp>
        <p:nvSpPr>
          <p:cNvPr id="25" name="Shape 19"/>
          <p:cNvSpPr/>
          <p:nvPr/>
        </p:nvSpPr>
        <p:spPr>
          <a:xfrm>
            <a:off x="4367632"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6" name="Shape 20"/>
          <p:cNvSpPr/>
          <p:nvPr/>
        </p:nvSpPr>
        <p:spPr>
          <a:xfrm>
            <a:off x="4733392" y="4160520"/>
            <a:ext cx="676656" cy="676656"/>
          </a:xfrm>
          <a:prstGeom prst="ellipse">
            <a:avLst/>
          </a:prstGeom>
          <a:solidFill>
            <a:srgbClr val="FF3621"/>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4902556" y="4329684"/>
            <a:ext cx="338328" cy="338328"/>
          </a:xfrm>
          <a:prstGeom prst="rect">
            <a:avLst/>
          </a:prstGeom>
        </p:spPr>
      </p:pic>
      <p:sp>
        <p:nvSpPr>
          <p:cNvPr id="28" name="Text 21"/>
          <p:cNvSpPr/>
          <p:nvPr/>
        </p:nvSpPr>
        <p:spPr>
          <a:xfrm>
            <a:off x="4733392"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Governed</a:t>
            </a:r>
            <a:endParaRPr lang="en-US" sz="1500" dirty="0"/>
          </a:p>
        </p:txBody>
      </p:sp>
      <p:sp>
        <p:nvSpPr>
          <p:cNvPr id="29" name="Text 22"/>
          <p:cNvSpPr/>
          <p:nvPr/>
        </p:nvSpPr>
        <p:spPr>
          <a:xfrm>
            <a:off x="4733392"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Security, access and lineage in one catalog.</a:t>
            </a:r>
            <a:endParaRPr lang="en-US" sz="1150" dirty="0"/>
          </a:p>
        </p:txBody>
      </p:sp>
      <p:sp>
        <p:nvSpPr>
          <p:cNvPr id="30" name="Shape 23"/>
          <p:cNvSpPr/>
          <p:nvPr/>
        </p:nvSpPr>
        <p:spPr>
          <a:xfrm>
            <a:off x="8186623" y="3794760"/>
            <a:ext cx="3456432" cy="1783080"/>
          </a:xfrm>
          <a:prstGeom prst="roundRect">
            <a:avLst>
              <a:gd name="adj" fmla="val 5128"/>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4"/>
          <p:cNvSpPr/>
          <p:nvPr/>
        </p:nvSpPr>
        <p:spPr>
          <a:xfrm>
            <a:off x="8552383" y="4160520"/>
            <a:ext cx="676656" cy="676656"/>
          </a:xfrm>
          <a:prstGeom prst="ellipse">
            <a:avLst/>
          </a:prstGeom>
          <a:solidFill>
            <a:srgbClr val="FF3621"/>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721547" y="4329684"/>
            <a:ext cx="338328" cy="338328"/>
          </a:xfrm>
          <a:prstGeom prst="rect">
            <a:avLst/>
          </a:prstGeom>
        </p:spPr>
      </p:pic>
      <p:sp>
        <p:nvSpPr>
          <p:cNvPr id="33" name="Text 25"/>
          <p:cNvSpPr/>
          <p:nvPr/>
        </p:nvSpPr>
        <p:spPr>
          <a:xfrm>
            <a:off x="8552383" y="4892040"/>
            <a:ext cx="2770632" cy="320040"/>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Cost-efficient</a:t>
            </a:r>
            <a:endParaRPr lang="en-US" sz="1500" dirty="0"/>
          </a:p>
        </p:txBody>
      </p:sp>
      <p:sp>
        <p:nvSpPr>
          <p:cNvPr id="34" name="Text 26"/>
          <p:cNvSpPr/>
          <p:nvPr/>
        </p:nvSpPr>
        <p:spPr>
          <a:xfrm>
            <a:off x="8552383" y="5184648"/>
            <a:ext cx="2770632" cy="365760"/>
          </a:xfrm>
          <a:prstGeom prst="rect">
            <a:avLst/>
          </a:prstGeom>
          <a:noFill/>
          <a:ln/>
        </p:spPr>
        <p:txBody>
          <a:bodyPr wrap="square" lIns="0" tIns="0" rIns="0" bIns="0" rtlCol="0" anchor="ctr"/>
          <a:lstStyle/>
          <a:p>
            <a:pPr marL="0" indent="0">
              <a:buNone/>
            </a:pPr>
            <a:r>
              <a:rPr lang="en-US" sz="1150" dirty="0">
                <a:solidFill>
                  <a:srgbClr val="38474F"/>
                </a:solidFill>
                <a:latin typeface="Calibri" pitchFamily="34" charset="0"/>
                <a:ea typeface="Calibri" pitchFamily="34" charset="-122"/>
                <a:cs typeface="Calibri" pitchFamily="34" charset="-120"/>
              </a:rPr>
              <a:t>Cheap storage; pay only for compute you use.</a:t>
            </a:r>
            <a:endParaRPr lang="en-US" sz="1150" dirty="0"/>
          </a:p>
        </p:txBody>
      </p:sp>
      <p:sp>
        <p:nvSpPr>
          <p:cNvPr id="35"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6" name="Text 2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E1B24"/>
        </a:solidFill>
        <a:effectLst/>
      </p:bgPr>
    </p:bg>
    <p:spTree>
      <p:nvGrpSpPr>
        <p:cNvPr id="1" name=""/>
        <p:cNvGrpSpPr/>
        <p:nvPr/>
      </p:nvGrpSpPr>
      <p:grpSpPr>
        <a:xfrm>
          <a:off x="0" y="0"/>
          <a:ext cx="0" cy="0"/>
          <a:chOff x="0" y="0"/>
          <a:chExt cx="0" cy="0"/>
        </a:xfrm>
      </p:grpSpPr>
      <p:sp>
        <p:nvSpPr>
          <p:cNvPr id="2" name="Text 0"/>
          <p:cNvSpPr/>
          <p:nvPr/>
        </p:nvSpPr>
        <p:spPr>
          <a:xfrm>
            <a:off x="7680960" y="914400"/>
            <a:ext cx="4572000" cy="4572000"/>
          </a:xfrm>
          <a:prstGeom prst="rect">
            <a:avLst/>
          </a:prstGeom>
          <a:noFill/>
          <a:ln/>
        </p:spPr>
        <p:txBody>
          <a:bodyPr wrap="square" lIns="0" tIns="0" rIns="0" bIns="0" rtlCol="0" anchor="ctr"/>
          <a:lstStyle/>
          <a:p>
            <a:pPr marL="0" indent="0" algn="r">
              <a:buNone/>
            </a:pPr>
            <a:r>
              <a:rPr lang="en-US" sz="30000" b="1" dirty="0">
                <a:solidFill>
                  <a:srgbClr val="172D38"/>
                </a:solidFill>
                <a:latin typeface="Trebuchet MS" pitchFamily="34" charset="0"/>
                <a:ea typeface="Trebuchet MS" pitchFamily="34" charset="-122"/>
                <a:cs typeface="Trebuchet MS" pitchFamily="34" charset="-120"/>
              </a:rPr>
              <a:t>03</a:t>
            </a:r>
            <a:endParaRPr lang="en-US" sz="30000" dirty="0"/>
          </a:p>
        </p:txBody>
      </p:sp>
      <p:sp>
        <p:nvSpPr>
          <p:cNvPr id="3" name="Shape 1"/>
          <p:cNvSpPr/>
          <p:nvPr/>
        </p:nvSpPr>
        <p:spPr>
          <a:xfrm>
            <a:off x="548640" y="2651760"/>
            <a:ext cx="548640" cy="164592"/>
          </a:xfrm>
          <a:prstGeom prst="rect">
            <a:avLst/>
          </a:prstGeom>
          <a:solidFill>
            <a:srgbClr val="FF3621"/>
          </a:solidFill>
          <a:ln/>
        </p:spPr>
        <p:txBody>
          <a:bodyPr/>
          <a:lstStyle/>
          <a:p>
            <a:endParaRPr lang="en-US"/>
          </a:p>
        </p:txBody>
      </p:sp>
      <p:sp>
        <p:nvSpPr>
          <p:cNvPr id="4" name="Text 2"/>
          <p:cNvSpPr/>
          <p:nvPr/>
        </p:nvSpPr>
        <p:spPr>
          <a:xfrm>
            <a:off x="1225296" y="2578608"/>
            <a:ext cx="5486400" cy="310896"/>
          </a:xfrm>
          <a:prstGeom prst="rect">
            <a:avLst/>
          </a:prstGeom>
          <a:noFill/>
          <a:ln/>
        </p:spPr>
        <p:txBody>
          <a:bodyPr wrap="square" lIns="0" tIns="0" rIns="0" bIns="0" rtlCol="0" anchor="ctr"/>
          <a:lstStyle/>
          <a:p>
            <a:pPr marL="0" indent="0">
              <a:buNone/>
            </a:pPr>
            <a:r>
              <a:rPr lang="en-US" sz="1400" b="1" kern="0" spc="300" dirty="0">
                <a:solidFill>
                  <a:srgbClr val="FF6F4D"/>
                </a:solidFill>
                <a:latin typeface="Calibri" pitchFamily="34" charset="0"/>
                <a:ea typeface="Calibri" pitchFamily="34" charset="-122"/>
                <a:cs typeface="Calibri" pitchFamily="34" charset="-120"/>
              </a:rPr>
              <a:t>MODULE 03</a:t>
            </a:r>
            <a:endParaRPr lang="en-US" sz="1400" dirty="0"/>
          </a:p>
        </p:txBody>
      </p:sp>
      <p:sp>
        <p:nvSpPr>
          <p:cNvPr id="5" name="Text 3"/>
          <p:cNvSpPr/>
          <p:nvPr/>
        </p:nvSpPr>
        <p:spPr>
          <a:xfrm>
            <a:off x="548640" y="2999232"/>
            <a:ext cx="8412480" cy="914400"/>
          </a:xfrm>
          <a:prstGeom prst="rect">
            <a:avLst/>
          </a:prstGeom>
          <a:noFill/>
          <a:ln/>
        </p:spPr>
        <p:txBody>
          <a:bodyPr wrap="square" lIns="0" tIns="0" rIns="0" bIns="0" rtlCol="0" anchor="ctr"/>
          <a:lstStyle/>
          <a:p>
            <a:pPr marL="0" indent="0">
              <a:buNone/>
            </a:pPr>
            <a:r>
              <a:rPr lang="en-US" sz="4600" b="1" dirty="0">
                <a:solidFill>
                  <a:srgbClr val="FFFFFF"/>
                </a:solidFill>
                <a:latin typeface="Trebuchet MS" pitchFamily="34" charset="0"/>
                <a:ea typeface="Trebuchet MS" pitchFamily="34" charset="-122"/>
                <a:cs typeface="Trebuchet MS" pitchFamily="34" charset="-120"/>
              </a:rPr>
              <a:t>Databricks Architecture</a:t>
            </a:r>
            <a:endParaRPr lang="en-US" sz="4600" dirty="0"/>
          </a:p>
        </p:txBody>
      </p:sp>
      <p:sp>
        <p:nvSpPr>
          <p:cNvPr id="6" name="Text 4"/>
          <p:cNvSpPr/>
          <p:nvPr/>
        </p:nvSpPr>
        <p:spPr>
          <a:xfrm>
            <a:off x="548640" y="4041648"/>
            <a:ext cx="7498080" cy="548640"/>
          </a:xfrm>
          <a:prstGeom prst="rect">
            <a:avLst/>
          </a:prstGeom>
          <a:noFill/>
          <a:ln/>
        </p:spPr>
        <p:txBody>
          <a:bodyPr wrap="square" lIns="0" tIns="0" rIns="0" bIns="0" rtlCol="0" anchor="ctr"/>
          <a:lstStyle/>
          <a:p>
            <a:pPr marL="0" indent="0">
              <a:buNone/>
            </a:pPr>
            <a:r>
              <a:rPr lang="en-US" sz="1600" dirty="0">
                <a:solidFill>
                  <a:srgbClr val="C7D2D8"/>
                </a:solidFill>
                <a:latin typeface="Calibri" pitchFamily="34" charset="0"/>
                <a:ea typeface="Calibri" pitchFamily="34" charset="-122"/>
                <a:cs typeface="Calibri" pitchFamily="34" charset="-120"/>
              </a:rPr>
              <a:t>Under the hood: control &amp; compute planes, Spark, Delta Lake and how data flows.</a:t>
            </a:r>
            <a:endParaRPr lang="en-US" sz="1600" dirty="0"/>
          </a:p>
        </p:txBody>
      </p:sp>
      <p:sp>
        <p:nvSpPr>
          <p:cNvPr id="7" name="Text 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8597A0"/>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8" name="Text 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8597A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THE BIG PICTURE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Architecture: control plane &amp; compute plane</a:t>
            </a:r>
            <a:endParaRPr lang="en-US" sz="2900" dirty="0"/>
          </a:p>
        </p:txBody>
      </p:sp>
      <p:sp>
        <p:nvSpPr>
          <p:cNvPr id="5" name="Shape 3"/>
          <p:cNvSpPr/>
          <p:nvPr/>
        </p:nvSpPr>
        <p:spPr>
          <a:xfrm>
            <a:off x="548640" y="1627632"/>
            <a:ext cx="11094415" cy="548640"/>
          </a:xfrm>
          <a:prstGeom prst="roundRect">
            <a:avLst>
              <a:gd name="adj" fmla="val 11667"/>
            </a:avLst>
          </a:prstGeom>
          <a:solidFill>
            <a:srgbClr val="F2F5F6"/>
          </a:solidFill>
          <a:ln w="12700">
            <a:solidFill>
              <a:srgbClr val="DDE4E7"/>
            </a:solidFill>
            <a:prstDash val="solid"/>
          </a:ln>
        </p:spPr>
        <p:txBody>
          <a:bodyPr/>
          <a:lstStyle/>
          <a:p>
            <a:endParaRPr lang="en-US"/>
          </a:p>
        </p:txBody>
      </p:sp>
      <p:sp>
        <p:nvSpPr>
          <p:cNvPr id="6" name="Shape 4"/>
          <p:cNvSpPr/>
          <p:nvPr/>
        </p:nvSpPr>
        <p:spPr>
          <a:xfrm>
            <a:off x="868680" y="1746504"/>
            <a:ext cx="310896" cy="310896"/>
          </a:xfrm>
          <a:prstGeom prst="ellipse">
            <a:avLst/>
          </a:prstGeom>
          <a:solidFill>
            <a:srgbClr val="0E1B24"/>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46404" y="1824228"/>
            <a:ext cx="155448" cy="155448"/>
          </a:xfrm>
          <a:prstGeom prst="rect">
            <a:avLst/>
          </a:prstGeom>
        </p:spPr>
      </p:pic>
      <p:sp>
        <p:nvSpPr>
          <p:cNvPr id="8" name="Text 5"/>
          <p:cNvSpPr/>
          <p:nvPr/>
        </p:nvSpPr>
        <p:spPr>
          <a:xfrm>
            <a:off x="1325880" y="1627632"/>
            <a:ext cx="2743200" cy="548640"/>
          </a:xfrm>
          <a:prstGeom prst="rect">
            <a:avLst/>
          </a:prstGeom>
          <a:noFill/>
          <a:ln/>
        </p:spPr>
        <p:txBody>
          <a:bodyPr wrap="square" lIns="0" tIns="0" rIns="0" bIns="0" rtlCol="0" anchor="ctr"/>
          <a:lstStyle/>
          <a:p>
            <a:pPr marL="0" indent="0">
              <a:buNone/>
            </a:pPr>
            <a:r>
              <a:rPr lang="en-US" sz="1300" b="1" dirty="0">
                <a:solidFill>
                  <a:srgbClr val="13242E"/>
                </a:solidFill>
                <a:latin typeface="Trebuchet MS" pitchFamily="34" charset="0"/>
                <a:ea typeface="Trebuchet MS" pitchFamily="34" charset="-122"/>
                <a:cs typeface="Trebuchet MS" pitchFamily="34" charset="-120"/>
              </a:rPr>
              <a:t>Users &amp; tools</a:t>
            </a:r>
            <a:endParaRPr lang="en-US" sz="1300" dirty="0"/>
          </a:p>
        </p:txBody>
      </p:sp>
      <p:sp>
        <p:nvSpPr>
          <p:cNvPr id="9" name="Text 6"/>
          <p:cNvSpPr/>
          <p:nvPr/>
        </p:nvSpPr>
        <p:spPr>
          <a:xfrm>
            <a:off x="5486400" y="1627632"/>
            <a:ext cx="5973775" cy="548640"/>
          </a:xfrm>
          <a:prstGeom prst="rect">
            <a:avLst/>
          </a:prstGeom>
          <a:noFill/>
          <a:ln/>
        </p:spPr>
        <p:txBody>
          <a:bodyPr wrap="square" lIns="0" tIns="0" rIns="0" bIns="0" rtlCol="0" anchor="ctr"/>
          <a:lstStyle/>
          <a:p>
            <a:pPr marL="0" indent="0" algn="r">
              <a:buNone/>
            </a:pPr>
            <a:r>
              <a:rPr lang="en-US" sz="1200" dirty="0">
                <a:solidFill>
                  <a:srgbClr val="38474F"/>
                </a:solidFill>
                <a:latin typeface="Calibri" pitchFamily="34" charset="0"/>
                <a:ea typeface="Calibri" pitchFamily="34" charset="-122"/>
                <a:cs typeface="Calibri" pitchFamily="34" charset="-120"/>
              </a:rPr>
              <a:t>Web UI  ·  Notebooks  ·  REST API  ·  BI / SQL clients</a:t>
            </a:r>
            <a:endParaRPr lang="en-US" sz="1200" dirty="0"/>
          </a:p>
        </p:txBody>
      </p:sp>
      <p:sp>
        <p:nvSpPr>
          <p:cNvPr id="10" name="Shape 7"/>
          <p:cNvSpPr/>
          <p:nvPr/>
        </p:nvSpPr>
        <p:spPr>
          <a:xfrm rot="10800000">
            <a:off x="6016843" y="2167128"/>
            <a:ext cx="158008" cy="219456"/>
          </a:xfrm>
          <a:prstGeom prst="triangle">
            <a:avLst/>
          </a:prstGeom>
          <a:solidFill>
            <a:srgbClr val="FF3621"/>
          </a:solidFill>
          <a:ln/>
        </p:spPr>
        <p:txBody>
          <a:bodyPr/>
          <a:lstStyle/>
          <a:p>
            <a:endParaRPr lang="en-US"/>
          </a:p>
        </p:txBody>
      </p:sp>
      <p:sp>
        <p:nvSpPr>
          <p:cNvPr id="11" name="Shape 8"/>
          <p:cNvSpPr/>
          <p:nvPr/>
        </p:nvSpPr>
        <p:spPr>
          <a:xfrm>
            <a:off x="548640" y="2377440"/>
            <a:ext cx="11094415" cy="1371600"/>
          </a:xfrm>
          <a:prstGeom prst="roundRect">
            <a:avLst>
              <a:gd name="adj" fmla="val 5333"/>
            </a:avLst>
          </a:prstGeom>
          <a:solidFill>
            <a:srgbClr val="E9EEF0"/>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2" name="Text 9"/>
          <p:cNvSpPr/>
          <p:nvPr/>
        </p:nvSpPr>
        <p:spPr>
          <a:xfrm>
            <a:off x="868680" y="2468880"/>
            <a:ext cx="10454335"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CONTROL PLANE</a:t>
            </a:r>
            <a:r>
              <a:rPr lang="en-US" sz="1200" dirty="0">
                <a:solidFill>
                  <a:srgbClr val="7C8A91"/>
                </a:solidFill>
                <a:latin typeface="Calibri" pitchFamily="34" charset="0"/>
                <a:ea typeface="Calibri" pitchFamily="34" charset="-122"/>
                <a:cs typeface="Calibri" pitchFamily="34" charset="-120"/>
              </a:rPr>
              <a:t>   — managed by Databricks (orchestration &amp; UI)</a:t>
            </a:r>
            <a:endParaRPr lang="en-US" sz="1200" dirty="0"/>
          </a:p>
        </p:txBody>
      </p:sp>
      <p:sp>
        <p:nvSpPr>
          <p:cNvPr id="13" name="Shape 10"/>
          <p:cNvSpPr/>
          <p:nvPr/>
        </p:nvSpPr>
        <p:spPr>
          <a:xfrm>
            <a:off x="868680" y="2852928"/>
            <a:ext cx="2462708" cy="749808"/>
          </a:xfrm>
          <a:prstGeom prst="roundRect">
            <a:avLst>
              <a:gd name="adj" fmla="val 7317"/>
            </a:avLst>
          </a:prstGeom>
          <a:solidFill>
            <a:srgbClr val="FFFFFF"/>
          </a:solidFill>
          <a:ln w="12700">
            <a:solidFill>
              <a:srgbClr val="DDE4E7"/>
            </a:solidFill>
            <a:prstDash val="solid"/>
          </a:ln>
        </p:spPr>
        <p:txBody>
          <a:bodyPr/>
          <a:lstStyle/>
          <a:p>
            <a:endParaRPr lang="en-US"/>
          </a:p>
        </p:txBody>
      </p:sp>
      <p:sp>
        <p:nvSpPr>
          <p:cNvPr id="14" name="Shape 11"/>
          <p:cNvSpPr/>
          <p:nvPr/>
        </p:nvSpPr>
        <p:spPr>
          <a:xfrm>
            <a:off x="1014984" y="3017520"/>
            <a:ext cx="420624" cy="420624"/>
          </a:xfrm>
          <a:prstGeom prst="ellipse">
            <a:avLst/>
          </a:prstGeom>
          <a:solidFill>
            <a:srgbClr val="0E1B24"/>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1120140" y="3122676"/>
            <a:ext cx="210312" cy="210312"/>
          </a:xfrm>
          <a:prstGeom prst="rect">
            <a:avLst/>
          </a:prstGeom>
        </p:spPr>
      </p:pic>
      <p:sp>
        <p:nvSpPr>
          <p:cNvPr id="16" name="Text 12"/>
          <p:cNvSpPr/>
          <p:nvPr/>
        </p:nvSpPr>
        <p:spPr>
          <a:xfrm>
            <a:off x="1527048" y="2852928"/>
            <a:ext cx="1685468" cy="749808"/>
          </a:xfrm>
          <a:prstGeom prst="rect">
            <a:avLst/>
          </a:prstGeom>
          <a:noFill/>
          <a:ln/>
        </p:spPr>
        <p:txBody>
          <a:bodyPr wrap="square" lIns="0" tIns="0" rIns="0" bIns="0" rtlCol="0" anchor="ctr"/>
          <a:lstStyle/>
          <a:p>
            <a:pPr marL="0" indent="0">
              <a:buNone/>
            </a:pPr>
            <a:r>
              <a:rPr lang="en-US" sz="1150" b="1" dirty="0">
                <a:solidFill>
                  <a:srgbClr val="13242E"/>
                </a:solidFill>
                <a:latin typeface="Calibri" pitchFamily="34" charset="0"/>
                <a:ea typeface="Calibri" pitchFamily="34" charset="-122"/>
                <a:cs typeface="Calibri" pitchFamily="34" charset="-120"/>
              </a:rPr>
              <a:t>Workspace &amp; Web UI</a:t>
            </a:r>
            <a:endParaRPr lang="en-US" sz="1150" dirty="0"/>
          </a:p>
        </p:txBody>
      </p:sp>
      <p:sp>
        <p:nvSpPr>
          <p:cNvPr id="17" name="Shape 13"/>
          <p:cNvSpPr/>
          <p:nvPr/>
        </p:nvSpPr>
        <p:spPr>
          <a:xfrm>
            <a:off x="3532556" y="2852928"/>
            <a:ext cx="2462708" cy="749808"/>
          </a:xfrm>
          <a:prstGeom prst="roundRect">
            <a:avLst>
              <a:gd name="adj" fmla="val 7317"/>
            </a:avLst>
          </a:prstGeom>
          <a:solidFill>
            <a:srgbClr val="FFFFFF"/>
          </a:solidFill>
          <a:ln w="12700">
            <a:solidFill>
              <a:srgbClr val="DDE4E7"/>
            </a:solidFill>
            <a:prstDash val="solid"/>
          </a:ln>
        </p:spPr>
        <p:txBody>
          <a:bodyPr/>
          <a:lstStyle/>
          <a:p>
            <a:endParaRPr lang="en-US"/>
          </a:p>
        </p:txBody>
      </p:sp>
      <p:sp>
        <p:nvSpPr>
          <p:cNvPr id="18" name="Shape 14"/>
          <p:cNvSpPr/>
          <p:nvPr/>
        </p:nvSpPr>
        <p:spPr>
          <a:xfrm>
            <a:off x="3678860" y="3017520"/>
            <a:ext cx="420624" cy="420624"/>
          </a:xfrm>
          <a:prstGeom prst="ellipse">
            <a:avLst/>
          </a:prstGeom>
          <a:solidFill>
            <a:srgbClr val="0E1B24"/>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3784016" y="3122676"/>
            <a:ext cx="210312" cy="210312"/>
          </a:xfrm>
          <a:prstGeom prst="rect">
            <a:avLst/>
          </a:prstGeom>
        </p:spPr>
      </p:pic>
      <p:sp>
        <p:nvSpPr>
          <p:cNvPr id="20" name="Text 15"/>
          <p:cNvSpPr/>
          <p:nvPr/>
        </p:nvSpPr>
        <p:spPr>
          <a:xfrm>
            <a:off x="4190924" y="2852928"/>
            <a:ext cx="1685468" cy="749808"/>
          </a:xfrm>
          <a:prstGeom prst="rect">
            <a:avLst/>
          </a:prstGeom>
          <a:noFill/>
          <a:ln/>
        </p:spPr>
        <p:txBody>
          <a:bodyPr wrap="square" lIns="0" tIns="0" rIns="0" bIns="0" rtlCol="0" anchor="ctr"/>
          <a:lstStyle/>
          <a:p>
            <a:pPr marL="0" indent="0">
              <a:buNone/>
            </a:pPr>
            <a:r>
              <a:rPr lang="en-US" sz="1150" b="1" dirty="0">
                <a:solidFill>
                  <a:srgbClr val="13242E"/>
                </a:solidFill>
                <a:latin typeface="Calibri" pitchFamily="34" charset="0"/>
                <a:ea typeface="Calibri" pitchFamily="34" charset="-122"/>
                <a:cs typeface="Calibri" pitchFamily="34" charset="-120"/>
              </a:rPr>
              <a:t>Jobs &amp; Scheduling</a:t>
            </a:r>
            <a:endParaRPr lang="en-US" sz="1150" dirty="0"/>
          </a:p>
        </p:txBody>
      </p:sp>
      <p:sp>
        <p:nvSpPr>
          <p:cNvPr id="21" name="Shape 16"/>
          <p:cNvSpPr/>
          <p:nvPr/>
        </p:nvSpPr>
        <p:spPr>
          <a:xfrm>
            <a:off x="6196432" y="2852928"/>
            <a:ext cx="2462708" cy="749808"/>
          </a:xfrm>
          <a:prstGeom prst="roundRect">
            <a:avLst>
              <a:gd name="adj" fmla="val 7317"/>
            </a:avLst>
          </a:prstGeom>
          <a:solidFill>
            <a:srgbClr val="FFFFFF"/>
          </a:solidFill>
          <a:ln w="12700">
            <a:solidFill>
              <a:srgbClr val="DDE4E7"/>
            </a:solidFill>
            <a:prstDash val="solid"/>
          </a:ln>
        </p:spPr>
        <p:txBody>
          <a:bodyPr/>
          <a:lstStyle/>
          <a:p>
            <a:endParaRPr lang="en-US"/>
          </a:p>
        </p:txBody>
      </p:sp>
      <p:sp>
        <p:nvSpPr>
          <p:cNvPr id="22" name="Shape 17"/>
          <p:cNvSpPr/>
          <p:nvPr/>
        </p:nvSpPr>
        <p:spPr>
          <a:xfrm>
            <a:off x="6342736" y="3017520"/>
            <a:ext cx="420624" cy="420624"/>
          </a:xfrm>
          <a:prstGeom prst="ellipse">
            <a:avLst/>
          </a:prstGeom>
          <a:solidFill>
            <a:srgbClr val="0E1B24"/>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6447892" y="3122676"/>
            <a:ext cx="210312" cy="210312"/>
          </a:xfrm>
          <a:prstGeom prst="rect">
            <a:avLst/>
          </a:prstGeom>
        </p:spPr>
      </p:pic>
      <p:sp>
        <p:nvSpPr>
          <p:cNvPr id="24" name="Text 18"/>
          <p:cNvSpPr/>
          <p:nvPr/>
        </p:nvSpPr>
        <p:spPr>
          <a:xfrm>
            <a:off x="6854800" y="2852928"/>
            <a:ext cx="1685468" cy="749808"/>
          </a:xfrm>
          <a:prstGeom prst="rect">
            <a:avLst/>
          </a:prstGeom>
          <a:noFill/>
          <a:ln/>
        </p:spPr>
        <p:txBody>
          <a:bodyPr wrap="square" lIns="0" tIns="0" rIns="0" bIns="0" rtlCol="0" anchor="ctr"/>
          <a:lstStyle/>
          <a:p>
            <a:pPr marL="0" indent="0">
              <a:buNone/>
            </a:pPr>
            <a:r>
              <a:rPr lang="en-US" sz="1150" b="1" dirty="0">
                <a:solidFill>
                  <a:srgbClr val="13242E"/>
                </a:solidFill>
                <a:latin typeface="Calibri" pitchFamily="34" charset="0"/>
                <a:ea typeface="Calibri" pitchFamily="34" charset="-122"/>
                <a:cs typeface="Calibri" pitchFamily="34" charset="-120"/>
              </a:rPr>
              <a:t>Cluster Manager</a:t>
            </a:r>
            <a:endParaRPr lang="en-US" sz="1150" dirty="0"/>
          </a:p>
        </p:txBody>
      </p:sp>
      <p:sp>
        <p:nvSpPr>
          <p:cNvPr id="25" name="Shape 19"/>
          <p:cNvSpPr/>
          <p:nvPr/>
        </p:nvSpPr>
        <p:spPr>
          <a:xfrm>
            <a:off x="8860307" y="2852928"/>
            <a:ext cx="2462708" cy="749808"/>
          </a:xfrm>
          <a:prstGeom prst="roundRect">
            <a:avLst>
              <a:gd name="adj" fmla="val 7317"/>
            </a:avLst>
          </a:prstGeom>
          <a:solidFill>
            <a:srgbClr val="FFFFFF"/>
          </a:solidFill>
          <a:ln w="12700">
            <a:solidFill>
              <a:srgbClr val="DDE4E7"/>
            </a:solidFill>
            <a:prstDash val="solid"/>
          </a:ln>
        </p:spPr>
        <p:txBody>
          <a:bodyPr/>
          <a:lstStyle/>
          <a:p>
            <a:endParaRPr lang="en-US"/>
          </a:p>
        </p:txBody>
      </p:sp>
      <p:sp>
        <p:nvSpPr>
          <p:cNvPr id="26" name="Shape 20"/>
          <p:cNvSpPr/>
          <p:nvPr/>
        </p:nvSpPr>
        <p:spPr>
          <a:xfrm>
            <a:off x="9006611" y="3017520"/>
            <a:ext cx="420624" cy="420624"/>
          </a:xfrm>
          <a:prstGeom prst="ellipse">
            <a:avLst/>
          </a:prstGeom>
          <a:solidFill>
            <a:srgbClr val="0E1B24"/>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9111767" y="3122676"/>
            <a:ext cx="210312" cy="210312"/>
          </a:xfrm>
          <a:prstGeom prst="rect">
            <a:avLst/>
          </a:prstGeom>
        </p:spPr>
      </p:pic>
      <p:sp>
        <p:nvSpPr>
          <p:cNvPr id="28" name="Text 21"/>
          <p:cNvSpPr/>
          <p:nvPr/>
        </p:nvSpPr>
        <p:spPr>
          <a:xfrm>
            <a:off x="9518675" y="2852928"/>
            <a:ext cx="1685468" cy="749808"/>
          </a:xfrm>
          <a:prstGeom prst="rect">
            <a:avLst/>
          </a:prstGeom>
          <a:noFill/>
          <a:ln/>
        </p:spPr>
        <p:txBody>
          <a:bodyPr wrap="square" lIns="0" tIns="0" rIns="0" bIns="0" rtlCol="0" anchor="ctr"/>
          <a:lstStyle/>
          <a:p>
            <a:pPr marL="0" indent="0">
              <a:buNone/>
            </a:pPr>
            <a:r>
              <a:rPr lang="en-US" sz="1150" b="1" dirty="0">
                <a:solidFill>
                  <a:srgbClr val="13242E"/>
                </a:solidFill>
                <a:latin typeface="Calibri" pitchFamily="34" charset="0"/>
                <a:ea typeface="Calibri" pitchFamily="34" charset="-122"/>
                <a:cs typeface="Calibri" pitchFamily="34" charset="-120"/>
              </a:rPr>
              <a:t>Unity Catalog</a:t>
            </a:r>
            <a:endParaRPr lang="en-US" sz="1150" dirty="0"/>
          </a:p>
        </p:txBody>
      </p:sp>
      <p:sp>
        <p:nvSpPr>
          <p:cNvPr id="29" name="Shape 22"/>
          <p:cNvSpPr/>
          <p:nvPr/>
        </p:nvSpPr>
        <p:spPr>
          <a:xfrm rot="10800000">
            <a:off x="6010260" y="3739896"/>
            <a:ext cx="171176" cy="237744"/>
          </a:xfrm>
          <a:prstGeom prst="triangle">
            <a:avLst/>
          </a:prstGeom>
          <a:solidFill>
            <a:srgbClr val="FF3621"/>
          </a:solidFill>
          <a:ln/>
        </p:spPr>
        <p:txBody>
          <a:bodyPr/>
          <a:lstStyle/>
          <a:p>
            <a:endParaRPr lang="en-US"/>
          </a:p>
        </p:txBody>
      </p:sp>
      <p:sp>
        <p:nvSpPr>
          <p:cNvPr id="30" name="Text 23"/>
          <p:cNvSpPr/>
          <p:nvPr/>
        </p:nvSpPr>
        <p:spPr>
          <a:xfrm>
            <a:off x="6278728" y="3749040"/>
            <a:ext cx="1463040" cy="237744"/>
          </a:xfrm>
          <a:prstGeom prst="rect">
            <a:avLst/>
          </a:prstGeom>
          <a:noFill/>
          <a:ln/>
        </p:spPr>
        <p:txBody>
          <a:bodyPr wrap="square" lIns="0" tIns="0" rIns="0" bIns="0" rtlCol="0" anchor="ctr"/>
          <a:lstStyle/>
          <a:p>
            <a:pPr marL="0" indent="0">
              <a:buNone/>
            </a:pPr>
            <a:r>
              <a:rPr lang="en-US" sz="950" i="1" dirty="0">
                <a:solidFill>
                  <a:srgbClr val="7C8A91"/>
                </a:solidFill>
                <a:latin typeface="Calibri" pitchFamily="34" charset="0"/>
                <a:ea typeface="Calibri" pitchFamily="34" charset="-122"/>
                <a:cs typeface="Calibri" pitchFamily="34" charset="-120"/>
              </a:rPr>
              <a:t>orchestrates</a:t>
            </a:r>
            <a:endParaRPr lang="en-US" sz="950" dirty="0"/>
          </a:p>
        </p:txBody>
      </p:sp>
      <p:sp>
        <p:nvSpPr>
          <p:cNvPr id="31" name="Shape 24"/>
          <p:cNvSpPr/>
          <p:nvPr/>
        </p:nvSpPr>
        <p:spPr>
          <a:xfrm>
            <a:off x="548640" y="3986784"/>
            <a:ext cx="11094415" cy="1481328"/>
          </a:xfrm>
          <a:prstGeom prst="roundRect">
            <a:avLst>
              <a:gd name="adj" fmla="val 4938"/>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32" name="Text 25"/>
          <p:cNvSpPr/>
          <p:nvPr/>
        </p:nvSpPr>
        <p:spPr>
          <a:xfrm>
            <a:off x="868680" y="4078224"/>
            <a:ext cx="10454335" cy="292608"/>
          </a:xfrm>
          <a:prstGeom prst="rect">
            <a:avLst/>
          </a:prstGeom>
          <a:noFill/>
          <a:ln/>
        </p:spPr>
        <p:txBody>
          <a:bodyPr wrap="square" lIns="0" tIns="0" rIns="0" bIns="0" rtlCol="0" anchor="ctr"/>
          <a:lstStyle/>
          <a:p>
            <a:pPr marL="0" indent="0">
              <a:buNone/>
            </a:pPr>
            <a:r>
              <a:rPr lang="en-US" sz="1200" b="1" kern="0" spc="200" dirty="0">
                <a:solidFill>
                  <a:srgbClr val="FF6F4D"/>
                </a:solidFill>
                <a:latin typeface="Calibri" pitchFamily="34" charset="0"/>
                <a:ea typeface="Calibri" pitchFamily="34" charset="-122"/>
                <a:cs typeface="Calibri" pitchFamily="34" charset="-120"/>
              </a:rPr>
              <a:t>COMPUTE PLANE</a:t>
            </a:r>
            <a:r>
              <a:rPr lang="en-US" sz="1200" dirty="0">
                <a:solidFill>
                  <a:srgbClr val="C7D2D8"/>
                </a:solidFill>
                <a:latin typeface="Calibri" pitchFamily="34" charset="0"/>
                <a:ea typeface="Calibri" pitchFamily="34" charset="-122"/>
                <a:cs typeface="Calibri" pitchFamily="34" charset="-120"/>
              </a:rPr>
              <a:t>   — where your data is actually processed</a:t>
            </a:r>
            <a:endParaRPr lang="en-US" sz="1200" dirty="0"/>
          </a:p>
        </p:txBody>
      </p:sp>
      <p:sp>
        <p:nvSpPr>
          <p:cNvPr id="33" name="Shape 26"/>
          <p:cNvSpPr/>
          <p:nvPr/>
        </p:nvSpPr>
        <p:spPr>
          <a:xfrm>
            <a:off x="868680" y="4462272"/>
            <a:ext cx="2331720" cy="841248"/>
          </a:xfrm>
          <a:prstGeom prst="roundRect">
            <a:avLst>
              <a:gd name="adj" fmla="val 6522"/>
            </a:avLst>
          </a:prstGeom>
          <a:solidFill>
            <a:srgbClr val="20404C"/>
          </a:solidFill>
          <a:ln w="15875">
            <a:solidFill>
              <a:srgbClr val="FF3621"/>
            </a:solidFill>
            <a:prstDash val="solid"/>
          </a:ln>
        </p:spPr>
        <p:txBody>
          <a:bodyPr/>
          <a:lstStyle/>
          <a:p>
            <a:endParaRPr lang="en-US"/>
          </a:p>
        </p:txBody>
      </p:sp>
      <p:sp>
        <p:nvSpPr>
          <p:cNvPr id="34" name="Shape 27"/>
          <p:cNvSpPr/>
          <p:nvPr/>
        </p:nvSpPr>
        <p:spPr>
          <a:xfrm>
            <a:off x="1024128" y="4654296"/>
            <a:ext cx="457200" cy="457200"/>
          </a:xfrm>
          <a:prstGeom prst="ellipse">
            <a:avLst/>
          </a:prstGeom>
          <a:solidFill>
            <a:srgbClr val="FF3621"/>
          </a:solidFill>
          <a:ln/>
        </p:spPr>
        <p:txBody>
          <a:bodyPr/>
          <a:lstStyle/>
          <a:p>
            <a:endParaRPr lang="en-US"/>
          </a:p>
        </p:txBody>
      </p:sp>
      <p:pic>
        <p:nvPicPr>
          <p:cNvPr id="35" name="Image 5" descr="preencoded.png"/>
          <p:cNvPicPr>
            <a:picLocks noChangeAspect="1"/>
          </p:cNvPicPr>
          <p:nvPr/>
        </p:nvPicPr>
        <p:blipFill>
          <a:blip r:embed="rId8"/>
          <a:stretch>
            <a:fillRect/>
          </a:stretch>
        </p:blipFill>
        <p:spPr>
          <a:xfrm>
            <a:off x="1138428" y="4768596"/>
            <a:ext cx="228600" cy="228600"/>
          </a:xfrm>
          <a:prstGeom prst="rect">
            <a:avLst/>
          </a:prstGeom>
        </p:spPr>
      </p:pic>
      <p:sp>
        <p:nvSpPr>
          <p:cNvPr id="36" name="Text 28"/>
          <p:cNvSpPr/>
          <p:nvPr/>
        </p:nvSpPr>
        <p:spPr>
          <a:xfrm>
            <a:off x="1572768" y="4462272"/>
            <a:ext cx="1554480" cy="841248"/>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Driver</a:t>
            </a:r>
            <a:endParaRPr lang="en-US" sz="1350" dirty="0"/>
          </a:p>
          <a:p>
            <a:pPr marL="0" indent="0">
              <a:buNone/>
            </a:pPr>
            <a:r>
              <a:rPr lang="en-US" sz="1000" dirty="0">
                <a:solidFill>
                  <a:srgbClr val="C7D2D8"/>
                </a:solidFill>
                <a:latin typeface="Trebuchet MS" pitchFamily="34" charset="0"/>
                <a:ea typeface="Trebuchet MS" pitchFamily="34" charset="-122"/>
                <a:cs typeface="Trebuchet MS" pitchFamily="34" charset="-120"/>
              </a:rPr>
              <a:t>plans the job</a:t>
            </a:r>
            <a:endParaRPr lang="en-US" sz="1350" dirty="0"/>
          </a:p>
        </p:txBody>
      </p:sp>
      <p:sp>
        <p:nvSpPr>
          <p:cNvPr id="37" name="Shape 29"/>
          <p:cNvSpPr/>
          <p:nvPr/>
        </p:nvSpPr>
        <p:spPr>
          <a:xfrm>
            <a:off x="3474720" y="4462272"/>
            <a:ext cx="1481328" cy="841248"/>
          </a:xfrm>
          <a:prstGeom prst="roundRect">
            <a:avLst>
              <a:gd name="adj" fmla="val 6522"/>
            </a:avLst>
          </a:prstGeom>
          <a:solidFill>
            <a:srgbClr val="172D38"/>
          </a:solidFill>
          <a:ln w="12700">
            <a:solidFill>
              <a:srgbClr val="20404C"/>
            </a:solidFill>
            <a:prstDash val="solid"/>
          </a:ln>
        </p:spPr>
        <p:txBody>
          <a:bodyPr/>
          <a:lstStyle/>
          <a:p>
            <a:endParaRPr lang="en-US"/>
          </a:p>
        </p:txBody>
      </p:sp>
      <p:sp>
        <p:nvSpPr>
          <p:cNvPr id="38" name="Shape 30"/>
          <p:cNvSpPr/>
          <p:nvPr/>
        </p:nvSpPr>
        <p:spPr>
          <a:xfrm>
            <a:off x="3621024" y="4681728"/>
            <a:ext cx="402336" cy="402336"/>
          </a:xfrm>
          <a:prstGeom prst="ellipse">
            <a:avLst/>
          </a:prstGeom>
          <a:solidFill>
            <a:srgbClr val="0E7C8B"/>
          </a:solidFill>
          <a:ln/>
        </p:spPr>
        <p:txBody>
          <a:bodyPr/>
          <a:lstStyle/>
          <a:p>
            <a:endParaRPr lang="en-US"/>
          </a:p>
        </p:txBody>
      </p:sp>
      <p:pic>
        <p:nvPicPr>
          <p:cNvPr id="39" name="Image 6" descr="preencoded.png"/>
          <p:cNvPicPr>
            <a:picLocks noChangeAspect="1"/>
          </p:cNvPicPr>
          <p:nvPr/>
        </p:nvPicPr>
        <p:blipFill>
          <a:blip r:embed="rId6"/>
          <a:stretch>
            <a:fillRect/>
          </a:stretch>
        </p:blipFill>
        <p:spPr>
          <a:xfrm>
            <a:off x="3721608" y="4782312"/>
            <a:ext cx="201168" cy="201168"/>
          </a:xfrm>
          <a:prstGeom prst="rect">
            <a:avLst/>
          </a:prstGeom>
        </p:spPr>
      </p:pic>
      <p:sp>
        <p:nvSpPr>
          <p:cNvPr id="40" name="Text 31"/>
          <p:cNvSpPr/>
          <p:nvPr/>
        </p:nvSpPr>
        <p:spPr>
          <a:xfrm>
            <a:off x="4078224" y="4462272"/>
            <a:ext cx="822960" cy="84124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Worker</a:t>
            </a:r>
            <a:endParaRPr lang="en-US" sz="1200" dirty="0"/>
          </a:p>
          <a:p>
            <a:pPr marL="0" indent="0">
              <a:buNone/>
            </a:pPr>
            <a:r>
              <a:rPr lang="en-US" sz="950" dirty="0">
                <a:solidFill>
                  <a:srgbClr val="8597A0"/>
                </a:solidFill>
                <a:latin typeface="Trebuchet MS" pitchFamily="34" charset="0"/>
                <a:ea typeface="Trebuchet MS" pitchFamily="34" charset="-122"/>
                <a:cs typeface="Trebuchet MS" pitchFamily="34" charset="-120"/>
              </a:rPr>
              <a:t>runs tasks</a:t>
            </a:r>
            <a:endParaRPr lang="en-US" sz="1200" dirty="0"/>
          </a:p>
        </p:txBody>
      </p:sp>
      <p:sp>
        <p:nvSpPr>
          <p:cNvPr id="41" name="Shape 32"/>
          <p:cNvSpPr/>
          <p:nvPr/>
        </p:nvSpPr>
        <p:spPr>
          <a:xfrm>
            <a:off x="5120640" y="4462272"/>
            <a:ext cx="1481328" cy="841248"/>
          </a:xfrm>
          <a:prstGeom prst="roundRect">
            <a:avLst>
              <a:gd name="adj" fmla="val 6522"/>
            </a:avLst>
          </a:prstGeom>
          <a:solidFill>
            <a:srgbClr val="172D38"/>
          </a:solidFill>
          <a:ln w="12700">
            <a:solidFill>
              <a:srgbClr val="20404C"/>
            </a:solidFill>
            <a:prstDash val="solid"/>
          </a:ln>
        </p:spPr>
        <p:txBody>
          <a:bodyPr/>
          <a:lstStyle/>
          <a:p>
            <a:endParaRPr lang="en-US"/>
          </a:p>
        </p:txBody>
      </p:sp>
      <p:sp>
        <p:nvSpPr>
          <p:cNvPr id="42" name="Shape 33"/>
          <p:cNvSpPr/>
          <p:nvPr/>
        </p:nvSpPr>
        <p:spPr>
          <a:xfrm>
            <a:off x="5266944" y="4681728"/>
            <a:ext cx="402336" cy="402336"/>
          </a:xfrm>
          <a:prstGeom prst="ellipse">
            <a:avLst/>
          </a:prstGeom>
          <a:solidFill>
            <a:srgbClr val="0E7C8B"/>
          </a:solidFill>
          <a:ln/>
        </p:spPr>
        <p:txBody>
          <a:bodyPr/>
          <a:lstStyle/>
          <a:p>
            <a:endParaRPr lang="en-US"/>
          </a:p>
        </p:txBody>
      </p:sp>
      <p:pic>
        <p:nvPicPr>
          <p:cNvPr id="43" name="Image 7" descr="preencoded.png"/>
          <p:cNvPicPr>
            <a:picLocks noChangeAspect="1"/>
          </p:cNvPicPr>
          <p:nvPr/>
        </p:nvPicPr>
        <p:blipFill>
          <a:blip r:embed="rId6"/>
          <a:stretch>
            <a:fillRect/>
          </a:stretch>
        </p:blipFill>
        <p:spPr>
          <a:xfrm>
            <a:off x="5367528" y="4782312"/>
            <a:ext cx="201168" cy="201168"/>
          </a:xfrm>
          <a:prstGeom prst="rect">
            <a:avLst/>
          </a:prstGeom>
        </p:spPr>
      </p:pic>
      <p:sp>
        <p:nvSpPr>
          <p:cNvPr id="44" name="Text 34"/>
          <p:cNvSpPr/>
          <p:nvPr/>
        </p:nvSpPr>
        <p:spPr>
          <a:xfrm>
            <a:off x="5724144" y="4462272"/>
            <a:ext cx="822960" cy="84124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Worker</a:t>
            </a:r>
            <a:endParaRPr lang="en-US" sz="1200" dirty="0"/>
          </a:p>
          <a:p>
            <a:pPr marL="0" indent="0">
              <a:buNone/>
            </a:pPr>
            <a:r>
              <a:rPr lang="en-US" sz="950" dirty="0">
                <a:solidFill>
                  <a:srgbClr val="8597A0"/>
                </a:solidFill>
                <a:latin typeface="Trebuchet MS" pitchFamily="34" charset="0"/>
                <a:ea typeface="Trebuchet MS" pitchFamily="34" charset="-122"/>
                <a:cs typeface="Trebuchet MS" pitchFamily="34" charset="-120"/>
              </a:rPr>
              <a:t>runs tasks</a:t>
            </a:r>
            <a:endParaRPr lang="en-US" sz="1200" dirty="0"/>
          </a:p>
        </p:txBody>
      </p:sp>
      <p:sp>
        <p:nvSpPr>
          <p:cNvPr id="45" name="Shape 35"/>
          <p:cNvSpPr/>
          <p:nvPr/>
        </p:nvSpPr>
        <p:spPr>
          <a:xfrm>
            <a:off x="6766560" y="4462272"/>
            <a:ext cx="1481328" cy="841248"/>
          </a:xfrm>
          <a:prstGeom prst="roundRect">
            <a:avLst>
              <a:gd name="adj" fmla="val 6522"/>
            </a:avLst>
          </a:prstGeom>
          <a:solidFill>
            <a:srgbClr val="172D38"/>
          </a:solidFill>
          <a:ln w="12700">
            <a:solidFill>
              <a:srgbClr val="20404C"/>
            </a:solidFill>
            <a:prstDash val="solid"/>
          </a:ln>
        </p:spPr>
        <p:txBody>
          <a:bodyPr/>
          <a:lstStyle/>
          <a:p>
            <a:endParaRPr lang="en-US"/>
          </a:p>
        </p:txBody>
      </p:sp>
      <p:sp>
        <p:nvSpPr>
          <p:cNvPr id="46" name="Shape 36"/>
          <p:cNvSpPr/>
          <p:nvPr/>
        </p:nvSpPr>
        <p:spPr>
          <a:xfrm>
            <a:off x="6912864" y="4681728"/>
            <a:ext cx="402336" cy="402336"/>
          </a:xfrm>
          <a:prstGeom prst="ellipse">
            <a:avLst/>
          </a:prstGeom>
          <a:solidFill>
            <a:srgbClr val="0E7C8B"/>
          </a:solidFill>
          <a:ln/>
        </p:spPr>
        <p:txBody>
          <a:bodyPr/>
          <a:lstStyle/>
          <a:p>
            <a:endParaRPr lang="en-US"/>
          </a:p>
        </p:txBody>
      </p:sp>
      <p:pic>
        <p:nvPicPr>
          <p:cNvPr id="47" name="Image 8" descr="preencoded.png"/>
          <p:cNvPicPr>
            <a:picLocks noChangeAspect="1"/>
          </p:cNvPicPr>
          <p:nvPr/>
        </p:nvPicPr>
        <p:blipFill>
          <a:blip r:embed="rId6"/>
          <a:stretch>
            <a:fillRect/>
          </a:stretch>
        </p:blipFill>
        <p:spPr>
          <a:xfrm>
            <a:off x="7013448" y="4782312"/>
            <a:ext cx="201168" cy="201168"/>
          </a:xfrm>
          <a:prstGeom prst="rect">
            <a:avLst/>
          </a:prstGeom>
        </p:spPr>
      </p:pic>
      <p:sp>
        <p:nvSpPr>
          <p:cNvPr id="48" name="Text 37"/>
          <p:cNvSpPr/>
          <p:nvPr/>
        </p:nvSpPr>
        <p:spPr>
          <a:xfrm>
            <a:off x="7370064" y="4462272"/>
            <a:ext cx="822960" cy="84124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Worker</a:t>
            </a:r>
            <a:endParaRPr lang="en-US" sz="1200" dirty="0"/>
          </a:p>
          <a:p>
            <a:pPr marL="0" indent="0">
              <a:buNone/>
            </a:pPr>
            <a:r>
              <a:rPr lang="en-US" sz="950" dirty="0">
                <a:solidFill>
                  <a:srgbClr val="8597A0"/>
                </a:solidFill>
                <a:latin typeface="Trebuchet MS" pitchFamily="34" charset="0"/>
                <a:ea typeface="Trebuchet MS" pitchFamily="34" charset="-122"/>
                <a:cs typeface="Trebuchet MS" pitchFamily="34" charset="-120"/>
              </a:rPr>
              <a:t>runs tasks</a:t>
            </a:r>
            <a:endParaRPr lang="en-US" sz="1200" dirty="0"/>
          </a:p>
        </p:txBody>
      </p:sp>
      <p:sp>
        <p:nvSpPr>
          <p:cNvPr id="49" name="Text 38"/>
          <p:cNvSpPr/>
          <p:nvPr/>
        </p:nvSpPr>
        <p:spPr>
          <a:xfrm>
            <a:off x="8476488" y="4462272"/>
            <a:ext cx="3120847" cy="841248"/>
          </a:xfrm>
          <a:prstGeom prst="rect">
            <a:avLst/>
          </a:prstGeom>
          <a:noFill/>
          <a:ln/>
        </p:spPr>
        <p:txBody>
          <a:bodyPr wrap="square" lIns="0" tIns="0" rIns="0" bIns="0" rtlCol="0" anchor="ctr"/>
          <a:lstStyle/>
          <a:p>
            <a:pPr marL="0" indent="0">
              <a:buNone/>
            </a:pPr>
            <a:r>
              <a:rPr lang="en-US" sz="1100" b="1" dirty="0">
                <a:solidFill>
                  <a:srgbClr val="FF6F4D"/>
                </a:solidFill>
                <a:latin typeface="Calibri" pitchFamily="34" charset="0"/>
                <a:ea typeface="Calibri" pitchFamily="34" charset="-122"/>
                <a:cs typeface="Calibri" pitchFamily="34" charset="-120"/>
              </a:rPr>
              <a:t>= one Spark cluster
</a:t>
            </a:r>
            <a:endParaRPr lang="en-US" sz="1100" dirty="0"/>
          </a:p>
          <a:p>
            <a:pPr marL="0" indent="0">
              <a:buNone/>
            </a:pPr>
            <a:r>
              <a:rPr lang="en-US" sz="1000" dirty="0">
                <a:solidFill>
                  <a:srgbClr val="C7D2D8"/>
                </a:solidFill>
                <a:latin typeface="Calibri" pitchFamily="34" charset="0"/>
                <a:ea typeface="Calibri" pitchFamily="34" charset="-122"/>
                <a:cs typeface="Calibri" pitchFamily="34" charset="-120"/>
              </a:rPr>
              <a:t>Classic (in your cloud VPC) or Serverless (Databricks-managed)</a:t>
            </a:r>
            <a:endParaRPr lang="en-US" sz="1100" dirty="0"/>
          </a:p>
        </p:txBody>
      </p:sp>
      <p:sp>
        <p:nvSpPr>
          <p:cNvPr id="50" name="Shape 39"/>
          <p:cNvSpPr/>
          <p:nvPr/>
        </p:nvSpPr>
        <p:spPr>
          <a:xfrm rot="10800000">
            <a:off x="6023427" y="5458968"/>
            <a:ext cx="144841" cy="201168"/>
          </a:xfrm>
          <a:prstGeom prst="triangle">
            <a:avLst/>
          </a:prstGeom>
          <a:solidFill>
            <a:srgbClr val="0E7C8B"/>
          </a:solidFill>
          <a:ln/>
        </p:spPr>
        <p:txBody>
          <a:bodyPr/>
          <a:lstStyle/>
          <a:p>
            <a:endParaRPr lang="en-US"/>
          </a:p>
        </p:txBody>
      </p:sp>
      <p:sp>
        <p:nvSpPr>
          <p:cNvPr id="51" name="Text 40"/>
          <p:cNvSpPr/>
          <p:nvPr/>
        </p:nvSpPr>
        <p:spPr>
          <a:xfrm>
            <a:off x="6260440" y="5458968"/>
            <a:ext cx="1463040" cy="219456"/>
          </a:xfrm>
          <a:prstGeom prst="rect">
            <a:avLst/>
          </a:prstGeom>
          <a:noFill/>
          <a:ln/>
        </p:spPr>
        <p:txBody>
          <a:bodyPr wrap="square" lIns="0" tIns="0" rIns="0" bIns="0" rtlCol="0" anchor="ctr"/>
          <a:lstStyle/>
          <a:p>
            <a:pPr marL="0" indent="0">
              <a:buNone/>
            </a:pPr>
            <a:r>
              <a:rPr lang="en-US" sz="950" i="1" dirty="0">
                <a:solidFill>
                  <a:srgbClr val="7C8A91"/>
                </a:solidFill>
                <a:latin typeface="Calibri" pitchFamily="34" charset="0"/>
                <a:ea typeface="Calibri" pitchFamily="34" charset="-122"/>
                <a:cs typeface="Calibri" pitchFamily="34" charset="-120"/>
              </a:rPr>
              <a:t>reads / writes</a:t>
            </a:r>
            <a:endParaRPr lang="en-US" sz="950" dirty="0"/>
          </a:p>
        </p:txBody>
      </p:sp>
      <p:sp>
        <p:nvSpPr>
          <p:cNvPr id="52" name="Shape 41"/>
          <p:cNvSpPr/>
          <p:nvPr/>
        </p:nvSpPr>
        <p:spPr>
          <a:xfrm>
            <a:off x="548640" y="5650992"/>
            <a:ext cx="11094415" cy="548640"/>
          </a:xfrm>
          <a:prstGeom prst="roundRect">
            <a:avLst>
              <a:gd name="adj" fmla="val 11667"/>
            </a:avLst>
          </a:prstGeom>
          <a:solidFill>
            <a:srgbClr val="E7F1F2"/>
          </a:solidFill>
          <a:ln w="12700">
            <a:solidFill>
              <a:srgbClr val="BFE0E3"/>
            </a:solidFill>
            <a:prstDash val="solid"/>
          </a:ln>
        </p:spPr>
        <p:txBody>
          <a:bodyPr/>
          <a:lstStyle/>
          <a:p>
            <a:endParaRPr lang="en-US"/>
          </a:p>
        </p:txBody>
      </p:sp>
      <p:sp>
        <p:nvSpPr>
          <p:cNvPr id="53" name="Shape 42"/>
          <p:cNvSpPr/>
          <p:nvPr/>
        </p:nvSpPr>
        <p:spPr>
          <a:xfrm>
            <a:off x="868680" y="5769864"/>
            <a:ext cx="310896" cy="310896"/>
          </a:xfrm>
          <a:prstGeom prst="ellipse">
            <a:avLst/>
          </a:prstGeom>
          <a:solidFill>
            <a:srgbClr val="0E7C8B"/>
          </a:solidFill>
          <a:ln/>
        </p:spPr>
        <p:txBody>
          <a:bodyPr/>
          <a:lstStyle/>
          <a:p>
            <a:endParaRPr lang="en-US"/>
          </a:p>
        </p:txBody>
      </p:sp>
      <p:pic>
        <p:nvPicPr>
          <p:cNvPr id="54" name="Image 9" descr="preencoded.png"/>
          <p:cNvPicPr>
            <a:picLocks noChangeAspect="1"/>
          </p:cNvPicPr>
          <p:nvPr/>
        </p:nvPicPr>
        <p:blipFill>
          <a:blip r:embed="rId9"/>
          <a:stretch>
            <a:fillRect/>
          </a:stretch>
        </p:blipFill>
        <p:spPr>
          <a:xfrm>
            <a:off x="946404" y="5847588"/>
            <a:ext cx="155448" cy="155448"/>
          </a:xfrm>
          <a:prstGeom prst="rect">
            <a:avLst/>
          </a:prstGeom>
        </p:spPr>
      </p:pic>
      <p:sp>
        <p:nvSpPr>
          <p:cNvPr id="55" name="Text 43"/>
          <p:cNvSpPr/>
          <p:nvPr/>
        </p:nvSpPr>
        <p:spPr>
          <a:xfrm>
            <a:off x="1325880" y="5650992"/>
            <a:ext cx="7772400" cy="548640"/>
          </a:xfrm>
          <a:prstGeom prst="rect">
            <a:avLst/>
          </a:prstGeom>
          <a:noFill/>
          <a:ln/>
        </p:spPr>
        <p:txBody>
          <a:bodyPr wrap="square" lIns="0" tIns="0" rIns="0" bIns="0" rtlCol="0" anchor="ctr"/>
          <a:lstStyle/>
          <a:p>
            <a:pPr marL="0" indent="0">
              <a:buNone/>
            </a:pPr>
            <a:r>
              <a:rPr lang="en-US" sz="1200" b="1" dirty="0">
                <a:solidFill>
                  <a:srgbClr val="0A5C68"/>
                </a:solidFill>
                <a:latin typeface="Calibri" pitchFamily="34" charset="0"/>
                <a:ea typeface="Calibri" pitchFamily="34" charset="-122"/>
                <a:cs typeface="Calibri" pitchFamily="34" charset="-120"/>
              </a:rPr>
              <a:t>Your cloud storage  —  Delta Lake on Amazon S3 · Azure ADLS · Google GCS</a:t>
            </a:r>
            <a:endParaRPr lang="en-US" sz="1200" dirty="0"/>
          </a:p>
        </p:txBody>
      </p:sp>
      <p:sp>
        <p:nvSpPr>
          <p:cNvPr id="56" name="Text 44"/>
          <p:cNvSpPr/>
          <p:nvPr/>
        </p:nvSpPr>
        <p:spPr>
          <a:xfrm>
            <a:off x="8595360" y="5650992"/>
            <a:ext cx="2864815" cy="548640"/>
          </a:xfrm>
          <a:prstGeom prst="rect">
            <a:avLst/>
          </a:prstGeom>
          <a:noFill/>
          <a:ln/>
        </p:spPr>
        <p:txBody>
          <a:bodyPr wrap="square" lIns="0" tIns="0" rIns="0" bIns="0" rtlCol="0" anchor="ctr"/>
          <a:lstStyle/>
          <a:p>
            <a:pPr marL="0" indent="0" algn="r">
              <a:buNone/>
            </a:pPr>
            <a:r>
              <a:rPr lang="en-US" sz="1050" i="1" dirty="0">
                <a:solidFill>
                  <a:srgbClr val="0A5C68"/>
                </a:solidFill>
                <a:latin typeface="Calibri" pitchFamily="34" charset="0"/>
                <a:ea typeface="Calibri" pitchFamily="34" charset="-122"/>
                <a:cs typeface="Calibri" pitchFamily="34" charset="-120"/>
              </a:rPr>
              <a:t>Your data stays in your account</a:t>
            </a:r>
            <a:endParaRPr lang="en-US" sz="1050" dirty="0"/>
          </a:p>
        </p:txBody>
      </p:sp>
      <p:sp>
        <p:nvSpPr>
          <p:cNvPr id="57" name="Text 4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58" name="Text 4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THE ENGINE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How Apache Spark runs a job</a:t>
            </a:r>
            <a:endParaRPr lang="en-US" sz="2900" dirty="0"/>
          </a:p>
        </p:txBody>
      </p:sp>
      <p:sp>
        <p:nvSpPr>
          <p:cNvPr id="5" name="Shape 3"/>
          <p:cNvSpPr/>
          <p:nvPr/>
        </p:nvSpPr>
        <p:spPr>
          <a:xfrm>
            <a:off x="2468880" y="1920240"/>
            <a:ext cx="2834640" cy="841248"/>
          </a:xfrm>
          <a:prstGeom prst="roundRect">
            <a:avLst>
              <a:gd name="adj" fmla="val 7609"/>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2651760" y="2112264"/>
            <a:ext cx="457200" cy="457200"/>
          </a:xfrm>
          <a:prstGeom prst="ellipse">
            <a:avLst/>
          </a:prstGeom>
          <a:solidFill>
            <a:srgbClr val="FF362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2766060" y="2226564"/>
            <a:ext cx="228600" cy="228600"/>
          </a:xfrm>
          <a:prstGeom prst="rect">
            <a:avLst/>
          </a:prstGeom>
        </p:spPr>
      </p:pic>
      <p:sp>
        <p:nvSpPr>
          <p:cNvPr id="8" name="Text 5"/>
          <p:cNvSpPr/>
          <p:nvPr/>
        </p:nvSpPr>
        <p:spPr>
          <a:xfrm>
            <a:off x="3200400" y="1920240"/>
            <a:ext cx="2011680" cy="841248"/>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Driver Program</a:t>
            </a:r>
            <a:endParaRPr lang="en-US" sz="1400" dirty="0"/>
          </a:p>
          <a:p>
            <a:pPr marL="0" indent="0">
              <a:buNone/>
            </a:pPr>
            <a:r>
              <a:rPr lang="en-US" sz="1000" dirty="0">
                <a:solidFill>
                  <a:srgbClr val="C7D2D8"/>
                </a:solidFill>
                <a:latin typeface="Trebuchet MS" pitchFamily="34" charset="0"/>
                <a:ea typeface="Trebuchet MS" pitchFamily="34" charset="-122"/>
                <a:cs typeface="Trebuchet MS" pitchFamily="34" charset="-120"/>
              </a:rPr>
              <a:t>SparkSession — plans the work</a:t>
            </a:r>
            <a:endParaRPr lang="en-US" sz="1400" dirty="0"/>
          </a:p>
        </p:txBody>
      </p:sp>
      <p:sp>
        <p:nvSpPr>
          <p:cNvPr id="9" name="Shape 6"/>
          <p:cNvSpPr/>
          <p:nvPr/>
        </p:nvSpPr>
        <p:spPr>
          <a:xfrm rot="10800000">
            <a:off x="3800612" y="2825496"/>
            <a:ext cx="171176" cy="237744"/>
          </a:xfrm>
          <a:prstGeom prst="triangle">
            <a:avLst/>
          </a:prstGeom>
          <a:solidFill>
            <a:srgbClr val="FF3621"/>
          </a:solidFill>
          <a:ln/>
        </p:spPr>
        <p:txBody>
          <a:bodyPr/>
          <a:lstStyle/>
          <a:p>
            <a:endParaRPr lang="en-US"/>
          </a:p>
        </p:txBody>
      </p:sp>
      <p:sp>
        <p:nvSpPr>
          <p:cNvPr id="10" name="Shape 7"/>
          <p:cNvSpPr/>
          <p:nvPr/>
        </p:nvSpPr>
        <p:spPr>
          <a:xfrm>
            <a:off x="2468880" y="3127248"/>
            <a:ext cx="2834640" cy="731520"/>
          </a:xfrm>
          <a:prstGeom prst="roundRect">
            <a:avLst>
              <a:gd name="adj" fmla="val 8750"/>
            </a:avLst>
          </a:prstGeom>
          <a:solidFill>
            <a:srgbClr val="E9EEF0"/>
          </a:solidFill>
          <a:ln w="12700">
            <a:solidFill>
              <a:srgbClr val="DDE4E7"/>
            </a:solidFill>
            <a:prstDash val="solid"/>
          </a:ln>
        </p:spPr>
        <p:txBody>
          <a:bodyPr/>
          <a:lstStyle/>
          <a:p>
            <a:endParaRPr lang="en-US"/>
          </a:p>
        </p:txBody>
      </p:sp>
      <p:sp>
        <p:nvSpPr>
          <p:cNvPr id="11" name="Shape 8"/>
          <p:cNvSpPr/>
          <p:nvPr/>
        </p:nvSpPr>
        <p:spPr>
          <a:xfrm>
            <a:off x="2651760" y="3291840"/>
            <a:ext cx="402336" cy="402336"/>
          </a:xfrm>
          <a:prstGeom prst="ellipse">
            <a:avLst/>
          </a:prstGeom>
          <a:solidFill>
            <a:srgbClr val="7C8A9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2752344" y="3392424"/>
            <a:ext cx="201168" cy="201168"/>
          </a:xfrm>
          <a:prstGeom prst="rect">
            <a:avLst/>
          </a:prstGeom>
        </p:spPr>
      </p:pic>
      <p:sp>
        <p:nvSpPr>
          <p:cNvPr id="13" name="Text 9"/>
          <p:cNvSpPr/>
          <p:nvPr/>
        </p:nvSpPr>
        <p:spPr>
          <a:xfrm>
            <a:off x="3172968" y="3127248"/>
            <a:ext cx="2011680" cy="731520"/>
          </a:xfrm>
          <a:prstGeom prst="rect">
            <a:avLst/>
          </a:prstGeom>
          <a:noFill/>
          <a:ln/>
        </p:spPr>
        <p:txBody>
          <a:bodyPr wrap="square" lIns="0" tIns="0" rIns="0" bIns="0" rtlCol="0" anchor="ctr"/>
          <a:lstStyle/>
          <a:p>
            <a:pPr marL="0" indent="0">
              <a:buNone/>
            </a:pPr>
            <a:r>
              <a:rPr lang="en-US" sz="1300" b="1" dirty="0">
                <a:solidFill>
                  <a:srgbClr val="13242E"/>
                </a:solidFill>
                <a:latin typeface="Trebuchet MS" pitchFamily="34" charset="0"/>
                <a:ea typeface="Trebuchet MS" pitchFamily="34" charset="-122"/>
                <a:cs typeface="Trebuchet MS" pitchFamily="34" charset="-120"/>
              </a:rPr>
              <a:t>Cluster Manager</a:t>
            </a:r>
            <a:endParaRPr lang="en-US" sz="1300" dirty="0"/>
          </a:p>
          <a:p>
            <a:pPr marL="0" indent="0">
              <a:buNone/>
            </a:pPr>
            <a:r>
              <a:rPr lang="en-US" sz="1000" dirty="0">
                <a:solidFill>
                  <a:srgbClr val="7C8A91"/>
                </a:solidFill>
                <a:latin typeface="Trebuchet MS" pitchFamily="34" charset="0"/>
                <a:ea typeface="Trebuchet MS" pitchFamily="34" charset="-122"/>
                <a:cs typeface="Trebuchet MS" pitchFamily="34" charset="-120"/>
              </a:rPr>
              <a:t>allocates resources</a:t>
            </a:r>
            <a:endParaRPr lang="en-US" sz="1300" dirty="0"/>
          </a:p>
        </p:txBody>
      </p:sp>
      <p:sp>
        <p:nvSpPr>
          <p:cNvPr id="14" name="Shape 10"/>
          <p:cNvSpPr/>
          <p:nvPr/>
        </p:nvSpPr>
        <p:spPr>
          <a:xfrm rot="10800000">
            <a:off x="3800612" y="3922776"/>
            <a:ext cx="171176" cy="237744"/>
          </a:xfrm>
          <a:prstGeom prst="triangle">
            <a:avLst/>
          </a:prstGeom>
          <a:solidFill>
            <a:srgbClr val="FF3621"/>
          </a:solidFill>
          <a:ln/>
        </p:spPr>
        <p:txBody>
          <a:bodyPr/>
          <a:lstStyle/>
          <a:p>
            <a:endParaRPr lang="en-US"/>
          </a:p>
        </p:txBody>
      </p:sp>
      <p:sp>
        <p:nvSpPr>
          <p:cNvPr id="15" name="Shape 11"/>
          <p:cNvSpPr/>
          <p:nvPr/>
        </p:nvSpPr>
        <p:spPr>
          <a:xfrm>
            <a:off x="955548" y="4224528"/>
            <a:ext cx="1783080" cy="1051560"/>
          </a:xfrm>
          <a:prstGeom prst="roundRect">
            <a:avLst>
              <a:gd name="adj" fmla="val 5217"/>
            </a:avLst>
          </a:prstGeom>
          <a:solidFill>
            <a:srgbClr val="FFFFFF"/>
          </a:solidFill>
          <a:ln w="15875">
            <a:solidFill>
              <a:srgbClr val="0E7C8B"/>
            </a:solidFill>
            <a:prstDash val="solid"/>
          </a:ln>
        </p:spPr>
        <p:txBody>
          <a:bodyPr/>
          <a:lstStyle/>
          <a:p>
            <a:endParaRPr lang="en-US"/>
          </a:p>
        </p:txBody>
      </p:sp>
      <p:sp>
        <p:nvSpPr>
          <p:cNvPr id="16" name="Shape 12"/>
          <p:cNvSpPr/>
          <p:nvPr/>
        </p:nvSpPr>
        <p:spPr>
          <a:xfrm>
            <a:off x="1618488" y="4370832"/>
            <a:ext cx="457200" cy="457200"/>
          </a:xfrm>
          <a:prstGeom prst="ellipse">
            <a:avLst/>
          </a:prstGeom>
          <a:solidFill>
            <a:srgbClr val="0E7C8B"/>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1732788" y="4485132"/>
            <a:ext cx="228600" cy="228600"/>
          </a:xfrm>
          <a:prstGeom prst="rect">
            <a:avLst/>
          </a:prstGeom>
        </p:spPr>
      </p:pic>
      <p:sp>
        <p:nvSpPr>
          <p:cNvPr id="18" name="Text 13"/>
          <p:cNvSpPr/>
          <p:nvPr/>
        </p:nvSpPr>
        <p:spPr>
          <a:xfrm>
            <a:off x="955548" y="4828032"/>
            <a:ext cx="1783080" cy="237744"/>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Executor</a:t>
            </a:r>
            <a:endParaRPr lang="en-US" sz="1250" dirty="0"/>
          </a:p>
        </p:txBody>
      </p:sp>
      <p:sp>
        <p:nvSpPr>
          <p:cNvPr id="19" name="Text 14"/>
          <p:cNvSpPr/>
          <p:nvPr/>
        </p:nvSpPr>
        <p:spPr>
          <a:xfrm>
            <a:off x="1046988" y="5047488"/>
            <a:ext cx="1600200" cy="201168"/>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runs tasks in parallel</a:t>
            </a:r>
            <a:endParaRPr lang="en-US" sz="950" dirty="0"/>
          </a:p>
        </p:txBody>
      </p:sp>
      <p:sp>
        <p:nvSpPr>
          <p:cNvPr id="20" name="Shape 15"/>
          <p:cNvSpPr/>
          <p:nvPr/>
        </p:nvSpPr>
        <p:spPr>
          <a:xfrm>
            <a:off x="2994660" y="4224528"/>
            <a:ext cx="1783080" cy="1051560"/>
          </a:xfrm>
          <a:prstGeom prst="roundRect">
            <a:avLst>
              <a:gd name="adj" fmla="val 5217"/>
            </a:avLst>
          </a:prstGeom>
          <a:solidFill>
            <a:srgbClr val="FFFFFF"/>
          </a:solidFill>
          <a:ln w="15875">
            <a:solidFill>
              <a:srgbClr val="0E7C8B"/>
            </a:solidFill>
            <a:prstDash val="solid"/>
          </a:ln>
        </p:spPr>
        <p:txBody>
          <a:bodyPr/>
          <a:lstStyle/>
          <a:p>
            <a:endParaRPr lang="en-US"/>
          </a:p>
        </p:txBody>
      </p:sp>
      <p:sp>
        <p:nvSpPr>
          <p:cNvPr id="21" name="Shape 16"/>
          <p:cNvSpPr/>
          <p:nvPr/>
        </p:nvSpPr>
        <p:spPr>
          <a:xfrm>
            <a:off x="3657600" y="4370832"/>
            <a:ext cx="457200" cy="457200"/>
          </a:xfrm>
          <a:prstGeom prst="ellipse">
            <a:avLst/>
          </a:prstGeom>
          <a:solidFill>
            <a:srgbClr val="0E7C8B"/>
          </a:solidFill>
          <a:ln/>
        </p:spPr>
        <p:txBody>
          <a:bodyPr/>
          <a:lstStyle/>
          <a:p>
            <a:endParaRPr lang="en-US"/>
          </a:p>
        </p:txBody>
      </p:sp>
      <p:pic>
        <p:nvPicPr>
          <p:cNvPr id="22" name="Image 3" descr="preencoded.png"/>
          <p:cNvPicPr>
            <a:picLocks noChangeAspect="1"/>
          </p:cNvPicPr>
          <p:nvPr/>
        </p:nvPicPr>
        <p:blipFill>
          <a:blip r:embed="rId5"/>
          <a:stretch>
            <a:fillRect/>
          </a:stretch>
        </p:blipFill>
        <p:spPr>
          <a:xfrm>
            <a:off x="3771900" y="4485132"/>
            <a:ext cx="228600" cy="228600"/>
          </a:xfrm>
          <a:prstGeom prst="rect">
            <a:avLst/>
          </a:prstGeom>
        </p:spPr>
      </p:pic>
      <p:sp>
        <p:nvSpPr>
          <p:cNvPr id="23" name="Text 17"/>
          <p:cNvSpPr/>
          <p:nvPr/>
        </p:nvSpPr>
        <p:spPr>
          <a:xfrm>
            <a:off x="2994660" y="4828032"/>
            <a:ext cx="1783080" cy="237744"/>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Executor</a:t>
            </a:r>
            <a:endParaRPr lang="en-US" sz="1250" dirty="0"/>
          </a:p>
        </p:txBody>
      </p:sp>
      <p:sp>
        <p:nvSpPr>
          <p:cNvPr id="24" name="Text 18"/>
          <p:cNvSpPr/>
          <p:nvPr/>
        </p:nvSpPr>
        <p:spPr>
          <a:xfrm>
            <a:off x="3086100" y="5047488"/>
            <a:ext cx="1600200" cy="201168"/>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runs tasks in parallel</a:t>
            </a:r>
            <a:endParaRPr lang="en-US" sz="950" dirty="0"/>
          </a:p>
        </p:txBody>
      </p:sp>
      <p:sp>
        <p:nvSpPr>
          <p:cNvPr id="25" name="Shape 19"/>
          <p:cNvSpPr/>
          <p:nvPr/>
        </p:nvSpPr>
        <p:spPr>
          <a:xfrm>
            <a:off x="5033772" y="4224528"/>
            <a:ext cx="1783080" cy="1051560"/>
          </a:xfrm>
          <a:prstGeom prst="roundRect">
            <a:avLst>
              <a:gd name="adj" fmla="val 5217"/>
            </a:avLst>
          </a:prstGeom>
          <a:solidFill>
            <a:srgbClr val="FFFFFF"/>
          </a:solidFill>
          <a:ln w="15875">
            <a:solidFill>
              <a:srgbClr val="0E7C8B"/>
            </a:solidFill>
            <a:prstDash val="solid"/>
          </a:ln>
        </p:spPr>
        <p:txBody>
          <a:bodyPr/>
          <a:lstStyle/>
          <a:p>
            <a:endParaRPr lang="en-US"/>
          </a:p>
        </p:txBody>
      </p:sp>
      <p:sp>
        <p:nvSpPr>
          <p:cNvPr id="26" name="Shape 20"/>
          <p:cNvSpPr/>
          <p:nvPr/>
        </p:nvSpPr>
        <p:spPr>
          <a:xfrm>
            <a:off x="5696712" y="4370832"/>
            <a:ext cx="457200" cy="457200"/>
          </a:xfrm>
          <a:prstGeom prst="ellipse">
            <a:avLst/>
          </a:prstGeom>
          <a:solidFill>
            <a:srgbClr val="0E7C8B"/>
          </a:solidFill>
          <a:ln/>
        </p:spPr>
        <p:txBody>
          <a:bodyPr/>
          <a:lstStyle/>
          <a:p>
            <a:endParaRPr lang="en-US"/>
          </a:p>
        </p:txBody>
      </p:sp>
      <p:pic>
        <p:nvPicPr>
          <p:cNvPr id="27" name="Image 4" descr="preencoded.png"/>
          <p:cNvPicPr>
            <a:picLocks noChangeAspect="1"/>
          </p:cNvPicPr>
          <p:nvPr/>
        </p:nvPicPr>
        <p:blipFill>
          <a:blip r:embed="rId5"/>
          <a:stretch>
            <a:fillRect/>
          </a:stretch>
        </p:blipFill>
        <p:spPr>
          <a:xfrm>
            <a:off x="5811012" y="4485132"/>
            <a:ext cx="228600" cy="228600"/>
          </a:xfrm>
          <a:prstGeom prst="rect">
            <a:avLst/>
          </a:prstGeom>
        </p:spPr>
      </p:pic>
      <p:sp>
        <p:nvSpPr>
          <p:cNvPr id="28" name="Text 21"/>
          <p:cNvSpPr/>
          <p:nvPr/>
        </p:nvSpPr>
        <p:spPr>
          <a:xfrm>
            <a:off x="5033772" y="4828032"/>
            <a:ext cx="1783080" cy="237744"/>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Executor</a:t>
            </a:r>
            <a:endParaRPr lang="en-US" sz="1250" dirty="0"/>
          </a:p>
        </p:txBody>
      </p:sp>
      <p:sp>
        <p:nvSpPr>
          <p:cNvPr id="29" name="Text 22"/>
          <p:cNvSpPr/>
          <p:nvPr/>
        </p:nvSpPr>
        <p:spPr>
          <a:xfrm>
            <a:off x="5125212" y="5047488"/>
            <a:ext cx="1600200" cy="201168"/>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runs tasks in parallel</a:t>
            </a:r>
            <a:endParaRPr lang="en-US" sz="950" dirty="0"/>
          </a:p>
        </p:txBody>
      </p:sp>
      <p:sp>
        <p:nvSpPr>
          <p:cNvPr id="30" name="Text 23"/>
          <p:cNvSpPr/>
          <p:nvPr/>
        </p:nvSpPr>
        <p:spPr>
          <a:xfrm>
            <a:off x="548640" y="5321808"/>
            <a:ext cx="6675120" cy="228600"/>
          </a:xfrm>
          <a:prstGeom prst="rect">
            <a:avLst/>
          </a:prstGeom>
          <a:noFill/>
          <a:ln/>
        </p:spPr>
        <p:txBody>
          <a:bodyPr wrap="square" lIns="0" tIns="0" rIns="0" bIns="0" rtlCol="0" anchor="ctr"/>
          <a:lstStyle/>
          <a:p>
            <a:pPr marL="0" indent="0" algn="ctr">
              <a:buNone/>
            </a:pPr>
            <a:r>
              <a:rPr lang="en-US" sz="1000" b="1" kern="0" spc="200" dirty="0">
                <a:solidFill>
                  <a:srgbClr val="7C8A91"/>
                </a:solidFill>
                <a:latin typeface="Calibri" pitchFamily="34" charset="0"/>
                <a:ea typeface="Calibri" pitchFamily="34" charset="-122"/>
                <a:cs typeface="Calibri" pitchFamily="34" charset="-120"/>
              </a:rPr>
              <a:t>WORKER NODES</a:t>
            </a:r>
            <a:endParaRPr lang="en-US" sz="1000" dirty="0"/>
          </a:p>
        </p:txBody>
      </p:sp>
      <p:sp>
        <p:nvSpPr>
          <p:cNvPr id="31" name="Shape 24"/>
          <p:cNvSpPr/>
          <p:nvPr/>
        </p:nvSpPr>
        <p:spPr>
          <a:xfrm>
            <a:off x="7452360" y="1920240"/>
            <a:ext cx="4190695" cy="3657600"/>
          </a:xfrm>
          <a:prstGeom prst="roundRect">
            <a:avLst>
              <a:gd name="adj" fmla="val 2500"/>
            </a:avLst>
          </a:prstGeom>
          <a:solidFill>
            <a:srgbClr val="F2F5F6"/>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2" name="Text 25"/>
          <p:cNvSpPr/>
          <p:nvPr/>
        </p:nvSpPr>
        <p:spPr>
          <a:xfrm>
            <a:off x="7818120" y="2121408"/>
            <a:ext cx="3459175" cy="411480"/>
          </a:xfrm>
          <a:prstGeom prst="rect">
            <a:avLst/>
          </a:prstGeom>
          <a:noFill/>
          <a:ln/>
        </p:spPr>
        <p:txBody>
          <a:bodyPr wrap="square" lIns="0" tIns="0" rIns="0" bIns="0" rtlCol="0" anchor="ctr"/>
          <a:lstStyle/>
          <a:p>
            <a:pPr marL="0" indent="0">
              <a:buNone/>
            </a:pPr>
            <a:r>
              <a:rPr lang="en-US" sz="1600" b="1" dirty="0">
                <a:solidFill>
                  <a:srgbClr val="13242E"/>
                </a:solidFill>
                <a:latin typeface="Trebuchet MS" pitchFamily="34" charset="0"/>
                <a:ea typeface="Trebuchet MS" pitchFamily="34" charset="-122"/>
                <a:cs typeface="Trebuchet MS" pitchFamily="34" charset="-120"/>
              </a:rPr>
              <a:t>From code to result</a:t>
            </a:r>
            <a:endParaRPr lang="en-US" sz="1600" dirty="0"/>
          </a:p>
        </p:txBody>
      </p:sp>
      <p:sp>
        <p:nvSpPr>
          <p:cNvPr id="33" name="Text 26"/>
          <p:cNvSpPr/>
          <p:nvPr/>
        </p:nvSpPr>
        <p:spPr>
          <a:xfrm>
            <a:off x="7863840" y="2651760"/>
            <a:ext cx="3413455" cy="2194560"/>
          </a:xfrm>
          <a:prstGeom prst="rect">
            <a:avLst/>
          </a:prstGeom>
          <a:noFill/>
          <a:ln/>
        </p:spPr>
        <p:txBody>
          <a:bodyPr wrap="square" lIns="0" tIns="0" rIns="0" bIns="0" rtlCol="0" anchor="ctr"/>
          <a:lstStyle/>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You write code in a notebook or SQL.</a:t>
            </a:r>
            <a:endParaRPr lang="en-US" sz="1250" dirty="0"/>
          </a:p>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The Driver builds a plan and splits it into tasks.</a:t>
            </a:r>
            <a:endParaRPr lang="en-US" sz="1250" dirty="0"/>
          </a:p>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The Cluster Manager assigns worker nodes.</a:t>
            </a:r>
            <a:endParaRPr lang="en-US" sz="1250" dirty="0"/>
          </a:p>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Executors run tasks in parallel on data partitions.</a:t>
            </a:r>
            <a:endParaRPr lang="en-US" sz="1250" dirty="0"/>
          </a:p>
          <a:p>
            <a:pPr marL="342900" indent="-342900">
              <a:spcAft>
                <a:spcPts val="1000"/>
              </a:spcAft>
              <a:buSzPct val="100000"/>
              <a:buFont typeface="+mj-lt"/>
              <a:buAutoNum type="arabicPeriod"/>
            </a:pPr>
            <a:r>
              <a:rPr lang="en-US" sz="1250" dirty="0">
                <a:solidFill>
                  <a:srgbClr val="38474F"/>
                </a:solidFill>
                <a:latin typeface="Calibri" pitchFamily="34" charset="0"/>
                <a:ea typeface="Calibri" pitchFamily="34" charset="-122"/>
                <a:cs typeface="Calibri" pitchFamily="34" charset="-120"/>
              </a:rPr>
              <a:t>Results are returned to the Driver.</a:t>
            </a:r>
            <a:endParaRPr lang="en-US" sz="1250" dirty="0"/>
          </a:p>
        </p:txBody>
      </p:sp>
      <p:sp>
        <p:nvSpPr>
          <p:cNvPr id="34" name="Shape 27"/>
          <p:cNvSpPr/>
          <p:nvPr/>
        </p:nvSpPr>
        <p:spPr>
          <a:xfrm>
            <a:off x="7818120" y="4892040"/>
            <a:ext cx="3459175" cy="0"/>
          </a:xfrm>
          <a:prstGeom prst="line">
            <a:avLst/>
          </a:prstGeom>
          <a:noFill/>
          <a:ln w="12700">
            <a:solidFill>
              <a:srgbClr val="DDE4E7"/>
            </a:solidFill>
            <a:prstDash val="solid"/>
          </a:ln>
        </p:spPr>
        <p:txBody>
          <a:bodyPr/>
          <a:lstStyle/>
          <a:p>
            <a:endParaRPr lang="en-US"/>
          </a:p>
        </p:txBody>
      </p:sp>
      <p:sp>
        <p:nvSpPr>
          <p:cNvPr id="35" name="Text 28"/>
          <p:cNvSpPr/>
          <p:nvPr/>
        </p:nvSpPr>
        <p:spPr>
          <a:xfrm>
            <a:off x="7818120" y="4983480"/>
            <a:ext cx="3459175" cy="502920"/>
          </a:xfrm>
          <a:prstGeom prst="rect">
            <a:avLst/>
          </a:prstGeom>
          <a:noFill/>
          <a:ln/>
        </p:spPr>
        <p:txBody>
          <a:bodyPr wrap="square" lIns="0" tIns="0" rIns="0" bIns="0" rtlCol="0" anchor="ctr"/>
          <a:lstStyle/>
          <a:p>
            <a:pPr marL="0" indent="0">
              <a:buNone/>
            </a:pPr>
            <a:r>
              <a:rPr lang="en-US" sz="1200" b="1" dirty="0">
                <a:solidFill>
                  <a:srgbClr val="FF3621"/>
                </a:solidFill>
                <a:latin typeface="Calibri" pitchFamily="34" charset="0"/>
                <a:ea typeface="Calibri" pitchFamily="34" charset="-122"/>
                <a:cs typeface="Calibri" pitchFamily="34" charset="-120"/>
              </a:rPr>
              <a:t>More executors = more parallel work = faster jobs.</a:t>
            </a:r>
            <a:endParaRPr lang="en-US" sz="1200" dirty="0"/>
          </a:p>
        </p:txBody>
      </p:sp>
      <p:sp>
        <p:nvSpPr>
          <p:cNvPr id="36" name="Text 29"/>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37" name="Text 30"/>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THE STORAGE LAYER</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Delta Lake: reliability on the data lake</a:t>
            </a:r>
            <a:endParaRPr lang="en-US" sz="2900" dirty="0"/>
          </a:p>
        </p:txBody>
      </p:sp>
      <p:sp>
        <p:nvSpPr>
          <p:cNvPr id="5" name="Shape 3"/>
          <p:cNvSpPr/>
          <p:nvPr/>
        </p:nvSpPr>
        <p:spPr>
          <a:xfrm>
            <a:off x="1463040" y="1874520"/>
            <a:ext cx="4572000" cy="841248"/>
          </a:xfrm>
          <a:prstGeom prst="roundRect">
            <a:avLst>
              <a:gd name="adj" fmla="val 7609"/>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6" name="Shape 4"/>
          <p:cNvSpPr/>
          <p:nvPr/>
        </p:nvSpPr>
        <p:spPr>
          <a:xfrm>
            <a:off x="1463040" y="1874520"/>
            <a:ext cx="109728" cy="841248"/>
          </a:xfrm>
          <a:prstGeom prst="rect">
            <a:avLst/>
          </a:prstGeom>
          <a:solidFill>
            <a:srgbClr val="FF3621"/>
          </a:solidFill>
          <a:ln/>
        </p:spPr>
        <p:txBody>
          <a:bodyPr/>
          <a:lstStyle/>
          <a:p>
            <a:endParaRPr lang="en-US"/>
          </a:p>
        </p:txBody>
      </p:sp>
      <p:sp>
        <p:nvSpPr>
          <p:cNvPr id="7" name="Shape 5"/>
          <p:cNvSpPr/>
          <p:nvPr/>
        </p:nvSpPr>
        <p:spPr>
          <a:xfrm>
            <a:off x="1737360" y="2066544"/>
            <a:ext cx="457200" cy="457200"/>
          </a:xfrm>
          <a:prstGeom prst="ellipse">
            <a:avLst/>
          </a:prstGeom>
          <a:solidFill>
            <a:srgbClr val="FF3621"/>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851660" y="2180844"/>
            <a:ext cx="228600" cy="228600"/>
          </a:xfrm>
          <a:prstGeom prst="rect">
            <a:avLst/>
          </a:prstGeom>
        </p:spPr>
      </p:pic>
      <p:sp>
        <p:nvSpPr>
          <p:cNvPr id="9" name="Text 6"/>
          <p:cNvSpPr/>
          <p:nvPr/>
        </p:nvSpPr>
        <p:spPr>
          <a:xfrm>
            <a:off x="2331720" y="1874520"/>
            <a:ext cx="3566160" cy="841248"/>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Delta Table</a:t>
            </a:r>
            <a:endParaRPr lang="en-US" sz="1500" dirty="0"/>
          </a:p>
          <a:p>
            <a:pPr marL="0" indent="0">
              <a:buNone/>
            </a:pPr>
            <a:r>
              <a:rPr lang="en-US" sz="1050" dirty="0">
                <a:solidFill>
                  <a:srgbClr val="C7D2D8"/>
                </a:solidFill>
                <a:latin typeface="Trebuchet MS" pitchFamily="34" charset="0"/>
                <a:ea typeface="Trebuchet MS" pitchFamily="34" charset="-122"/>
                <a:cs typeface="Trebuchet MS" pitchFamily="34" charset="-120"/>
              </a:rPr>
              <a:t>an open, reliable table format</a:t>
            </a:r>
            <a:endParaRPr lang="en-US" sz="1500" dirty="0"/>
          </a:p>
        </p:txBody>
      </p:sp>
      <p:sp>
        <p:nvSpPr>
          <p:cNvPr id="10" name="Shape 7"/>
          <p:cNvSpPr/>
          <p:nvPr/>
        </p:nvSpPr>
        <p:spPr>
          <a:xfrm>
            <a:off x="3749040" y="2715768"/>
            <a:ext cx="0" cy="201168"/>
          </a:xfrm>
          <a:prstGeom prst="line">
            <a:avLst/>
          </a:prstGeom>
          <a:noFill/>
          <a:ln w="15875">
            <a:solidFill>
              <a:srgbClr val="7C8A91"/>
            </a:solidFill>
            <a:prstDash val="solid"/>
          </a:ln>
        </p:spPr>
        <p:txBody>
          <a:bodyPr/>
          <a:lstStyle/>
          <a:p>
            <a:endParaRPr lang="en-US"/>
          </a:p>
        </p:txBody>
      </p:sp>
      <p:sp>
        <p:nvSpPr>
          <p:cNvPr id="11" name="Text 8"/>
          <p:cNvSpPr/>
          <p:nvPr/>
        </p:nvSpPr>
        <p:spPr>
          <a:xfrm>
            <a:off x="548640" y="2889504"/>
            <a:ext cx="6400800" cy="274320"/>
          </a:xfrm>
          <a:prstGeom prst="rect">
            <a:avLst/>
          </a:prstGeom>
          <a:noFill/>
          <a:ln/>
        </p:spPr>
        <p:txBody>
          <a:bodyPr wrap="square" lIns="0" tIns="0" rIns="0" bIns="0" rtlCol="0" anchor="ctr"/>
          <a:lstStyle/>
          <a:p>
            <a:pPr marL="0" indent="0" algn="ctr">
              <a:buNone/>
            </a:pPr>
            <a:r>
              <a:rPr lang="en-US" sz="1150" i="1" dirty="0">
                <a:solidFill>
                  <a:srgbClr val="7C8A91"/>
                </a:solidFill>
                <a:latin typeface="Calibri" pitchFamily="34" charset="0"/>
                <a:ea typeface="Calibri" pitchFamily="34" charset="-122"/>
                <a:cs typeface="Calibri" pitchFamily="34" charset="-120"/>
              </a:rPr>
              <a:t>=  data files  +  transaction log</a:t>
            </a:r>
            <a:endParaRPr lang="en-US" sz="1150" dirty="0"/>
          </a:p>
        </p:txBody>
      </p:sp>
      <p:sp>
        <p:nvSpPr>
          <p:cNvPr id="12" name="Shape 9"/>
          <p:cNvSpPr/>
          <p:nvPr/>
        </p:nvSpPr>
        <p:spPr>
          <a:xfrm>
            <a:off x="1463040" y="3218688"/>
            <a:ext cx="2194560" cy="914400"/>
          </a:xfrm>
          <a:prstGeom prst="roundRect">
            <a:avLst>
              <a:gd name="adj" fmla="val 6000"/>
            </a:avLst>
          </a:prstGeom>
          <a:solidFill>
            <a:srgbClr val="E9EEF0"/>
          </a:solidFill>
          <a:ln w="12700">
            <a:solidFill>
              <a:srgbClr val="DDE4E7"/>
            </a:solidFill>
            <a:prstDash val="solid"/>
          </a:ln>
        </p:spPr>
        <p:txBody>
          <a:bodyPr/>
          <a:lstStyle/>
          <a:p>
            <a:endParaRPr lang="en-US"/>
          </a:p>
        </p:txBody>
      </p:sp>
      <p:sp>
        <p:nvSpPr>
          <p:cNvPr id="13" name="Shape 10"/>
          <p:cNvSpPr/>
          <p:nvPr/>
        </p:nvSpPr>
        <p:spPr>
          <a:xfrm>
            <a:off x="2331720" y="3346704"/>
            <a:ext cx="457200" cy="457200"/>
          </a:xfrm>
          <a:prstGeom prst="ellipse">
            <a:avLst/>
          </a:prstGeom>
          <a:solidFill>
            <a:srgbClr val="0E7C8B"/>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2446020" y="3461004"/>
            <a:ext cx="228600" cy="228600"/>
          </a:xfrm>
          <a:prstGeom prst="rect">
            <a:avLst/>
          </a:prstGeom>
        </p:spPr>
      </p:pic>
      <p:sp>
        <p:nvSpPr>
          <p:cNvPr id="15" name="Text 11"/>
          <p:cNvSpPr/>
          <p:nvPr/>
        </p:nvSpPr>
        <p:spPr>
          <a:xfrm>
            <a:off x="1463040" y="3785616"/>
            <a:ext cx="2194560" cy="219456"/>
          </a:xfrm>
          <a:prstGeom prst="rect">
            <a:avLst/>
          </a:prstGeom>
          <a:noFill/>
          <a:ln/>
        </p:spPr>
        <p:txBody>
          <a:bodyPr wrap="square" lIns="0" tIns="0" rIns="0" bIns="0" rtlCol="0" anchor="ctr"/>
          <a:lstStyle/>
          <a:p>
            <a:pPr marL="0" indent="0" algn="ctr">
              <a:buNone/>
            </a:pPr>
            <a:r>
              <a:rPr lang="en-US" sz="1200" b="1" dirty="0">
                <a:solidFill>
                  <a:srgbClr val="13242E"/>
                </a:solidFill>
                <a:latin typeface="Trebuchet MS" pitchFamily="34" charset="0"/>
                <a:ea typeface="Trebuchet MS" pitchFamily="34" charset="-122"/>
                <a:cs typeface="Trebuchet MS" pitchFamily="34" charset="-120"/>
              </a:rPr>
              <a:t>Parquet data files</a:t>
            </a:r>
            <a:endParaRPr lang="en-US" sz="1200" dirty="0"/>
          </a:p>
        </p:txBody>
      </p:sp>
      <p:sp>
        <p:nvSpPr>
          <p:cNvPr id="16" name="Text 12"/>
          <p:cNvSpPr/>
          <p:nvPr/>
        </p:nvSpPr>
        <p:spPr>
          <a:xfrm>
            <a:off x="1463040" y="3986784"/>
            <a:ext cx="2194560" cy="182880"/>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columnar, compressed</a:t>
            </a:r>
            <a:endParaRPr lang="en-US" sz="950" dirty="0"/>
          </a:p>
        </p:txBody>
      </p:sp>
      <p:sp>
        <p:nvSpPr>
          <p:cNvPr id="17" name="Shape 13"/>
          <p:cNvSpPr/>
          <p:nvPr/>
        </p:nvSpPr>
        <p:spPr>
          <a:xfrm>
            <a:off x="3840480" y="3218688"/>
            <a:ext cx="2194560" cy="914400"/>
          </a:xfrm>
          <a:prstGeom prst="roundRect">
            <a:avLst>
              <a:gd name="adj" fmla="val 6000"/>
            </a:avLst>
          </a:prstGeom>
          <a:solidFill>
            <a:srgbClr val="E9EEF0"/>
          </a:solidFill>
          <a:ln w="12700">
            <a:solidFill>
              <a:srgbClr val="DDE4E7"/>
            </a:solidFill>
            <a:prstDash val="solid"/>
          </a:ln>
        </p:spPr>
        <p:txBody>
          <a:bodyPr/>
          <a:lstStyle/>
          <a:p>
            <a:endParaRPr lang="en-US"/>
          </a:p>
        </p:txBody>
      </p:sp>
      <p:sp>
        <p:nvSpPr>
          <p:cNvPr id="18" name="Shape 14"/>
          <p:cNvSpPr/>
          <p:nvPr/>
        </p:nvSpPr>
        <p:spPr>
          <a:xfrm>
            <a:off x="4709160" y="3346704"/>
            <a:ext cx="457200" cy="457200"/>
          </a:xfrm>
          <a:prstGeom prst="ellipse">
            <a:avLst/>
          </a:prstGeom>
          <a:solidFill>
            <a:srgbClr val="FF3621"/>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4823460" y="3461004"/>
            <a:ext cx="228600" cy="228600"/>
          </a:xfrm>
          <a:prstGeom prst="rect">
            <a:avLst/>
          </a:prstGeom>
        </p:spPr>
      </p:pic>
      <p:sp>
        <p:nvSpPr>
          <p:cNvPr id="20" name="Text 15"/>
          <p:cNvSpPr/>
          <p:nvPr/>
        </p:nvSpPr>
        <p:spPr>
          <a:xfrm>
            <a:off x="3840480" y="3785616"/>
            <a:ext cx="2194560" cy="219456"/>
          </a:xfrm>
          <a:prstGeom prst="rect">
            <a:avLst/>
          </a:prstGeom>
          <a:noFill/>
          <a:ln/>
        </p:spPr>
        <p:txBody>
          <a:bodyPr wrap="square" lIns="0" tIns="0" rIns="0" bIns="0" rtlCol="0" anchor="ctr"/>
          <a:lstStyle/>
          <a:p>
            <a:pPr marL="0" indent="0" algn="ctr">
              <a:buNone/>
            </a:pPr>
            <a:r>
              <a:rPr lang="en-US" sz="1200" b="1" dirty="0">
                <a:solidFill>
                  <a:srgbClr val="13242E"/>
                </a:solidFill>
                <a:latin typeface="Consolas" pitchFamily="34" charset="0"/>
                <a:ea typeface="Consolas" pitchFamily="34" charset="-122"/>
                <a:cs typeface="Consolas" pitchFamily="34" charset="-120"/>
              </a:rPr>
              <a:t>_delta_log</a:t>
            </a:r>
            <a:endParaRPr lang="en-US" sz="1200" dirty="0"/>
          </a:p>
        </p:txBody>
      </p:sp>
      <p:sp>
        <p:nvSpPr>
          <p:cNvPr id="21" name="Text 16"/>
          <p:cNvSpPr/>
          <p:nvPr/>
        </p:nvSpPr>
        <p:spPr>
          <a:xfrm>
            <a:off x="3840480" y="3986784"/>
            <a:ext cx="2194560" cy="182880"/>
          </a:xfrm>
          <a:prstGeom prst="rect">
            <a:avLst/>
          </a:prstGeom>
          <a:noFill/>
          <a:ln/>
        </p:spPr>
        <p:txBody>
          <a:bodyPr wrap="square" lIns="0" tIns="0" rIns="0" bIns="0" rtlCol="0" anchor="ctr"/>
          <a:lstStyle/>
          <a:p>
            <a:pPr marL="0" indent="0" algn="ctr">
              <a:buNone/>
            </a:pPr>
            <a:r>
              <a:rPr lang="en-US" sz="950" dirty="0">
                <a:solidFill>
                  <a:srgbClr val="38474F"/>
                </a:solidFill>
                <a:latin typeface="Calibri" pitchFamily="34" charset="0"/>
                <a:ea typeface="Calibri" pitchFamily="34" charset="-122"/>
                <a:cs typeface="Calibri" pitchFamily="34" charset="-120"/>
              </a:rPr>
              <a:t>transaction log</a:t>
            </a:r>
            <a:endParaRPr lang="en-US" sz="950" dirty="0"/>
          </a:p>
        </p:txBody>
      </p:sp>
      <p:sp>
        <p:nvSpPr>
          <p:cNvPr id="22" name="Shape 17"/>
          <p:cNvSpPr/>
          <p:nvPr/>
        </p:nvSpPr>
        <p:spPr>
          <a:xfrm>
            <a:off x="3749040" y="4133088"/>
            <a:ext cx="0" cy="301752"/>
          </a:xfrm>
          <a:prstGeom prst="line">
            <a:avLst/>
          </a:prstGeom>
          <a:noFill/>
          <a:ln w="15875">
            <a:solidFill>
              <a:srgbClr val="7C8A91"/>
            </a:solidFill>
            <a:prstDash val="solid"/>
          </a:ln>
        </p:spPr>
        <p:txBody>
          <a:bodyPr/>
          <a:lstStyle/>
          <a:p>
            <a:endParaRPr lang="en-US"/>
          </a:p>
        </p:txBody>
      </p:sp>
      <p:sp>
        <p:nvSpPr>
          <p:cNvPr id="23" name="Shape 18"/>
          <p:cNvSpPr/>
          <p:nvPr/>
        </p:nvSpPr>
        <p:spPr>
          <a:xfrm>
            <a:off x="1097280" y="4434840"/>
            <a:ext cx="5303520" cy="621792"/>
          </a:xfrm>
          <a:prstGeom prst="roundRect">
            <a:avLst>
              <a:gd name="adj" fmla="val 10294"/>
            </a:avLst>
          </a:prstGeom>
          <a:solidFill>
            <a:srgbClr val="E7F1F2"/>
          </a:solidFill>
          <a:ln w="12700">
            <a:solidFill>
              <a:srgbClr val="BFE0E3"/>
            </a:solidFill>
            <a:prstDash val="solid"/>
          </a:ln>
        </p:spPr>
        <p:txBody>
          <a:bodyPr/>
          <a:lstStyle/>
          <a:p>
            <a:endParaRPr lang="en-US"/>
          </a:p>
        </p:txBody>
      </p:sp>
      <p:sp>
        <p:nvSpPr>
          <p:cNvPr id="24" name="Shape 19"/>
          <p:cNvSpPr/>
          <p:nvPr/>
        </p:nvSpPr>
        <p:spPr>
          <a:xfrm>
            <a:off x="1371600" y="4553712"/>
            <a:ext cx="384048" cy="384048"/>
          </a:xfrm>
          <a:prstGeom prst="ellipse">
            <a:avLst/>
          </a:prstGeom>
          <a:solidFill>
            <a:srgbClr val="0E7C8B"/>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1467612" y="4649724"/>
            <a:ext cx="192024" cy="192024"/>
          </a:xfrm>
          <a:prstGeom prst="rect">
            <a:avLst/>
          </a:prstGeom>
        </p:spPr>
      </p:pic>
      <p:sp>
        <p:nvSpPr>
          <p:cNvPr id="26" name="Text 20"/>
          <p:cNvSpPr/>
          <p:nvPr/>
        </p:nvSpPr>
        <p:spPr>
          <a:xfrm>
            <a:off x="1874520" y="4434840"/>
            <a:ext cx="4389120" cy="621792"/>
          </a:xfrm>
          <a:prstGeom prst="rect">
            <a:avLst/>
          </a:prstGeom>
          <a:noFill/>
          <a:ln/>
        </p:spPr>
        <p:txBody>
          <a:bodyPr wrap="square" lIns="0" tIns="0" rIns="0" bIns="0" rtlCol="0" anchor="ctr"/>
          <a:lstStyle/>
          <a:p>
            <a:pPr marL="0" indent="0">
              <a:buNone/>
            </a:pPr>
            <a:r>
              <a:rPr lang="en-US" sz="1200" b="1" dirty="0">
                <a:solidFill>
                  <a:srgbClr val="0A5C68"/>
                </a:solidFill>
                <a:latin typeface="Calibri" pitchFamily="34" charset="0"/>
                <a:ea typeface="Calibri" pitchFamily="34" charset="-122"/>
                <a:cs typeface="Calibri" pitchFamily="34" charset="-120"/>
              </a:rPr>
              <a:t>Cloud object storage  (S3 · ADLS · GCS)</a:t>
            </a:r>
            <a:endParaRPr lang="en-US" sz="1200" dirty="0"/>
          </a:p>
        </p:txBody>
      </p:sp>
      <p:sp>
        <p:nvSpPr>
          <p:cNvPr id="27" name="Shape 21"/>
          <p:cNvSpPr/>
          <p:nvPr/>
        </p:nvSpPr>
        <p:spPr>
          <a:xfrm>
            <a:off x="7315200" y="1874520"/>
            <a:ext cx="4327855" cy="896112"/>
          </a:xfrm>
          <a:prstGeom prst="roundRect">
            <a:avLst>
              <a:gd name="adj" fmla="val 10204"/>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8" name="Shape 22"/>
          <p:cNvSpPr/>
          <p:nvPr/>
        </p:nvSpPr>
        <p:spPr>
          <a:xfrm>
            <a:off x="7571232" y="2066544"/>
            <a:ext cx="512064" cy="512064"/>
          </a:xfrm>
          <a:prstGeom prst="ellipse">
            <a:avLst/>
          </a:prstGeom>
          <a:solidFill>
            <a:srgbClr val="FF3621"/>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7699248" y="2194560"/>
            <a:ext cx="256032" cy="256032"/>
          </a:xfrm>
          <a:prstGeom prst="rect">
            <a:avLst/>
          </a:prstGeom>
        </p:spPr>
      </p:pic>
      <p:sp>
        <p:nvSpPr>
          <p:cNvPr id="30" name="Text 23"/>
          <p:cNvSpPr/>
          <p:nvPr/>
        </p:nvSpPr>
        <p:spPr>
          <a:xfrm>
            <a:off x="8275320" y="1993392"/>
            <a:ext cx="3184855" cy="310896"/>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ACID transactions</a:t>
            </a:r>
            <a:endParaRPr lang="en-US" sz="1350" dirty="0"/>
          </a:p>
        </p:txBody>
      </p:sp>
      <p:sp>
        <p:nvSpPr>
          <p:cNvPr id="31" name="Text 24"/>
          <p:cNvSpPr/>
          <p:nvPr/>
        </p:nvSpPr>
        <p:spPr>
          <a:xfrm>
            <a:off x="8275320" y="2286000"/>
            <a:ext cx="3184855" cy="4114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Reads &amp; writes stay consistent — no half-finished data.</a:t>
            </a:r>
            <a:endParaRPr lang="en-US" sz="1050" dirty="0"/>
          </a:p>
        </p:txBody>
      </p:sp>
      <p:sp>
        <p:nvSpPr>
          <p:cNvPr id="32" name="Shape 25"/>
          <p:cNvSpPr/>
          <p:nvPr/>
        </p:nvSpPr>
        <p:spPr>
          <a:xfrm>
            <a:off x="7315200" y="2935224"/>
            <a:ext cx="4327855" cy="896112"/>
          </a:xfrm>
          <a:prstGeom prst="roundRect">
            <a:avLst>
              <a:gd name="adj" fmla="val 10204"/>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3" name="Shape 26"/>
          <p:cNvSpPr/>
          <p:nvPr/>
        </p:nvSpPr>
        <p:spPr>
          <a:xfrm>
            <a:off x="7571232" y="3127248"/>
            <a:ext cx="512064" cy="512064"/>
          </a:xfrm>
          <a:prstGeom prst="ellipse">
            <a:avLst/>
          </a:prstGeom>
          <a:solidFill>
            <a:srgbClr val="FF3621"/>
          </a:solidFill>
          <a:ln/>
        </p:spPr>
        <p:txBody>
          <a:bodyPr/>
          <a:lstStyle/>
          <a:p>
            <a:endParaRPr lang="en-US"/>
          </a:p>
        </p:txBody>
      </p:sp>
      <p:pic>
        <p:nvPicPr>
          <p:cNvPr id="34" name="Image 5" descr="preencoded.png"/>
          <p:cNvPicPr>
            <a:picLocks noChangeAspect="1"/>
          </p:cNvPicPr>
          <p:nvPr/>
        </p:nvPicPr>
        <p:blipFill>
          <a:blip r:embed="rId8"/>
          <a:stretch>
            <a:fillRect/>
          </a:stretch>
        </p:blipFill>
        <p:spPr>
          <a:xfrm>
            <a:off x="7699248" y="3255264"/>
            <a:ext cx="256032" cy="256032"/>
          </a:xfrm>
          <a:prstGeom prst="rect">
            <a:avLst/>
          </a:prstGeom>
        </p:spPr>
      </p:pic>
      <p:sp>
        <p:nvSpPr>
          <p:cNvPr id="35" name="Text 27"/>
          <p:cNvSpPr/>
          <p:nvPr/>
        </p:nvSpPr>
        <p:spPr>
          <a:xfrm>
            <a:off x="8275320" y="3054096"/>
            <a:ext cx="3184855" cy="310896"/>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Time travel</a:t>
            </a:r>
            <a:endParaRPr lang="en-US" sz="1350" dirty="0"/>
          </a:p>
        </p:txBody>
      </p:sp>
      <p:sp>
        <p:nvSpPr>
          <p:cNvPr id="36" name="Text 28"/>
          <p:cNvSpPr/>
          <p:nvPr/>
        </p:nvSpPr>
        <p:spPr>
          <a:xfrm>
            <a:off x="8275320" y="3346704"/>
            <a:ext cx="3184855" cy="4114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Query or roll back to earlier versions of a table.</a:t>
            </a:r>
            <a:endParaRPr lang="en-US" sz="1050" dirty="0"/>
          </a:p>
        </p:txBody>
      </p:sp>
      <p:sp>
        <p:nvSpPr>
          <p:cNvPr id="37" name="Shape 29"/>
          <p:cNvSpPr/>
          <p:nvPr/>
        </p:nvSpPr>
        <p:spPr>
          <a:xfrm>
            <a:off x="7315200" y="3995928"/>
            <a:ext cx="4327855" cy="896112"/>
          </a:xfrm>
          <a:prstGeom prst="roundRect">
            <a:avLst>
              <a:gd name="adj" fmla="val 10204"/>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8" name="Shape 30"/>
          <p:cNvSpPr/>
          <p:nvPr/>
        </p:nvSpPr>
        <p:spPr>
          <a:xfrm>
            <a:off x="7571232" y="4187952"/>
            <a:ext cx="512064" cy="512064"/>
          </a:xfrm>
          <a:prstGeom prst="ellipse">
            <a:avLst/>
          </a:prstGeom>
          <a:solidFill>
            <a:srgbClr val="FF3621"/>
          </a:solidFill>
          <a:ln/>
        </p:spPr>
        <p:txBody>
          <a:bodyPr/>
          <a:lstStyle/>
          <a:p>
            <a:endParaRPr lang="en-US"/>
          </a:p>
        </p:txBody>
      </p:sp>
      <p:pic>
        <p:nvPicPr>
          <p:cNvPr id="39" name="Image 6" descr="preencoded.png"/>
          <p:cNvPicPr>
            <a:picLocks noChangeAspect="1"/>
          </p:cNvPicPr>
          <p:nvPr/>
        </p:nvPicPr>
        <p:blipFill>
          <a:blip r:embed="rId9"/>
          <a:stretch>
            <a:fillRect/>
          </a:stretch>
        </p:blipFill>
        <p:spPr>
          <a:xfrm>
            <a:off x="7699248" y="4315968"/>
            <a:ext cx="256032" cy="256032"/>
          </a:xfrm>
          <a:prstGeom prst="rect">
            <a:avLst/>
          </a:prstGeom>
        </p:spPr>
      </p:pic>
      <p:sp>
        <p:nvSpPr>
          <p:cNvPr id="40" name="Text 31"/>
          <p:cNvSpPr/>
          <p:nvPr/>
        </p:nvSpPr>
        <p:spPr>
          <a:xfrm>
            <a:off x="8275320" y="4114800"/>
            <a:ext cx="3184855" cy="310896"/>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Schema enforcement</a:t>
            </a:r>
            <a:endParaRPr lang="en-US" sz="1350" dirty="0"/>
          </a:p>
        </p:txBody>
      </p:sp>
      <p:sp>
        <p:nvSpPr>
          <p:cNvPr id="41" name="Text 32"/>
          <p:cNvSpPr/>
          <p:nvPr/>
        </p:nvSpPr>
        <p:spPr>
          <a:xfrm>
            <a:off x="8275320" y="4407408"/>
            <a:ext cx="3184855" cy="4114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Bad-shape data is rejected; schemas can evolve safely.</a:t>
            </a:r>
            <a:endParaRPr lang="en-US" sz="1050" dirty="0"/>
          </a:p>
        </p:txBody>
      </p:sp>
      <p:sp>
        <p:nvSpPr>
          <p:cNvPr id="42" name="Shape 33"/>
          <p:cNvSpPr/>
          <p:nvPr/>
        </p:nvSpPr>
        <p:spPr>
          <a:xfrm>
            <a:off x="7315200" y="5056632"/>
            <a:ext cx="4327855" cy="896112"/>
          </a:xfrm>
          <a:prstGeom prst="roundRect">
            <a:avLst>
              <a:gd name="adj" fmla="val 10204"/>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43" name="Shape 34"/>
          <p:cNvSpPr/>
          <p:nvPr/>
        </p:nvSpPr>
        <p:spPr>
          <a:xfrm>
            <a:off x="7571232" y="5248656"/>
            <a:ext cx="512064" cy="512064"/>
          </a:xfrm>
          <a:prstGeom prst="ellipse">
            <a:avLst/>
          </a:prstGeom>
          <a:solidFill>
            <a:srgbClr val="FF3621"/>
          </a:solidFill>
          <a:ln/>
        </p:spPr>
        <p:txBody>
          <a:bodyPr/>
          <a:lstStyle/>
          <a:p>
            <a:endParaRPr lang="en-US"/>
          </a:p>
        </p:txBody>
      </p:sp>
      <p:pic>
        <p:nvPicPr>
          <p:cNvPr id="44" name="Image 7" descr="preencoded.png"/>
          <p:cNvPicPr>
            <a:picLocks noChangeAspect="1"/>
          </p:cNvPicPr>
          <p:nvPr/>
        </p:nvPicPr>
        <p:blipFill>
          <a:blip r:embed="rId10"/>
          <a:stretch>
            <a:fillRect/>
          </a:stretch>
        </p:blipFill>
        <p:spPr>
          <a:xfrm>
            <a:off x="7699248" y="5376672"/>
            <a:ext cx="256032" cy="256032"/>
          </a:xfrm>
          <a:prstGeom prst="rect">
            <a:avLst/>
          </a:prstGeom>
        </p:spPr>
      </p:pic>
      <p:sp>
        <p:nvSpPr>
          <p:cNvPr id="45" name="Text 35"/>
          <p:cNvSpPr/>
          <p:nvPr/>
        </p:nvSpPr>
        <p:spPr>
          <a:xfrm>
            <a:off x="8275320" y="5175504"/>
            <a:ext cx="3184855" cy="310896"/>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Batch + streaming</a:t>
            </a:r>
            <a:endParaRPr lang="en-US" sz="1350" dirty="0"/>
          </a:p>
        </p:txBody>
      </p:sp>
      <p:sp>
        <p:nvSpPr>
          <p:cNvPr id="46" name="Text 36"/>
          <p:cNvSpPr/>
          <p:nvPr/>
        </p:nvSpPr>
        <p:spPr>
          <a:xfrm>
            <a:off x="8275320" y="5468112"/>
            <a:ext cx="3184855" cy="411480"/>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One table serves both streaming and batch workloads.</a:t>
            </a:r>
            <a:endParaRPr lang="en-US" sz="1050" dirty="0"/>
          </a:p>
        </p:txBody>
      </p:sp>
      <p:sp>
        <p:nvSpPr>
          <p:cNvPr id="47" name="Text 3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8" name="Text 38"/>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COMPUTE THAT SCALES</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Clusters: the engines you turn on and off</a:t>
            </a:r>
            <a:endParaRPr lang="en-US" sz="2900" dirty="0"/>
          </a:p>
        </p:txBody>
      </p:sp>
      <p:sp>
        <p:nvSpPr>
          <p:cNvPr id="5" name="Text 3"/>
          <p:cNvSpPr/>
          <p:nvPr/>
        </p:nvSpPr>
        <p:spPr>
          <a:xfrm>
            <a:off x="548640" y="1572768"/>
            <a:ext cx="11094415" cy="36576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A cluster is a set of cloud machines running Spark. You pick the type and size — Databricks can grow or shrink it for you and switch it off when idle.</a:t>
            </a:r>
            <a:endParaRPr lang="en-US" sz="1250" dirty="0"/>
          </a:p>
        </p:txBody>
      </p:sp>
      <p:sp>
        <p:nvSpPr>
          <p:cNvPr id="6" name="Shape 4"/>
          <p:cNvSpPr/>
          <p:nvPr/>
        </p:nvSpPr>
        <p:spPr>
          <a:xfrm>
            <a:off x="548640" y="1993392"/>
            <a:ext cx="5138928" cy="1792224"/>
          </a:xfrm>
          <a:prstGeom prst="roundRect">
            <a:avLst>
              <a:gd name="adj" fmla="val 510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822960" y="2249424"/>
            <a:ext cx="566928" cy="566928"/>
          </a:xfrm>
          <a:prstGeom prst="ellipse">
            <a:avLst/>
          </a:prstGeom>
          <a:solidFill>
            <a:srgbClr val="0E1B2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64692" y="2391156"/>
            <a:ext cx="283464" cy="283464"/>
          </a:xfrm>
          <a:prstGeom prst="rect">
            <a:avLst/>
          </a:prstGeom>
        </p:spPr>
      </p:pic>
      <p:sp>
        <p:nvSpPr>
          <p:cNvPr id="9" name="Text 6"/>
          <p:cNvSpPr/>
          <p:nvPr/>
        </p:nvSpPr>
        <p:spPr>
          <a:xfrm>
            <a:off x="1536192" y="2212848"/>
            <a:ext cx="3127248" cy="310896"/>
          </a:xfrm>
          <a:prstGeom prst="rect">
            <a:avLst/>
          </a:prstGeom>
          <a:noFill/>
          <a:ln/>
        </p:spPr>
        <p:txBody>
          <a:bodyPr wrap="square" lIns="0" tIns="0" rIns="0" bIns="0" rtlCol="0" anchor="ctr"/>
          <a:lstStyle/>
          <a:p>
            <a:pPr marL="0" indent="0">
              <a:buNone/>
            </a:pPr>
            <a:r>
              <a:rPr lang="en-US" sz="1550" b="1" dirty="0">
                <a:solidFill>
                  <a:srgbClr val="13242E"/>
                </a:solidFill>
                <a:latin typeface="Trebuchet MS" pitchFamily="34" charset="0"/>
                <a:ea typeface="Trebuchet MS" pitchFamily="34" charset="-122"/>
                <a:cs typeface="Trebuchet MS" pitchFamily="34" charset="-120"/>
              </a:rPr>
              <a:t>All-purpose cluster</a:t>
            </a:r>
            <a:endParaRPr lang="en-US" sz="1550" dirty="0"/>
          </a:p>
        </p:txBody>
      </p:sp>
      <p:sp>
        <p:nvSpPr>
          <p:cNvPr id="10" name="Text 7"/>
          <p:cNvSpPr/>
          <p:nvPr/>
        </p:nvSpPr>
        <p:spPr>
          <a:xfrm>
            <a:off x="1536192" y="2505456"/>
            <a:ext cx="3127248" cy="237744"/>
          </a:xfrm>
          <a:prstGeom prst="rect">
            <a:avLst/>
          </a:prstGeom>
          <a:noFill/>
          <a:ln/>
        </p:spPr>
        <p:txBody>
          <a:bodyPr wrap="square" lIns="0" tIns="0" rIns="0" bIns="0" rtlCol="0" anchor="ctr"/>
          <a:lstStyle/>
          <a:p>
            <a:pPr marL="0" indent="0">
              <a:buNone/>
            </a:pPr>
            <a:r>
              <a:rPr lang="en-US" sz="1150" i="1" dirty="0">
                <a:solidFill>
                  <a:srgbClr val="7C8A91"/>
                </a:solidFill>
                <a:latin typeface="Calibri" pitchFamily="34" charset="0"/>
                <a:ea typeface="Calibri" pitchFamily="34" charset="-122"/>
                <a:cs typeface="Calibri" pitchFamily="34" charset="-120"/>
              </a:rPr>
              <a:t>Interactive &amp; shared</a:t>
            </a:r>
            <a:endParaRPr lang="en-US" sz="1150" dirty="0"/>
          </a:p>
        </p:txBody>
      </p:sp>
      <p:sp>
        <p:nvSpPr>
          <p:cNvPr id="11" name="Shape 8"/>
          <p:cNvSpPr/>
          <p:nvPr/>
        </p:nvSpPr>
        <p:spPr>
          <a:xfrm>
            <a:off x="4270248" y="2249424"/>
            <a:ext cx="1143000" cy="329184"/>
          </a:xfrm>
          <a:prstGeom prst="roundRect">
            <a:avLst>
              <a:gd name="adj" fmla="val 50000"/>
            </a:avLst>
          </a:prstGeom>
          <a:solidFill>
            <a:srgbClr val="E7F1F2"/>
          </a:solidFill>
          <a:ln/>
        </p:spPr>
        <p:txBody>
          <a:bodyPr/>
          <a:lstStyle/>
          <a:p>
            <a:endParaRPr lang="en-US"/>
          </a:p>
        </p:txBody>
      </p:sp>
      <p:sp>
        <p:nvSpPr>
          <p:cNvPr id="12" name="Text 9"/>
          <p:cNvSpPr/>
          <p:nvPr/>
        </p:nvSpPr>
        <p:spPr>
          <a:xfrm>
            <a:off x="4270248" y="2249424"/>
            <a:ext cx="1143000" cy="329184"/>
          </a:xfrm>
          <a:prstGeom prst="rect">
            <a:avLst/>
          </a:prstGeom>
          <a:noFill/>
          <a:ln/>
        </p:spPr>
        <p:txBody>
          <a:bodyPr wrap="square" lIns="0" tIns="0" rIns="0" bIns="0" rtlCol="0" anchor="ctr"/>
          <a:lstStyle/>
          <a:p>
            <a:pPr marL="0" indent="0" algn="ctr">
              <a:buNone/>
            </a:pPr>
            <a:r>
              <a:rPr lang="en-US" sz="900" b="1" kern="0" spc="100" dirty="0">
                <a:solidFill>
                  <a:srgbClr val="0A5C68"/>
                </a:solidFill>
                <a:latin typeface="Calibri" pitchFamily="34" charset="0"/>
                <a:ea typeface="Calibri" pitchFamily="34" charset="-122"/>
                <a:cs typeface="Calibri" pitchFamily="34" charset="-120"/>
              </a:rPr>
              <a:t>INTERACTIVE</a:t>
            </a:r>
            <a:endParaRPr lang="en-US" sz="900" dirty="0"/>
          </a:p>
        </p:txBody>
      </p:sp>
      <p:sp>
        <p:nvSpPr>
          <p:cNvPr id="13" name="Text 10"/>
          <p:cNvSpPr/>
          <p:nvPr/>
        </p:nvSpPr>
        <p:spPr>
          <a:xfrm>
            <a:off x="877824" y="2834640"/>
            <a:ext cx="4498848" cy="868680"/>
          </a:xfrm>
          <a:prstGeom prst="rect">
            <a:avLst/>
          </a:prstGeom>
          <a:noFill/>
          <a:ln/>
        </p:spPr>
        <p:txBody>
          <a:bodyPr wrap="square" lIns="0" tIns="0" rIns="0" bIns="0" rtlCol="0" anchor="ctr"/>
          <a:lstStyle/>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For notebooks, exploration &amp; ad-hoc work</a:t>
            </a:r>
            <a:endParaRPr lang="en-US" sz="1150" dirty="0"/>
          </a:p>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Several people can attach and collaborate</a:t>
            </a:r>
            <a:endParaRPr lang="en-US" sz="1150" dirty="0"/>
          </a:p>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Stays running while you work</a:t>
            </a:r>
            <a:endParaRPr lang="en-US" sz="1150" dirty="0"/>
          </a:p>
        </p:txBody>
      </p:sp>
      <p:sp>
        <p:nvSpPr>
          <p:cNvPr id="14" name="Shape 11"/>
          <p:cNvSpPr/>
          <p:nvPr/>
        </p:nvSpPr>
        <p:spPr>
          <a:xfrm>
            <a:off x="548640" y="3968496"/>
            <a:ext cx="5138928" cy="1792224"/>
          </a:xfrm>
          <a:prstGeom prst="roundRect">
            <a:avLst>
              <a:gd name="adj" fmla="val 510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822960" y="4224528"/>
            <a:ext cx="566928" cy="566928"/>
          </a:xfrm>
          <a:prstGeom prst="ellipse">
            <a:avLst/>
          </a:prstGeom>
          <a:solidFill>
            <a:srgbClr val="0E1B2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964692" y="4366260"/>
            <a:ext cx="283464" cy="283464"/>
          </a:xfrm>
          <a:prstGeom prst="rect">
            <a:avLst/>
          </a:prstGeom>
        </p:spPr>
      </p:pic>
      <p:sp>
        <p:nvSpPr>
          <p:cNvPr id="17" name="Text 13"/>
          <p:cNvSpPr/>
          <p:nvPr/>
        </p:nvSpPr>
        <p:spPr>
          <a:xfrm>
            <a:off x="1536192" y="4187952"/>
            <a:ext cx="3127248" cy="310896"/>
          </a:xfrm>
          <a:prstGeom prst="rect">
            <a:avLst/>
          </a:prstGeom>
          <a:noFill/>
          <a:ln/>
        </p:spPr>
        <p:txBody>
          <a:bodyPr wrap="square" lIns="0" tIns="0" rIns="0" bIns="0" rtlCol="0" anchor="ctr"/>
          <a:lstStyle/>
          <a:p>
            <a:pPr marL="0" indent="0">
              <a:buNone/>
            </a:pPr>
            <a:r>
              <a:rPr lang="en-US" sz="1550" b="1" dirty="0">
                <a:solidFill>
                  <a:srgbClr val="13242E"/>
                </a:solidFill>
                <a:latin typeface="Trebuchet MS" pitchFamily="34" charset="0"/>
                <a:ea typeface="Trebuchet MS" pitchFamily="34" charset="-122"/>
                <a:cs typeface="Trebuchet MS" pitchFamily="34" charset="-120"/>
              </a:rPr>
              <a:t>Job cluster</a:t>
            </a:r>
            <a:endParaRPr lang="en-US" sz="1550" dirty="0"/>
          </a:p>
        </p:txBody>
      </p:sp>
      <p:sp>
        <p:nvSpPr>
          <p:cNvPr id="18" name="Text 14"/>
          <p:cNvSpPr/>
          <p:nvPr/>
        </p:nvSpPr>
        <p:spPr>
          <a:xfrm>
            <a:off x="1536192" y="4480560"/>
            <a:ext cx="3127248" cy="237744"/>
          </a:xfrm>
          <a:prstGeom prst="rect">
            <a:avLst/>
          </a:prstGeom>
          <a:noFill/>
          <a:ln/>
        </p:spPr>
        <p:txBody>
          <a:bodyPr wrap="square" lIns="0" tIns="0" rIns="0" bIns="0" rtlCol="0" anchor="ctr"/>
          <a:lstStyle/>
          <a:p>
            <a:pPr marL="0" indent="0">
              <a:buNone/>
            </a:pPr>
            <a:r>
              <a:rPr lang="en-US" sz="1150" i="1" dirty="0">
                <a:solidFill>
                  <a:srgbClr val="7C8A91"/>
                </a:solidFill>
                <a:latin typeface="Calibri" pitchFamily="34" charset="0"/>
                <a:ea typeface="Calibri" pitchFamily="34" charset="-122"/>
                <a:cs typeface="Calibri" pitchFamily="34" charset="-120"/>
              </a:rPr>
              <a:t>Created per automated job</a:t>
            </a:r>
            <a:endParaRPr lang="en-US" sz="1150" dirty="0"/>
          </a:p>
        </p:txBody>
      </p:sp>
      <p:sp>
        <p:nvSpPr>
          <p:cNvPr id="19" name="Shape 15"/>
          <p:cNvSpPr/>
          <p:nvPr/>
        </p:nvSpPr>
        <p:spPr>
          <a:xfrm>
            <a:off x="4270248" y="4224528"/>
            <a:ext cx="1143000" cy="329184"/>
          </a:xfrm>
          <a:prstGeom prst="roundRect">
            <a:avLst>
              <a:gd name="adj" fmla="val 50000"/>
            </a:avLst>
          </a:prstGeom>
          <a:solidFill>
            <a:srgbClr val="F4E7D8"/>
          </a:solidFill>
          <a:ln/>
        </p:spPr>
        <p:txBody>
          <a:bodyPr/>
          <a:lstStyle/>
          <a:p>
            <a:endParaRPr lang="en-US"/>
          </a:p>
        </p:txBody>
      </p:sp>
      <p:sp>
        <p:nvSpPr>
          <p:cNvPr id="20" name="Text 16"/>
          <p:cNvSpPr/>
          <p:nvPr/>
        </p:nvSpPr>
        <p:spPr>
          <a:xfrm>
            <a:off x="4270248" y="4224528"/>
            <a:ext cx="1143000" cy="329184"/>
          </a:xfrm>
          <a:prstGeom prst="rect">
            <a:avLst/>
          </a:prstGeom>
          <a:noFill/>
          <a:ln/>
        </p:spPr>
        <p:txBody>
          <a:bodyPr wrap="square" lIns="0" tIns="0" rIns="0" bIns="0" rtlCol="0" anchor="ctr"/>
          <a:lstStyle/>
          <a:p>
            <a:pPr marL="0" indent="0" algn="ctr">
              <a:buNone/>
            </a:pPr>
            <a:r>
              <a:rPr lang="en-US" sz="900" b="1" kern="0" spc="100" dirty="0">
                <a:solidFill>
                  <a:srgbClr val="8A571F"/>
                </a:solidFill>
                <a:latin typeface="Calibri" pitchFamily="34" charset="0"/>
                <a:ea typeface="Calibri" pitchFamily="34" charset="-122"/>
                <a:cs typeface="Calibri" pitchFamily="34" charset="-120"/>
              </a:rPr>
              <a:t>AUTOMATED</a:t>
            </a:r>
            <a:endParaRPr lang="en-US" sz="900" dirty="0"/>
          </a:p>
        </p:txBody>
      </p:sp>
      <p:sp>
        <p:nvSpPr>
          <p:cNvPr id="21" name="Text 17"/>
          <p:cNvSpPr/>
          <p:nvPr/>
        </p:nvSpPr>
        <p:spPr>
          <a:xfrm>
            <a:off x="877824" y="4809744"/>
            <a:ext cx="4498848" cy="868680"/>
          </a:xfrm>
          <a:prstGeom prst="rect">
            <a:avLst/>
          </a:prstGeom>
          <a:noFill/>
          <a:ln/>
        </p:spPr>
        <p:txBody>
          <a:bodyPr wrap="square" lIns="0" tIns="0" rIns="0" bIns="0" rtlCol="0" anchor="ctr"/>
          <a:lstStyle/>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Spun up for one scheduled job</a:t>
            </a:r>
            <a:endParaRPr lang="en-US" sz="1150" dirty="0"/>
          </a:p>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Torn down automatically when it finishes</a:t>
            </a:r>
            <a:endParaRPr lang="en-US" sz="1150" dirty="0"/>
          </a:p>
          <a:p>
            <a:pPr marL="165100" indent="-165100">
              <a:spcAft>
                <a:spcPts val="600"/>
              </a:spcAft>
              <a:buSzPct val="100000"/>
              <a:buChar char="•"/>
            </a:pPr>
            <a:r>
              <a:rPr lang="en-US" sz="1150" dirty="0">
                <a:solidFill>
                  <a:srgbClr val="38474F"/>
                </a:solidFill>
                <a:latin typeface="Calibri" pitchFamily="34" charset="0"/>
                <a:ea typeface="Calibri" pitchFamily="34" charset="-122"/>
                <a:cs typeface="Calibri" pitchFamily="34" charset="-120"/>
              </a:rPr>
              <a:t>Cheapest way to run production pipelines</a:t>
            </a:r>
            <a:endParaRPr lang="en-US" sz="1150" dirty="0"/>
          </a:p>
        </p:txBody>
      </p:sp>
      <p:sp>
        <p:nvSpPr>
          <p:cNvPr id="22" name="Shape 18"/>
          <p:cNvSpPr/>
          <p:nvPr/>
        </p:nvSpPr>
        <p:spPr>
          <a:xfrm>
            <a:off x="6144768" y="1993392"/>
            <a:ext cx="5498287" cy="1792224"/>
          </a:xfrm>
          <a:prstGeom prst="roundRect">
            <a:avLst>
              <a:gd name="adj" fmla="val 510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3" name="Shape 19"/>
          <p:cNvSpPr/>
          <p:nvPr/>
        </p:nvSpPr>
        <p:spPr>
          <a:xfrm>
            <a:off x="6419088" y="2231136"/>
            <a:ext cx="548640" cy="548640"/>
          </a:xfrm>
          <a:prstGeom prst="ellipse">
            <a:avLst/>
          </a:prstGeom>
          <a:solidFill>
            <a:srgbClr val="FF3621"/>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6556248" y="2368296"/>
            <a:ext cx="274320" cy="274320"/>
          </a:xfrm>
          <a:prstGeom prst="rect">
            <a:avLst/>
          </a:prstGeom>
        </p:spPr>
      </p:pic>
      <p:sp>
        <p:nvSpPr>
          <p:cNvPr id="25" name="Text 20"/>
          <p:cNvSpPr/>
          <p:nvPr/>
        </p:nvSpPr>
        <p:spPr>
          <a:xfrm>
            <a:off x="7095744" y="2267712"/>
            <a:ext cx="4309567" cy="365760"/>
          </a:xfrm>
          <a:prstGeom prst="rect">
            <a:avLst/>
          </a:prstGeom>
          <a:noFill/>
          <a:ln/>
        </p:spPr>
        <p:txBody>
          <a:bodyPr wrap="square" lIns="0" tIns="0" rIns="0" bIns="0" rtlCol="0" anchor="ctr"/>
          <a:lstStyle/>
          <a:p>
            <a:pPr marL="0" indent="0">
              <a:buNone/>
            </a:pPr>
            <a:r>
              <a:rPr lang="en-US" sz="1550" b="1" dirty="0">
                <a:solidFill>
                  <a:srgbClr val="13242E"/>
                </a:solidFill>
                <a:latin typeface="Trebuchet MS" pitchFamily="34" charset="0"/>
                <a:ea typeface="Trebuchet MS" pitchFamily="34" charset="-122"/>
                <a:cs typeface="Trebuchet MS" pitchFamily="34" charset="-120"/>
              </a:rPr>
              <a:t>Autoscaling</a:t>
            </a:r>
            <a:endParaRPr lang="en-US" sz="1550" dirty="0"/>
          </a:p>
        </p:txBody>
      </p:sp>
      <p:sp>
        <p:nvSpPr>
          <p:cNvPr id="26" name="Shape 21"/>
          <p:cNvSpPr/>
          <p:nvPr/>
        </p:nvSpPr>
        <p:spPr>
          <a:xfrm>
            <a:off x="6473952" y="2926080"/>
            <a:ext cx="1371600" cy="566928"/>
          </a:xfrm>
          <a:prstGeom prst="roundRect">
            <a:avLst>
              <a:gd name="adj" fmla="val 12903"/>
            </a:avLst>
          </a:prstGeom>
          <a:solidFill>
            <a:srgbClr val="E9EEF0"/>
          </a:solidFill>
          <a:ln w="12700">
            <a:solidFill>
              <a:srgbClr val="DDE4E7"/>
            </a:solidFill>
            <a:prstDash val="solid"/>
          </a:ln>
        </p:spPr>
        <p:txBody>
          <a:bodyPr/>
          <a:lstStyle/>
          <a:p>
            <a:endParaRPr lang="en-US"/>
          </a:p>
        </p:txBody>
      </p:sp>
      <p:sp>
        <p:nvSpPr>
          <p:cNvPr id="27" name="Text 22"/>
          <p:cNvSpPr/>
          <p:nvPr/>
        </p:nvSpPr>
        <p:spPr>
          <a:xfrm>
            <a:off x="6473952" y="2926080"/>
            <a:ext cx="1371600" cy="566928"/>
          </a:xfrm>
          <a:prstGeom prst="rect">
            <a:avLst/>
          </a:prstGeom>
          <a:noFill/>
          <a:ln/>
        </p:spPr>
        <p:txBody>
          <a:bodyPr wrap="square" lIns="0" tIns="0" rIns="0" bIns="0" rtlCol="0" anchor="ctr"/>
          <a:lstStyle/>
          <a:p>
            <a:pPr marL="0" indent="0" algn="ctr">
              <a:lnSpc>
                <a:spcPct val="90000"/>
              </a:lnSpc>
              <a:buNone/>
            </a:pPr>
            <a:r>
              <a:rPr lang="en-US" sz="900" b="1" kern="0" spc="100" dirty="0">
                <a:solidFill>
                  <a:srgbClr val="7C8A91"/>
                </a:solidFill>
                <a:latin typeface="Calibri" pitchFamily="34" charset="0"/>
                <a:ea typeface="Calibri" pitchFamily="34" charset="-122"/>
                <a:cs typeface="Calibri" pitchFamily="34" charset="-120"/>
              </a:rPr>
              <a:t>MIN
</a:t>
            </a:r>
            <a:endParaRPr lang="en-US" sz="900" dirty="0"/>
          </a:p>
          <a:p>
            <a:pPr marL="0" indent="0" algn="ctr">
              <a:lnSpc>
                <a:spcPct val="90000"/>
              </a:lnSpc>
              <a:buNone/>
            </a:pPr>
            <a:r>
              <a:rPr lang="en-US" sz="1200" b="1" dirty="0">
                <a:solidFill>
                  <a:srgbClr val="13242E"/>
                </a:solidFill>
                <a:latin typeface="Calibri" pitchFamily="34" charset="0"/>
                <a:ea typeface="Calibri" pitchFamily="34" charset="-122"/>
                <a:cs typeface="Calibri" pitchFamily="34" charset="-120"/>
              </a:rPr>
              <a:t>2 workers</a:t>
            </a:r>
            <a:endParaRPr lang="en-US" sz="900" dirty="0"/>
          </a:p>
        </p:txBody>
      </p:sp>
      <p:sp>
        <p:nvSpPr>
          <p:cNvPr id="28" name="Shape 23"/>
          <p:cNvSpPr/>
          <p:nvPr/>
        </p:nvSpPr>
        <p:spPr>
          <a:xfrm>
            <a:off x="8019288" y="3071287"/>
            <a:ext cx="384048" cy="276515"/>
          </a:xfrm>
          <a:prstGeom prst="chevron">
            <a:avLst/>
          </a:prstGeom>
          <a:solidFill>
            <a:srgbClr val="FF3621"/>
          </a:solidFill>
          <a:ln/>
        </p:spPr>
        <p:txBody>
          <a:bodyPr/>
          <a:lstStyle/>
          <a:p>
            <a:endParaRPr lang="en-US"/>
          </a:p>
        </p:txBody>
      </p:sp>
      <p:sp>
        <p:nvSpPr>
          <p:cNvPr id="29" name="Shape 24"/>
          <p:cNvSpPr/>
          <p:nvPr/>
        </p:nvSpPr>
        <p:spPr>
          <a:xfrm>
            <a:off x="8577072" y="2926080"/>
            <a:ext cx="1371600" cy="566928"/>
          </a:xfrm>
          <a:prstGeom prst="roundRect">
            <a:avLst>
              <a:gd name="adj" fmla="val 12903"/>
            </a:avLst>
          </a:prstGeom>
          <a:solidFill>
            <a:srgbClr val="0E1B24"/>
          </a:solidFill>
          <a:ln/>
        </p:spPr>
        <p:txBody>
          <a:bodyPr/>
          <a:lstStyle/>
          <a:p>
            <a:endParaRPr lang="en-US"/>
          </a:p>
        </p:txBody>
      </p:sp>
      <p:sp>
        <p:nvSpPr>
          <p:cNvPr id="30" name="Text 25"/>
          <p:cNvSpPr/>
          <p:nvPr/>
        </p:nvSpPr>
        <p:spPr>
          <a:xfrm>
            <a:off x="8577072" y="2926080"/>
            <a:ext cx="1371600" cy="566928"/>
          </a:xfrm>
          <a:prstGeom prst="rect">
            <a:avLst/>
          </a:prstGeom>
          <a:noFill/>
          <a:ln/>
        </p:spPr>
        <p:txBody>
          <a:bodyPr wrap="square" lIns="0" tIns="0" rIns="0" bIns="0" rtlCol="0" anchor="ctr"/>
          <a:lstStyle/>
          <a:p>
            <a:pPr marL="0" indent="0" algn="ctr">
              <a:lnSpc>
                <a:spcPct val="90000"/>
              </a:lnSpc>
              <a:buNone/>
            </a:pPr>
            <a:r>
              <a:rPr lang="en-US" sz="900" b="1" kern="0" spc="100" dirty="0">
                <a:solidFill>
                  <a:srgbClr val="FF6F4D"/>
                </a:solidFill>
                <a:latin typeface="Calibri" pitchFamily="34" charset="0"/>
                <a:ea typeface="Calibri" pitchFamily="34" charset="-122"/>
                <a:cs typeface="Calibri" pitchFamily="34" charset="-120"/>
              </a:rPr>
              <a:t>MAX
</a:t>
            </a:r>
            <a:endParaRPr lang="en-US" sz="900" dirty="0"/>
          </a:p>
          <a:p>
            <a:pPr marL="0" indent="0" algn="ctr">
              <a:lnSpc>
                <a:spcPct val="90000"/>
              </a:lnSpc>
              <a:buNone/>
            </a:pPr>
            <a:r>
              <a:rPr lang="en-US" sz="1200" b="1" dirty="0">
                <a:solidFill>
                  <a:srgbClr val="FFFFFF"/>
                </a:solidFill>
                <a:latin typeface="Calibri" pitchFamily="34" charset="0"/>
                <a:ea typeface="Calibri" pitchFamily="34" charset="-122"/>
                <a:cs typeface="Calibri" pitchFamily="34" charset="-120"/>
              </a:rPr>
              <a:t>8 workers</a:t>
            </a:r>
            <a:endParaRPr lang="en-US" sz="900" dirty="0"/>
          </a:p>
        </p:txBody>
      </p:sp>
      <p:sp>
        <p:nvSpPr>
          <p:cNvPr id="31" name="Text 26"/>
          <p:cNvSpPr/>
          <p:nvPr/>
        </p:nvSpPr>
        <p:spPr>
          <a:xfrm>
            <a:off x="10131552" y="2889504"/>
            <a:ext cx="1237183" cy="676656"/>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Adds workers when load is high, removes them when idle — you set the floor and ceiling.</a:t>
            </a:r>
            <a:endParaRPr lang="en-US" sz="1050" dirty="0"/>
          </a:p>
        </p:txBody>
      </p:sp>
      <p:sp>
        <p:nvSpPr>
          <p:cNvPr id="32" name="Shape 27"/>
          <p:cNvSpPr/>
          <p:nvPr/>
        </p:nvSpPr>
        <p:spPr>
          <a:xfrm>
            <a:off x="6144768" y="3968496"/>
            <a:ext cx="5498287" cy="1792224"/>
          </a:xfrm>
          <a:prstGeom prst="roundRect">
            <a:avLst>
              <a:gd name="adj" fmla="val 5102"/>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3" name="Text 28"/>
          <p:cNvSpPr/>
          <p:nvPr/>
        </p:nvSpPr>
        <p:spPr>
          <a:xfrm>
            <a:off x="6455664" y="4133088"/>
            <a:ext cx="4949647" cy="310896"/>
          </a:xfrm>
          <a:prstGeom prst="rect">
            <a:avLst/>
          </a:prstGeom>
          <a:noFill/>
          <a:ln/>
        </p:spPr>
        <p:txBody>
          <a:bodyPr wrap="square" lIns="0" tIns="0" rIns="0" bIns="0" rtlCol="0" anchor="ctr"/>
          <a:lstStyle/>
          <a:p>
            <a:pPr marL="0" indent="0">
              <a:buNone/>
            </a:pPr>
            <a:r>
              <a:rPr lang="en-US" sz="1450" b="1" dirty="0">
                <a:solidFill>
                  <a:srgbClr val="13242E"/>
                </a:solidFill>
                <a:latin typeface="Trebuchet MS" pitchFamily="34" charset="0"/>
                <a:ea typeface="Trebuchet MS" pitchFamily="34" charset="-122"/>
                <a:cs typeface="Trebuchet MS" pitchFamily="34" charset="-120"/>
              </a:rPr>
              <a:t>Classic vs Serverless compute</a:t>
            </a:r>
            <a:endParaRPr lang="en-US" sz="1450" dirty="0"/>
          </a:p>
        </p:txBody>
      </p:sp>
      <p:sp>
        <p:nvSpPr>
          <p:cNvPr id="34" name="Shape 29"/>
          <p:cNvSpPr/>
          <p:nvPr/>
        </p:nvSpPr>
        <p:spPr>
          <a:xfrm>
            <a:off x="6455664" y="4535424"/>
            <a:ext cx="420624" cy="420624"/>
          </a:xfrm>
          <a:prstGeom prst="ellipse">
            <a:avLst/>
          </a:prstGeom>
          <a:solidFill>
            <a:srgbClr val="0E7C8B"/>
          </a:solidFill>
          <a:ln/>
        </p:spPr>
        <p:txBody>
          <a:bodyPr/>
          <a:lstStyle/>
          <a:p>
            <a:endParaRPr lang="en-US"/>
          </a:p>
        </p:txBody>
      </p:sp>
      <p:pic>
        <p:nvPicPr>
          <p:cNvPr id="35" name="Image 3" descr="preencoded.png"/>
          <p:cNvPicPr>
            <a:picLocks noChangeAspect="1"/>
          </p:cNvPicPr>
          <p:nvPr/>
        </p:nvPicPr>
        <p:blipFill>
          <a:blip r:embed="rId6"/>
          <a:stretch>
            <a:fillRect/>
          </a:stretch>
        </p:blipFill>
        <p:spPr>
          <a:xfrm>
            <a:off x="6560820" y="4640580"/>
            <a:ext cx="210312" cy="210312"/>
          </a:xfrm>
          <a:prstGeom prst="rect">
            <a:avLst/>
          </a:prstGeom>
        </p:spPr>
      </p:pic>
      <p:sp>
        <p:nvSpPr>
          <p:cNvPr id="36" name="Text 30"/>
          <p:cNvSpPr/>
          <p:nvPr/>
        </p:nvSpPr>
        <p:spPr>
          <a:xfrm>
            <a:off x="6986016" y="4489704"/>
            <a:ext cx="4401007" cy="512064"/>
          </a:xfrm>
          <a:prstGeom prst="rect">
            <a:avLst/>
          </a:prstGeom>
          <a:noFill/>
          <a:ln/>
        </p:spPr>
        <p:txBody>
          <a:bodyPr wrap="square" lIns="0" tIns="0" rIns="0" bIns="0" rtlCol="0" anchor="ctr"/>
          <a:lstStyle/>
          <a:p>
            <a:pPr marL="0" indent="0">
              <a:buNone/>
            </a:pPr>
            <a:r>
              <a:rPr lang="en-US" sz="1050" b="1" dirty="0">
                <a:solidFill>
                  <a:srgbClr val="13242E"/>
                </a:solidFill>
                <a:latin typeface="Calibri" pitchFamily="34" charset="0"/>
                <a:ea typeface="Calibri" pitchFamily="34" charset="-122"/>
                <a:cs typeface="Calibri" pitchFamily="34" charset="-120"/>
              </a:rPr>
              <a:t>Classic  —  </a:t>
            </a:r>
            <a:r>
              <a:rPr lang="en-US" sz="1050" dirty="0">
                <a:solidFill>
                  <a:srgbClr val="38474F"/>
                </a:solidFill>
                <a:latin typeface="Calibri" pitchFamily="34" charset="0"/>
                <a:ea typeface="Calibri" pitchFamily="34" charset="-122"/>
                <a:cs typeface="Calibri" pitchFamily="34" charset="-120"/>
              </a:rPr>
              <a:t>runs in your own cloud account (VPC); you choose machine types; takes a couple of minutes to start.</a:t>
            </a:r>
            <a:endParaRPr lang="en-US" sz="1050" dirty="0"/>
          </a:p>
        </p:txBody>
      </p:sp>
      <p:sp>
        <p:nvSpPr>
          <p:cNvPr id="37" name="Shape 31"/>
          <p:cNvSpPr/>
          <p:nvPr/>
        </p:nvSpPr>
        <p:spPr>
          <a:xfrm>
            <a:off x="6455664" y="5138928"/>
            <a:ext cx="420624" cy="420624"/>
          </a:xfrm>
          <a:prstGeom prst="ellipse">
            <a:avLst/>
          </a:prstGeom>
          <a:solidFill>
            <a:srgbClr val="FF3621"/>
          </a:solidFill>
          <a:ln/>
        </p:spPr>
        <p:txBody>
          <a:bodyPr/>
          <a:lstStyle/>
          <a:p>
            <a:endParaRPr lang="en-US"/>
          </a:p>
        </p:txBody>
      </p:sp>
      <p:pic>
        <p:nvPicPr>
          <p:cNvPr id="38" name="Image 4" descr="preencoded.png"/>
          <p:cNvPicPr>
            <a:picLocks noChangeAspect="1"/>
          </p:cNvPicPr>
          <p:nvPr/>
        </p:nvPicPr>
        <p:blipFill>
          <a:blip r:embed="rId7"/>
          <a:stretch>
            <a:fillRect/>
          </a:stretch>
        </p:blipFill>
        <p:spPr>
          <a:xfrm>
            <a:off x="6560820" y="5244084"/>
            <a:ext cx="210312" cy="210312"/>
          </a:xfrm>
          <a:prstGeom prst="rect">
            <a:avLst/>
          </a:prstGeom>
        </p:spPr>
      </p:pic>
      <p:sp>
        <p:nvSpPr>
          <p:cNvPr id="39" name="Text 32"/>
          <p:cNvSpPr/>
          <p:nvPr/>
        </p:nvSpPr>
        <p:spPr>
          <a:xfrm>
            <a:off x="6986016" y="5093208"/>
            <a:ext cx="4401007" cy="512064"/>
          </a:xfrm>
          <a:prstGeom prst="rect">
            <a:avLst/>
          </a:prstGeom>
          <a:noFill/>
          <a:ln/>
        </p:spPr>
        <p:txBody>
          <a:bodyPr wrap="square" lIns="0" tIns="0" rIns="0" bIns="0" rtlCol="0" anchor="ctr"/>
          <a:lstStyle/>
          <a:p>
            <a:pPr marL="0" indent="0">
              <a:buNone/>
            </a:pPr>
            <a:r>
              <a:rPr lang="en-US" sz="1050" b="1" dirty="0">
                <a:solidFill>
                  <a:srgbClr val="13242E"/>
                </a:solidFill>
                <a:latin typeface="Calibri" pitchFamily="34" charset="0"/>
                <a:ea typeface="Calibri" pitchFamily="34" charset="-122"/>
                <a:cs typeface="Calibri" pitchFamily="34" charset="-120"/>
              </a:rPr>
              <a:t>Serverless  —  </a:t>
            </a:r>
            <a:r>
              <a:rPr lang="en-US" sz="1050" dirty="0">
                <a:solidFill>
                  <a:srgbClr val="38474F"/>
                </a:solidFill>
                <a:latin typeface="Calibri" pitchFamily="34" charset="0"/>
                <a:ea typeface="Calibri" pitchFamily="34" charset="-122"/>
                <a:cs typeface="Calibri" pitchFamily="34" charset="-120"/>
              </a:rPr>
              <a:t>Databricks runs the machines for you; starts in seconds; nothing to size or configure.</a:t>
            </a:r>
            <a:endParaRPr lang="en-US" sz="1050" dirty="0"/>
          </a:p>
        </p:txBody>
      </p:sp>
      <p:sp>
        <p:nvSpPr>
          <p:cNvPr id="40" name="Shape 33"/>
          <p:cNvSpPr/>
          <p:nvPr/>
        </p:nvSpPr>
        <p:spPr>
          <a:xfrm>
            <a:off x="548640" y="5742432"/>
            <a:ext cx="11094415" cy="512064"/>
          </a:xfrm>
          <a:prstGeom prst="roundRect">
            <a:avLst>
              <a:gd name="adj" fmla="val 14286"/>
            </a:avLst>
          </a:prstGeom>
          <a:solidFill>
            <a:srgbClr val="FFF6E6"/>
          </a:solidFill>
          <a:ln w="12700">
            <a:solidFill>
              <a:srgbClr val="F0DCAE"/>
            </a:solidFill>
            <a:prstDash val="solid"/>
          </a:ln>
        </p:spPr>
        <p:txBody>
          <a:bodyPr/>
          <a:lstStyle/>
          <a:p>
            <a:endParaRPr lang="en-US"/>
          </a:p>
        </p:txBody>
      </p:sp>
      <p:sp>
        <p:nvSpPr>
          <p:cNvPr id="41" name="Shape 34"/>
          <p:cNvSpPr/>
          <p:nvPr/>
        </p:nvSpPr>
        <p:spPr>
          <a:xfrm>
            <a:off x="804672" y="5852160"/>
            <a:ext cx="292608" cy="292608"/>
          </a:xfrm>
          <a:prstGeom prst="ellipse">
            <a:avLst/>
          </a:prstGeom>
          <a:solidFill>
            <a:srgbClr val="E0A024"/>
          </a:solidFill>
          <a:ln/>
        </p:spPr>
        <p:txBody>
          <a:bodyPr/>
          <a:lstStyle/>
          <a:p>
            <a:endParaRPr lang="en-US"/>
          </a:p>
        </p:txBody>
      </p:sp>
      <p:pic>
        <p:nvPicPr>
          <p:cNvPr id="42" name="Image 5" descr="preencoded.png"/>
          <p:cNvPicPr>
            <a:picLocks noChangeAspect="1"/>
          </p:cNvPicPr>
          <p:nvPr/>
        </p:nvPicPr>
        <p:blipFill>
          <a:blip r:embed="rId8"/>
          <a:stretch>
            <a:fillRect/>
          </a:stretch>
        </p:blipFill>
        <p:spPr>
          <a:xfrm>
            <a:off x="877824" y="5925312"/>
            <a:ext cx="146304" cy="146304"/>
          </a:xfrm>
          <a:prstGeom prst="rect">
            <a:avLst/>
          </a:prstGeom>
        </p:spPr>
      </p:pic>
      <p:sp>
        <p:nvSpPr>
          <p:cNvPr id="43" name="Text 35"/>
          <p:cNvSpPr/>
          <p:nvPr/>
        </p:nvSpPr>
        <p:spPr>
          <a:xfrm>
            <a:off x="1225296" y="5742432"/>
            <a:ext cx="10180015" cy="512064"/>
          </a:xfrm>
          <a:prstGeom prst="rect">
            <a:avLst/>
          </a:prstGeom>
          <a:noFill/>
          <a:ln/>
        </p:spPr>
        <p:txBody>
          <a:bodyPr wrap="square" lIns="0" tIns="0" rIns="0" bIns="0" rtlCol="0" anchor="ctr"/>
          <a:lstStyle/>
          <a:p>
            <a:pPr marL="0" indent="0">
              <a:buNone/>
            </a:pPr>
            <a:r>
              <a:rPr lang="en-US" sz="1150" b="1" dirty="0">
                <a:solidFill>
                  <a:srgbClr val="8A6212"/>
                </a:solidFill>
                <a:latin typeface="Calibri" pitchFamily="34" charset="0"/>
                <a:ea typeface="Calibri" pitchFamily="34" charset="-122"/>
                <a:cs typeface="Calibri" pitchFamily="34" charset="-120"/>
              </a:rPr>
              <a:t>Cost tip:  </a:t>
            </a:r>
            <a:r>
              <a:rPr lang="en-US" sz="1150" dirty="0">
                <a:solidFill>
                  <a:srgbClr val="38474F"/>
                </a:solidFill>
                <a:latin typeface="Calibri" pitchFamily="34" charset="0"/>
                <a:ea typeface="Calibri" pitchFamily="34" charset="-122"/>
                <a:cs typeface="Calibri" pitchFamily="34" charset="-120"/>
              </a:rPr>
              <a:t>turn on auto-terminate for idle clusters, and use job clusters for anything scheduled.</a:t>
            </a:r>
            <a:endParaRPr lang="en-US" sz="1150" dirty="0"/>
          </a:p>
        </p:txBody>
      </p:sp>
      <p:sp>
        <p:nvSpPr>
          <p:cNvPr id="44" name="Text 36"/>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45" name="Text 37"/>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GOVERN EVERYTHING IN ONE PLACE</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Unity Catalog: one layer of security &amp; governance</a:t>
            </a:r>
            <a:endParaRPr lang="en-US" sz="2900" dirty="0"/>
          </a:p>
        </p:txBody>
      </p:sp>
      <p:sp>
        <p:nvSpPr>
          <p:cNvPr id="5" name="Text 3"/>
          <p:cNvSpPr/>
          <p:nvPr/>
        </p:nvSpPr>
        <p:spPr>
          <a:xfrm>
            <a:off x="548640" y="1572768"/>
            <a:ext cx="11094415" cy="36576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Manage who can see what across every workspace — plus an automatic record of where data came from and who touched it.</a:t>
            </a:r>
            <a:endParaRPr lang="en-US" sz="1250" dirty="0"/>
          </a:p>
        </p:txBody>
      </p:sp>
      <p:sp>
        <p:nvSpPr>
          <p:cNvPr id="6" name="Text 4"/>
          <p:cNvSpPr/>
          <p:nvPr/>
        </p:nvSpPr>
        <p:spPr>
          <a:xfrm>
            <a:off x="548640" y="1828800"/>
            <a:ext cx="4572000" cy="256032"/>
          </a:xfrm>
          <a:prstGeom prst="rect">
            <a:avLst/>
          </a:prstGeom>
          <a:noFill/>
          <a:ln/>
        </p:spPr>
        <p:txBody>
          <a:bodyPr wrap="square" lIns="0" tIns="0" rIns="0" bIns="0" rtlCol="0" anchor="ctr"/>
          <a:lstStyle/>
          <a:p>
            <a:pPr marL="0" indent="0">
              <a:buNone/>
            </a:pPr>
            <a:r>
              <a:rPr lang="en-US" sz="1100" b="1" kern="0" spc="150" dirty="0">
                <a:solidFill>
                  <a:srgbClr val="7C8A91"/>
                </a:solidFill>
                <a:latin typeface="Calibri" pitchFamily="34" charset="0"/>
                <a:ea typeface="Calibri" pitchFamily="34" charset="-122"/>
                <a:cs typeface="Calibri" pitchFamily="34" charset="-120"/>
              </a:rPr>
              <a:t>THE THREE-LEVEL NAMESPACE</a:t>
            </a:r>
            <a:endParaRPr lang="en-US" sz="1100" dirty="0"/>
          </a:p>
        </p:txBody>
      </p:sp>
      <p:sp>
        <p:nvSpPr>
          <p:cNvPr id="7" name="Shape 5"/>
          <p:cNvSpPr/>
          <p:nvPr/>
        </p:nvSpPr>
        <p:spPr>
          <a:xfrm>
            <a:off x="548640" y="2157984"/>
            <a:ext cx="4572000" cy="841248"/>
          </a:xfrm>
          <a:prstGeom prst="roundRect">
            <a:avLst>
              <a:gd name="adj" fmla="val 10870"/>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8" name="Shape 6"/>
          <p:cNvSpPr/>
          <p:nvPr/>
        </p:nvSpPr>
        <p:spPr>
          <a:xfrm>
            <a:off x="548640" y="2157984"/>
            <a:ext cx="109728" cy="841248"/>
          </a:xfrm>
          <a:prstGeom prst="rect">
            <a:avLst/>
          </a:prstGeom>
          <a:solidFill>
            <a:srgbClr val="FF3621"/>
          </a:solidFill>
          <a:ln/>
        </p:spPr>
        <p:txBody>
          <a:bodyPr/>
          <a:lstStyle/>
          <a:p>
            <a:endParaRPr lang="en-US"/>
          </a:p>
        </p:txBody>
      </p:sp>
      <p:sp>
        <p:nvSpPr>
          <p:cNvPr id="9" name="Shape 7"/>
          <p:cNvSpPr/>
          <p:nvPr/>
        </p:nvSpPr>
        <p:spPr>
          <a:xfrm>
            <a:off x="859536" y="2322576"/>
            <a:ext cx="512064" cy="512064"/>
          </a:xfrm>
          <a:prstGeom prst="ellipse">
            <a:avLst/>
          </a:prstGeom>
          <a:solidFill>
            <a:srgbClr val="FF3621"/>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987552" y="2450592"/>
            <a:ext cx="256032" cy="256032"/>
          </a:xfrm>
          <a:prstGeom prst="rect">
            <a:avLst/>
          </a:prstGeom>
        </p:spPr>
      </p:pic>
      <p:sp>
        <p:nvSpPr>
          <p:cNvPr id="11" name="Text 8"/>
          <p:cNvSpPr/>
          <p:nvPr/>
        </p:nvSpPr>
        <p:spPr>
          <a:xfrm>
            <a:off x="1572768" y="2304288"/>
            <a:ext cx="3291840" cy="310896"/>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Catalog</a:t>
            </a:r>
            <a:endParaRPr lang="en-US" sz="1500" dirty="0"/>
          </a:p>
        </p:txBody>
      </p:sp>
      <p:sp>
        <p:nvSpPr>
          <p:cNvPr id="12" name="Text 9"/>
          <p:cNvSpPr/>
          <p:nvPr/>
        </p:nvSpPr>
        <p:spPr>
          <a:xfrm>
            <a:off x="1572768" y="2615184"/>
            <a:ext cx="3291840" cy="27432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top-level container (per team or environment)</a:t>
            </a:r>
            <a:endParaRPr lang="en-US" sz="1100" dirty="0"/>
          </a:p>
        </p:txBody>
      </p:sp>
      <p:sp>
        <p:nvSpPr>
          <p:cNvPr id="13" name="Shape 10"/>
          <p:cNvSpPr/>
          <p:nvPr/>
        </p:nvSpPr>
        <p:spPr>
          <a:xfrm rot="10800000">
            <a:off x="2755636" y="3035808"/>
            <a:ext cx="158008" cy="219456"/>
          </a:xfrm>
          <a:prstGeom prst="triangle">
            <a:avLst/>
          </a:prstGeom>
          <a:solidFill>
            <a:srgbClr val="FF3621"/>
          </a:solidFill>
          <a:ln/>
        </p:spPr>
        <p:txBody>
          <a:bodyPr/>
          <a:lstStyle/>
          <a:p>
            <a:endParaRPr lang="en-US"/>
          </a:p>
        </p:txBody>
      </p:sp>
      <p:sp>
        <p:nvSpPr>
          <p:cNvPr id="14" name="Shape 11"/>
          <p:cNvSpPr/>
          <p:nvPr/>
        </p:nvSpPr>
        <p:spPr>
          <a:xfrm>
            <a:off x="548640" y="3291840"/>
            <a:ext cx="4572000" cy="841248"/>
          </a:xfrm>
          <a:prstGeom prst="roundRect">
            <a:avLst>
              <a:gd name="adj" fmla="val 10870"/>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5" name="Shape 12"/>
          <p:cNvSpPr/>
          <p:nvPr/>
        </p:nvSpPr>
        <p:spPr>
          <a:xfrm>
            <a:off x="548640" y="3291840"/>
            <a:ext cx="109728" cy="841248"/>
          </a:xfrm>
          <a:prstGeom prst="rect">
            <a:avLst/>
          </a:prstGeom>
          <a:solidFill>
            <a:srgbClr val="0E7C8B"/>
          </a:solidFill>
          <a:ln/>
        </p:spPr>
        <p:txBody>
          <a:bodyPr/>
          <a:lstStyle/>
          <a:p>
            <a:endParaRPr lang="en-US"/>
          </a:p>
        </p:txBody>
      </p:sp>
      <p:sp>
        <p:nvSpPr>
          <p:cNvPr id="16" name="Shape 13"/>
          <p:cNvSpPr/>
          <p:nvPr/>
        </p:nvSpPr>
        <p:spPr>
          <a:xfrm>
            <a:off x="859536" y="3456432"/>
            <a:ext cx="512064" cy="512064"/>
          </a:xfrm>
          <a:prstGeom prst="ellipse">
            <a:avLst/>
          </a:prstGeom>
          <a:solidFill>
            <a:srgbClr val="0E7C8B"/>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987552" y="3584448"/>
            <a:ext cx="256032" cy="256032"/>
          </a:xfrm>
          <a:prstGeom prst="rect">
            <a:avLst/>
          </a:prstGeom>
        </p:spPr>
      </p:pic>
      <p:sp>
        <p:nvSpPr>
          <p:cNvPr id="18" name="Text 14"/>
          <p:cNvSpPr/>
          <p:nvPr/>
        </p:nvSpPr>
        <p:spPr>
          <a:xfrm>
            <a:off x="1572768" y="3438144"/>
            <a:ext cx="3291840" cy="310896"/>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Schema</a:t>
            </a:r>
            <a:endParaRPr lang="en-US" sz="1500" dirty="0"/>
          </a:p>
        </p:txBody>
      </p:sp>
      <p:sp>
        <p:nvSpPr>
          <p:cNvPr id="19" name="Text 15"/>
          <p:cNvSpPr/>
          <p:nvPr/>
        </p:nvSpPr>
        <p:spPr>
          <a:xfrm>
            <a:off x="1572768" y="3749040"/>
            <a:ext cx="3291840" cy="27432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a group of related tables &amp; views</a:t>
            </a:r>
            <a:endParaRPr lang="en-US" sz="1100" dirty="0"/>
          </a:p>
        </p:txBody>
      </p:sp>
      <p:sp>
        <p:nvSpPr>
          <p:cNvPr id="20" name="Shape 16"/>
          <p:cNvSpPr/>
          <p:nvPr/>
        </p:nvSpPr>
        <p:spPr>
          <a:xfrm rot="10800000">
            <a:off x="2755636" y="4169664"/>
            <a:ext cx="158008" cy="219456"/>
          </a:xfrm>
          <a:prstGeom prst="triangle">
            <a:avLst/>
          </a:prstGeom>
          <a:solidFill>
            <a:srgbClr val="FF3621"/>
          </a:solidFill>
          <a:ln/>
        </p:spPr>
        <p:txBody>
          <a:bodyPr/>
          <a:lstStyle/>
          <a:p>
            <a:endParaRPr lang="en-US"/>
          </a:p>
        </p:txBody>
      </p:sp>
      <p:sp>
        <p:nvSpPr>
          <p:cNvPr id="21" name="Shape 17"/>
          <p:cNvSpPr/>
          <p:nvPr/>
        </p:nvSpPr>
        <p:spPr>
          <a:xfrm>
            <a:off x="548640" y="4425696"/>
            <a:ext cx="4572000" cy="841248"/>
          </a:xfrm>
          <a:prstGeom prst="roundRect">
            <a:avLst>
              <a:gd name="adj" fmla="val 10870"/>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2" name="Shape 18"/>
          <p:cNvSpPr/>
          <p:nvPr/>
        </p:nvSpPr>
        <p:spPr>
          <a:xfrm>
            <a:off x="548640" y="4425696"/>
            <a:ext cx="109728" cy="841248"/>
          </a:xfrm>
          <a:prstGeom prst="rect">
            <a:avLst/>
          </a:prstGeom>
          <a:solidFill>
            <a:srgbClr val="0E1B24"/>
          </a:solidFill>
          <a:ln/>
        </p:spPr>
        <p:txBody>
          <a:bodyPr/>
          <a:lstStyle/>
          <a:p>
            <a:endParaRPr lang="en-US"/>
          </a:p>
        </p:txBody>
      </p:sp>
      <p:sp>
        <p:nvSpPr>
          <p:cNvPr id="23" name="Shape 19"/>
          <p:cNvSpPr/>
          <p:nvPr/>
        </p:nvSpPr>
        <p:spPr>
          <a:xfrm>
            <a:off x="859536" y="4590288"/>
            <a:ext cx="512064" cy="512064"/>
          </a:xfrm>
          <a:prstGeom prst="ellipse">
            <a:avLst/>
          </a:prstGeom>
          <a:solidFill>
            <a:srgbClr val="0E1B24"/>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987552" y="4718304"/>
            <a:ext cx="256032" cy="256032"/>
          </a:xfrm>
          <a:prstGeom prst="rect">
            <a:avLst/>
          </a:prstGeom>
        </p:spPr>
      </p:pic>
      <p:sp>
        <p:nvSpPr>
          <p:cNvPr id="25" name="Text 20"/>
          <p:cNvSpPr/>
          <p:nvPr/>
        </p:nvSpPr>
        <p:spPr>
          <a:xfrm>
            <a:off x="1572768" y="4572000"/>
            <a:ext cx="3291840" cy="310896"/>
          </a:xfrm>
          <a:prstGeom prst="rect">
            <a:avLst/>
          </a:prstGeom>
          <a:noFill/>
          <a:ln/>
        </p:spPr>
        <p:txBody>
          <a:bodyPr wrap="square" lIns="0" tIns="0" rIns="0" bIns="0" rtlCol="0" anchor="ctr"/>
          <a:lstStyle/>
          <a:p>
            <a:pPr marL="0" indent="0">
              <a:buNone/>
            </a:pPr>
            <a:r>
              <a:rPr lang="en-US" sz="1500" b="1" dirty="0">
                <a:solidFill>
                  <a:srgbClr val="13242E"/>
                </a:solidFill>
                <a:latin typeface="Trebuchet MS" pitchFamily="34" charset="0"/>
                <a:ea typeface="Trebuchet MS" pitchFamily="34" charset="-122"/>
                <a:cs typeface="Trebuchet MS" pitchFamily="34" charset="-120"/>
              </a:rPr>
              <a:t>Table / View</a:t>
            </a:r>
            <a:endParaRPr lang="en-US" sz="1500" dirty="0"/>
          </a:p>
        </p:txBody>
      </p:sp>
      <p:sp>
        <p:nvSpPr>
          <p:cNvPr id="26" name="Text 21"/>
          <p:cNvSpPr/>
          <p:nvPr/>
        </p:nvSpPr>
        <p:spPr>
          <a:xfrm>
            <a:off x="1572768" y="4882896"/>
            <a:ext cx="3291840" cy="274320"/>
          </a:xfrm>
          <a:prstGeom prst="rect">
            <a:avLst/>
          </a:prstGeom>
          <a:noFill/>
          <a:ln/>
        </p:spPr>
        <p:txBody>
          <a:bodyPr wrap="square" lIns="0" tIns="0" rIns="0" bIns="0" rtlCol="0" anchor="ctr"/>
          <a:lstStyle/>
          <a:p>
            <a:pPr marL="0" indent="0">
              <a:buNone/>
            </a:pPr>
            <a:r>
              <a:rPr lang="en-US" sz="1100" dirty="0">
                <a:solidFill>
                  <a:srgbClr val="38474F"/>
                </a:solidFill>
                <a:latin typeface="Calibri" pitchFamily="34" charset="0"/>
                <a:ea typeface="Calibri" pitchFamily="34" charset="-122"/>
                <a:cs typeface="Calibri" pitchFamily="34" charset="-120"/>
              </a:rPr>
              <a:t>the actual data objects you query</a:t>
            </a:r>
            <a:endParaRPr lang="en-US" sz="1100" dirty="0"/>
          </a:p>
        </p:txBody>
      </p:sp>
      <p:sp>
        <p:nvSpPr>
          <p:cNvPr id="27" name="Shape 22"/>
          <p:cNvSpPr/>
          <p:nvPr/>
        </p:nvSpPr>
        <p:spPr>
          <a:xfrm>
            <a:off x="548640" y="5321808"/>
            <a:ext cx="4572000" cy="457200"/>
          </a:xfrm>
          <a:prstGeom prst="roundRect">
            <a:avLst>
              <a:gd name="adj" fmla="val 16000"/>
            </a:avLst>
          </a:prstGeom>
          <a:solidFill>
            <a:srgbClr val="0E1B24"/>
          </a:solidFill>
          <a:ln/>
        </p:spPr>
        <p:txBody>
          <a:bodyPr/>
          <a:lstStyle/>
          <a:p>
            <a:endParaRPr lang="en-US"/>
          </a:p>
        </p:txBody>
      </p:sp>
      <p:sp>
        <p:nvSpPr>
          <p:cNvPr id="28" name="Text 23"/>
          <p:cNvSpPr/>
          <p:nvPr/>
        </p:nvSpPr>
        <p:spPr>
          <a:xfrm>
            <a:off x="548640" y="5321808"/>
            <a:ext cx="4572000" cy="457200"/>
          </a:xfrm>
          <a:prstGeom prst="rect">
            <a:avLst/>
          </a:prstGeom>
          <a:noFill/>
          <a:ln/>
        </p:spPr>
        <p:txBody>
          <a:bodyPr wrap="square" lIns="0" tIns="0" rIns="0" bIns="0" rtlCol="0" anchor="ctr"/>
          <a:lstStyle/>
          <a:p>
            <a:pPr marL="0" indent="0" algn="ctr">
              <a:buNone/>
            </a:pPr>
            <a:r>
              <a:rPr lang="en-US" sz="1400" b="1" dirty="0">
                <a:solidFill>
                  <a:srgbClr val="FF6F4D"/>
                </a:solidFill>
                <a:latin typeface="Consolas" pitchFamily="34" charset="0"/>
                <a:ea typeface="Consolas" pitchFamily="34" charset="-122"/>
                <a:cs typeface="Consolas" pitchFamily="34" charset="-120"/>
              </a:rPr>
              <a:t>main</a:t>
            </a:r>
            <a:r>
              <a:rPr lang="en-US" sz="1400" dirty="0">
                <a:solidFill>
                  <a:srgbClr val="8597A0"/>
                </a:solidFill>
                <a:latin typeface="Consolas" pitchFamily="34" charset="0"/>
                <a:ea typeface="Consolas" pitchFamily="34" charset="-122"/>
                <a:cs typeface="Consolas" pitchFamily="34" charset="-120"/>
              </a:rPr>
              <a:t> . </a:t>
            </a:r>
            <a:r>
              <a:rPr lang="en-US" sz="1400" b="1" dirty="0">
                <a:solidFill>
                  <a:srgbClr val="FFFFFF"/>
                </a:solidFill>
                <a:latin typeface="Consolas" pitchFamily="34" charset="0"/>
                <a:ea typeface="Consolas" pitchFamily="34" charset="-122"/>
                <a:cs typeface="Consolas" pitchFamily="34" charset="-120"/>
              </a:rPr>
              <a:t>sales</a:t>
            </a:r>
            <a:r>
              <a:rPr lang="en-US" sz="1400" dirty="0">
                <a:solidFill>
                  <a:srgbClr val="8597A0"/>
                </a:solidFill>
                <a:latin typeface="Consolas" pitchFamily="34" charset="0"/>
                <a:ea typeface="Consolas" pitchFamily="34" charset="-122"/>
                <a:cs typeface="Consolas" pitchFamily="34" charset="-120"/>
              </a:rPr>
              <a:t> . </a:t>
            </a:r>
            <a:r>
              <a:rPr lang="en-US" sz="1400" b="1" dirty="0">
                <a:solidFill>
                  <a:srgbClr val="C7D2D8"/>
                </a:solidFill>
                <a:latin typeface="Consolas" pitchFamily="34" charset="0"/>
                <a:ea typeface="Consolas" pitchFamily="34" charset="-122"/>
                <a:cs typeface="Consolas" pitchFamily="34" charset="-120"/>
              </a:rPr>
              <a:t>orders</a:t>
            </a:r>
            <a:endParaRPr lang="en-US" sz="1400" dirty="0"/>
          </a:p>
        </p:txBody>
      </p:sp>
      <p:sp>
        <p:nvSpPr>
          <p:cNvPr id="29" name="Text 24"/>
          <p:cNvSpPr/>
          <p:nvPr/>
        </p:nvSpPr>
        <p:spPr>
          <a:xfrm>
            <a:off x="5577840" y="1828800"/>
            <a:ext cx="6065215" cy="256032"/>
          </a:xfrm>
          <a:prstGeom prst="rect">
            <a:avLst/>
          </a:prstGeom>
          <a:noFill/>
          <a:ln/>
        </p:spPr>
        <p:txBody>
          <a:bodyPr wrap="square" lIns="0" tIns="0" rIns="0" bIns="0" rtlCol="0" anchor="ctr"/>
          <a:lstStyle/>
          <a:p>
            <a:pPr marL="0" indent="0">
              <a:buNone/>
            </a:pPr>
            <a:r>
              <a:rPr lang="en-US" sz="1100" b="1" kern="0" spc="150" dirty="0">
                <a:solidFill>
                  <a:srgbClr val="7C8A91"/>
                </a:solidFill>
                <a:latin typeface="Calibri" pitchFamily="34" charset="0"/>
                <a:ea typeface="Calibri" pitchFamily="34" charset="-122"/>
                <a:cs typeface="Calibri" pitchFamily="34" charset="-120"/>
              </a:rPr>
              <a:t>GOVERNANCE, BUILT IN</a:t>
            </a:r>
            <a:endParaRPr lang="en-US" sz="1100" dirty="0"/>
          </a:p>
        </p:txBody>
      </p:sp>
      <p:sp>
        <p:nvSpPr>
          <p:cNvPr id="30" name="Shape 25"/>
          <p:cNvSpPr/>
          <p:nvPr/>
        </p:nvSpPr>
        <p:spPr>
          <a:xfrm>
            <a:off x="5577840" y="2157984"/>
            <a:ext cx="2922880" cy="1627632"/>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6"/>
          <p:cNvSpPr/>
          <p:nvPr/>
        </p:nvSpPr>
        <p:spPr>
          <a:xfrm>
            <a:off x="5833872" y="2395728"/>
            <a:ext cx="548640" cy="548640"/>
          </a:xfrm>
          <a:prstGeom prst="ellipse">
            <a:avLst/>
          </a:prstGeom>
          <a:solidFill>
            <a:srgbClr val="FF3621"/>
          </a:solidFill>
          <a:ln/>
        </p:spPr>
        <p:txBody>
          <a:bodyPr/>
          <a:lstStyle/>
          <a:p>
            <a:endParaRPr lang="en-US"/>
          </a:p>
        </p:txBody>
      </p:sp>
      <p:pic>
        <p:nvPicPr>
          <p:cNvPr id="32" name="Image 3" descr="preencoded.png"/>
          <p:cNvPicPr>
            <a:picLocks noChangeAspect="1"/>
          </p:cNvPicPr>
          <p:nvPr/>
        </p:nvPicPr>
        <p:blipFill>
          <a:blip r:embed="rId6"/>
          <a:stretch>
            <a:fillRect/>
          </a:stretch>
        </p:blipFill>
        <p:spPr>
          <a:xfrm>
            <a:off x="5971032" y="2532888"/>
            <a:ext cx="274320" cy="274320"/>
          </a:xfrm>
          <a:prstGeom prst="rect">
            <a:avLst/>
          </a:prstGeom>
        </p:spPr>
      </p:pic>
      <p:sp>
        <p:nvSpPr>
          <p:cNvPr id="33" name="Text 27"/>
          <p:cNvSpPr/>
          <p:nvPr/>
        </p:nvSpPr>
        <p:spPr>
          <a:xfrm>
            <a:off x="5833872" y="3035808"/>
            <a:ext cx="2410816" cy="292608"/>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Fine-grained access</a:t>
            </a:r>
            <a:endParaRPr lang="en-US" sz="1350" dirty="0"/>
          </a:p>
        </p:txBody>
      </p:sp>
      <p:sp>
        <p:nvSpPr>
          <p:cNvPr id="34" name="Text 28"/>
          <p:cNvSpPr/>
          <p:nvPr/>
        </p:nvSpPr>
        <p:spPr>
          <a:xfrm>
            <a:off x="5833872" y="3310128"/>
            <a:ext cx="2410816" cy="420624"/>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Grant rights at catalog, schema, table — even row &amp; column.</a:t>
            </a:r>
            <a:endParaRPr lang="en-US" sz="1050" dirty="0"/>
          </a:p>
        </p:txBody>
      </p:sp>
      <p:sp>
        <p:nvSpPr>
          <p:cNvPr id="35" name="Shape 29"/>
          <p:cNvSpPr/>
          <p:nvPr/>
        </p:nvSpPr>
        <p:spPr>
          <a:xfrm>
            <a:off x="8720176" y="2157984"/>
            <a:ext cx="2922880" cy="1627632"/>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6" name="Shape 30"/>
          <p:cNvSpPr/>
          <p:nvPr/>
        </p:nvSpPr>
        <p:spPr>
          <a:xfrm>
            <a:off x="8976208" y="2395728"/>
            <a:ext cx="548640" cy="548640"/>
          </a:xfrm>
          <a:prstGeom prst="ellipse">
            <a:avLst/>
          </a:prstGeom>
          <a:solidFill>
            <a:srgbClr val="FF3621"/>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9113368" y="2532888"/>
            <a:ext cx="274320" cy="274320"/>
          </a:xfrm>
          <a:prstGeom prst="rect">
            <a:avLst/>
          </a:prstGeom>
        </p:spPr>
      </p:pic>
      <p:sp>
        <p:nvSpPr>
          <p:cNvPr id="38" name="Text 31"/>
          <p:cNvSpPr/>
          <p:nvPr/>
        </p:nvSpPr>
        <p:spPr>
          <a:xfrm>
            <a:off x="8976208" y="3035808"/>
            <a:ext cx="2410816" cy="292608"/>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Data lineage</a:t>
            </a:r>
            <a:endParaRPr lang="en-US" sz="1350" dirty="0"/>
          </a:p>
        </p:txBody>
      </p:sp>
      <p:sp>
        <p:nvSpPr>
          <p:cNvPr id="39" name="Text 32"/>
          <p:cNvSpPr/>
          <p:nvPr/>
        </p:nvSpPr>
        <p:spPr>
          <a:xfrm>
            <a:off x="8976208" y="3310128"/>
            <a:ext cx="2410816" cy="420624"/>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See where data came from and what depends on it — captured automatically.</a:t>
            </a:r>
            <a:endParaRPr lang="en-US" sz="1050" dirty="0"/>
          </a:p>
        </p:txBody>
      </p:sp>
      <p:sp>
        <p:nvSpPr>
          <p:cNvPr id="40" name="Shape 33"/>
          <p:cNvSpPr/>
          <p:nvPr/>
        </p:nvSpPr>
        <p:spPr>
          <a:xfrm>
            <a:off x="5577840" y="3968496"/>
            <a:ext cx="2922880" cy="1627632"/>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41" name="Shape 34"/>
          <p:cNvSpPr/>
          <p:nvPr/>
        </p:nvSpPr>
        <p:spPr>
          <a:xfrm>
            <a:off x="5833872" y="4206240"/>
            <a:ext cx="548640" cy="548640"/>
          </a:xfrm>
          <a:prstGeom prst="ellipse">
            <a:avLst/>
          </a:prstGeom>
          <a:solidFill>
            <a:srgbClr val="FF3621"/>
          </a:solidFill>
          <a:ln/>
        </p:spPr>
        <p:txBody>
          <a:bodyPr/>
          <a:lstStyle/>
          <a:p>
            <a:endParaRPr lang="en-US"/>
          </a:p>
        </p:txBody>
      </p:sp>
      <p:pic>
        <p:nvPicPr>
          <p:cNvPr id="42" name="Image 5" descr="preencoded.png"/>
          <p:cNvPicPr>
            <a:picLocks noChangeAspect="1"/>
          </p:cNvPicPr>
          <p:nvPr/>
        </p:nvPicPr>
        <p:blipFill>
          <a:blip r:embed="rId8"/>
          <a:stretch>
            <a:fillRect/>
          </a:stretch>
        </p:blipFill>
        <p:spPr>
          <a:xfrm>
            <a:off x="5971032" y="4343400"/>
            <a:ext cx="274320" cy="274320"/>
          </a:xfrm>
          <a:prstGeom prst="rect">
            <a:avLst/>
          </a:prstGeom>
        </p:spPr>
      </p:pic>
      <p:sp>
        <p:nvSpPr>
          <p:cNvPr id="43" name="Text 35"/>
          <p:cNvSpPr/>
          <p:nvPr/>
        </p:nvSpPr>
        <p:spPr>
          <a:xfrm>
            <a:off x="5833872" y="4846320"/>
            <a:ext cx="2410816" cy="292608"/>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Audit logs</a:t>
            </a:r>
            <a:endParaRPr lang="en-US" sz="1350" dirty="0"/>
          </a:p>
        </p:txBody>
      </p:sp>
      <p:sp>
        <p:nvSpPr>
          <p:cNvPr id="44" name="Text 36"/>
          <p:cNvSpPr/>
          <p:nvPr/>
        </p:nvSpPr>
        <p:spPr>
          <a:xfrm>
            <a:off x="5833872" y="5120640"/>
            <a:ext cx="2410816" cy="420624"/>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A full, queryable record of who accessed what, and when.</a:t>
            </a:r>
            <a:endParaRPr lang="en-US" sz="1050" dirty="0"/>
          </a:p>
        </p:txBody>
      </p:sp>
      <p:sp>
        <p:nvSpPr>
          <p:cNvPr id="45" name="Shape 37"/>
          <p:cNvSpPr/>
          <p:nvPr/>
        </p:nvSpPr>
        <p:spPr>
          <a:xfrm>
            <a:off x="8720176" y="3968496"/>
            <a:ext cx="2922880" cy="1627632"/>
          </a:xfrm>
          <a:prstGeom prst="roundRect">
            <a:avLst>
              <a:gd name="adj" fmla="val 561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46" name="Shape 38"/>
          <p:cNvSpPr/>
          <p:nvPr/>
        </p:nvSpPr>
        <p:spPr>
          <a:xfrm>
            <a:off x="8976208" y="4206240"/>
            <a:ext cx="548640" cy="548640"/>
          </a:xfrm>
          <a:prstGeom prst="ellipse">
            <a:avLst/>
          </a:prstGeom>
          <a:solidFill>
            <a:srgbClr val="FF3621"/>
          </a:solidFill>
          <a:ln/>
        </p:spPr>
        <p:txBody>
          <a:bodyPr/>
          <a:lstStyle/>
          <a:p>
            <a:endParaRPr lang="en-US"/>
          </a:p>
        </p:txBody>
      </p:sp>
      <p:pic>
        <p:nvPicPr>
          <p:cNvPr id="47" name="Image 6" descr="preencoded.png"/>
          <p:cNvPicPr>
            <a:picLocks noChangeAspect="1"/>
          </p:cNvPicPr>
          <p:nvPr/>
        </p:nvPicPr>
        <p:blipFill>
          <a:blip r:embed="rId9"/>
          <a:stretch>
            <a:fillRect/>
          </a:stretch>
        </p:blipFill>
        <p:spPr>
          <a:xfrm>
            <a:off x="9113368" y="4343400"/>
            <a:ext cx="274320" cy="274320"/>
          </a:xfrm>
          <a:prstGeom prst="rect">
            <a:avLst/>
          </a:prstGeom>
        </p:spPr>
      </p:pic>
      <p:sp>
        <p:nvSpPr>
          <p:cNvPr id="48" name="Text 39"/>
          <p:cNvSpPr/>
          <p:nvPr/>
        </p:nvSpPr>
        <p:spPr>
          <a:xfrm>
            <a:off x="8976208" y="4846320"/>
            <a:ext cx="2410816" cy="292608"/>
          </a:xfrm>
          <a:prstGeom prst="rect">
            <a:avLst/>
          </a:prstGeom>
          <a:noFill/>
          <a:ln/>
        </p:spPr>
        <p:txBody>
          <a:bodyPr wrap="square" lIns="0" tIns="0" rIns="0" bIns="0" rtlCol="0" anchor="ctr"/>
          <a:lstStyle/>
          <a:p>
            <a:pPr marL="0" indent="0">
              <a:buNone/>
            </a:pPr>
            <a:r>
              <a:rPr lang="en-US" sz="1350" b="1" dirty="0">
                <a:solidFill>
                  <a:srgbClr val="13242E"/>
                </a:solidFill>
                <a:latin typeface="Trebuchet MS" pitchFamily="34" charset="0"/>
                <a:ea typeface="Trebuchet MS" pitchFamily="34" charset="-122"/>
                <a:cs typeface="Trebuchet MS" pitchFamily="34" charset="-120"/>
              </a:rPr>
              <a:t>Discovery &amp; search</a:t>
            </a:r>
            <a:endParaRPr lang="en-US" sz="1350" dirty="0"/>
          </a:p>
        </p:txBody>
      </p:sp>
      <p:sp>
        <p:nvSpPr>
          <p:cNvPr id="49" name="Text 40"/>
          <p:cNvSpPr/>
          <p:nvPr/>
        </p:nvSpPr>
        <p:spPr>
          <a:xfrm>
            <a:off x="8976208" y="5120640"/>
            <a:ext cx="2410816" cy="420624"/>
          </a:xfrm>
          <a:prstGeom prst="rect">
            <a:avLst/>
          </a:prstGeom>
          <a:noFill/>
          <a:ln/>
        </p:spPr>
        <p:txBody>
          <a:bodyPr wrap="square" lIns="0" tIns="0" rIns="0" bIns="0" rtlCol="0" anchor="ctr"/>
          <a:lstStyle/>
          <a:p>
            <a:pPr marL="0" indent="0">
              <a:buNone/>
            </a:pPr>
            <a:r>
              <a:rPr lang="en-US" sz="1050" dirty="0">
                <a:solidFill>
                  <a:srgbClr val="38474F"/>
                </a:solidFill>
                <a:latin typeface="Calibri" pitchFamily="34" charset="0"/>
                <a:ea typeface="Calibri" pitchFamily="34" charset="-122"/>
                <a:cs typeface="Calibri" pitchFamily="34" charset="-120"/>
              </a:rPr>
              <a:t>One searchable catalog across every team and workspace.</a:t>
            </a:r>
            <a:endParaRPr lang="en-US" sz="1050" dirty="0"/>
          </a:p>
        </p:txBody>
      </p:sp>
      <p:sp>
        <p:nvSpPr>
          <p:cNvPr id="50" name="Text 41"/>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51" name="Text 42"/>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30352"/>
            <a:ext cx="155448" cy="155448"/>
          </a:xfrm>
          <a:prstGeom prst="rect">
            <a:avLst/>
          </a:prstGeom>
          <a:solidFill>
            <a:srgbClr val="FF3621"/>
          </a:solidFill>
          <a:ln/>
        </p:spPr>
        <p:txBody>
          <a:bodyPr/>
          <a:lstStyle/>
          <a:p>
            <a:endParaRPr lang="en-US"/>
          </a:p>
        </p:txBody>
      </p:sp>
      <p:sp>
        <p:nvSpPr>
          <p:cNvPr id="3" name="Text 1"/>
          <p:cNvSpPr/>
          <p:nvPr/>
        </p:nvSpPr>
        <p:spPr>
          <a:xfrm>
            <a:off x="795528" y="457200"/>
            <a:ext cx="10058400" cy="292608"/>
          </a:xfrm>
          <a:prstGeom prst="rect">
            <a:avLst/>
          </a:prstGeom>
          <a:noFill/>
          <a:ln/>
        </p:spPr>
        <p:txBody>
          <a:bodyPr wrap="square" lIns="0" tIns="0" rIns="0" bIns="0" rtlCol="0" anchor="ctr"/>
          <a:lstStyle/>
          <a:p>
            <a:pPr marL="0" indent="0">
              <a:buNone/>
            </a:pPr>
            <a:r>
              <a:rPr lang="en-US" sz="1200" b="1" kern="0" spc="200" dirty="0">
                <a:solidFill>
                  <a:srgbClr val="FF3621"/>
                </a:solidFill>
                <a:latin typeface="Calibri" pitchFamily="34" charset="0"/>
                <a:ea typeface="Calibri" pitchFamily="34" charset="-122"/>
                <a:cs typeface="Calibri" pitchFamily="34" charset="-120"/>
              </a:rPr>
              <a:t>MODULE 03 · PUTTING IT ALL TOGETHER</a:t>
            </a:r>
            <a:endParaRPr lang="en-US" sz="1200" dirty="0"/>
          </a:p>
        </p:txBody>
      </p:sp>
      <p:sp>
        <p:nvSpPr>
          <p:cNvPr id="4" name="Text 2"/>
          <p:cNvSpPr/>
          <p:nvPr/>
        </p:nvSpPr>
        <p:spPr>
          <a:xfrm>
            <a:off x="548640" y="786384"/>
            <a:ext cx="11094415" cy="713232"/>
          </a:xfrm>
          <a:prstGeom prst="rect">
            <a:avLst/>
          </a:prstGeom>
          <a:noFill/>
          <a:ln/>
        </p:spPr>
        <p:txBody>
          <a:bodyPr wrap="square" lIns="0" tIns="0" rIns="0" bIns="0" rtlCol="0" anchor="ctr"/>
          <a:lstStyle/>
          <a:p>
            <a:pPr marL="0" indent="0">
              <a:buNone/>
            </a:pPr>
            <a:r>
              <a:rPr lang="en-US" sz="2900" b="1" dirty="0">
                <a:solidFill>
                  <a:srgbClr val="13242E"/>
                </a:solidFill>
                <a:latin typeface="Trebuchet MS" pitchFamily="34" charset="0"/>
                <a:ea typeface="Trebuchet MS" pitchFamily="34" charset="-122"/>
                <a:cs typeface="Trebuchet MS" pitchFamily="34" charset="-120"/>
              </a:rPr>
              <a:t>End-to-end: from raw source to insight</a:t>
            </a:r>
            <a:endParaRPr lang="en-US" sz="2900" dirty="0"/>
          </a:p>
        </p:txBody>
      </p:sp>
      <p:sp>
        <p:nvSpPr>
          <p:cNvPr id="5" name="Text 3"/>
          <p:cNvSpPr/>
          <p:nvPr/>
        </p:nvSpPr>
        <p:spPr>
          <a:xfrm>
            <a:off x="548640" y="1572768"/>
            <a:ext cx="11094415" cy="365760"/>
          </a:xfrm>
          <a:prstGeom prst="rect">
            <a:avLst/>
          </a:prstGeom>
          <a:noFill/>
          <a:ln/>
        </p:spPr>
        <p:txBody>
          <a:bodyPr wrap="square" lIns="0" tIns="0" rIns="0" bIns="0" rtlCol="0" anchor="ctr"/>
          <a:lstStyle/>
          <a:p>
            <a:pPr marL="0" indent="0">
              <a:buNone/>
            </a:pPr>
            <a:r>
              <a:rPr lang="en-US" sz="1250" dirty="0">
                <a:solidFill>
                  <a:srgbClr val="38474F"/>
                </a:solidFill>
                <a:latin typeface="Calibri" pitchFamily="34" charset="0"/>
                <a:ea typeface="Calibri" pitchFamily="34" charset="-122"/>
                <a:cs typeface="Calibri" pitchFamily="34" charset="-120"/>
              </a:rPr>
              <a:t>The whole session in one picture — data flows left to right, Spark does the work, Delta stores every layer, and Unity Catalog governs all of it.</a:t>
            </a:r>
            <a:endParaRPr lang="en-US" sz="1250" dirty="0"/>
          </a:p>
        </p:txBody>
      </p:sp>
      <p:sp>
        <p:nvSpPr>
          <p:cNvPr id="6" name="Shape 4"/>
          <p:cNvSpPr/>
          <p:nvPr/>
        </p:nvSpPr>
        <p:spPr>
          <a:xfrm>
            <a:off x="548640"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7" name="Shape 5"/>
          <p:cNvSpPr/>
          <p:nvPr/>
        </p:nvSpPr>
        <p:spPr>
          <a:xfrm>
            <a:off x="1033272" y="2322576"/>
            <a:ext cx="512064" cy="512064"/>
          </a:xfrm>
          <a:prstGeom prst="ellipse">
            <a:avLst/>
          </a:prstGeom>
          <a:solidFill>
            <a:srgbClr val="0E1B24"/>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61288" y="2450592"/>
            <a:ext cx="256032" cy="256032"/>
          </a:xfrm>
          <a:prstGeom prst="rect">
            <a:avLst/>
          </a:prstGeom>
        </p:spPr>
      </p:pic>
      <p:sp>
        <p:nvSpPr>
          <p:cNvPr id="9" name="Text 6"/>
          <p:cNvSpPr/>
          <p:nvPr/>
        </p:nvSpPr>
        <p:spPr>
          <a:xfrm>
            <a:off x="548640"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Sources</a:t>
            </a:r>
            <a:endParaRPr lang="en-US" sz="1250" dirty="0"/>
          </a:p>
        </p:txBody>
      </p:sp>
      <p:sp>
        <p:nvSpPr>
          <p:cNvPr id="10" name="Text 7"/>
          <p:cNvSpPr/>
          <p:nvPr/>
        </p:nvSpPr>
        <p:spPr>
          <a:xfrm>
            <a:off x="548640"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DBs · apps · files</a:t>
            </a:r>
            <a:endParaRPr lang="en-US" sz="950" dirty="0"/>
          </a:p>
        </p:txBody>
      </p:sp>
      <p:sp>
        <p:nvSpPr>
          <p:cNvPr id="11" name="Shape 8"/>
          <p:cNvSpPr/>
          <p:nvPr/>
        </p:nvSpPr>
        <p:spPr>
          <a:xfrm>
            <a:off x="2067916" y="2657246"/>
            <a:ext cx="365760" cy="263347"/>
          </a:xfrm>
          <a:prstGeom prst="chevron">
            <a:avLst/>
          </a:prstGeom>
          <a:solidFill>
            <a:srgbClr val="FF3621"/>
          </a:solidFill>
          <a:ln/>
        </p:spPr>
        <p:txBody>
          <a:bodyPr/>
          <a:lstStyle/>
          <a:p>
            <a:endParaRPr lang="en-US"/>
          </a:p>
        </p:txBody>
      </p:sp>
      <p:sp>
        <p:nvSpPr>
          <p:cNvPr id="12" name="Shape 9"/>
          <p:cNvSpPr/>
          <p:nvPr/>
        </p:nvSpPr>
        <p:spPr>
          <a:xfrm>
            <a:off x="2471623"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3" name="Shape 10"/>
          <p:cNvSpPr/>
          <p:nvPr/>
        </p:nvSpPr>
        <p:spPr>
          <a:xfrm>
            <a:off x="2956255" y="2322576"/>
            <a:ext cx="512064" cy="512064"/>
          </a:xfrm>
          <a:prstGeom prst="ellipse">
            <a:avLst/>
          </a:prstGeom>
          <a:solidFill>
            <a:srgbClr val="0E1B24"/>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084271" y="2450592"/>
            <a:ext cx="256032" cy="256032"/>
          </a:xfrm>
          <a:prstGeom prst="rect">
            <a:avLst/>
          </a:prstGeom>
        </p:spPr>
      </p:pic>
      <p:sp>
        <p:nvSpPr>
          <p:cNvPr id="15" name="Text 11"/>
          <p:cNvSpPr/>
          <p:nvPr/>
        </p:nvSpPr>
        <p:spPr>
          <a:xfrm>
            <a:off x="2471623"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Ingest</a:t>
            </a:r>
            <a:endParaRPr lang="en-US" sz="1250" dirty="0"/>
          </a:p>
        </p:txBody>
      </p:sp>
      <p:sp>
        <p:nvSpPr>
          <p:cNvPr id="16" name="Text 12"/>
          <p:cNvSpPr/>
          <p:nvPr/>
        </p:nvSpPr>
        <p:spPr>
          <a:xfrm>
            <a:off x="2471623"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batch &amp; stream</a:t>
            </a:r>
            <a:endParaRPr lang="en-US" sz="950" dirty="0"/>
          </a:p>
        </p:txBody>
      </p:sp>
      <p:sp>
        <p:nvSpPr>
          <p:cNvPr id="17" name="Shape 13"/>
          <p:cNvSpPr/>
          <p:nvPr/>
        </p:nvSpPr>
        <p:spPr>
          <a:xfrm>
            <a:off x="3990899" y="2657246"/>
            <a:ext cx="365760" cy="263347"/>
          </a:xfrm>
          <a:prstGeom prst="chevron">
            <a:avLst/>
          </a:prstGeom>
          <a:solidFill>
            <a:srgbClr val="FF3621"/>
          </a:solidFill>
          <a:ln/>
        </p:spPr>
        <p:txBody>
          <a:bodyPr/>
          <a:lstStyle/>
          <a:p>
            <a:endParaRPr lang="en-US"/>
          </a:p>
        </p:txBody>
      </p:sp>
      <p:sp>
        <p:nvSpPr>
          <p:cNvPr id="18" name="Shape 14"/>
          <p:cNvSpPr/>
          <p:nvPr/>
        </p:nvSpPr>
        <p:spPr>
          <a:xfrm>
            <a:off x="4394606"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19" name="Shape 15"/>
          <p:cNvSpPr/>
          <p:nvPr/>
        </p:nvSpPr>
        <p:spPr>
          <a:xfrm>
            <a:off x="4879238" y="2322576"/>
            <a:ext cx="512064" cy="512064"/>
          </a:xfrm>
          <a:prstGeom prst="ellipse">
            <a:avLst/>
          </a:prstGeom>
          <a:solidFill>
            <a:srgbClr val="B5793A"/>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007254" y="2450592"/>
            <a:ext cx="256032" cy="256032"/>
          </a:xfrm>
          <a:prstGeom prst="rect">
            <a:avLst/>
          </a:prstGeom>
        </p:spPr>
      </p:pic>
      <p:sp>
        <p:nvSpPr>
          <p:cNvPr id="21" name="Text 16"/>
          <p:cNvSpPr/>
          <p:nvPr/>
        </p:nvSpPr>
        <p:spPr>
          <a:xfrm>
            <a:off x="4394606"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Bronze</a:t>
            </a:r>
            <a:endParaRPr lang="en-US" sz="1250" dirty="0"/>
          </a:p>
        </p:txBody>
      </p:sp>
      <p:sp>
        <p:nvSpPr>
          <p:cNvPr id="22" name="Text 17"/>
          <p:cNvSpPr/>
          <p:nvPr/>
        </p:nvSpPr>
        <p:spPr>
          <a:xfrm>
            <a:off x="4394606"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raw</a:t>
            </a:r>
            <a:endParaRPr lang="en-US" sz="950" dirty="0"/>
          </a:p>
        </p:txBody>
      </p:sp>
      <p:sp>
        <p:nvSpPr>
          <p:cNvPr id="23" name="Shape 18"/>
          <p:cNvSpPr/>
          <p:nvPr/>
        </p:nvSpPr>
        <p:spPr>
          <a:xfrm>
            <a:off x="5913882" y="2657246"/>
            <a:ext cx="365760" cy="263347"/>
          </a:xfrm>
          <a:prstGeom prst="chevron">
            <a:avLst/>
          </a:prstGeom>
          <a:solidFill>
            <a:srgbClr val="FF3621"/>
          </a:solidFill>
          <a:ln/>
        </p:spPr>
        <p:txBody>
          <a:bodyPr/>
          <a:lstStyle/>
          <a:p>
            <a:endParaRPr lang="en-US"/>
          </a:p>
        </p:txBody>
      </p:sp>
      <p:sp>
        <p:nvSpPr>
          <p:cNvPr id="24" name="Shape 19"/>
          <p:cNvSpPr/>
          <p:nvPr/>
        </p:nvSpPr>
        <p:spPr>
          <a:xfrm>
            <a:off x="6317590"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25" name="Shape 20"/>
          <p:cNvSpPr/>
          <p:nvPr/>
        </p:nvSpPr>
        <p:spPr>
          <a:xfrm>
            <a:off x="6802222" y="2322576"/>
            <a:ext cx="512064" cy="512064"/>
          </a:xfrm>
          <a:prstGeom prst="ellipse">
            <a:avLst/>
          </a:prstGeom>
          <a:solidFill>
            <a:srgbClr val="7E8C94"/>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930238" y="2450592"/>
            <a:ext cx="256032" cy="256032"/>
          </a:xfrm>
          <a:prstGeom prst="rect">
            <a:avLst/>
          </a:prstGeom>
        </p:spPr>
      </p:pic>
      <p:sp>
        <p:nvSpPr>
          <p:cNvPr id="27" name="Text 21"/>
          <p:cNvSpPr/>
          <p:nvPr/>
        </p:nvSpPr>
        <p:spPr>
          <a:xfrm>
            <a:off x="6317590"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Silver</a:t>
            </a:r>
            <a:endParaRPr lang="en-US" sz="1250" dirty="0"/>
          </a:p>
        </p:txBody>
      </p:sp>
      <p:sp>
        <p:nvSpPr>
          <p:cNvPr id="28" name="Text 22"/>
          <p:cNvSpPr/>
          <p:nvPr/>
        </p:nvSpPr>
        <p:spPr>
          <a:xfrm>
            <a:off x="6317590"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cleaned</a:t>
            </a:r>
            <a:endParaRPr lang="en-US" sz="950" dirty="0"/>
          </a:p>
        </p:txBody>
      </p:sp>
      <p:sp>
        <p:nvSpPr>
          <p:cNvPr id="29" name="Shape 23"/>
          <p:cNvSpPr/>
          <p:nvPr/>
        </p:nvSpPr>
        <p:spPr>
          <a:xfrm>
            <a:off x="7836865" y="2657246"/>
            <a:ext cx="365760" cy="263347"/>
          </a:xfrm>
          <a:prstGeom prst="chevron">
            <a:avLst/>
          </a:prstGeom>
          <a:solidFill>
            <a:srgbClr val="FF3621"/>
          </a:solidFill>
          <a:ln/>
        </p:spPr>
        <p:txBody>
          <a:bodyPr/>
          <a:lstStyle/>
          <a:p>
            <a:endParaRPr lang="en-US"/>
          </a:p>
        </p:txBody>
      </p:sp>
      <p:sp>
        <p:nvSpPr>
          <p:cNvPr id="30" name="Shape 24"/>
          <p:cNvSpPr/>
          <p:nvPr/>
        </p:nvSpPr>
        <p:spPr>
          <a:xfrm>
            <a:off x="8240573"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1" name="Shape 25"/>
          <p:cNvSpPr/>
          <p:nvPr/>
        </p:nvSpPr>
        <p:spPr>
          <a:xfrm>
            <a:off x="8725205" y="2322576"/>
            <a:ext cx="512064" cy="512064"/>
          </a:xfrm>
          <a:prstGeom prst="ellipse">
            <a:avLst/>
          </a:prstGeom>
          <a:solidFill>
            <a:srgbClr val="E0A024"/>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8853221" y="2450592"/>
            <a:ext cx="256032" cy="256032"/>
          </a:xfrm>
          <a:prstGeom prst="rect">
            <a:avLst/>
          </a:prstGeom>
        </p:spPr>
      </p:pic>
      <p:sp>
        <p:nvSpPr>
          <p:cNvPr id="33" name="Text 26"/>
          <p:cNvSpPr/>
          <p:nvPr/>
        </p:nvSpPr>
        <p:spPr>
          <a:xfrm>
            <a:off x="8240573"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Gold</a:t>
            </a:r>
            <a:endParaRPr lang="en-US" sz="1250" dirty="0"/>
          </a:p>
        </p:txBody>
      </p:sp>
      <p:sp>
        <p:nvSpPr>
          <p:cNvPr id="34" name="Text 27"/>
          <p:cNvSpPr/>
          <p:nvPr/>
        </p:nvSpPr>
        <p:spPr>
          <a:xfrm>
            <a:off x="8240573"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business</a:t>
            </a:r>
            <a:endParaRPr lang="en-US" sz="950" dirty="0"/>
          </a:p>
        </p:txBody>
      </p:sp>
      <p:sp>
        <p:nvSpPr>
          <p:cNvPr id="35" name="Shape 28"/>
          <p:cNvSpPr/>
          <p:nvPr/>
        </p:nvSpPr>
        <p:spPr>
          <a:xfrm>
            <a:off x="9759848" y="2657246"/>
            <a:ext cx="365760" cy="263347"/>
          </a:xfrm>
          <a:prstGeom prst="chevron">
            <a:avLst/>
          </a:prstGeom>
          <a:solidFill>
            <a:srgbClr val="FF3621"/>
          </a:solidFill>
          <a:ln/>
        </p:spPr>
        <p:txBody>
          <a:bodyPr/>
          <a:lstStyle/>
          <a:p>
            <a:endParaRPr lang="en-US"/>
          </a:p>
        </p:txBody>
      </p:sp>
      <p:sp>
        <p:nvSpPr>
          <p:cNvPr id="36" name="Shape 29"/>
          <p:cNvSpPr/>
          <p:nvPr/>
        </p:nvSpPr>
        <p:spPr>
          <a:xfrm>
            <a:off x="10163556" y="2139696"/>
            <a:ext cx="1481328" cy="1298448"/>
          </a:xfrm>
          <a:prstGeom prst="roundRect">
            <a:avLst>
              <a:gd name="adj" fmla="val 6338"/>
            </a:avLst>
          </a:prstGeom>
          <a:solidFill>
            <a:srgbClr val="FFFFFF"/>
          </a:solidFill>
          <a:ln w="12700">
            <a:solidFill>
              <a:srgbClr val="DDE4E7"/>
            </a:solidFill>
            <a:prstDash val="solid"/>
          </a:ln>
          <a:effectLst>
            <a:outerShdw blurRad="114300" dist="38100" dir="8100000" algn="bl" rotWithShape="0">
              <a:srgbClr val="16242C">
                <a:alpha val="16000"/>
              </a:srgbClr>
            </a:outerShdw>
          </a:effectLst>
        </p:spPr>
        <p:txBody>
          <a:bodyPr/>
          <a:lstStyle/>
          <a:p>
            <a:endParaRPr lang="en-US"/>
          </a:p>
        </p:txBody>
      </p:sp>
      <p:sp>
        <p:nvSpPr>
          <p:cNvPr id="37" name="Shape 30"/>
          <p:cNvSpPr/>
          <p:nvPr/>
        </p:nvSpPr>
        <p:spPr>
          <a:xfrm>
            <a:off x="10648188" y="2322576"/>
            <a:ext cx="512064" cy="512064"/>
          </a:xfrm>
          <a:prstGeom prst="ellipse">
            <a:avLst/>
          </a:prstGeom>
          <a:solidFill>
            <a:srgbClr val="0E7C8B"/>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10776204" y="2450592"/>
            <a:ext cx="256032" cy="256032"/>
          </a:xfrm>
          <a:prstGeom prst="rect">
            <a:avLst/>
          </a:prstGeom>
        </p:spPr>
      </p:pic>
      <p:sp>
        <p:nvSpPr>
          <p:cNvPr id="39" name="Text 31"/>
          <p:cNvSpPr/>
          <p:nvPr/>
        </p:nvSpPr>
        <p:spPr>
          <a:xfrm>
            <a:off x="10163556" y="2889504"/>
            <a:ext cx="1481328" cy="256032"/>
          </a:xfrm>
          <a:prstGeom prst="rect">
            <a:avLst/>
          </a:prstGeom>
          <a:noFill/>
          <a:ln/>
        </p:spPr>
        <p:txBody>
          <a:bodyPr wrap="square" lIns="0" tIns="0" rIns="0" bIns="0" rtlCol="0" anchor="ctr"/>
          <a:lstStyle/>
          <a:p>
            <a:pPr marL="0" indent="0" algn="ctr">
              <a:buNone/>
            </a:pPr>
            <a:r>
              <a:rPr lang="en-US" sz="1250" b="1" dirty="0">
                <a:solidFill>
                  <a:srgbClr val="13242E"/>
                </a:solidFill>
                <a:latin typeface="Trebuchet MS" pitchFamily="34" charset="0"/>
                <a:ea typeface="Trebuchet MS" pitchFamily="34" charset="-122"/>
                <a:cs typeface="Trebuchet MS" pitchFamily="34" charset="-120"/>
              </a:rPr>
              <a:t>Consume</a:t>
            </a:r>
            <a:endParaRPr lang="en-US" sz="1250" dirty="0"/>
          </a:p>
        </p:txBody>
      </p:sp>
      <p:sp>
        <p:nvSpPr>
          <p:cNvPr id="40" name="Text 32"/>
          <p:cNvSpPr/>
          <p:nvPr/>
        </p:nvSpPr>
        <p:spPr>
          <a:xfrm>
            <a:off x="10163556" y="3127248"/>
            <a:ext cx="1481328" cy="219456"/>
          </a:xfrm>
          <a:prstGeom prst="rect">
            <a:avLst/>
          </a:prstGeom>
          <a:noFill/>
          <a:ln/>
        </p:spPr>
        <p:txBody>
          <a:bodyPr wrap="square" lIns="0" tIns="0" rIns="0" bIns="0" rtlCol="0" anchor="ctr"/>
          <a:lstStyle/>
          <a:p>
            <a:pPr marL="0" indent="0" algn="ctr">
              <a:buNone/>
            </a:pPr>
            <a:r>
              <a:rPr lang="en-US" sz="950" dirty="0">
                <a:solidFill>
                  <a:srgbClr val="7C8A91"/>
                </a:solidFill>
                <a:latin typeface="Calibri" pitchFamily="34" charset="0"/>
                <a:ea typeface="Calibri" pitchFamily="34" charset="-122"/>
                <a:cs typeface="Calibri" pitchFamily="34" charset="-120"/>
              </a:rPr>
              <a:t>BI · ML</a:t>
            </a:r>
            <a:endParaRPr lang="en-US" sz="950" dirty="0"/>
          </a:p>
        </p:txBody>
      </p:sp>
      <p:sp>
        <p:nvSpPr>
          <p:cNvPr id="41" name="Shape 33"/>
          <p:cNvSpPr/>
          <p:nvPr/>
        </p:nvSpPr>
        <p:spPr>
          <a:xfrm rot="10800000">
            <a:off x="6016843" y="3474720"/>
            <a:ext cx="158008" cy="219456"/>
          </a:xfrm>
          <a:prstGeom prst="triangle">
            <a:avLst/>
          </a:prstGeom>
          <a:solidFill>
            <a:srgbClr val="20404C"/>
          </a:solidFill>
          <a:ln/>
        </p:spPr>
        <p:txBody>
          <a:bodyPr/>
          <a:lstStyle/>
          <a:p>
            <a:endParaRPr lang="en-US"/>
          </a:p>
        </p:txBody>
      </p:sp>
      <p:sp>
        <p:nvSpPr>
          <p:cNvPr id="42" name="Shape 34"/>
          <p:cNvSpPr/>
          <p:nvPr/>
        </p:nvSpPr>
        <p:spPr>
          <a:xfrm>
            <a:off x="2471623" y="3730752"/>
            <a:ext cx="7250278" cy="603504"/>
          </a:xfrm>
          <a:prstGeom prst="roundRect">
            <a:avLst>
              <a:gd name="adj" fmla="val 12121"/>
            </a:avLst>
          </a:prstGeom>
          <a:solidFill>
            <a:srgbClr val="0E1B24"/>
          </a:solidFill>
          <a:ln/>
          <a:effectLst>
            <a:outerShdw blurRad="114300" dist="38100" dir="8100000" algn="bl" rotWithShape="0">
              <a:srgbClr val="16242C">
                <a:alpha val="16000"/>
              </a:srgbClr>
            </a:outerShdw>
          </a:effectLst>
        </p:spPr>
        <p:txBody>
          <a:bodyPr/>
          <a:lstStyle/>
          <a:p>
            <a:endParaRPr lang="en-US"/>
          </a:p>
        </p:txBody>
      </p:sp>
      <p:sp>
        <p:nvSpPr>
          <p:cNvPr id="43" name="Shape 35"/>
          <p:cNvSpPr/>
          <p:nvPr/>
        </p:nvSpPr>
        <p:spPr>
          <a:xfrm>
            <a:off x="2745943" y="3849624"/>
            <a:ext cx="365760" cy="365760"/>
          </a:xfrm>
          <a:prstGeom prst="ellipse">
            <a:avLst/>
          </a:prstGeom>
          <a:solidFill>
            <a:srgbClr val="FF3621"/>
          </a:solidFill>
          <a:ln/>
        </p:spPr>
        <p:txBody>
          <a:bodyPr/>
          <a:lstStyle/>
          <a:p>
            <a:endParaRPr lang="en-US"/>
          </a:p>
        </p:txBody>
      </p:sp>
      <p:pic>
        <p:nvPicPr>
          <p:cNvPr id="44" name="Image 6" descr="preencoded.png"/>
          <p:cNvPicPr>
            <a:picLocks noChangeAspect="1"/>
          </p:cNvPicPr>
          <p:nvPr/>
        </p:nvPicPr>
        <p:blipFill>
          <a:blip r:embed="rId9"/>
          <a:stretch>
            <a:fillRect/>
          </a:stretch>
        </p:blipFill>
        <p:spPr>
          <a:xfrm>
            <a:off x="2837383" y="3941064"/>
            <a:ext cx="182880" cy="182880"/>
          </a:xfrm>
          <a:prstGeom prst="rect">
            <a:avLst/>
          </a:prstGeom>
        </p:spPr>
      </p:pic>
      <p:sp>
        <p:nvSpPr>
          <p:cNvPr id="45" name="Text 36"/>
          <p:cNvSpPr/>
          <p:nvPr/>
        </p:nvSpPr>
        <p:spPr>
          <a:xfrm>
            <a:off x="3248863" y="3730752"/>
            <a:ext cx="6244438" cy="6035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Apache Spark on clusters</a:t>
            </a:r>
            <a:r>
              <a:rPr lang="en-US" sz="1250" dirty="0">
                <a:solidFill>
                  <a:srgbClr val="C7D2D8"/>
                </a:solidFill>
                <a:latin typeface="Calibri" pitchFamily="34" charset="0"/>
                <a:ea typeface="Calibri" pitchFamily="34" charset="-122"/>
                <a:cs typeface="Calibri" pitchFamily="34" charset="-120"/>
              </a:rPr>
              <a:t>  —  ingests &amp; transforms every stage</a:t>
            </a:r>
            <a:endParaRPr lang="en-US" sz="1250" dirty="0"/>
          </a:p>
        </p:txBody>
      </p:sp>
      <p:sp>
        <p:nvSpPr>
          <p:cNvPr id="46" name="Shape 37"/>
          <p:cNvSpPr/>
          <p:nvPr/>
        </p:nvSpPr>
        <p:spPr>
          <a:xfrm>
            <a:off x="548640" y="4498848"/>
            <a:ext cx="11094415" cy="603504"/>
          </a:xfrm>
          <a:prstGeom prst="roundRect">
            <a:avLst>
              <a:gd name="adj" fmla="val 12121"/>
            </a:avLst>
          </a:prstGeom>
          <a:solidFill>
            <a:srgbClr val="E7F1F2"/>
          </a:solidFill>
          <a:ln w="12700">
            <a:solidFill>
              <a:srgbClr val="BFE0E3"/>
            </a:solidFill>
            <a:prstDash val="solid"/>
          </a:ln>
        </p:spPr>
        <p:txBody>
          <a:bodyPr/>
          <a:lstStyle/>
          <a:p>
            <a:endParaRPr lang="en-US"/>
          </a:p>
        </p:txBody>
      </p:sp>
      <p:sp>
        <p:nvSpPr>
          <p:cNvPr id="47" name="Shape 38"/>
          <p:cNvSpPr/>
          <p:nvPr/>
        </p:nvSpPr>
        <p:spPr>
          <a:xfrm>
            <a:off x="822960" y="4617720"/>
            <a:ext cx="365760" cy="365760"/>
          </a:xfrm>
          <a:prstGeom prst="ellipse">
            <a:avLst/>
          </a:prstGeom>
          <a:solidFill>
            <a:srgbClr val="0E7C8B"/>
          </a:solidFill>
          <a:ln/>
        </p:spPr>
        <p:txBody>
          <a:bodyPr/>
          <a:lstStyle/>
          <a:p>
            <a:endParaRPr lang="en-US"/>
          </a:p>
        </p:txBody>
      </p:sp>
      <p:pic>
        <p:nvPicPr>
          <p:cNvPr id="48" name="Image 7" descr="preencoded.png"/>
          <p:cNvPicPr>
            <a:picLocks noChangeAspect="1"/>
          </p:cNvPicPr>
          <p:nvPr/>
        </p:nvPicPr>
        <p:blipFill>
          <a:blip r:embed="rId10"/>
          <a:stretch>
            <a:fillRect/>
          </a:stretch>
        </p:blipFill>
        <p:spPr>
          <a:xfrm>
            <a:off x="914400" y="4709160"/>
            <a:ext cx="182880" cy="182880"/>
          </a:xfrm>
          <a:prstGeom prst="rect">
            <a:avLst/>
          </a:prstGeom>
        </p:spPr>
      </p:pic>
      <p:sp>
        <p:nvSpPr>
          <p:cNvPr id="49" name="Text 39"/>
          <p:cNvSpPr/>
          <p:nvPr/>
        </p:nvSpPr>
        <p:spPr>
          <a:xfrm>
            <a:off x="1325880" y="4498848"/>
            <a:ext cx="10088575" cy="603504"/>
          </a:xfrm>
          <a:prstGeom prst="rect">
            <a:avLst/>
          </a:prstGeom>
          <a:noFill/>
          <a:ln/>
        </p:spPr>
        <p:txBody>
          <a:bodyPr wrap="square" lIns="0" tIns="0" rIns="0" bIns="0" rtlCol="0" anchor="ctr"/>
          <a:lstStyle/>
          <a:p>
            <a:pPr marL="0" indent="0">
              <a:buNone/>
            </a:pPr>
            <a:r>
              <a:rPr lang="en-US" sz="1250" b="1" dirty="0">
                <a:solidFill>
                  <a:srgbClr val="0A5C68"/>
                </a:solidFill>
                <a:latin typeface="Calibri" pitchFamily="34" charset="0"/>
                <a:ea typeface="Calibri" pitchFamily="34" charset="-122"/>
                <a:cs typeface="Calibri" pitchFamily="34" charset="-120"/>
              </a:rPr>
              <a:t>Delta Lake</a:t>
            </a:r>
            <a:r>
              <a:rPr lang="en-US" sz="1250" dirty="0">
                <a:solidFill>
                  <a:srgbClr val="0A5C68"/>
                </a:solidFill>
                <a:latin typeface="Calibri" pitchFamily="34" charset="0"/>
                <a:ea typeface="Calibri" pitchFamily="34" charset="-122"/>
                <a:cs typeface="Calibri" pitchFamily="34" charset="-120"/>
              </a:rPr>
              <a:t>  —  every layer stored as an open Delta table on S3 · ADLS · GCS</a:t>
            </a:r>
            <a:endParaRPr lang="en-US" sz="1250" dirty="0"/>
          </a:p>
        </p:txBody>
      </p:sp>
      <p:sp>
        <p:nvSpPr>
          <p:cNvPr id="50" name="Shape 40"/>
          <p:cNvSpPr/>
          <p:nvPr/>
        </p:nvSpPr>
        <p:spPr>
          <a:xfrm>
            <a:off x="548640" y="5266944"/>
            <a:ext cx="11094415" cy="658368"/>
          </a:xfrm>
          <a:prstGeom prst="roundRect">
            <a:avLst>
              <a:gd name="adj" fmla="val 11111"/>
            </a:avLst>
          </a:prstGeom>
          <a:solidFill>
            <a:srgbClr val="172D38"/>
          </a:solidFill>
          <a:ln/>
          <a:effectLst>
            <a:outerShdw blurRad="114300" dist="38100" dir="8100000" algn="bl" rotWithShape="0">
              <a:srgbClr val="16242C">
                <a:alpha val="16000"/>
              </a:srgbClr>
            </a:outerShdw>
          </a:effectLst>
        </p:spPr>
        <p:txBody>
          <a:bodyPr/>
          <a:lstStyle/>
          <a:p>
            <a:endParaRPr lang="en-US"/>
          </a:p>
        </p:txBody>
      </p:sp>
      <p:sp>
        <p:nvSpPr>
          <p:cNvPr id="51" name="Shape 41"/>
          <p:cNvSpPr/>
          <p:nvPr/>
        </p:nvSpPr>
        <p:spPr>
          <a:xfrm>
            <a:off x="822960" y="5413248"/>
            <a:ext cx="365760" cy="365760"/>
          </a:xfrm>
          <a:prstGeom prst="ellipse">
            <a:avLst/>
          </a:prstGeom>
          <a:solidFill>
            <a:srgbClr val="FF3621"/>
          </a:solidFill>
          <a:ln/>
        </p:spPr>
        <p:txBody>
          <a:bodyPr/>
          <a:lstStyle/>
          <a:p>
            <a:endParaRPr lang="en-US"/>
          </a:p>
        </p:txBody>
      </p:sp>
      <p:pic>
        <p:nvPicPr>
          <p:cNvPr id="52" name="Image 8" descr="preencoded.png"/>
          <p:cNvPicPr>
            <a:picLocks noChangeAspect="1"/>
          </p:cNvPicPr>
          <p:nvPr/>
        </p:nvPicPr>
        <p:blipFill>
          <a:blip r:embed="rId11"/>
          <a:stretch>
            <a:fillRect/>
          </a:stretch>
        </p:blipFill>
        <p:spPr>
          <a:xfrm>
            <a:off x="914400" y="5504688"/>
            <a:ext cx="182880" cy="182880"/>
          </a:xfrm>
          <a:prstGeom prst="rect">
            <a:avLst/>
          </a:prstGeom>
        </p:spPr>
      </p:pic>
      <p:sp>
        <p:nvSpPr>
          <p:cNvPr id="53" name="Text 42"/>
          <p:cNvSpPr/>
          <p:nvPr/>
        </p:nvSpPr>
        <p:spPr>
          <a:xfrm>
            <a:off x="1325880" y="5266944"/>
            <a:ext cx="10088575" cy="658368"/>
          </a:xfrm>
          <a:prstGeom prst="rect">
            <a:avLst/>
          </a:prstGeom>
          <a:noFill/>
          <a:ln/>
        </p:spPr>
        <p:txBody>
          <a:bodyPr wrap="square" lIns="0" tIns="0" rIns="0" bIns="0" rtlCol="0" anchor="ctr"/>
          <a:lstStyle/>
          <a:p>
            <a:pPr marL="0" indent="0">
              <a:buNone/>
            </a:pPr>
            <a:r>
              <a:rPr lang="en-US" sz="1250" b="1" dirty="0">
                <a:solidFill>
                  <a:srgbClr val="FF6F4D"/>
                </a:solidFill>
                <a:latin typeface="Calibri" pitchFamily="34" charset="0"/>
                <a:ea typeface="Calibri" pitchFamily="34" charset="-122"/>
                <a:cs typeface="Calibri" pitchFamily="34" charset="-120"/>
              </a:rPr>
              <a:t>Unity Catalog</a:t>
            </a:r>
            <a:r>
              <a:rPr lang="en-US" sz="1250" dirty="0">
                <a:solidFill>
                  <a:srgbClr val="FFFFFF"/>
                </a:solidFill>
                <a:latin typeface="Calibri" pitchFamily="34" charset="0"/>
                <a:ea typeface="Calibri" pitchFamily="34" charset="-122"/>
                <a:cs typeface="Calibri" pitchFamily="34" charset="-120"/>
              </a:rPr>
              <a:t>  —  security, lineage &amp; audit across the entire flow</a:t>
            </a:r>
            <a:endParaRPr lang="en-US" sz="1250" dirty="0"/>
          </a:p>
        </p:txBody>
      </p:sp>
      <p:sp>
        <p:nvSpPr>
          <p:cNvPr id="54" name="Text 4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7C8A91"/>
                </a:solidFill>
                <a:latin typeface="Calibri" pitchFamily="34" charset="0"/>
                <a:ea typeface="Calibri" pitchFamily="34" charset="-122"/>
                <a:cs typeface="Calibri" pitchFamily="34" charset="-120"/>
              </a:rPr>
              <a:t>Big Data &amp; the Databricks Lakehouse  ·  Foundations</a:t>
            </a:r>
            <a:endParaRPr lang="en-US" sz="900" dirty="0"/>
          </a:p>
        </p:txBody>
      </p:sp>
      <p:sp>
        <p:nvSpPr>
          <p:cNvPr id="55" name="Text 44"/>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7C8A9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21792" y="868680"/>
            <a:ext cx="10789920" cy="822960"/>
          </a:xfrm>
          <a:prstGeom prst="rect">
            <a:avLst/>
          </a:prstGeom>
          <a:noFill/>
          <a:ln/>
        </p:spPr>
        <p:txBody>
          <a:bodyPr wrap="square" lIns="0" tIns="0" rIns="0" bIns="0" rtlCol="0" anchor="ctr"/>
          <a:lstStyle/>
          <a:p>
            <a:pPr marL="0" indent="0">
              <a:buNone/>
            </a:pPr>
            <a:r>
              <a:rPr lang="en-US" sz="3800" b="1" dirty="0">
                <a:solidFill>
                  <a:srgbClr val="1A2530"/>
                </a:solidFill>
                <a:latin typeface="Arial" pitchFamily="34" charset="0"/>
                <a:ea typeface="Arial" pitchFamily="34" charset="-122"/>
                <a:cs typeface="Arial" pitchFamily="34" charset="-120"/>
              </a:rPr>
              <a:t>Step 1 — Catalog, schema, Volume</a:t>
            </a:r>
            <a:endParaRPr lang="en-US" sz="3800" dirty="0"/>
          </a:p>
        </p:txBody>
      </p:sp>
      <p:sp>
        <p:nvSpPr>
          <p:cNvPr id="5" name="Text 3"/>
          <p:cNvSpPr/>
          <p:nvPr/>
        </p:nvSpPr>
        <p:spPr>
          <a:xfrm>
            <a:off x="640080" y="1691640"/>
            <a:ext cx="10789920" cy="411480"/>
          </a:xfrm>
          <a:prstGeom prst="rect">
            <a:avLst/>
          </a:prstGeom>
          <a:noFill/>
          <a:ln/>
        </p:spPr>
        <p:txBody>
          <a:bodyPr wrap="square" lIns="0" tIns="0" rIns="0" bIns="0" rtlCol="0" anchor="ctr"/>
          <a:lstStyle/>
          <a:p>
            <a:pPr marL="0" indent="0">
              <a:buNone/>
            </a:pPr>
            <a:r>
              <a:rPr lang="en-US" sz="1500" dirty="0">
                <a:solidFill>
                  <a:srgbClr val="8A97A0"/>
                </a:solidFill>
                <a:latin typeface="Arial" pitchFamily="34" charset="0"/>
                <a:ea typeface="Arial" pitchFamily="34" charset="-122"/>
                <a:cs typeface="Arial" pitchFamily="34" charset="-120"/>
              </a:rPr>
              <a:t>A Volume holds files under Unity Catalog. Path: /Volumes/&lt;catalog&gt;/&lt;schema&gt;/&lt;volume&gt;/.</a:t>
            </a:r>
            <a:endParaRPr lang="en-US" sz="1500" dirty="0"/>
          </a:p>
        </p:txBody>
      </p:sp>
      <p:sp>
        <p:nvSpPr>
          <p:cNvPr id="6" name="Text 4"/>
          <p:cNvSpPr/>
          <p:nvPr/>
        </p:nvSpPr>
        <p:spPr>
          <a:xfrm>
            <a:off x="640080" y="6446520"/>
            <a:ext cx="8229600" cy="274320"/>
          </a:xfrm>
          <a:prstGeom prst="rect">
            <a:avLst/>
          </a:prstGeom>
          <a:noFill/>
          <a:ln/>
        </p:spPr>
        <p:txBody>
          <a:bodyPr wrap="square" lIns="0" tIns="0" rIns="0" bIns="0" rtlCol="0" anchor="ctr"/>
          <a:lstStyle/>
          <a:p>
            <a:pPr marL="0" indent="0">
              <a:buNone/>
            </a:pPr>
            <a:r>
              <a:rPr lang="en-US" sz="900" dirty="0">
                <a:solidFill>
                  <a:srgbClr val="8A97A0"/>
                </a:solidFill>
                <a:latin typeface="Arial" pitchFamily="34" charset="0"/>
                <a:ea typeface="Arial" pitchFamily="34" charset="-122"/>
                <a:cs typeface="Arial" pitchFamily="34" charset="-120"/>
              </a:rPr>
              <a:t>Databricks SQL  ·  Streaming Tables on the Lakehouse</a:t>
            </a:r>
            <a:endParaRPr lang="en-US" sz="9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Arial" pitchFamily="34" charset="0"/>
                <a:ea typeface="Arial" pitchFamily="34" charset="-122"/>
                <a:cs typeface="Arial" pitchFamily="34" charset="-120"/>
              </a:rPr>
              <a:t>3</a:t>
            </a:r>
            <a:endParaRPr lang="en-US" sz="900" dirty="0"/>
          </a:p>
        </p:txBody>
      </p:sp>
      <p:sp>
        <p:nvSpPr>
          <p:cNvPr id="8" name="Shape 6"/>
          <p:cNvSpPr/>
          <p:nvPr/>
        </p:nvSpPr>
        <p:spPr>
          <a:xfrm>
            <a:off x="640080" y="2322755"/>
            <a:ext cx="10881360" cy="3200400"/>
          </a:xfrm>
          <a:prstGeom prst="roundRect">
            <a:avLst>
              <a:gd name="adj" fmla="val 2286"/>
            </a:avLst>
          </a:prstGeom>
          <a:solidFill>
            <a:srgbClr val="FBFBFB"/>
          </a:solidFill>
          <a:ln w="12700">
            <a:solidFill>
              <a:srgbClr val="E6E9EC"/>
            </a:solidFill>
            <a:prstDash val="solid"/>
          </a:ln>
          <a:effectLst>
            <a:outerShdw blurRad="127000" dist="38100" dir="5400000" algn="bl" rotWithShape="0">
              <a:srgbClr val="9AA5AD">
                <a:alpha val="25000"/>
              </a:srgbClr>
            </a:outerShdw>
          </a:effectLst>
        </p:spPr>
        <p:txBody>
          <a:bodyPr/>
          <a:lstStyle/>
          <a:p>
            <a:endParaRPr lang="en-US" dirty="0"/>
          </a:p>
        </p:txBody>
      </p:sp>
      <p:sp>
        <p:nvSpPr>
          <p:cNvPr id="9" name="Shape 7"/>
          <p:cNvSpPr/>
          <p:nvPr/>
        </p:nvSpPr>
        <p:spPr>
          <a:xfrm>
            <a:off x="640080" y="2331720"/>
            <a:ext cx="10881360" cy="420624"/>
          </a:xfrm>
          <a:prstGeom prst="roundRect">
            <a:avLst>
              <a:gd name="adj" fmla="val 17391"/>
            </a:avLst>
          </a:prstGeom>
          <a:solidFill>
            <a:srgbClr val="0E1822"/>
          </a:solidFill>
          <a:ln/>
        </p:spPr>
        <p:txBody>
          <a:bodyPr/>
          <a:lstStyle/>
          <a:p>
            <a:endParaRPr lang="en-US"/>
          </a:p>
        </p:txBody>
      </p:sp>
      <p:sp>
        <p:nvSpPr>
          <p:cNvPr id="10" name="Shape 8"/>
          <p:cNvSpPr/>
          <p:nvPr/>
        </p:nvSpPr>
        <p:spPr>
          <a:xfrm>
            <a:off x="640080" y="2642616"/>
            <a:ext cx="10881360" cy="109728"/>
          </a:xfrm>
          <a:prstGeom prst="rect">
            <a:avLst/>
          </a:prstGeom>
          <a:solidFill>
            <a:srgbClr val="0E1822"/>
          </a:solidFill>
          <a:ln/>
        </p:spPr>
        <p:txBody>
          <a:bodyPr/>
          <a:lstStyle/>
          <a:p>
            <a:endParaRPr lang="en-US"/>
          </a:p>
        </p:txBody>
      </p:sp>
      <p:sp>
        <p:nvSpPr>
          <p:cNvPr id="11" name="Shape 9"/>
          <p:cNvSpPr/>
          <p:nvPr/>
        </p:nvSpPr>
        <p:spPr>
          <a:xfrm>
            <a:off x="841248" y="2491740"/>
            <a:ext cx="100584" cy="100584"/>
          </a:xfrm>
          <a:prstGeom prst="ellipse">
            <a:avLst/>
          </a:prstGeom>
          <a:solidFill>
            <a:srgbClr val="FF5F56"/>
          </a:solidFill>
          <a:ln/>
        </p:spPr>
        <p:txBody>
          <a:bodyPr/>
          <a:lstStyle/>
          <a:p>
            <a:endParaRPr lang="en-US"/>
          </a:p>
        </p:txBody>
      </p:sp>
      <p:sp>
        <p:nvSpPr>
          <p:cNvPr id="12" name="Shape 10"/>
          <p:cNvSpPr/>
          <p:nvPr/>
        </p:nvSpPr>
        <p:spPr>
          <a:xfrm>
            <a:off x="1005840" y="2491740"/>
            <a:ext cx="100584" cy="100584"/>
          </a:xfrm>
          <a:prstGeom prst="ellipse">
            <a:avLst/>
          </a:prstGeom>
          <a:solidFill>
            <a:srgbClr val="FFBD2E"/>
          </a:solidFill>
          <a:ln/>
        </p:spPr>
        <p:txBody>
          <a:bodyPr/>
          <a:lstStyle/>
          <a:p>
            <a:endParaRPr lang="en-US"/>
          </a:p>
        </p:txBody>
      </p:sp>
      <p:sp>
        <p:nvSpPr>
          <p:cNvPr id="13" name="Shape 11"/>
          <p:cNvSpPr/>
          <p:nvPr/>
        </p:nvSpPr>
        <p:spPr>
          <a:xfrm>
            <a:off x="1170432" y="2491740"/>
            <a:ext cx="100584" cy="100584"/>
          </a:xfrm>
          <a:prstGeom prst="ellipse">
            <a:avLst/>
          </a:prstGeom>
          <a:solidFill>
            <a:srgbClr val="27C93F"/>
          </a:solidFill>
          <a:ln/>
        </p:spPr>
        <p:txBody>
          <a:bodyPr/>
          <a:lstStyle/>
          <a:p>
            <a:endParaRPr lang="en-US"/>
          </a:p>
        </p:txBody>
      </p:sp>
      <p:sp>
        <p:nvSpPr>
          <p:cNvPr id="14" name="Text 12"/>
          <p:cNvSpPr/>
          <p:nvPr/>
        </p:nvSpPr>
        <p:spPr>
          <a:xfrm>
            <a:off x="1371600" y="2331720"/>
            <a:ext cx="9418320" cy="420624"/>
          </a:xfrm>
          <a:prstGeom prst="rect">
            <a:avLst/>
          </a:prstGeom>
          <a:noFill/>
          <a:ln/>
        </p:spPr>
        <p:txBody>
          <a:bodyPr wrap="square" lIns="0" tIns="0" rIns="0" bIns="0" rtlCol="0" anchor="ctr"/>
          <a:lstStyle/>
          <a:p>
            <a:pPr marL="0" indent="0" algn="ctr">
              <a:buNone/>
            </a:pPr>
            <a:r>
              <a:rPr lang="en-US" sz="1150" dirty="0">
                <a:solidFill>
                  <a:srgbClr val="C7D0D6"/>
                </a:solidFill>
                <a:latin typeface="Arial" pitchFamily="34" charset="0"/>
                <a:ea typeface="Arial" pitchFamily="34" charset="-122"/>
                <a:cs typeface="Arial" pitchFamily="34" charset="-120"/>
              </a:rPr>
              <a:t>Databricks SQL  ·  Query Editor</a:t>
            </a:r>
            <a:endParaRPr lang="en-US" sz="1150" dirty="0"/>
          </a:p>
        </p:txBody>
      </p:sp>
      <p:sp>
        <p:nvSpPr>
          <p:cNvPr id="15" name="Shape 13"/>
          <p:cNvSpPr/>
          <p:nvPr/>
        </p:nvSpPr>
        <p:spPr>
          <a:xfrm>
            <a:off x="10195560" y="3008376"/>
            <a:ext cx="1051560" cy="384048"/>
          </a:xfrm>
          <a:prstGeom prst="roundRect">
            <a:avLst>
              <a:gd name="adj" fmla="val 50000"/>
            </a:avLst>
          </a:prstGeom>
          <a:solidFill>
            <a:srgbClr val="EE5A36"/>
          </a:solidFill>
          <a:ln/>
        </p:spPr>
        <p:txBody>
          <a:bodyPr/>
          <a:lstStyle/>
          <a:p>
            <a:endParaRPr lang="en-US"/>
          </a:p>
        </p:txBody>
      </p:sp>
      <p:sp>
        <p:nvSpPr>
          <p:cNvPr id="16" name="Text 14"/>
          <p:cNvSpPr/>
          <p:nvPr/>
        </p:nvSpPr>
        <p:spPr>
          <a:xfrm>
            <a:off x="10195560" y="3008376"/>
            <a:ext cx="105156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  </a:t>
            </a:r>
            <a:r>
              <a:rPr lang="en-US" sz="1200" b="1" dirty="0">
                <a:solidFill>
                  <a:srgbClr val="FFFFFF"/>
                </a:solidFill>
                <a:latin typeface="Arial" pitchFamily="34" charset="0"/>
                <a:ea typeface="Arial" pitchFamily="34" charset="-122"/>
                <a:cs typeface="Arial" pitchFamily="34" charset="-120"/>
              </a:rPr>
              <a:t>Run</a:t>
            </a:r>
            <a:endParaRPr lang="en-US" sz="1100" dirty="0"/>
          </a:p>
        </p:txBody>
      </p:sp>
      <p:sp>
        <p:nvSpPr>
          <p:cNvPr id="17" name="Text 15"/>
          <p:cNvSpPr/>
          <p:nvPr/>
        </p:nvSpPr>
        <p:spPr>
          <a:xfrm>
            <a:off x="1051560" y="3163824"/>
            <a:ext cx="9052560" cy="420624"/>
          </a:xfrm>
          <a:prstGeom prst="rect">
            <a:avLst/>
          </a:prstGeom>
          <a:noFill/>
          <a:ln/>
        </p:spPr>
        <p:txBody>
          <a:bodyPr wrap="square" lIns="0" tIns="0" rIns="0" bIns="0" rtlCol="0" anchor="ctr"/>
          <a:lstStyle/>
          <a:p>
            <a:pPr marL="0" indent="0">
              <a:buNone/>
            </a:pPr>
            <a:r>
              <a:rPr lang="en-US" sz="1600" b="1" dirty="0">
                <a:solidFill>
                  <a:srgbClr val="EE5A36"/>
                </a:solidFill>
                <a:latin typeface="Consolas" pitchFamily="34" charset="0"/>
                <a:ea typeface="Consolas" pitchFamily="34" charset="-122"/>
                <a:cs typeface="Consolas" pitchFamily="34" charset="-120"/>
              </a:rPr>
              <a:t>CREATE CATALOG IF NOT EXISTS </a:t>
            </a:r>
            <a:r>
              <a:rPr lang="en-US" sz="1600" dirty="0">
                <a:solidFill>
                  <a:srgbClr val="26323B"/>
                </a:solidFill>
                <a:latin typeface="Consolas" pitchFamily="34" charset="0"/>
                <a:ea typeface="Consolas" pitchFamily="34" charset="-122"/>
                <a:cs typeface="Consolas" pitchFamily="34" charset="-120"/>
              </a:rPr>
              <a:t>demo_cat;</a:t>
            </a:r>
            <a:endParaRPr lang="en-US" sz="1600" dirty="0"/>
          </a:p>
        </p:txBody>
      </p:sp>
      <p:sp>
        <p:nvSpPr>
          <p:cNvPr id="18" name="Text 16"/>
          <p:cNvSpPr/>
          <p:nvPr/>
        </p:nvSpPr>
        <p:spPr>
          <a:xfrm>
            <a:off x="1051560" y="3584448"/>
            <a:ext cx="9052560" cy="420624"/>
          </a:xfrm>
          <a:prstGeom prst="rect">
            <a:avLst/>
          </a:prstGeom>
          <a:noFill/>
          <a:ln/>
        </p:spPr>
        <p:txBody>
          <a:bodyPr wrap="square" lIns="0" tIns="0" rIns="0" bIns="0" rtlCol="0" anchor="ctr"/>
          <a:lstStyle/>
          <a:p>
            <a:pPr marL="0" indent="0">
              <a:buNone/>
            </a:pPr>
            <a:r>
              <a:rPr lang="en-US" sz="1600" dirty="0">
                <a:solidFill>
                  <a:srgbClr val="000000"/>
                </a:solidFill>
                <a:latin typeface="Consolas" pitchFamily="34" charset="0"/>
                <a:ea typeface="Consolas" pitchFamily="34" charset="-122"/>
                <a:cs typeface="Consolas" pitchFamily="34" charset="-120"/>
              </a:rPr>
              <a:t> </a:t>
            </a:r>
            <a:endParaRPr lang="en-US" sz="1600" dirty="0"/>
          </a:p>
        </p:txBody>
      </p:sp>
      <p:sp>
        <p:nvSpPr>
          <p:cNvPr id="19" name="Text 17"/>
          <p:cNvSpPr/>
          <p:nvPr/>
        </p:nvSpPr>
        <p:spPr>
          <a:xfrm>
            <a:off x="1051560" y="3879566"/>
            <a:ext cx="9052560" cy="420624"/>
          </a:xfrm>
          <a:prstGeom prst="rect">
            <a:avLst/>
          </a:prstGeom>
          <a:noFill/>
          <a:ln/>
        </p:spPr>
        <p:txBody>
          <a:bodyPr wrap="square" lIns="0" tIns="0" rIns="0" bIns="0" rtlCol="0" anchor="ctr"/>
          <a:lstStyle/>
          <a:p>
            <a:pPr marL="0" indent="0">
              <a:buNone/>
            </a:pPr>
            <a:r>
              <a:rPr lang="en-US" sz="1600" b="1" dirty="0">
                <a:solidFill>
                  <a:srgbClr val="EE5A36"/>
                </a:solidFill>
                <a:latin typeface="Consolas" pitchFamily="34" charset="0"/>
                <a:ea typeface="Consolas" pitchFamily="34" charset="-122"/>
                <a:cs typeface="Consolas" pitchFamily="34" charset="-120"/>
              </a:rPr>
              <a:t>CREATE SCHEMA  IF NOT EXISTS </a:t>
            </a:r>
            <a:r>
              <a:rPr lang="en-US" sz="1600" dirty="0">
                <a:solidFill>
                  <a:srgbClr val="26323B"/>
                </a:solidFill>
                <a:latin typeface="Consolas" pitchFamily="34" charset="0"/>
                <a:ea typeface="Consolas" pitchFamily="34" charset="-122"/>
                <a:cs typeface="Consolas" pitchFamily="34" charset="-120"/>
              </a:rPr>
              <a:t>demo_cat.demo;</a:t>
            </a:r>
            <a:endParaRPr lang="en-US" sz="1600" dirty="0"/>
          </a:p>
        </p:txBody>
      </p:sp>
      <p:sp>
        <p:nvSpPr>
          <p:cNvPr id="20" name="Text 18"/>
          <p:cNvSpPr/>
          <p:nvPr/>
        </p:nvSpPr>
        <p:spPr>
          <a:xfrm>
            <a:off x="1051560" y="4425696"/>
            <a:ext cx="9052560" cy="420624"/>
          </a:xfrm>
          <a:prstGeom prst="rect">
            <a:avLst/>
          </a:prstGeom>
          <a:noFill/>
          <a:ln/>
        </p:spPr>
        <p:txBody>
          <a:bodyPr wrap="square" lIns="0" tIns="0" rIns="0" bIns="0" rtlCol="0" anchor="ctr"/>
          <a:lstStyle/>
          <a:p>
            <a:pPr marL="0" indent="0">
              <a:buNone/>
            </a:pPr>
            <a:r>
              <a:rPr lang="en-US" sz="1600" dirty="0">
                <a:solidFill>
                  <a:srgbClr val="000000"/>
                </a:solidFill>
                <a:latin typeface="Consolas" pitchFamily="34" charset="0"/>
                <a:ea typeface="Consolas" pitchFamily="34" charset="-122"/>
                <a:cs typeface="Consolas" pitchFamily="34" charset="-120"/>
              </a:rPr>
              <a:t> </a:t>
            </a:r>
            <a:endParaRPr lang="en-US" sz="1600" dirty="0"/>
          </a:p>
        </p:txBody>
      </p:sp>
      <p:sp>
        <p:nvSpPr>
          <p:cNvPr id="21" name="Text 19"/>
          <p:cNvSpPr/>
          <p:nvPr/>
        </p:nvSpPr>
        <p:spPr>
          <a:xfrm>
            <a:off x="1051560" y="4533360"/>
            <a:ext cx="9052560" cy="420624"/>
          </a:xfrm>
          <a:prstGeom prst="rect">
            <a:avLst/>
          </a:prstGeom>
          <a:noFill/>
          <a:ln/>
        </p:spPr>
        <p:txBody>
          <a:bodyPr wrap="square" lIns="0" tIns="0" rIns="0" bIns="0" rtlCol="0" anchor="ctr"/>
          <a:lstStyle/>
          <a:p>
            <a:pPr marL="0" indent="0">
              <a:buNone/>
            </a:pPr>
            <a:r>
              <a:rPr lang="en-US" sz="1600" b="1" dirty="0">
                <a:solidFill>
                  <a:srgbClr val="EE5A36"/>
                </a:solidFill>
                <a:latin typeface="Consolas" pitchFamily="34" charset="0"/>
                <a:ea typeface="Consolas" pitchFamily="34" charset="-122"/>
                <a:cs typeface="Consolas" pitchFamily="34" charset="-120"/>
              </a:rPr>
              <a:t>CREATE VOLUME  IF NOT EXISTS </a:t>
            </a:r>
            <a:r>
              <a:rPr lang="en-US" sz="1600" dirty="0">
                <a:solidFill>
                  <a:srgbClr val="26323B"/>
                </a:solidFill>
                <a:latin typeface="Consolas" pitchFamily="34" charset="0"/>
                <a:ea typeface="Consolas" pitchFamily="34" charset="-122"/>
                <a:cs typeface="Consolas" pitchFamily="34" charset="-120"/>
              </a:rPr>
              <a:t>demo_cat.demo.landing;</a:t>
            </a:r>
            <a:endParaRPr lang="en-US" sz="1600" dirty="0"/>
          </a:p>
        </p:txBody>
      </p:sp>
      <p:sp>
        <p:nvSpPr>
          <p:cNvPr id="22" name="Text 20"/>
          <p:cNvSpPr/>
          <p:nvPr/>
        </p:nvSpPr>
        <p:spPr>
          <a:xfrm>
            <a:off x="1051560" y="5029200"/>
            <a:ext cx="10058400" cy="320040"/>
          </a:xfrm>
          <a:prstGeom prst="rect">
            <a:avLst/>
          </a:prstGeom>
          <a:noFill/>
          <a:ln/>
        </p:spPr>
        <p:txBody>
          <a:bodyPr wrap="square" lIns="0" tIns="0" rIns="0" bIns="0" rtlCol="0" anchor="ctr"/>
          <a:lstStyle/>
          <a:p>
            <a:pPr marL="0" indent="0">
              <a:buNone/>
            </a:pPr>
            <a:r>
              <a:rPr lang="en-US" sz="1100" i="1" dirty="0">
                <a:solidFill>
                  <a:srgbClr val="2E7D32"/>
                </a:solidFill>
                <a:latin typeface="Arial" pitchFamily="34" charset="0"/>
                <a:ea typeface="Arial" pitchFamily="34" charset="-122"/>
                <a:cs typeface="Arial" pitchFamily="34" charset="-120"/>
              </a:rPr>
              <a:t>✓  Volume created — files can now live at /Volumes/demo_cat/demo/landing/</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21792" y="868680"/>
            <a:ext cx="10789920" cy="822960"/>
          </a:xfrm>
          <a:prstGeom prst="rect">
            <a:avLst/>
          </a:prstGeom>
          <a:noFill/>
          <a:ln/>
        </p:spPr>
        <p:txBody>
          <a:bodyPr wrap="square" lIns="0" tIns="0" rIns="0" bIns="0" rtlCol="0" anchor="ctr"/>
          <a:lstStyle/>
          <a:p>
            <a:pPr marL="0" indent="0">
              <a:buNone/>
            </a:pPr>
            <a:r>
              <a:rPr lang="en-US" sz="3800" b="1" dirty="0">
                <a:solidFill>
                  <a:srgbClr val="1A2530"/>
                </a:solidFill>
                <a:latin typeface="Arial" pitchFamily="34" charset="0"/>
                <a:ea typeface="Arial" pitchFamily="34" charset="-122"/>
                <a:cs typeface="Arial" pitchFamily="34" charset="-120"/>
              </a:rPr>
              <a:t>Step 2 — Land sample JSON files</a:t>
            </a:r>
            <a:endParaRPr lang="en-US" sz="3800" dirty="0"/>
          </a:p>
        </p:txBody>
      </p:sp>
      <p:sp>
        <p:nvSpPr>
          <p:cNvPr id="5" name="Text 3"/>
          <p:cNvSpPr/>
          <p:nvPr/>
        </p:nvSpPr>
        <p:spPr>
          <a:xfrm>
            <a:off x="640080" y="1691640"/>
            <a:ext cx="10789920" cy="411480"/>
          </a:xfrm>
          <a:prstGeom prst="rect">
            <a:avLst/>
          </a:prstGeom>
          <a:noFill/>
          <a:ln/>
        </p:spPr>
        <p:txBody>
          <a:bodyPr wrap="square" lIns="0" tIns="0" rIns="0" bIns="0" rtlCol="0" anchor="ctr"/>
          <a:lstStyle/>
          <a:p>
            <a:pPr marL="0" indent="0">
              <a:buNone/>
            </a:pPr>
            <a:r>
              <a:rPr lang="en-US" sz="1500" dirty="0">
                <a:solidFill>
                  <a:srgbClr val="8A97A0"/>
                </a:solidFill>
                <a:latin typeface="Arial" pitchFamily="34" charset="0"/>
                <a:ea typeface="Arial" pitchFamily="34" charset="-122"/>
                <a:cs typeface="Arial" pitchFamily="34" charset="-120"/>
              </a:rPr>
              <a:t>read_files needs real files. Write two small JSON files into the Volume.</a:t>
            </a:r>
            <a:endParaRPr lang="en-US" sz="1500" dirty="0"/>
          </a:p>
        </p:txBody>
      </p:sp>
      <p:sp>
        <p:nvSpPr>
          <p:cNvPr id="6" name="Text 4"/>
          <p:cNvSpPr/>
          <p:nvPr/>
        </p:nvSpPr>
        <p:spPr>
          <a:xfrm>
            <a:off x="640080" y="6446520"/>
            <a:ext cx="8229600" cy="274320"/>
          </a:xfrm>
          <a:prstGeom prst="rect">
            <a:avLst/>
          </a:prstGeom>
          <a:noFill/>
          <a:ln/>
        </p:spPr>
        <p:txBody>
          <a:bodyPr wrap="square" lIns="0" tIns="0" rIns="0" bIns="0" rtlCol="0" anchor="ctr"/>
          <a:lstStyle/>
          <a:p>
            <a:pPr marL="0" indent="0">
              <a:buNone/>
            </a:pPr>
            <a:r>
              <a:rPr lang="en-US" sz="900" dirty="0">
                <a:solidFill>
                  <a:srgbClr val="8A97A0"/>
                </a:solidFill>
                <a:latin typeface="Arial" pitchFamily="34" charset="0"/>
                <a:ea typeface="Arial" pitchFamily="34" charset="-122"/>
                <a:cs typeface="Arial" pitchFamily="34" charset="-120"/>
              </a:rPr>
              <a:t>Databricks SQL  ·  Streaming Tables on the Lakehouse</a:t>
            </a:r>
            <a:endParaRPr lang="en-US" sz="9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Arial" pitchFamily="34" charset="0"/>
                <a:ea typeface="Arial" pitchFamily="34" charset="-122"/>
                <a:cs typeface="Arial" pitchFamily="34" charset="-120"/>
              </a:rPr>
              <a:t>4</a:t>
            </a:r>
            <a:endParaRPr lang="en-US" sz="900" dirty="0"/>
          </a:p>
        </p:txBody>
      </p:sp>
      <p:sp>
        <p:nvSpPr>
          <p:cNvPr id="8" name="Shape 6"/>
          <p:cNvSpPr/>
          <p:nvPr/>
        </p:nvSpPr>
        <p:spPr>
          <a:xfrm>
            <a:off x="640080" y="2239027"/>
            <a:ext cx="10881360" cy="2788920"/>
          </a:xfrm>
          <a:prstGeom prst="roundRect">
            <a:avLst>
              <a:gd name="adj" fmla="val 2623"/>
            </a:avLst>
          </a:prstGeom>
          <a:solidFill>
            <a:srgbClr val="FBFBFB"/>
          </a:solidFill>
          <a:ln w="12700">
            <a:solidFill>
              <a:srgbClr val="E6E9EC"/>
            </a:solidFill>
            <a:prstDash val="solid"/>
          </a:ln>
          <a:effectLst>
            <a:outerShdw blurRad="127000" dist="38100" dir="5400000" algn="bl" rotWithShape="0">
              <a:srgbClr val="9AA5AD">
                <a:alpha val="25000"/>
              </a:srgbClr>
            </a:outerShdw>
          </a:effectLst>
        </p:spPr>
        <p:txBody>
          <a:bodyPr/>
          <a:lstStyle/>
          <a:p>
            <a:endParaRPr lang="en-US"/>
          </a:p>
        </p:txBody>
      </p:sp>
      <p:sp>
        <p:nvSpPr>
          <p:cNvPr id="9" name="Shape 7"/>
          <p:cNvSpPr/>
          <p:nvPr/>
        </p:nvSpPr>
        <p:spPr>
          <a:xfrm>
            <a:off x="640080" y="2176272"/>
            <a:ext cx="10881360" cy="420624"/>
          </a:xfrm>
          <a:prstGeom prst="roundRect">
            <a:avLst>
              <a:gd name="adj" fmla="val 17391"/>
            </a:avLst>
          </a:prstGeom>
          <a:solidFill>
            <a:srgbClr val="0E1822"/>
          </a:solidFill>
          <a:ln/>
        </p:spPr>
        <p:txBody>
          <a:bodyPr/>
          <a:lstStyle/>
          <a:p>
            <a:endParaRPr lang="en-US"/>
          </a:p>
        </p:txBody>
      </p:sp>
      <p:sp>
        <p:nvSpPr>
          <p:cNvPr id="10" name="Shape 8"/>
          <p:cNvSpPr/>
          <p:nvPr/>
        </p:nvSpPr>
        <p:spPr>
          <a:xfrm>
            <a:off x="640080" y="2487168"/>
            <a:ext cx="10881360" cy="109728"/>
          </a:xfrm>
          <a:prstGeom prst="rect">
            <a:avLst/>
          </a:prstGeom>
          <a:solidFill>
            <a:srgbClr val="0E1822"/>
          </a:solidFill>
          <a:ln/>
        </p:spPr>
        <p:txBody>
          <a:bodyPr/>
          <a:lstStyle/>
          <a:p>
            <a:endParaRPr lang="en-US"/>
          </a:p>
        </p:txBody>
      </p:sp>
      <p:sp>
        <p:nvSpPr>
          <p:cNvPr id="11" name="Shape 9"/>
          <p:cNvSpPr/>
          <p:nvPr/>
        </p:nvSpPr>
        <p:spPr>
          <a:xfrm>
            <a:off x="841248" y="2336292"/>
            <a:ext cx="100584" cy="100584"/>
          </a:xfrm>
          <a:prstGeom prst="ellipse">
            <a:avLst/>
          </a:prstGeom>
          <a:solidFill>
            <a:srgbClr val="FF5F56"/>
          </a:solidFill>
          <a:ln/>
        </p:spPr>
        <p:txBody>
          <a:bodyPr/>
          <a:lstStyle/>
          <a:p>
            <a:endParaRPr lang="en-US"/>
          </a:p>
        </p:txBody>
      </p:sp>
      <p:sp>
        <p:nvSpPr>
          <p:cNvPr id="12" name="Shape 10"/>
          <p:cNvSpPr/>
          <p:nvPr/>
        </p:nvSpPr>
        <p:spPr>
          <a:xfrm>
            <a:off x="1005840" y="2336292"/>
            <a:ext cx="100584" cy="100584"/>
          </a:xfrm>
          <a:prstGeom prst="ellipse">
            <a:avLst/>
          </a:prstGeom>
          <a:solidFill>
            <a:srgbClr val="FFBD2E"/>
          </a:solidFill>
          <a:ln/>
        </p:spPr>
        <p:txBody>
          <a:bodyPr/>
          <a:lstStyle/>
          <a:p>
            <a:endParaRPr lang="en-US"/>
          </a:p>
        </p:txBody>
      </p:sp>
      <p:sp>
        <p:nvSpPr>
          <p:cNvPr id="13" name="Shape 11"/>
          <p:cNvSpPr/>
          <p:nvPr/>
        </p:nvSpPr>
        <p:spPr>
          <a:xfrm>
            <a:off x="1170432" y="2336292"/>
            <a:ext cx="100584" cy="100584"/>
          </a:xfrm>
          <a:prstGeom prst="ellipse">
            <a:avLst/>
          </a:prstGeom>
          <a:solidFill>
            <a:srgbClr val="27C93F"/>
          </a:solidFill>
          <a:ln/>
        </p:spPr>
        <p:txBody>
          <a:bodyPr/>
          <a:lstStyle/>
          <a:p>
            <a:endParaRPr lang="en-US"/>
          </a:p>
        </p:txBody>
      </p:sp>
      <p:sp>
        <p:nvSpPr>
          <p:cNvPr id="14" name="Text 12"/>
          <p:cNvSpPr/>
          <p:nvPr/>
        </p:nvSpPr>
        <p:spPr>
          <a:xfrm>
            <a:off x="1371600" y="2176272"/>
            <a:ext cx="9418320" cy="420624"/>
          </a:xfrm>
          <a:prstGeom prst="rect">
            <a:avLst/>
          </a:prstGeom>
          <a:noFill/>
          <a:ln/>
        </p:spPr>
        <p:txBody>
          <a:bodyPr wrap="square" lIns="0" tIns="0" rIns="0" bIns="0" rtlCol="0" anchor="ctr"/>
          <a:lstStyle/>
          <a:p>
            <a:pPr marL="0" indent="0" algn="ctr">
              <a:buNone/>
            </a:pPr>
            <a:r>
              <a:rPr lang="en-US" sz="1150" dirty="0">
                <a:solidFill>
                  <a:srgbClr val="C7D0D6"/>
                </a:solidFill>
                <a:latin typeface="Arial" pitchFamily="34" charset="0"/>
                <a:ea typeface="Arial" pitchFamily="34" charset="-122"/>
                <a:cs typeface="Arial" pitchFamily="34" charset="-120"/>
              </a:rPr>
              <a:t>events.py  ·  Notebook  (%python)</a:t>
            </a:r>
            <a:endParaRPr lang="en-US" sz="1150" dirty="0"/>
          </a:p>
        </p:txBody>
      </p:sp>
      <p:sp>
        <p:nvSpPr>
          <p:cNvPr id="15" name="Text 13"/>
          <p:cNvSpPr/>
          <p:nvPr/>
        </p:nvSpPr>
        <p:spPr>
          <a:xfrm>
            <a:off x="1051560" y="2852928"/>
            <a:ext cx="10058400" cy="260604"/>
          </a:xfrm>
          <a:prstGeom prst="rect">
            <a:avLst/>
          </a:prstGeom>
          <a:noFill/>
          <a:ln/>
        </p:spPr>
        <p:txBody>
          <a:bodyPr wrap="square" lIns="0" tIns="0" rIns="0" bIns="0" rtlCol="0" anchor="ctr"/>
          <a:lstStyle/>
          <a:p>
            <a:pPr marL="0" indent="0">
              <a:buNone/>
            </a:pPr>
            <a:r>
              <a:rPr lang="en-US" sz="1100" dirty="0">
                <a:solidFill>
                  <a:srgbClr val="26323B"/>
                </a:solidFill>
                <a:latin typeface="Consolas" pitchFamily="34" charset="0"/>
                <a:ea typeface="Consolas" pitchFamily="34" charset="-122"/>
                <a:cs typeface="Consolas" pitchFamily="34" charset="-120"/>
              </a:rPr>
              <a:t>vol </a:t>
            </a:r>
            <a:r>
              <a:rPr lang="en-US" sz="1100" dirty="0">
                <a:solidFill>
                  <a:srgbClr val="EE5A36"/>
                </a:solidFill>
                <a:latin typeface="Consolas" pitchFamily="34" charset="0"/>
                <a:ea typeface="Consolas" pitchFamily="34" charset="-122"/>
                <a:cs typeface="Consolas" pitchFamily="34" charset="-120"/>
              </a:rPr>
              <a:t>= </a:t>
            </a:r>
            <a:r>
              <a:rPr lang="en-US" sz="1100" dirty="0">
                <a:solidFill>
                  <a:srgbClr val="2E7D32"/>
                </a:solidFill>
                <a:latin typeface="Consolas" pitchFamily="34" charset="0"/>
                <a:ea typeface="Consolas" pitchFamily="34" charset="-122"/>
                <a:cs typeface="Consolas" pitchFamily="34" charset="-120"/>
              </a:rPr>
              <a:t>"/Volumes/demo_cat/demo/landing"</a:t>
            </a:r>
            <a:endParaRPr lang="en-US" sz="1100" dirty="0"/>
          </a:p>
        </p:txBody>
      </p:sp>
      <p:sp>
        <p:nvSpPr>
          <p:cNvPr id="16" name="Text 14"/>
          <p:cNvSpPr/>
          <p:nvPr/>
        </p:nvSpPr>
        <p:spPr>
          <a:xfrm>
            <a:off x="1051560" y="3113532"/>
            <a:ext cx="10058400" cy="260604"/>
          </a:xfrm>
          <a:prstGeom prst="rect">
            <a:avLst/>
          </a:prstGeom>
          <a:noFill/>
          <a:ln/>
        </p:spPr>
        <p:txBody>
          <a:bodyPr wrap="square" lIns="0" tIns="0" rIns="0" bIns="0" rtlCol="0" anchor="ctr"/>
          <a:lstStyle/>
          <a:p>
            <a:pPr marL="0" indent="0">
              <a:buNone/>
            </a:pPr>
            <a:r>
              <a:rPr lang="en-US" sz="1100" dirty="0">
                <a:solidFill>
                  <a:srgbClr val="26323B"/>
                </a:solidFill>
                <a:latin typeface="Consolas" pitchFamily="34" charset="0"/>
                <a:ea typeface="Consolas" pitchFamily="34" charset="-122"/>
                <a:cs typeface="Consolas" pitchFamily="34" charset="-120"/>
              </a:rPr>
              <a:t>dbutils.fs.</a:t>
            </a:r>
            <a:r>
              <a:rPr lang="en-US" sz="1100" dirty="0">
                <a:solidFill>
                  <a:srgbClr val="1C7293"/>
                </a:solidFill>
                <a:latin typeface="Consolas" pitchFamily="34" charset="0"/>
                <a:ea typeface="Consolas" pitchFamily="34" charset="-122"/>
                <a:cs typeface="Consolas" pitchFamily="34" charset="-120"/>
              </a:rPr>
              <a:t>put</a:t>
            </a:r>
            <a:r>
              <a:rPr lang="en-US" sz="1100" dirty="0">
                <a:solidFill>
                  <a:srgbClr val="26323B"/>
                </a:solidFill>
                <a:latin typeface="Consolas" pitchFamily="34" charset="0"/>
                <a:ea typeface="Consolas" pitchFamily="34" charset="-122"/>
                <a:cs typeface="Consolas" pitchFamily="34" charset="-120"/>
              </a:rPr>
              <a:t>(f"{vol}/events_1.json",</a:t>
            </a:r>
            <a:endParaRPr lang="en-US" sz="1100" dirty="0"/>
          </a:p>
        </p:txBody>
      </p:sp>
      <p:sp>
        <p:nvSpPr>
          <p:cNvPr id="17" name="Text 15"/>
          <p:cNvSpPr/>
          <p:nvPr/>
        </p:nvSpPr>
        <p:spPr>
          <a:xfrm>
            <a:off x="1051560" y="3374136"/>
            <a:ext cx="10058400" cy="260604"/>
          </a:xfrm>
          <a:prstGeom prst="rect">
            <a:avLst/>
          </a:prstGeom>
          <a:noFill/>
          <a:ln/>
        </p:spPr>
        <p:txBody>
          <a:bodyPr wrap="square" lIns="0" tIns="0" rIns="0" bIns="0" rtlCol="0" anchor="ctr"/>
          <a:lstStyle/>
          <a:p>
            <a:pPr marL="0" indent="0">
              <a:buNone/>
            </a:pPr>
            <a:r>
              <a:rPr lang="en-US" sz="1100" dirty="0">
                <a:solidFill>
                  <a:srgbClr val="2E7D32"/>
                </a:solidFill>
                <a:latin typeface="Consolas" pitchFamily="34" charset="0"/>
                <a:ea typeface="Consolas" pitchFamily="34" charset="-122"/>
                <a:cs typeface="Consolas" pitchFamily="34" charset="-120"/>
              </a:rPr>
              <a:t>    '{"event_id": 1, "user_id": 101, "action": "login"}</a:t>
            </a:r>
            <a:endParaRPr lang="en-US" sz="1100" dirty="0"/>
          </a:p>
        </p:txBody>
      </p:sp>
      <p:sp>
        <p:nvSpPr>
          <p:cNvPr id="18" name="Text 16"/>
          <p:cNvSpPr/>
          <p:nvPr/>
        </p:nvSpPr>
        <p:spPr>
          <a:xfrm>
            <a:off x="1051560" y="3634740"/>
            <a:ext cx="10058400" cy="260604"/>
          </a:xfrm>
          <a:prstGeom prst="rect">
            <a:avLst/>
          </a:prstGeom>
          <a:noFill/>
          <a:ln/>
        </p:spPr>
        <p:txBody>
          <a:bodyPr wrap="square" lIns="0" tIns="0" rIns="0" bIns="0" rtlCol="0" anchor="ctr"/>
          <a:lstStyle/>
          <a:p>
            <a:pPr marL="0" indent="0">
              <a:buNone/>
            </a:pPr>
            <a:r>
              <a:rPr lang="en-US" sz="1100" dirty="0">
                <a:solidFill>
                  <a:srgbClr val="2E7D32"/>
                </a:solidFill>
                <a:latin typeface="Consolas" pitchFamily="34" charset="0"/>
                <a:ea typeface="Consolas" pitchFamily="34" charset="-122"/>
                <a:cs typeface="Consolas" pitchFamily="34" charset="-120"/>
              </a:rPr>
              <a:t>    {"event_id": 2, "user_id": 102, "action": "click"}'</a:t>
            </a:r>
            <a:r>
              <a:rPr lang="en-US" sz="1100" dirty="0">
                <a:solidFill>
                  <a:srgbClr val="26323B"/>
                </a:solidFill>
                <a:latin typeface="Consolas" pitchFamily="34" charset="0"/>
                <a:ea typeface="Consolas" pitchFamily="34" charset="-122"/>
                <a:cs typeface="Consolas" pitchFamily="34" charset="-120"/>
              </a:rPr>
              <a:t>, overwrite=</a:t>
            </a:r>
            <a:r>
              <a:rPr lang="en-US" sz="1100" dirty="0">
                <a:solidFill>
                  <a:srgbClr val="EE5A36"/>
                </a:solidFill>
                <a:latin typeface="Consolas" pitchFamily="34" charset="0"/>
                <a:ea typeface="Consolas" pitchFamily="34" charset="-122"/>
                <a:cs typeface="Consolas" pitchFamily="34" charset="-120"/>
              </a:rPr>
              <a:t>True</a:t>
            </a:r>
            <a:r>
              <a:rPr lang="en-US" sz="1100" dirty="0">
                <a:solidFill>
                  <a:srgbClr val="26323B"/>
                </a:solidFill>
                <a:latin typeface="Consolas" pitchFamily="34" charset="0"/>
                <a:ea typeface="Consolas" pitchFamily="34" charset="-122"/>
                <a:cs typeface="Consolas" pitchFamily="34" charset="-120"/>
              </a:rPr>
              <a:t>)</a:t>
            </a:r>
            <a:endParaRPr lang="en-US" sz="1100" dirty="0"/>
          </a:p>
        </p:txBody>
      </p:sp>
      <p:sp>
        <p:nvSpPr>
          <p:cNvPr id="19" name="Text 17"/>
          <p:cNvSpPr/>
          <p:nvPr/>
        </p:nvSpPr>
        <p:spPr>
          <a:xfrm>
            <a:off x="1051560" y="3895344"/>
            <a:ext cx="10058400" cy="260604"/>
          </a:xfrm>
          <a:prstGeom prst="rect">
            <a:avLst/>
          </a:prstGeom>
          <a:noFill/>
          <a:ln/>
        </p:spPr>
        <p:txBody>
          <a:bodyPr wrap="square" lIns="0" tIns="0" rIns="0" bIns="0" rtlCol="0" anchor="ctr"/>
          <a:lstStyle/>
          <a:p>
            <a:pPr marL="0" indent="0">
              <a:buNone/>
            </a:pPr>
            <a:r>
              <a:rPr lang="en-US" sz="1100" dirty="0">
                <a:solidFill>
                  <a:srgbClr val="26323B"/>
                </a:solidFill>
                <a:latin typeface="Consolas" pitchFamily="34" charset="0"/>
                <a:ea typeface="Consolas" pitchFamily="34" charset="-122"/>
                <a:cs typeface="Consolas" pitchFamily="34" charset="-120"/>
              </a:rPr>
              <a:t>dbutils.fs.</a:t>
            </a:r>
            <a:r>
              <a:rPr lang="en-US" sz="1100" dirty="0">
                <a:solidFill>
                  <a:srgbClr val="1C7293"/>
                </a:solidFill>
                <a:latin typeface="Consolas" pitchFamily="34" charset="0"/>
                <a:ea typeface="Consolas" pitchFamily="34" charset="-122"/>
                <a:cs typeface="Consolas" pitchFamily="34" charset="-120"/>
              </a:rPr>
              <a:t>put</a:t>
            </a:r>
            <a:r>
              <a:rPr lang="en-US" sz="1100" dirty="0">
                <a:solidFill>
                  <a:srgbClr val="26323B"/>
                </a:solidFill>
                <a:latin typeface="Consolas" pitchFamily="34" charset="0"/>
                <a:ea typeface="Consolas" pitchFamily="34" charset="-122"/>
                <a:cs typeface="Consolas" pitchFamily="34" charset="-120"/>
              </a:rPr>
              <a:t>(f"{vol}/events_2.json",</a:t>
            </a:r>
            <a:endParaRPr lang="en-US" sz="1100" dirty="0"/>
          </a:p>
        </p:txBody>
      </p:sp>
      <p:sp>
        <p:nvSpPr>
          <p:cNvPr id="20" name="Text 18"/>
          <p:cNvSpPr/>
          <p:nvPr/>
        </p:nvSpPr>
        <p:spPr>
          <a:xfrm>
            <a:off x="1051560" y="4155948"/>
            <a:ext cx="10058400" cy="260604"/>
          </a:xfrm>
          <a:prstGeom prst="rect">
            <a:avLst/>
          </a:prstGeom>
          <a:noFill/>
          <a:ln/>
        </p:spPr>
        <p:txBody>
          <a:bodyPr wrap="square" lIns="0" tIns="0" rIns="0" bIns="0" rtlCol="0" anchor="ctr"/>
          <a:lstStyle/>
          <a:p>
            <a:pPr marL="0" indent="0">
              <a:buNone/>
            </a:pPr>
            <a:r>
              <a:rPr lang="en-US" sz="1100" dirty="0">
                <a:solidFill>
                  <a:srgbClr val="2E7D32"/>
                </a:solidFill>
                <a:latin typeface="Consolas" pitchFamily="34" charset="0"/>
                <a:ea typeface="Consolas" pitchFamily="34" charset="-122"/>
                <a:cs typeface="Consolas" pitchFamily="34" charset="-120"/>
              </a:rPr>
              <a:t>    '{"event_id": 3, "user_id": 101, "action": "purchase"}</a:t>
            </a:r>
            <a:endParaRPr lang="en-US" sz="1100" dirty="0"/>
          </a:p>
        </p:txBody>
      </p:sp>
      <p:sp>
        <p:nvSpPr>
          <p:cNvPr id="21" name="Text 19"/>
          <p:cNvSpPr/>
          <p:nvPr/>
        </p:nvSpPr>
        <p:spPr>
          <a:xfrm>
            <a:off x="1051560" y="4416552"/>
            <a:ext cx="10058400" cy="260604"/>
          </a:xfrm>
          <a:prstGeom prst="rect">
            <a:avLst/>
          </a:prstGeom>
          <a:noFill/>
          <a:ln/>
        </p:spPr>
        <p:txBody>
          <a:bodyPr wrap="square" lIns="0" tIns="0" rIns="0" bIns="0" rtlCol="0" anchor="ctr"/>
          <a:lstStyle/>
          <a:p>
            <a:pPr marL="0" indent="0">
              <a:buNone/>
            </a:pPr>
            <a:r>
              <a:rPr lang="en-US" sz="1100" dirty="0">
                <a:solidFill>
                  <a:srgbClr val="2E7D32"/>
                </a:solidFill>
                <a:latin typeface="Consolas" pitchFamily="34" charset="0"/>
                <a:ea typeface="Consolas" pitchFamily="34" charset="-122"/>
                <a:cs typeface="Consolas" pitchFamily="34" charset="-120"/>
              </a:rPr>
              <a:t>    {"event_id": 4, "user_id": 103, "action": "logout"}'</a:t>
            </a:r>
            <a:r>
              <a:rPr lang="en-US" sz="1100" dirty="0">
                <a:solidFill>
                  <a:srgbClr val="26323B"/>
                </a:solidFill>
                <a:latin typeface="Consolas" pitchFamily="34" charset="0"/>
                <a:ea typeface="Consolas" pitchFamily="34" charset="-122"/>
                <a:cs typeface="Consolas" pitchFamily="34" charset="-120"/>
              </a:rPr>
              <a:t>, overwrite=</a:t>
            </a:r>
            <a:r>
              <a:rPr lang="en-US" sz="1100" dirty="0">
                <a:solidFill>
                  <a:srgbClr val="EE5A36"/>
                </a:solidFill>
                <a:latin typeface="Consolas" pitchFamily="34" charset="0"/>
                <a:ea typeface="Consolas" pitchFamily="34" charset="-122"/>
                <a:cs typeface="Consolas" pitchFamily="34" charset="-120"/>
              </a:rPr>
              <a:t>True</a:t>
            </a:r>
            <a:r>
              <a:rPr lang="en-US" sz="1100" dirty="0">
                <a:solidFill>
                  <a:srgbClr val="26323B"/>
                </a:solidFill>
                <a:latin typeface="Consolas" pitchFamily="34" charset="0"/>
                <a:ea typeface="Consolas" pitchFamily="34" charset="-122"/>
                <a:cs typeface="Consolas" pitchFamily="34" charset="-120"/>
              </a:rPr>
              <a:t>)</a:t>
            </a:r>
            <a:endParaRPr lang="en-US" sz="1100" dirty="0"/>
          </a:p>
        </p:txBody>
      </p:sp>
      <p:sp>
        <p:nvSpPr>
          <p:cNvPr id="22" name="Text 20"/>
          <p:cNvSpPr/>
          <p:nvPr/>
        </p:nvSpPr>
        <p:spPr>
          <a:xfrm>
            <a:off x="1051560" y="4677156"/>
            <a:ext cx="10058400" cy="260604"/>
          </a:xfrm>
          <a:prstGeom prst="rect">
            <a:avLst/>
          </a:prstGeom>
          <a:noFill/>
          <a:ln/>
        </p:spPr>
        <p:txBody>
          <a:bodyPr wrap="square" lIns="0" tIns="0" rIns="0" bIns="0" rtlCol="0" anchor="ctr"/>
          <a:lstStyle/>
          <a:p>
            <a:pPr marL="0" indent="0">
              <a:buNone/>
            </a:pPr>
            <a:r>
              <a:rPr lang="en-US" sz="1100" dirty="0">
                <a:solidFill>
                  <a:srgbClr val="1C7293"/>
                </a:solidFill>
                <a:latin typeface="Consolas" pitchFamily="34" charset="0"/>
                <a:ea typeface="Consolas" pitchFamily="34" charset="-122"/>
                <a:cs typeface="Consolas" pitchFamily="34" charset="-120"/>
              </a:rPr>
              <a:t>display</a:t>
            </a:r>
            <a:r>
              <a:rPr lang="en-US" sz="1100" dirty="0">
                <a:solidFill>
                  <a:srgbClr val="26323B"/>
                </a:solidFill>
                <a:latin typeface="Consolas" pitchFamily="34" charset="0"/>
                <a:ea typeface="Consolas" pitchFamily="34" charset="-122"/>
                <a:cs typeface="Consolas" pitchFamily="34" charset="-120"/>
              </a:rPr>
              <a:t>(dbutils.fs.</a:t>
            </a:r>
            <a:r>
              <a:rPr lang="en-US" sz="1100" dirty="0">
                <a:solidFill>
                  <a:srgbClr val="1C7293"/>
                </a:solidFill>
                <a:latin typeface="Consolas" pitchFamily="34" charset="0"/>
                <a:ea typeface="Consolas" pitchFamily="34" charset="-122"/>
                <a:cs typeface="Consolas" pitchFamily="34" charset="-120"/>
              </a:rPr>
              <a:t>ls</a:t>
            </a:r>
            <a:r>
              <a:rPr lang="en-US" sz="1100" dirty="0">
                <a:solidFill>
                  <a:srgbClr val="26323B"/>
                </a:solidFill>
                <a:latin typeface="Consolas" pitchFamily="34" charset="0"/>
                <a:ea typeface="Consolas" pitchFamily="34" charset="-122"/>
                <a:cs typeface="Consolas" pitchFamily="34" charset="-120"/>
              </a:rPr>
              <a:t>(vol))</a:t>
            </a:r>
            <a:endParaRPr lang="en-US" sz="1100" dirty="0"/>
          </a:p>
        </p:txBody>
      </p:sp>
      <p:sp>
        <p:nvSpPr>
          <p:cNvPr id="23" name="Shape 21"/>
          <p:cNvSpPr/>
          <p:nvPr/>
        </p:nvSpPr>
        <p:spPr>
          <a:xfrm>
            <a:off x="640080" y="5120640"/>
            <a:ext cx="6675120" cy="402336"/>
          </a:xfrm>
          <a:prstGeom prst="rect">
            <a:avLst/>
          </a:prstGeom>
          <a:solidFill>
            <a:srgbClr val="1F3340"/>
          </a:solidFill>
          <a:ln/>
        </p:spPr>
        <p:txBody>
          <a:bodyPr/>
          <a:lstStyle/>
          <a:p>
            <a:endParaRPr lang="en-US"/>
          </a:p>
        </p:txBody>
      </p:sp>
      <p:sp>
        <p:nvSpPr>
          <p:cNvPr id="24" name="Text 22"/>
          <p:cNvSpPr/>
          <p:nvPr/>
        </p:nvSpPr>
        <p:spPr>
          <a:xfrm>
            <a:off x="749808" y="5120640"/>
            <a:ext cx="1700784" cy="402336"/>
          </a:xfrm>
          <a:prstGeom prst="rect">
            <a:avLst/>
          </a:prstGeom>
          <a:noFill/>
          <a:ln/>
        </p:spPr>
        <p:txBody>
          <a:bodyPr wrap="square" lIns="0" tIns="0" rIns="0" bIns="0" rtlCol="0" anchor="ctr"/>
          <a:lstStyle/>
          <a:p>
            <a:pPr marL="0" indent="0" algn="l">
              <a:buNone/>
            </a:pPr>
            <a:r>
              <a:rPr lang="en-US" sz="1100" dirty="0">
                <a:solidFill>
                  <a:srgbClr val="FFFFFF"/>
                </a:solidFill>
                <a:latin typeface="Consolas" pitchFamily="34" charset="0"/>
                <a:ea typeface="Consolas" pitchFamily="34" charset="-122"/>
                <a:cs typeface="Consolas" pitchFamily="34" charset="-120"/>
              </a:rPr>
              <a:t>name</a:t>
            </a:r>
            <a:endParaRPr lang="en-US" sz="1100" dirty="0"/>
          </a:p>
        </p:txBody>
      </p:sp>
      <p:sp>
        <p:nvSpPr>
          <p:cNvPr id="25" name="Text 23"/>
          <p:cNvSpPr/>
          <p:nvPr/>
        </p:nvSpPr>
        <p:spPr>
          <a:xfrm>
            <a:off x="2670048" y="5120640"/>
            <a:ext cx="603504" cy="402336"/>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size</a:t>
            </a:r>
            <a:endParaRPr lang="en-US" sz="1100" dirty="0"/>
          </a:p>
        </p:txBody>
      </p:sp>
      <p:sp>
        <p:nvSpPr>
          <p:cNvPr id="26" name="Text 24"/>
          <p:cNvSpPr/>
          <p:nvPr/>
        </p:nvSpPr>
        <p:spPr>
          <a:xfrm>
            <a:off x="3493008" y="5120640"/>
            <a:ext cx="3712464" cy="402336"/>
          </a:xfrm>
          <a:prstGeom prst="rect">
            <a:avLst/>
          </a:prstGeom>
          <a:noFill/>
          <a:ln/>
        </p:spPr>
        <p:txBody>
          <a:bodyPr wrap="square" lIns="0" tIns="0" rIns="0" bIns="0" rtlCol="0" anchor="ctr"/>
          <a:lstStyle/>
          <a:p>
            <a:pPr marL="0" indent="0" algn="l">
              <a:buNone/>
            </a:pPr>
            <a:r>
              <a:rPr lang="en-US" sz="1100" dirty="0">
                <a:solidFill>
                  <a:srgbClr val="FFFFFF"/>
                </a:solidFill>
                <a:latin typeface="Consolas" pitchFamily="34" charset="0"/>
                <a:ea typeface="Consolas" pitchFamily="34" charset="-122"/>
                <a:cs typeface="Consolas" pitchFamily="34" charset="-120"/>
              </a:rPr>
              <a:t>path</a:t>
            </a:r>
            <a:endParaRPr lang="en-US" sz="1100" dirty="0"/>
          </a:p>
        </p:txBody>
      </p:sp>
      <p:sp>
        <p:nvSpPr>
          <p:cNvPr id="27" name="Text 25"/>
          <p:cNvSpPr/>
          <p:nvPr/>
        </p:nvSpPr>
        <p:spPr>
          <a:xfrm>
            <a:off x="749808" y="5522976"/>
            <a:ext cx="1700784" cy="384048"/>
          </a:xfrm>
          <a:prstGeom prst="rect">
            <a:avLst/>
          </a:prstGeom>
          <a:noFill/>
          <a:ln/>
        </p:spPr>
        <p:txBody>
          <a:bodyPr wrap="square" lIns="0" tIns="0" rIns="0" bIns="0" rtlCol="0" anchor="ctr"/>
          <a:lstStyle/>
          <a:p>
            <a:pPr marL="0" indent="0" algn="l">
              <a:buNone/>
            </a:pPr>
            <a:r>
              <a:rPr lang="en-US" sz="1100" dirty="0">
                <a:solidFill>
                  <a:srgbClr val="26323B"/>
                </a:solidFill>
                <a:latin typeface="Consolas" pitchFamily="34" charset="0"/>
                <a:ea typeface="Consolas" pitchFamily="34" charset="-122"/>
                <a:cs typeface="Consolas" pitchFamily="34" charset="-120"/>
              </a:rPr>
              <a:t>events_1.json</a:t>
            </a:r>
            <a:endParaRPr lang="en-US" sz="1100" dirty="0"/>
          </a:p>
        </p:txBody>
      </p:sp>
      <p:sp>
        <p:nvSpPr>
          <p:cNvPr id="28" name="Text 26"/>
          <p:cNvSpPr/>
          <p:nvPr/>
        </p:nvSpPr>
        <p:spPr>
          <a:xfrm>
            <a:off x="2670048" y="5522976"/>
            <a:ext cx="603504" cy="384048"/>
          </a:xfrm>
          <a:prstGeom prst="rect">
            <a:avLst/>
          </a:prstGeom>
          <a:noFill/>
          <a:ln/>
        </p:spPr>
        <p:txBody>
          <a:bodyPr wrap="square" lIns="0" tIns="0" rIns="0" bIns="0" rtlCol="0" anchor="ctr"/>
          <a:lstStyle/>
          <a:p>
            <a:pPr marL="0" indent="0" algn="r">
              <a:buNone/>
            </a:pPr>
            <a:r>
              <a:rPr lang="en-US" sz="1100" dirty="0">
                <a:solidFill>
                  <a:srgbClr val="26323B"/>
                </a:solidFill>
                <a:latin typeface="Consolas" pitchFamily="34" charset="0"/>
                <a:ea typeface="Consolas" pitchFamily="34" charset="-122"/>
                <a:cs typeface="Consolas" pitchFamily="34" charset="-120"/>
              </a:rPr>
              <a:t>101</a:t>
            </a:r>
            <a:endParaRPr lang="en-US" sz="1100" dirty="0"/>
          </a:p>
        </p:txBody>
      </p:sp>
      <p:sp>
        <p:nvSpPr>
          <p:cNvPr id="29" name="Text 27"/>
          <p:cNvSpPr/>
          <p:nvPr/>
        </p:nvSpPr>
        <p:spPr>
          <a:xfrm>
            <a:off x="3493008" y="5522976"/>
            <a:ext cx="3712464" cy="384048"/>
          </a:xfrm>
          <a:prstGeom prst="rect">
            <a:avLst/>
          </a:prstGeom>
          <a:noFill/>
          <a:ln/>
        </p:spPr>
        <p:txBody>
          <a:bodyPr wrap="square" lIns="0" tIns="0" rIns="0" bIns="0" rtlCol="0" anchor="ctr"/>
          <a:lstStyle/>
          <a:p>
            <a:pPr marL="0" indent="0" algn="l">
              <a:buNone/>
            </a:pPr>
            <a:r>
              <a:rPr lang="en-US" sz="1100" dirty="0">
                <a:solidFill>
                  <a:srgbClr val="26323B"/>
                </a:solidFill>
                <a:latin typeface="Consolas" pitchFamily="34" charset="0"/>
                <a:ea typeface="Consolas" pitchFamily="34" charset="-122"/>
                <a:cs typeface="Consolas" pitchFamily="34" charset="-120"/>
              </a:rPr>
              <a:t>…/demo/landing/events_1.json</a:t>
            </a:r>
            <a:endParaRPr lang="en-US" sz="1100" dirty="0"/>
          </a:p>
        </p:txBody>
      </p:sp>
      <p:sp>
        <p:nvSpPr>
          <p:cNvPr id="30" name="Shape 28"/>
          <p:cNvSpPr/>
          <p:nvPr/>
        </p:nvSpPr>
        <p:spPr>
          <a:xfrm>
            <a:off x="640080" y="5907024"/>
            <a:ext cx="6675120" cy="384048"/>
          </a:xfrm>
          <a:prstGeom prst="rect">
            <a:avLst/>
          </a:prstGeom>
          <a:solidFill>
            <a:srgbClr val="F1F3F5"/>
          </a:solidFill>
          <a:ln/>
        </p:spPr>
        <p:txBody>
          <a:bodyPr/>
          <a:lstStyle/>
          <a:p>
            <a:endParaRPr lang="en-US"/>
          </a:p>
        </p:txBody>
      </p:sp>
      <p:sp>
        <p:nvSpPr>
          <p:cNvPr id="31" name="Text 29"/>
          <p:cNvSpPr/>
          <p:nvPr/>
        </p:nvSpPr>
        <p:spPr>
          <a:xfrm>
            <a:off x="749808" y="5907024"/>
            <a:ext cx="1700784" cy="384048"/>
          </a:xfrm>
          <a:prstGeom prst="rect">
            <a:avLst/>
          </a:prstGeom>
          <a:noFill/>
          <a:ln/>
        </p:spPr>
        <p:txBody>
          <a:bodyPr wrap="square" lIns="0" tIns="0" rIns="0" bIns="0" rtlCol="0" anchor="ctr"/>
          <a:lstStyle/>
          <a:p>
            <a:pPr marL="0" indent="0" algn="l">
              <a:buNone/>
            </a:pPr>
            <a:r>
              <a:rPr lang="en-US" sz="1100" dirty="0">
                <a:solidFill>
                  <a:srgbClr val="26323B"/>
                </a:solidFill>
                <a:latin typeface="Consolas" pitchFamily="34" charset="0"/>
                <a:ea typeface="Consolas" pitchFamily="34" charset="-122"/>
                <a:cs typeface="Consolas" pitchFamily="34" charset="-120"/>
              </a:rPr>
              <a:t>events_2.json</a:t>
            </a:r>
            <a:endParaRPr lang="en-US" sz="1100" dirty="0"/>
          </a:p>
        </p:txBody>
      </p:sp>
      <p:sp>
        <p:nvSpPr>
          <p:cNvPr id="32" name="Text 30"/>
          <p:cNvSpPr/>
          <p:nvPr/>
        </p:nvSpPr>
        <p:spPr>
          <a:xfrm>
            <a:off x="2670048" y="5907024"/>
            <a:ext cx="603504" cy="384048"/>
          </a:xfrm>
          <a:prstGeom prst="rect">
            <a:avLst/>
          </a:prstGeom>
          <a:noFill/>
          <a:ln/>
        </p:spPr>
        <p:txBody>
          <a:bodyPr wrap="square" lIns="0" tIns="0" rIns="0" bIns="0" rtlCol="0" anchor="ctr"/>
          <a:lstStyle/>
          <a:p>
            <a:pPr marL="0" indent="0" algn="r">
              <a:buNone/>
            </a:pPr>
            <a:r>
              <a:rPr lang="en-US" sz="1100" dirty="0">
                <a:solidFill>
                  <a:srgbClr val="26323B"/>
                </a:solidFill>
                <a:latin typeface="Consolas" pitchFamily="34" charset="0"/>
                <a:ea typeface="Consolas" pitchFamily="34" charset="-122"/>
                <a:cs typeface="Consolas" pitchFamily="34" charset="-120"/>
              </a:rPr>
              <a:t>105</a:t>
            </a:r>
            <a:endParaRPr lang="en-US" sz="1100" dirty="0"/>
          </a:p>
        </p:txBody>
      </p:sp>
      <p:sp>
        <p:nvSpPr>
          <p:cNvPr id="33" name="Text 31"/>
          <p:cNvSpPr/>
          <p:nvPr/>
        </p:nvSpPr>
        <p:spPr>
          <a:xfrm>
            <a:off x="3493008" y="5907024"/>
            <a:ext cx="3712464" cy="384048"/>
          </a:xfrm>
          <a:prstGeom prst="rect">
            <a:avLst/>
          </a:prstGeom>
          <a:noFill/>
          <a:ln/>
        </p:spPr>
        <p:txBody>
          <a:bodyPr wrap="square" lIns="0" tIns="0" rIns="0" bIns="0" rtlCol="0" anchor="ctr"/>
          <a:lstStyle/>
          <a:p>
            <a:pPr marL="0" indent="0" algn="l">
              <a:buNone/>
            </a:pPr>
            <a:r>
              <a:rPr lang="en-US" sz="1100" dirty="0">
                <a:solidFill>
                  <a:srgbClr val="26323B"/>
                </a:solidFill>
                <a:latin typeface="Consolas" pitchFamily="34" charset="0"/>
                <a:ea typeface="Consolas" pitchFamily="34" charset="-122"/>
                <a:cs typeface="Consolas" pitchFamily="34" charset="-120"/>
              </a:rPr>
              <a:t>…/demo/landing/events_2.json</a:t>
            </a:r>
            <a:endParaRPr lang="en-US" sz="1100" dirty="0"/>
          </a:p>
        </p:txBody>
      </p:sp>
      <p:sp>
        <p:nvSpPr>
          <p:cNvPr id="34" name="Shape 32"/>
          <p:cNvSpPr/>
          <p:nvPr/>
        </p:nvSpPr>
        <p:spPr>
          <a:xfrm>
            <a:off x="640080" y="5120640"/>
            <a:ext cx="6675120" cy="1170432"/>
          </a:xfrm>
          <a:prstGeom prst="rect">
            <a:avLst/>
          </a:prstGeom>
          <a:ln w="12700">
            <a:solidFill>
              <a:srgbClr val="E6E9EC"/>
            </a:solidFill>
            <a:prstDash val="solid"/>
          </a:ln>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21792" y="868680"/>
            <a:ext cx="10789920" cy="822960"/>
          </a:xfrm>
          <a:prstGeom prst="rect">
            <a:avLst/>
          </a:prstGeom>
          <a:noFill/>
          <a:ln/>
        </p:spPr>
        <p:txBody>
          <a:bodyPr wrap="square" lIns="0" tIns="0" rIns="0" bIns="0" rtlCol="0" anchor="ctr"/>
          <a:lstStyle/>
          <a:p>
            <a:pPr marL="0" indent="0">
              <a:buNone/>
            </a:pPr>
            <a:r>
              <a:rPr lang="en-US" sz="3800" b="1" dirty="0">
                <a:solidFill>
                  <a:srgbClr val="1A2530"/>
                </a:solidFill>
                <a:latin typeface="Arial" pitchFamily="34" charset="0"/>
                <a:ea typeface="Arial" pitchFamily="34" charset="-122"/>
                <a:cs typeface="Arial" pitchFamily="34" charset="-120"/>
              </a:rPr>
              <a:t>Create the streaming table</a:t>
            </a:r>
            <a:endParaRPr lang="en-US" sz="3800" dirty="0"/>
          </a:p>
        </p:txBody>
      </p:sp>
      <p:sp>
        <p:nvSpPr>
          <p:cNvPr id="5" name="Text 3"/>
          <p:cNvSpPr/>
          <p:nvPr/>
        </p:nvSpPr>
        <p:spPr>
          <a:xfrm>
            <a:off x="640080" y="1691640"/>
            <a:ext cx="10789920" cy="411480"/>
          </a:xfrm>
          <a:prstGeom prst="rect">
            <a:avLst/>
          </a:prstGeom>
          <a:noFill/>
          <a:ln/>
        </p:spPr>
        <p:txBody>
          <a:bodyPr wrap="square" lIns="0" tIns="0" rIns="0" bIns="0" rtlCol="0" anchor="ctr"/>
          <a:lstStyle/>
          <a:p>
            <a:pPr marL="0" indent="0">
              <a:buNone/>
            </a:pPr>
            <a:r>
              <a:rPr lang="en-US" sz="1500" dirty="0">
                <a:solidFill>
                  <a:srgbClr val="8A97A0"/>
                </a:solidFill>
                <a:latin typeface="Arial" pitchFamily="34" charset="0"/>
                <a:ea typeface="Arial" pitchFamily="34" charset="-122"/>
                <a:cs typeface="Arial" pitchFamily="34" charset="-120"/>
              </a:rPr>
              <a:t>One statement turns a folder of files into an incrementally-loaded Delta table.</a:t>
            </a:r>
            <a:endParaRPr lang="en-US" sz="1500" dirty="0"/>
          </a:p>
        </p:txBody>
      </p:sp>
      <p:sp>
        <p:nvSpPr>
          <p:cNvPr id="6" name="Text 4"/>
          <p:cNvSpPr/>
          <p:nvPr/>
        </p:nvSpPr>
        <p:spPr>
          <a:xfrm>
            <a:off x="640080" y="6446520"/>
            <a:ext cx="8229600" cy="274320"/>
          </a:xfrm>
          <a:prstGeom prst="rect">
            <a:avLst/>
          </a:prstGeom>
          <a:noFill/>
          <a:ln/>
        </p:spPr>
        <p:txBody>
          <a:bodyPr wrap="square" lIns="0" tIns="0" rIns="0" bIns="0" rtlCol="0" anchor="ctr"/>
          <a:lstStyle/>
          <a:p>
            <a:pPr marL="0" indent="0">
              <a:buNone/>
            </a:pPr>
            <a:r>
              <a:rPr lang="en-US" sz="900" dirty="0">
                <a:solidFill>
                  <a:srgbClr val="8A97A0"/>
                </a:solidFill>
                <a:latin typeface="Arial" pitchFamily="34" charset="0"/>
                <a:ea typeface="Arial" pitchFamily="34" charset="-122"/>
                <a:cs typeface="Arial" pitchFamily="34" charset="-120"/>
              </a:rPr>
              <a:t>Databricks SQL  ·  Streaming Tables on the Lakehouse</a:t>
            </a:r>
            <a:endParaRPr lang="en-US" sz="9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Arial" pitchFamily="34" charset="0"/>
                <a:ea typeface="Arial" pitchFamily="34" charset="-122"/>
                <a:cs typeface="Arial" pitchFamily="34" charset="-120"/>
              </a:rPr>
              <a:t>5</a:t>
            </a:r>
            <a:endParaRPr lang="en-US" sz="900" dirty="0"/>
          </a:p>
        </p:txBody>
      </p:sp>
      <p:sp>
        <p:nvSpPr>
          <p:cNvPr id="8" name="Shape 6"/>
          <p:cNvSpPr/>
          <p:nvPr/>
        </p:nvSpPr>
        <p:spPr>
          <a:xfrm>
            <a:off x="640080" y="2286000"/>
            <a:ext cx="10881360" cy="3657600"/>
          </a:xfrm>
          <a:prstGeom prst="roundRect">
            <a:avLst>
              <a:gd name="adj" fmla="val 2000"/>
            </a:avLst>
          </a:prstGeom>
          <a:solidFill>
            <a:srgbClr val="FBFBFB"/>
          </a:solidFill>
          <a:ln w="12700">
            <a:solidFill>
              <a:srgbClr val="E6E9EC"/>
            </a:solidFill>
            <a:prstDash val="solid"/>
          </a:ln>
          <a:effectLst>
            <a:outerShdw blurRad="127000" dist="38100" dir="5400000" algn="bl" rotWithShape="0">
              <a:srgbClr val="9AA5AD">
                <a:alpha val="25000"/>
              </a:srgbClr>
            </a:outerShdw>
          </a:effectLst>
        </p:spPr>
        <p:txBody>
          <a:bodyPr/>
          <a:lstStyle/>
          <a:p>
            <a:endParaRPr lang="en-US"/>
          </a:p>
        </p:txBody>
      </p:sp>
      <p:sp>
        <p:nvSpPr>
          <p:cNvPr id="9" name="Shape 7"/>
          <p:cNvSpPr/>
          <p:nvPr/>
        </p:nvSpPr>
        <p:spPr>
          <a:xfrm>
            <a:off x="640080" y="2286000"/>
            <a:ext cx="10881360" cy="420624"/>
          </a:xfrm>
          <a:prstGeom prst="roundRect">
            <a:avLst>
              <a:gd name="adj" fmla="val 17391"/>
            </a:avLst>
          </a:prstGeom>
          <a:solidFill>
            <a:srgbClr val="0E1822"/>
          </a:solidFill>
          <a:ln/>
        </p:spPr>
        <p:txBody>
          <a:bodyPr/>
          <a:lstStyle/>
          <a:p>
            <a:endParaRPr lang="en-US"/>
          </a:p>
        </p:txBody>
      </p:sp>
      <p:sp>
        <p:nvSpPr>
          <p:cNvPr id="10" name="Shape 8"/>
          <p:cNvSpPr/>
          <p:nvPr/>
        </p:nvSpPr>
        <p:spPr>
          <a:xfrm>
            <a:off x="640080" y="2596896"/>
            <a:ext cx="10881360" cy="109728"/>
          </a:xfrm>
          <a:prstGeom prst="rect">
            <a:avLst/>
          </a:prstGeom>
          <a:solidFill>
            <a:srgbClr val="0E1822"/>
          </a:solidFill>
          <a:ln/>
        </p:spPr>
        <p:txBody>
          <a:bodyPr/>
          <a:lstStyle/>
          <a:p>
            <a:endParaRPr lang="en-US"/>
          </a:p>
        </p:txBody>
      </p:sp>
      <p:sp>
        <p:nvSpPr>
          <p:cNvPr id="11" name="Shape 9"/>
          <p:cNvSpPr/>
          <p:nvPr/>
        </p:nvSpPr>
        <p:spPr>
          <a:xfrm>
            <a:off x="841248" y="2446020"/>
            <a:ext cx="100584" cy="100584"/>
          </a:xfrm>
          <a:prstGeom prst="ellipse">
            <a:avLst/>
          </a:prstGeom>
          <a:solidFill>
            <a:srgbClr val="FF5F56"/>
          </a:solidFill>
          <a:ln/>
        </p:spPr>
        <p:txBody>
          <a:bodyPr/>
          <a:lstStyle/>
          <a:p>
            <a:endParaRPr lang="en-US"/>
          </a:p>
        </p:txBody>
      </p:sp>
      <p:sp>
        <p:nvSpPr>
          <p:cNvPr id="12" name="Shape 10"/>
          <p:cNvSpPr/>
          <p:nvPr/>
        </p:nvSpPr>
        <p:spPr>
          <a:xfrm>
            <a:off x="1005840" y="2446020"/>
            <a:ext cx="100584" cy="100584"/>
          </a:xfrm>
          <a:prstGeom prst="ellipse">
            <a:avLst/>
          </a:prstGeom>
          <a:solidFill>
            <a:srgbClr val="FFBD2E"/>
          </a:solidFill>
          <a:ln/>
        </p:spPr>
        <p:txBody>
          <a:bodyPr/>
          <a:lstStyle/>
          <a:p>
            <a:endParaRPr lang="en-US"/>
          </a:p>
        </p:txBody>
      </p:sp>
      <p:sp>
        <p:nvSpPr>
          <p:cNvPr id="13" name="Shape 11"/>
          <p:cNvSpPr/>
          <p:nvPr/>
        </p:nvSpPr>
        <p:spPr>
          <a:xfrm>
            <a:off x="1170432" y="2446020"/>
            <a:ext cx="100584" cy="100584"/>
          </a:xfrm>
          <a:prstGeom prst="ellipse">
            <a:avLst/>
          </a:prstGeom>
          <a:solidFill>
            <a:srgbClr val="27C93F"/>
          </a:solidFill>
          <a:ln/>
        </p:spPr>
        <p:txBody>
          <a:bodyPr/>
          <a:lstStyle/>
          <a:p>
            <a:endParaRPr lang="en-US"/>
          </a:p>
        </p:txBody>
      </p:sp>
      <p:sp>
        <p:nvSpPr>
          <p:cNvPr id="14" name="Text 12"/>
          <p:cNvSpPr/>
          <p:nvPr/>
        </p:nvSpPr>
        <p:spPr>
          <a:xfrm>
            <a:off x="1371600" y="2286000"/>
            <a:ext cx="9418320" cy="420624"/>
          </a:xfrm>
          <a:prstGeom prst="rect">
            <a:avLst/>
          </a:prstGeom>
          <a:noFill/>
          <a:ln/>
        </p:spPr>
        <p:txBody>
          <a:bodyPr wrap="square" lIns="0" tIns="0" rIns="0" bIns="0" rtlCol="0" anchor="ctr"/>
          <a:lstStyle/>
          <a:p>
            <a:pPr marL="0" indent="0" algn="ctr">
              <a:buNone/>
            </a:pPr>
            <a:r>
              <a:rPr lang="en-US" sz="1150" dirty="0">
                <a:solidFill>
                  <a:srgbClr val="C7D0D6"/>
                </a:solidFill>
                <a:latin typeface="Arial" pitchFamily="34" charset="0"/>
                <a:ea typeface="Arial" pitchFamily="34" charset="-122"/>
                <a:cs typeface="Arial" pitchFamily="34" charset="-120"/>
              </a:rPr>
              <a:t>Databricks SQL  ·  Query Editor</a:t>
            </a:r>
            <a:endParaRPr lang="en-US" sz="1150" dirty="0"/>
          </a:p>
        </p:txBody>
      </p:sp>
      <p:sp>
        <p:nvSpPr>
          <p:cNvPr id="15" name="Shape 13"/>
          <p:cNvSpPr/>
          <p:nvPr/>
        </p:nvSpPr>
        <p:spPr>
          <a:xfrm>
            <a:off x="10195560" y="2962656"/>
            <a:ext cx="1051560" cy="384048"/>
          </a:xfrm>
          <a:prstGeom prst="roundRect">
            <a:avLst>
              <a:gd name="adj" fmla="val 50000"/>
            </a:avLst>
          </a:prstGeom>
          <a:solidFill>
            <a:srgbClr val="EE5A36"/>
          </a:solidFill>
          <a:ln/>
        </p:spPr>
        <p:txBody>
          <a:bodyPr/>
          <a:lstStyle/>
          <a:p>
            <a:endParaRPr lang="en-US"/>
          </a:p>
        </p:txBody>
      </p:sp>
      <p:sp>
        <p:nvSpPr>
          <p:cNvPr id="16" name="Text 14"/>
          <p:cNvSpPr/>
          <p:nvPr/>
        </p:nvSpPr>
        <p:spPr>
          <a:xfrm>
            <a:off x="10195560" y="2962656"/>
            <a:ext cx="105156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  </a:t>
            </a:r>
            <a:r>
              <a:rPr lang="en-US" sz="1200" b="1" dirty="0">
                <a:solidFill>
                  <a:srgbClr val="FFFFFF"/>
                </a:solidFill>
                <a:latin typeface="Arial" pitchFamily="34" charset="0"/>
                <a:ea typeface="Arial" pitchFamily="34" charset="-122"/>
                <a:cs typeface="Arial" pitchFamily="34" charset="-120"/>
              </a:rPr>
              <a:t>Run</a:t>
            </a:r>
            <a:endParaRPr lang="en-US" sz="1100" dirty="0"/>
          </a:p>
        </p:txBody>
      </p:sp>
      <p:sp>
        <p:nvSpPr>
          <p:cNvPr id="17" name="Text 15"/>
          <p:cNvSpPr/>
          <p:nvPr/>
        </p:nvSpPr>
        <p:spPr>
          <a:xfrm>
            <a:off x="1051560" y="3163824"/>
            <a:ext cx="9052560" cy="420624"/>
          </a:xfrm>
          <a:prstGeom prst="rect">
            <a:avLst/>
          </a:prstGeom>
          <a:noFill/>
          <a:ln/>
        </p:spPr>
        <p:txBody>
          <a:bodyPr wrap="square" lIns="0" tIns="0" rIns="0" bIns="0" rtlCol="0" anchor="ctr"/>
          <a:lstStyle/>
          <a:p>
            <a:pPr marL="0" indent="0">
              <a:buNone/>
            </a:pPr>
            <a:r>
              <a:rPr lang="en-US" sz="1600" b="1" dirty="0">
                <a:solidFill>
                  <a:srgbClr val="EE5A36"/>
                </a:solidFill>
                <a:latin typeface="Consolas" pitchFamily="34" charset="0"/>
                <a:ea typeface="Consolas" pitchFamily="34" charset="-122"/>
                <a:cs typeface="Consolas" pitchFamily="34" charset="-120"/>
              </a:rPr>
              <a:t>CREATE OR REFRESH STREAMING TABLE </a:t>
            </a:r>
            <a:r>
              <a:rPr lang="en-US" sz="1600" dirty="0">
                <a:solidFill>
                  <a:srgbClr val="26323B"/>
                </a:solidFill>
                <a:latin typeface="Consolas" pitchFamily="34" charset="0"/>
                <a:ea typeface="Consolas" pitchFamily="34" charset="-122"/>
                <a:cs typeface="Consolas" pitchFamily="34" charset="-120"/>
              </a:rPr>
              <a:t>demo_cat.demo.bronze_events</a:t>
            </a:r>
            <a:endParaRPr lang="en-US" sz="1600" dirty="0"/>
          </a:p>
        </p:txBody>
      </p:sp>
      <p:sp>
        <p:nvSpPr>
          <p:cNvPr id="18" name="Text 16"/>
          <p:cNvSpPr/>
          <p:nvPr/>
        </p:nvSpPr>
        <p:spPr>
          <a:xfrm>
            <a:off x="1051560" y="3584448"/>
            <a:ext cx="9052560" cy="420624"/>
          </a:xfrm>
          <a:prstGeom prst="rect">
            <a:avLst/>
          </a:prstGeom>
          <a:noFill/>
          <a:ln/>
        </p:spPr>
        <p:txBody>
          <a:bodyPr wrap="square" lIns="0" tIns="0" rIns="0" bIns="0" rtlCol="0" anchor="ctr"/>
          <a:lstStyle/>
          <a:p>
            <a:pPr marL="0" indent="0">
              <a:buNone/>
            </a:pPr>
            <a:r>
              <a:rPr lang="en-US" sz="1600" b="1" dirty="0">
                <a:solidFill>
                  <a:srgbClr val="EE5A36"/>
                </a:solidFill>
                <a:latin typeface="Consolas" pitchFamily="34" charset="0"/>
                <a:ea typeface="Consolas" pitchFamily="34" charset="-122"/>
                <a:cs typeface="Consolas" pitchFamily="34" charset="-120"/>
              </a:rPr>
              <a:t>AS SELECT </a:t>
            </a:r>
            <a:r>
              <a:rPr lang="en-US" sz="1600" dirty="0">
                <a:solidFill>
                  <a:srgbClr val="26323B"/>
                </a:solidFill>
                <a:latin typeface="Consolas" pitchFamily="34" charset="0"/>
                <a:ea typeface="Consolas" pitchFamily="34" charset="-122"/>
                <a:cs typeface="Consolas" pitchFamily="34" charset="-120"/>
              </a:rPr>
              <a:t>* </a:t>
            </a:r>
            <a:r>
              <a:rPr lang="en-US" sz="1600" b="1" dirty="0">
                <a:solidFill>
                  <a:srgbClr val="EE5A36"/>
                </a:solidFill>
                <a:latin typeface="Consolas" pitchFamily="34" charset="0"/>
                <a:ea typeface="Consolas" pitchFamily="34" charset="-122"/>
                <a:cs typeface="Consolas" pitchFamily="34" charset="-120"/>
              </a:rPr>
              <a:t>FROM STREAM </a:t>
            </a:r>
            <a:r>
              <a:rPr lang="en-US" sz="1600" dirty="0">
                <a:solidFill>
                  <a:srgbClr val="1C7293"/>
                </a:solidFill>
                <a:latin typeface="Consolas" pitchFamily="34" charset="0"/>
                <a:ea typeface="Consolas" pitchFamily="34" charset="-122"/>
                <a:cs typeface="Consolas" pitchFamily="34" charset="-120"/>
              </a:rPr>
              <a:t>read_files</a:t>
            </a:r>
            <a:r>
              <a:rPr lang="en-US" sz="1600" dirty="0">
                <a:solidFill>
                  <a:srgbClr val="26323B"/>
                </a:solidFill>
                <a:latin typeface="Consolas" pitchFamily="34" charset="0"/>
                <a:ea typeface="Consolas" pitchFamily="34" charset="-122"/>
                <a:cs typeface="Consolas" pitchFamily="34" charset="-120"/>
              </a:rPr>
              <a:t>(</a:t>
            </a:r>
            <a:endParaRPr lang="en-US" sz="1600" dirty="0"/>
          </a:p>
        </p:txBody>
      </p:sp>
      <p:sp>
        <p:nvSpPr>
          <p:cNvPr id="19" name="Text 17"/>
          <p:cNvSpPr/>
          <p:nvPr/>
        </p:nvSpPr>
        <p:spPr>
          <a:xfrm>
            <a:off x="1051560" y="4005072"/>
            <a:ext cx="9052560" cy="420624"/>
          </a:xfrm>
          <a:prstGeom prst="rect">
            <a:avLst/>
          </a:prstGeom>
          <a:noFill/>
          <a:ln/>
        </p:spPr>
        <p:txBody>
          <a:bodyPr wrap="square" lIns="0" tIns="0" rIns="0" bIns="0" rtlCol="0" anchor="ctr"/>
          <a:lstStyle/>
          <a:p>
            <a:pPr marL="0" indent="0">
              <a:buNone/>
            </a:pPr>
            <a:r>
              <a:rPr lang="en-US" sz="1600" dirty="0">
                <a:solidFill>
                  <a:srgbClr val="2E7D32"/>
                </a:solidFill>
                <a:latin typeface="Consolas" pitchFamily="34" charset="0"/>
                <a:ea typeface="Consolas" pitchFamily="34" charset="-122"/>
                <a:cs typeface="Consolas" pitchFamily="34" charset="-120"/>
              </a:rPr>
              <a:t>  '/Volumes/demo_cat/demo/landing/'</a:t>
            </a:r>
            <a:r>
              <a:rPr lang="en-US" sz="1600" dirty="0">
                <a:solidFill>
                  <a:srgbClr val="26323B"/>
                </a:solidFill>
                <a:latin typeface="Consolas" pitchFamily="34" charset="0"/>
                <a:ea typeface="Consolas" pitchFamily="34" charset="-122"/>
                <a:cs typeface="Consolas" pitchFamily="34" charset="-120"/>
              </a:rPr>
              <a:t>,</a:t>
            </a:r>
            <a:endParaRPr lang="en-US" sz="1600" dirty="0"/>
          </a:p>
        </p:txBody>
      </p:sp>
      <p:sp>
        <p:nvSpPr>
          <p:cNvPr id="20" name="Text 18"/>
          <p:cNvSpPr/>
          <p:nvPr/>
        </p:nvSpPr>
        <p:spPr>
          <a:xfrm>
            <a:off x="1051560" y="4425696"/>
            <a:ext cx="9052560" cy="420624"/>
          </a:xfrm>
          <a:prstGeom prst="rect">
            <a:avLst/>
          </a:prstGeom>
          <a:noFill/>
          <a:ln/>
        </p:spPr>
        <p:txBody>
          <a:bodyPr wrap="square" lIns="0" tIns="0" rIns="0" bIns="0" rtlCol="0" anchor="ctr"/>
          <a:lstStyle/>
          <a:p>
            <a:pPr marL="0" indent="0">
              <a:buNone/>
            </a:pPr>
            <a:r>
              <a:rPr lang="en-US" sz="1600" dirty="0">
                <a:solidFill>
                  <a:srgbClr val="26323B"/>
                </a:solidFill>
                <a:latin typeface="Consolas" pitchFamily="34" charset="0"/>
                <a:ea typeface="Consolas" pitchFamily="34" charset="-122"/>
                <a:cs typeface="Consolas" pitchFamily="34" charset="-120"/>
              </a:rPr>
              <a:t>  format </a:t>
            </a:r>
            <a:r>
              <a:rPr lang="en-US" sz="1600" dirty="0">
                <a:solidFill>
                  <a:srgbClr val="EE5A36"/>
                </a:solidFill>
                <a:latin typeface="Consolas" pitchFamily="34" charset="0"/>
                <a:ea typeface="Consolas" pitchFamily="34" charset="-122"/>
                <a:cs typeface="Consolas" pitchFamily="34" charset="-120"/>
              </a:rPr>
              <a:t>=&gt; </a:t>
            </a:r>
            <a:r>
              <a:rPr lang="en-US" sz="1600" dirty="0">
                <a:solidFill>
                  <a:srgbClr val="2E7D32"/>
                </a:solidFill>
                <a:latin typeface="Consolas" pitchFamily="34" charset="0"/>
                <a:ea typeface="Consolas" pitchFamily="34" charset="-122"/>
                <a:cs typeface="Consolas" pitchFamily="34" charset="-120"/>
              </a:rPr>
              <a:t>'json'</a:t>
            </a:r>
            <a:endParaRPr lang="en-US" sz="1600" dirty="0"/>
          </a:p>
        </p:txBody>
      </p:sp>
      <p:sp>
        <p:nvSpPr>
          <p:cNvPr id="21" name="Text 19"/>
          <p:cNvSpPr/>
          <p:nvPr/>
        </p:nvSpPr>
        <p:spPr>
          <a:xfrm>
            <a:off x="1051560" y="4846320"/>
            <a:ext cx="9052560" cy="420624"/>
          </a:xfrm>
          <a:prstGeom prst="rect">
            <a:avLst/>
          </a:prstGeom>
          <a:noFill/>
          <a:ln/>
        </p:spPr>
        <p:txBody>
          <a:bodyPr wrap="square" lIns="0" tIns="0" rIns="0" bIns="0" rtlCol="0" anchor="ctr"/>
          <a:lstStyle/>
          <a:p>
            <a:pPr marL="0" indent="0">
              <a:buNone/>
            </a:pPr>
            <a:r>
              <a:rPr lang="en-US" sz="1600" dirty="0">
                <a:solidFill>
                  <a:srgbClr val="26323B"/>
                </a:solidFill>
                <a:latin typeface="Consolas" pitchFamily="34" charset="0"/>
                <a:ea typeface="Consolas" pitchFamily="34" charset="-122"/>
                <a:cs typeface="Consolas" pitchFamily="34" charset="-120"/>
              </a:rPr>
              <a:t>);</a:t>
            </a:r>
            <a:endParaRPr lang="en-US" sz="1600" dirty="0"/>
          </a:p>
        </p:txBody>
      </p:sp>
      <p:sp>
        <p:nvSpPr>
          <p:cNvPr id="22" name="Shape 20"/>
          <p:cNvSpPr/>
          <p:nvPr/>
        </p:nvSpPr>
        <p:spPr>
          <a:xfrm>
            <a:off x="1012115" y="5669280"/>
            <a:ext cx="10058400" cy="258990"/>
          </a:xfrm>
          <a:prstGeom prst="rect">
            <a:avLst/>
          </a:prstGeom>
          <a:solidFill>
            <a:srgbClr val="EAF6EC"/>
          </a:solidFill>
          <a:ln w="12700">
            <a:solidFill>
              <a:srgbClr val="BFE3C6"/>
            </a:solidFill>
            <a:prstDash val="solid"/>
          </a:ln>
        </p:spPr>
        <p:txBody>
          <a:bodyPr/>
          <a:lstStyle/>
          <a:p>
            <a:endParaRPr lang="en-US"/>
          </a:p>
        </p:txBody>
      </p:sp>
      <p:sp>
        <p:nvSpPr>
          <p:cNvPr id="23" name="Text 21"/>
          <p:cNvSpPr/>
          <p:nvPr/>
        </p:nvSpPr>
        <p:spPr>
          <a:xfrm>
            <a:off x="1188720" y="5586984"/>
            <a:ext cx="9875520" cy="457200"/>
          </a:xfrm>
          <a:prstGeom prst="rect">
            <a:avLst/>
          </a:prstGeom>
          <a:noFill/>
          <a:ln/>
        </p:spPr>
        <p:txBody>
          <a:bodyPr wrap="square" lIns="0" tIns="0" rIns="0" bIns="0" rtlCol="0" anchor="ctr"/>
          <a:lstStyle/>
          <a:p>
            <a:pPr marL="0" indent="0">
              <a:buNone/>
            </a:pPr>
            <a:r>
              <a:rPr lang="en-US" sz="1200" b="1" dirty="0">
                <a:solidFill>
                  <a:srgbClr val="2E7D32"/>
                </a:solidFill>
                <a:latin typeface="Arial" pitchFamily="34" charset="0"/>
                <a:ea typeface="Arial" pitchFamily="34" charset="-122"/>
                <a:cs typeface="Arial" pitchFamily="34" charset="-120"/>
              </a:rPr>
              <a:t>✓  </a:t>
            </a:r>
            <a:r>
              <a:rPr lang="en-US" sz="1200" dirty="0">
                <a:solidFill>
                  <a:srgbClr val="2E7D32"/>
                </a:solidFill>
                <a:latin typeface="Arial" pitchFamily="34" charset="0"/>
                <a:ea typeface="Arial" pitchFamily="34" charset="-122"/>
                <a:cs typeface="Arial" pitchFamily="34" charset="-120"/>
              </a:rPr>
              <a:t>The operation was successfully executed.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3242E"/>
        </a:solidFill>
        <a:effectLst/>
      </p:bgPr>
    </p:bg>
    <p:spTree>
      <p:nvGrpSpPr>
        <p:cNvPr id="1" name=""/>
        <p:cNvGrpSpPr/>
        <p:nvPr/>
      </p:nvGrpSpPr>
      <p:grpSpPr>
        <a:xfrm>
          <a:off x="0" y="0"/>
          <a:ext cx="0" cy="0"/>
          <a:chOff x="0" y="0"/>
          <a:chExt cx="0" cy="0"/>
        </a:xfrm>
      </p:grpSpPr>
      <p:sp>
        <p:nvSpPr>
          <p:cNvPr id="2" name="Shape 0"/>
          <p:cNvSpPr/>
          <p:nvPr/>
        </p:nvSpPr>
        <p:spPr>
          <a:xfrm>
            <a:off x="9326880" y="-1554480"/>
            <a:ext cx="4389120" cy="4389120"/>
          </a:xfrm>
          <a:prstGeom prst="ellipse">
            <a:avLst/>
          </a:prstGeom>
          <a:solidFill>
            <a:srgbClr val="FF3621">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789920" y="4480560"/>
            <a:ext cx="2743200" cy="2743200"/>
          </a:xfrm>
          <a:prstGeom prst="ellipse">
            <a:avLst/>
          </a:prstGeom>
          <a:solidFill>
            <a:srgbClr val="0E7C8B">
              <a:alpha val="18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22960" y="1234440"/>
            <a:ext cx="310896" cy="310896"/>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txBox="1"/>
          <p:nvPr/>
        </p:nvSpPr>
        <p:spPr>
          <a:xfrm>
            <a:off x="1234440" y="1170432"/>
            <a:ext cx="9144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300" normalizeH="0" baseline="0" noProof="0" dirty="0">
                <a:ln>
                  <a:noFill/>
                </a:ln>
                <a:solidFill>
                  <a:srgbClr val="FF3621"/>
                </a:solidFill>
                <a:effectLst/>
                <a:uLnTx/>
                <a:uFillTx/>
                <a:latin typeface="Consolas" pitchFamily="34" charset="0"/>
                <a:ea typeface="Consolas" pitchFamily="34" charset="-122"/>
                <a:cs typeface="Consolas" pitchFamily="34" charset="-120"/>
              </a:rPr>
              <a:t>DATABRICKS NOTEBOOKS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777240" y="1874520"/>
            <a:ext cx="1097280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Magic Commands</a:t>
            </a:r>
            <a:endParaRPr kumimoji="0" lang="en-US" sz="6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822960" y="3200400"/>
            <a:ext cx="969264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Switch languages, manage files and packages, document, and orchestrate — right inside a notebook cell.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841248" y="5120640"/>
            <a:ext cx="1138428"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txBox="1"/>
          <p:nvPr/>
        </p:nvSpPr>
        <p:spPr>
          <a:xfrm>
            <a:off x="841248" y="5120640"/>
            <a:ext cx="1138428"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%python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180844" y="5120640"/>
            <a:ext cx="7680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txBox="1"/>
          <p:nvPr/>
        </p:nvSpPr>
        <p:spPr>
          <a:xfrm>
            <a:off x="2180844" y="5120640"/>
            <a:ext cx="7680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%sql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3150108" y="5120640"/>
            <a:ext cx="644652"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3150108" y="5120640"/>
            <a:ext cx="644652"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%sh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995928" y="5120640"/>
            <a:ext cx="644652"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3995928" y="5120640"/>
            <a:ext cx="644652"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%fs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841748" y="5120640"/>
            <a:ext cx="7680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4841748" y="5120640"/>
            <a:ext cx="7680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5811012" y="5120640"/>
            <a:ext cx="7680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5811012" y="5120640"/>
            <a:ext cx="7680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%pip</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780276" y="5120640"/>
            <a:ext cx="644652"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6780276" y="5120640"/>
            <a:ext cx="644652"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%md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822960" y="6309360"/>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OVERVIEW</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What are magic commands?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Cell-level directives, prefixed with %, that change what a cell does — independent of the notebook's default language.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331720"/>
            <a:ext cx="3538728" cy="1417320"/>
          </a:xfrm>
          <a:prstGeom prst="roundRect">
            <a:avLst>
              <a:gd name="adj" fmla="val 3871"/>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77824" y="2734056"/>
            <a:ext cx="603504" cy="60350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033272" y="2889504"/>
            <a:ext cx="292608" cy="292608"/>
          </a:xfrm>
          <a:prstGeom prst="rect">
            <a:avLst/>
          </a:prstGeom>
        </p:spPr>
      </p:pic>
      <p:sp>
        <p:nvSpPr>
          <p:cNvPr id="9" name="Text 6"/>
          <p:cNvSpPr txBox="1"/>
          <p:nvPr/>
        </p:nvSpPr>
        <p:spPr>
          <a:xfrm>
            <a:off x="1645920" y="2606040"/>
            <a:ext cx="23500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First line only</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1645920" y="3063240"/>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The % magic must be the first line of the cell.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311396" y="2331720"/>
            <a:ext cx="3538728" cy="1417320"/>
          </a:xfrm>
          <a:prstGeom prst="roundRect">
            <a:avLst>
              <a:gd name="adj" fmla="val 3871"/>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549140" y="2734056"/>
            <a:ext cx="603504" cy="603504"/>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4704588" y="2889504"/>
            <a:ext cx="292608" cy="292608"/>
          </a:xfrm>
          <a:prstGeom prst="rect">
            <a:avLst/>
          </a:prstGeom>
        </p:spPr>
      </p:pic>
      <p:sp>
        <p:nvSpPr>
          <p:cNvPr id="14" name="Text 10"/>
          <p:cNvSpPr txBox="1"/>
          <p:nvPr/>
        </p:nvSpPr>
        <p:spPr>
          <a:xfrm>
            <a:off x="5317236" y="2606040"/>
            <a:ext cx="23500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One per cell</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5317236" y="3063240"/>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 cell runs one language magic — not several.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7982712" y="2331720"/>
            <a:ext cx="3538728" cy="1417320"/>
          </a:xfrm>
          <a:prstGeom prst="roundRect">
            <a:avLst>
              <a:gd name="adj" fmla="val 3871"/>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8220456" y="2734056"/>
            <a:ext cx="603504" cy="60350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375904" y="2889504"/>
            <a:ext cx="292608" cy="292608"/>
          </a:xfrm>
          <a:prstGeom prst="rect">
            <a:avLst/>
          </a:prstGeom>
        </p:spPr>
      </p:pic>
      <p:sp>
        <p:nvSpPr>
          <p:cNvPr id="19" name="Text 14"/>
          <p:cNvSpPr txBox="1"/>
          <p:nvPr/>
        </p:nvSpPr>
        <p:spPr>
          <a:xfrm>
            <a:off x="8988552" y="2606040"/>
            <a:ext cx="23500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Language-agnostic</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8988552" y="3063240"/>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Works in any notebook, whatever its base language.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40080" y="3977640"/>
            <a:ext cx="1088136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Six things a magic can do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7"/>
          <p:cNvSpPr/>
          <p:nvPr/>
        </p:nvSpPr>
        <p:spPr>
          <a:xfrm>
            <a:off x="640080" y="4370832"/>
            <a:ext cx="1691640" cy="1188720"/>
          </a:xfrm>
          <a:prstGeom prst="roundRect">
            <a:avLst>
              <a:gd name="adj" fmla="val 4615"/>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804672" y="4590288"/>
            <a:ext cx="384048" cy="82296"/>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19"/>
          <p:cNvSpPr txBox="1"/>
          <p:nvPr/>
        </p:nvSpPr>
        <p:spPr>
          <a:xfrm>
            <a:off x="786384" y="4736592"/>
            <a:ext cx="1417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Language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0"/>
          <p:cNvSpPr txBox="1"/>
          <p:nvPr/>
        </p:nvSpPr>
        <p:spPr>
          <a:xfrm>
            <a:off x="786384" y="5084064"/>
            <a:ext cx="143560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%python %sql %scala %r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1"/>
          <p:cNvSpPr/>
          <p:nvPr/>
        </p:nvSpPr>
        <p:spPr>
          <a:xfrm>
            <a:off x="2478024" y="4370832"/>
            <a:ext cx="1691640" cy="1188720"/>
          </a:xfrm>
          <a:prstGeom prst="roundRect">
            <a:avLst>
              <a:gd name="adj" fmla="val 4615"/>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2"/>
          <p:cNvSpPr/>
          <p:nvPr/>
        </p:nvSpPr>
        <p:spPr>
          <a:xfrm>
            <a:off x="2642616" y="4590288"/>
            <a:ext cx="384048" cy="82296"/>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3"/>
          <p:cNvSpPr txBox="1"/>
          <p:nvPr/>
        </p:nvSpPr>
        <p:spPr>
          <a:xfrm>
            <a:off x="2624328" y="4736592"/>
            <a:ext cx="1417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Docs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4"/>
          <p:cNvSpPr txBox="1"/>
          <p:nvPr/>
        </p:nvSpPr>
        <p:spPr>
          <a:xfrm>
            <a:off x="2624328" y="5084064"/>
            <a:ext cx="143560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5"/>
          <p:cNvSpPr/>
          <p:nvPr/>
        </p:nvSpPr>
        <p:spPr>
          <a:xfrm>
            <a:off x="4315968" y="4370832"/>
            <a:ext cx="1691640" cy="1188720"/>
          </a:xfrm>
          <a:prstGeom prst="roundRect">
            <a:avLst>
              <a:gd name="adj" fmla="val 4615"/>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6"/>
          <p:cNvSpPr/>
          <p:nvPr/>
        </p:nvSpPr>
        <p:spPr>
          <a:xfrm>
            <a:off x="4480560" y="4590288"/>
            <a:ext cx="384048" cy="82296"/>
          </a:xfrm>
          <a:prstGeom prst="rect">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7"/>
          <p:cNvSpPr txBox="1"/>
          <p:nvPr/>
        </p:nvSpPr>
        <p:spPr>
          <a:xfrm>
            <a:off x="4462272" y="4736592"/>
            <a:ext cx="1417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Shell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8"/>
          <p:cNvSpPr txBox="1"/>
          <p:nvPr/>
        </p:nvSpPr>
        <p:spPr>
          <a:xfrm>
            <a:off x="4462272" y="5084064"/>
            <a:ext cx="143560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9"/>
          <p:cNvSpPr/>
          <p:nvPr/>
        </p:nvSpPr>
        <p:spPr>
          <a:xfrm>
            <a:off x="6153912" y="4370832"/>
            <a:ext cx="1691640" cy="1188720"/>
          </a:xfrm>
          <a:prstGeom prst="roundRect">
            <a:avLst>
              <a:gd name="adj" fmla="val 4615"/>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0"/>
          <p:cNvSpPr/>
          <p:nvPr/>
        </p:nvSpPr>
        <p:spPr>
          <a:xfrm>
            <a:off x="6318504" y="4590288"/>
            <a:ext cx="384048" cy="82296"/>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1"/>
          <p:cNvSpPr txBox="1"/>
          <p:nvPr/>
        </p:nvSpPr>
        <p:spPr>
          <a:xfrm>
            <a:off x="6300216" y="4736592"/>
            <a:ext cx="1417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Files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2"/>
          <p:cNvSpPr txBox="1"/>
          <p:nvPr/>
        </p:nvSpPr>
        <p:spPr>
          <a:xfrm>
            <a:off x="6300216" y="5084064"/>
            <a:ext cx="143560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3"/>
          <p:cNvSpPr/>
          <p:nvPr/>
        </p:nvSpPr>
        <p:spPr>
          <a:xfrm>
            <a:off x="7991856" y="4370832"/>
            <a:ext cx="1691640" cy="1188720"/>
          </a:xfrm>
          <a:prstGeom prst="roundRect">
            <a:avLst>
              <a:gd name="adj" fmla="val 4615"/>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4"/>
          <p:cNvSpPr/>
          <p:nvPr/>
        </p:nvSpPr>
        <p:spPr>
          <a:xfrm>
            <a:off x="8156448" y="4590288"/>
            <a:ext cx="384048" cy="82296"/>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5"/>
          <p:cNvSpPr txBox="1"/>
          <p:nvPr/>
        </p:nvSpPr>
        <p:spPr>
          <a:xfrm>
            <a:off x="8138160" y="4736592"/>
            <a:ext cx="1417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Packages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6"/>
          <p:cNvSpPr txBox="1"/>
          <p:nvPr/>
        </p:nvSpPr>
        <p:spPr>
          <a:xfrm>
            <a:off x="8138160" y="5084064"/>
            <a:ext cx="143560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%pip %conda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7"/>
          <p:cNvSpPr/>
          <p:nvPr/>
        </p:nvSpPr>
        <p:spPr>
          <a:xfrm>
            <a:off x="9829800" y="4370832"/>
            <a:ext cx="1691640" cy="1188720"/>
          </a:xfrm>
          <a:prstGeom prst="roundRect">
            <a:avLst>
              <a:gd name="adj" fmla="val 4615"/>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8"/>
          <p:cNvSpPr/>
          <p:nvPr/>
        </p:nvSpPr>
        <p:spPr>
          <a:xfrm>
            <a:off x="9994392" y="4590288"/>
            <a:ext cx="384048" cy="82296"/>
          </a:xfrm>
          <a:prstGeom prst="rect">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39"/>
          <p:cNvSpPr txBox="1"/>
          <p:nvPr/>
        </p:nvSpPr>
        <p:spPr>
          <a:xfrm>
            <a:off x="9976104" y="4736592"/>
            <a:ext cx="14173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Run notebook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0"/>
          <p:cNvSpPr txBox="1"/>
          <p:nvPr/>
        </p:nvSpPr>
        <p:spPr>
          <a:xfrm>
            <a:off x="9976104" y="5084064"/>
            <a:ext cx="143560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%run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1"/>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2"/>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LANGUAGE MAGICS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One notebook, four languages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Change a single cell's language without leaving your notebook.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2624328" cy="1371600"/>
          </a:xfrm>
          <a:prstGeom prst="roundRect">
            <a:avLst>
              <a:gd name="adj" fmla="val 400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641348" y="2487168"/>
            <a:ext cx="621792" cy="621792"/>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796796" y="2642616"/>
            <a:ext cx="310896" cy="310896"/>
          </a:xfrm>
          <a:prstGeom prst="rect">
            <a:avLst/>
          </a:prstGeom>
        </p:spPr>
      </p:pic>
      <p:sp>
        <p:nvSpPr>
          <p:cNvPr id="9" name="Text 6"/>
          <p:cNvSpPr txBox="1"/>
          <p:nvPr/>
        </p:nvSpPr>
        <p:spPr>
          <a:xfrm>
            <a:off x="731520" y="3145536"/>
            <a:ext cx="2441448"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%python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768096" y="3419856"/>
            <a:ext cx="2368296"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Python — the default in Python notebooks</a:t>
            </a:r>
            <a:endParaRPr kumimoji="0" lang="en-US" sz="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392424" y="2286000"/>
            <a:ext cx="2624328" cy="1371600"/>
          </a:xfrm>
          <a:prstGeom prst="roundRect">
            <a:avLst>
              <a:gd name="adj" fmla="val 400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393692" y="2487168"/>
            <a:ext cx="621792" cy="621792"/>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4549140" y="2642616"/>
            <a:ext cx="310896" cy="310896"/>
          </a:xfrm>
          <a:prstGeom prst="rect">
            <a:avLst/>
          </a:prstGeom>
        </p:spPr>
      </p:pic>
      <p:sp>
        <p:nvSpPr>
          <p:cNvPr id="14" name="Text 10"/>
          <p:cNvSpPr txBox="1"/>
          <p:nvPr/>
        </p:nvSpPr>
        <p:spPr>
          <a:xfrm>
            <a:off x="3483864" y="3145536"/>
            <a:ext cx="2441448"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%sql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3520440" y="3419856"/>
            <a:ext cx="2368296"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SQL against tables &amp; views</a:t>
            </a:r>
            <a:endParaRPr kumimoji="0" lang="en-US" sz="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144768" y="2286000"/>
            <a:ext cx="2624328" cy="1371600"/>
          </a:xfrm>
          <a:prstGeom prst="roundRect">
            <a:avLst>
              <a:gd name="adj" fmla="val 400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7146036" y="2487168"/>
            <a:ext cx="621792" cy="621792"/>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7301484" y="2642616"/>
            <a:ext cx="310896" cy="310896"/>
          </a:xfrm>
          <a:prstGeom prst="rect">
            <a:avLst/>
          </a:prstGeom>
        </p:spPr>
      </p:pic>
      <p:sp>
        <p:nvSpPr>
          <p:cNvPr id="19" name="Text 14"/>
          <p:cNvSpPr txBox="1"/>
          <p:nvPr/>
        </p:nvSpPr>
        <p:spPr>
          <a:xfrm>
            <a:off x="6236208" y="3145536"/>
            <a:ext cx="2441448"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%scala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272784" y="3419856"/>
            <a:ext cx="2368296"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Drop into Scala on the JVM</a:t>
            </a:r>
            <a:endParaRPr kumimoji="0" lang="en-US" sz="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8897112" y="2286000"/>
            <a:ext cx="2624328" cy="1371600"/>
          </a:xfrm>
          <a:prstGeom prst="roundRect">
            <a:avLst>
              <a:gd name="adj" fmla="val 400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9898380" y="2487168"/>
            <a:ext cx="621792" cy="621792"/>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10053828" y="2642616"/>
            <a:ext cx="310896" cy="310896"/>
          </a:xfrm>
          <a:prstGeom prst="rect">
            <a:avLst/>
          </a:prstGeom>
        </p:spPr>
      </p:pic>
      <p:sp>
        <p:nvSpPr>
          <p:cNvPr id="24" name="Text 18"/>
          <p:cNvSpPr txBox="1"/>
          <p:nvPr/>
        </p:nvSpPr>
        <p:spPr>
          <a:xfrm>
            <a:off x="8988552" y="3145536"/>
            <a:ext cx="2441448"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p:cNvSpPr txBox="1"/>
          <p:nvPr/>
        </p:nvSpPr>
        <p:spPr>
          <a:xfrm>
            <a:off x="9025128" y="3419856"/>
            <a:ext cx="2368296"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R for stats &amp; plotting</a:t>
            </a:r>
            <a:endParaRPr kumimoji="0" lang="en-US" sz="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0"/>
          <p:cNvSpPr/>
          <p:nvPr/>
        </p:nvSpPr>
        <p:spPr>
          <a:xfrm>
            <a:off x="640080" y="3886200"/>
            <a:ext cx="10881360" cy="2286000"/>
          </a:xfrm>
          <a:prstGeom prst="roundRect">
            <a:avLst>
              <a:gd name="adj" fmla="val 4400"/>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1"/>
          <p:cNvSpPr/>
          <p:nvPr/>
        </p:nvSpPr>
        <p:spPr>
          <a:xfrm>
            <a:off x="640080" y="3886200"/>
            <a:ext cx="1088136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2"/>
          <p:cNvSpPr/>
          <p:nvPr/>
        </p:nvSpPr>
        <p:spPr>
          <a:xfrm>
            <a:off x="640080" y="4142232"/>
            <a:ext cx="1088136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859536" y="40416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1097280" y="40416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1335024" y="40416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6"/>
          <p:cNvSpPr txBox="1"/>
          <p:nvPr/>
        </p:nvSpPr>
        <p:spPr>
          <a:xfrm>
            <a:off x="1645920" y="3886200"/>
            <a:ext cx="886968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Python notebook · Cmd 4</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7"/>
          <p:cNvSpPr/>
          <p:nvPr/>
        </p:nvSpPr>
        <p:spPr>
          <a:xfrm>
            <a:off x="10332720" y="452628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8"/>
          <p:cNvSpPr txBox="1"/>
          <p:nvPr/>
        </p:nvSpPr>
        <p:spPr>
          <a:xfrm>
            <a:off x="10332720" y="452628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9"/>
          <p:cNvSpPr txBox="1"/>
          <p:nvPr/>
        </p:nvSpPr>
        <p:spPr>
          <a:xfrm>
            <a:off x="932688" y="4654296"/>
            <a:ext cx="10241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default cell runs Python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0"/>
          <p:cNvSpPr txBox="1"/>
          <p:nvPr/>
        </p:nvSpPr>
        <p:spPr>
          <a:xfrm>
            <a:off x="932688" y="4983480"/>
            <a:ext cx="10241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df</a:t>
            </a:r>
            <a:r>
              <a:rPr kumimoji="0" lang="en-US" sz="140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 </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spark.read.table(</a:t>
            </a:r>
            <a:r>
              <a:rPr kumimoji="0" lang="en-US" sz="14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"demo_cat.demo.events"</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1"/>
          <p:cNvSpPr txBox="1"/>
          <p:nvPr/>
        </p:nvSpPr>
        <p:spPr>
          <a:xfrm>
            <a:off x="932688" y="5477256"/>
            <a:ext cx="10241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%sql</a:t>
            </a: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same notebook, switch this cell to SQL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2"/>
          <p:cNvSpPr txBox="1"/>
          <p:nvPr/>
        </p:nvSpPr>
        <p:spPr>
          <a:xfrm>
            <a:off x="932688" y="5806440"/>
            <a:ext cx="10241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SELECT</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country,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count</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FROM</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demo_cat.demo.events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GROUP BY</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country;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3"/>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4"/>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DOCUMENTATION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%md — turn a cell into formatted notes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Markdown renders in place, so notebooks read like living documents.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10881360" cy="3931920"/>
          </a:xfrm>
          <a:prstGeom prst="roundRect">
            <a:avLst>
              <a:gd name="adj" fmla="val 2558"/>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1088136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542032"/>
            <a:ext cx="1088136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4414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4414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4414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86000"/>
            <a:ext cx="886968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Notebook · %md cell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932688" y="3054096"/>
            <a:ext cx="102412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932688" y="3438144"/>
            <a:ext cx="102412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Ingestion pipeline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822192"/>
            <a:ext cx="102412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Step 2 — Bronze load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4398264"/>
            <a:ext cx="102412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Reads raw JSON from </a:t>
            </a:r>
            <a:r>
              <a:rPr kumimoji="0" lang="en-US" sz="14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`/Volumes/demo_cat/demo/landing`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4782312"/>
            <a:ext cx="102412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Writes an **append-only** Bronze table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5166360"/>
            <a:ext cx="102412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Owner: **data-eng@company.com**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5550408"/>
            <a:ext cx="102412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&gt; Tip: headings, lists, links, tables &amp; images all render inline.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SHELL &amp; FILES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%sh and %fs — the driver's shell and file system</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bash on the driver node, and browse storage without leaving the cell.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5349240" cy="3657600"/>
          </a:xfrm>
          <a:prstGeom prst="roundRect">
            <a:avLst>
              <a:gd name="adj" fmla="val 2750"/>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53492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542032"/>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4414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4414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4414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86000"/>
            <a:ext cx="33375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%sh · driver shell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800600" y="292608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4800600" y="292608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54096"/>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438144"/>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ls -la /tmp</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822192"/>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pip --version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206240"/>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curl -s https://api/health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782312"/>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runs bash on the driver node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172200" y="2286000"/>
            <a:ext cx="5349240" cy="3657600"/>
          </a:xfrm>
          <a:prstGeom prst="roundRect">
            <a:avLst>
              <a:gd name="adj" fmla="val 2750"/>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6172200" y="2286000"/>
            <a:ext cx="53492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6172200" y="2542032"/>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6391656" y="24414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6629400" y="24414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867144" y="24414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7178040" y="2286000"/>
            <a:ext cx="33375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%fs · file system</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10332720" y="292608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10332720" y="292608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6464808" y="3054096"/>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%fs</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ls /Volumes/demo_cat/demo</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6464808" y="3438144"/>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%fs</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head /Volumes/…/f.json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6464808" y="3822192"/>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%fs</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mkdirs /Volumes/…/landing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txBox="1"/>
          <p:nvPr/>
        </p:nvSpPr>
        <p:spPr>
          <a:xfrm>
            <a:off x="6464808" y="4206240"/>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%fs</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cp  src  dst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txBox="1"/>
          <p:nvPr/>
        </p:nvSpPr>
        <p:spPr>
          <a:xfrm>
            <a:off x="6464808" y="4782312"/>
            <a:ext cx="47091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shorthand for dbutils.fs.*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ORCHESTRATION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%run — pull another notebook into this one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Runs the target inline and imports its functions, variables, and widgets.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6035040" cy="3291840"/>
          </a:xfrm>
          <a:prstGeom prst="roundRect">
            <a:avLst>
              <a:gd name="adj" fmla="val 3056"/>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60350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542032"/>
            <a:ext cx="60350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4414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4414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4414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86000"/>
            <a:ext cx="40233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main · Cmd 1</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486400" y="292608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5486400" y="292608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54096"/>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%run</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./_setup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630168"/>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_setup's defs are now in scope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4014216"/>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spark</a:t>
            </a:r>
            <a:r>
              <a:rPr kumimoji="0" lang="en-US" sz="140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 </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get_session()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398264"/>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run_pipeline(env=</a:t>
            </a:r>
            <a:r>
              <a:rPr kumimoji="0" lang="en-US" sz="14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"prod"</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949440" y="2286000"/>
            <a:ext cx="4572000" cy="3291840"/>
          </a:xfrm>
          <a:prstGeom prst="roundRect">
            <a:avLst>
              <a:gd name="adj" fmla="val 1667"/>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7178040" y="2450592"/>
            <a:ext cx="4114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How it behaves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223760" y="2980944"/>
            <a:ext cx="118872" cy="118872"/>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7452360" y="2889504"/>
            <a:ext cx="393192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Inline  </a:t>
            </a: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executes in the current session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7223760" y="3602736"/>
            <a:ext cx="118872" cy="118872"/>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7452360" y="3511296"/>
            <a:ext cx="393192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Shares scope  </a:t>
            </a: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imports functions, vars &amp; widgets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7223760" y="4224528"/>
            <a:ext cx="118872" cy="118872"/>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7452360" y="4133088"/>
            <a:ext cx="393192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vs %pip  </a:t>
            </a: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is code; %pip is packages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7223760" y="4846320"/>
            <a:ext cx="118872" cy="118872"/>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7452360" y="4754880"/>
            <a:ext cx="393192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vs jobs  </a:t>
            </a: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for DAGs use Workflows / dbutils.notebook.run()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PACKAGES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%pip — notebook-scoped Python libraries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Install per-notebook without touching the cluster; %conda is legacy.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6035040" cy="3383280"/>
          </a:xfrm>
          <a:prstGeom prst="roundRect">
            <a:avLst>
              <a:gd name="adj" fmla="val 2973"/>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60350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542032"/>
            <a:ext cx="60350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4414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4414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4414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86000"/>
            <a:ext cx="40233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Cmd 1 · install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486400" y="292608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5486400" y="292608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54096"/>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%pip</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install pandas==2.2.* rich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438144"/>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%pip</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install -r requirements.txt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822192"/>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%pip</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freeze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398264"/>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scoped to THIS notebook session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782312"/>
            <a:ext cx="5394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restarts the Python interpreter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949440" y="2286000"/>
            <a:ext cx="4572000" cy="3383280"/>
          </a:xfrm>
          <a:prstGeom prst="roundRect">
            <a:avLst>
              <a:gd name="adj" fmla="val 1622"/>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7178040" y="2450592"/>
            <a:ext cx="4114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Good to know</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2" name="Image 0" descr="preencoded.png"/>
          <p:cNvPicPr>
            <a:picLocks noChangeAspect="1"/>
          </p:cNvPicPr>
          <p:nvPr/>
        </p:nvPicPr>
        <p:blipFill>
          <a:blip r:embed="rId3"/>
          <a:stretch>
            <a:fillRect/>
          </a:stretch>
        </p:blipFill>
        <p:spPr>
          <a:xfrm>
            <a:off x="7223760" y="2944368"/>
            <a:ext cx="237744" cy="237744"/>
          </a:xfrm>
          <a:prstGeom prst="rect">
            <a:avLst/>
          </a:prstGeom>
        </p:spPr>
      </p:pic>
      <p:sp>
        <p:nvSpPr>
          <p:cNvPr id="23" name="Text 20"/>
          <p:cNvSpPr txBox="1"/>
          <p:nvPr/>
        </p:nvSpPr>
        <p:spPr>
          <a:xfrm>
            <a:off x="7571232" y="2889504"/>
            <a:ext cx="3840480" cy="56692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Notebook-scoped — no cluster-wide change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4" name="Image 1" descr="preencoded.png"/>
          <p:cNvPicPr>
            <a:picLocks noChangeAspect="1"/>
          </p:cNvPicPr>
          <p:nvPr/>
        </p:nvPicPr>
        <p:blipFill>
          <a:blip r:embed="rId4"/>
          <a:stretch>
            <a:fillRect/>
          </a:stretch>
        </p:blipFill>
        <p:spPr>
          <a:xfrm>
            <a:off x="7223760" y="3602736"/>
            <a:ext cx="237744" cy="237744"/>
          </a:xfrm>
          <a:prstGeom prst="rect">
            <a:avLst/>
          </a:prstGeom>
        </p:spPr>
      </p:pic>
      <p:sp>
        <p:nvSpPr>
          <p:cNvPr id="25" name="Text 21"/>
          <p:cNvSpPr txBox="1"/>
          <p:nvPr/>
        </p:nvSpPr>
        <p:spPr>
          <a:xfrm>
            <a:off x="7571232" y="3547872"/>
            <a:ext cx="3840480" cy="56692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Re-runs the Python interpreter (state resets)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2" descr="preencoded.png"/>
          <p:cNvPicPr>
            <a:picLocks noChangeAspect="1"/>
          </p:cNvPicPr>
          <p:nvPr/>
        </p:nvPicPr>
        <p:blipFill>
          <a:blip r:embed="rId5"/>
          <a:stretch>
            <a:fillRect/>
          </a:stretch>
        </p:blipFill>
        <p:spPr>
          <a:xfrm>
            <a:off x="7223760" y="4261104"/>
            <a:ext cx="237744" cy="237744"/>
          </a:xfrm>
          <a:prstGeom prst="rect">
            <a:avLst/>
          </a:prstGeom>
        </p:spPr>
      </p:pic>
      <p:sp>
        <p:nvSpPr>
          <p:cNvPr id="27" name="Text 22"/>
          <p:cNvSpPr txBox="1"/>
          <p:nvPr/>
        </p:nvSpPr>
        <p:spPr>
          <a:xfrm>
            <a:off x="7571232" y="4206240"/>
            <a:ext cx="3840480" cy="56692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Put %pip in the first cell, before imports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 name="Image 3" descr="preencoded.png"/>
          <p:cNvPicPr>
            <a:picLocks noChangeAspect="1"/>
          </p:cNvPicPr>
          <p:nvPr/>
        </p:nvPicPr>
        <p:blipFill>
          <a:blip r:embed="rId5"/>
          <a:stretch>
            <a:fillRect/>
          </a:stretch>
        </p:blipFill>
        <p:spPr>
          <a:xfrm>
            <a:off x="7223760" y="4919472"/>
            <a:ext cx="237744" cy="237744"/>
          </a:xfrm>
          <a:prstGeom prst="rect">
            <a:avLst/>
          </a:prstGeom>
        </p:spPr>
      </p:pic>
      <p:sp>
        <p:nvSpPr>
          <p:cNvPr id="29" name="Text 23"/>
          <p:cNvSpPr txBox="1"/>
          <p:nvPr/>
        </p:nvSpPr>
        <p:spPr>
          <a:xfrm>
            <a:off x="7571232" y="4864608"/>
            <a:ext cx="3840480" cy="566928"/>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Prefer %pip over the legacy %conda</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4"/>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5"/>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COMPANIONS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dbutils — utilities beyond the % magics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Not magic commands, but the programmatic helpers you'll reach for alongside them.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77824" y="2587752"/>
            <a:ext cx="603504" cy="60350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033272" y="2743200"/>
            <a:ext cx="292608" cy="292608"/>
          </a:xfrm>
          <a:prstGeom prst="rect">
            <a:avLst/>
          </a:prstGeom>
        </p:spPr>
      </p:pic>
      <p:sp>
        <p:nvSpPr>
          <p:cNvPr id="9" name="Text 6"/>
          <p:cNvSpPr txBox="1"/>
          <p:nvPr/>
        </p:nvSpPr>
        <p:spPr>
          <a:xfrm>
            <a:off x="1645920" y="2606040"/>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896112" y="3264408"/>
            <a:ext cx="30358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List, copy, move &amp; remove files; mount storage.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311396"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549140" y="2587752"/>
            <a:ext cx="603504" cy="603504"/>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4704588" y="2743200"/>
            <a:ext cx="292608" cy="292608"/>
          </a:xfrm>
          <a:prstGeom prst="rect">
            <a:avLst/>
          </a:prstGeom>
        </p:spPr>
      </p:pic>
      <p:sp>
        <p:nvSpPr>
          <p:cNvPr id="14" name="Text 10"/>
          <p:cNvSpPr txBox="1"/>
          <p:nvPr/>
        </p:nvSpPr>
        <p:spPr>
          <a:xfrm>
            <a:off x="5317236" y="2606040"/>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dbutils.widgets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4567428" y="3264408"/>
            <a:ext cx="30358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Parameterize notebooks with inputs &amp; dropdowns.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7982712"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8220456" y="2587752"/>
            <a:ext cx="603504" cy="603504"/>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375904" y="2743200"/>
            <a:ext cx="292608" cy="292608"/>
          </a:xfrm>
          <a:prstGeom prst="rect">
            <a:avLst/>
          </a:prstGeom>
        </p:spPr>
      </p:pic>
      <p:sp>
        <p:nvSpPr>
          <p:cNvPr id="19" name="Text 14"/>
          <p:cNvSpPr txBox="1"/>
          <p:nvPr/>
        </p:nvSpPr>
        <p:spPr>
          <a:xfrm>
            <a:off x="8988552" y="2606040"/>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dbutils.secrets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8238744" y="3264408"/>
            <a:ext cx="30358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Read credentials from secret scopes safely.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640080"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877824" y="4306824"/>
            <a:ext cx="603504" cy="60350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1033272" y="4462272"/>
            <a:ext cx="292608" cy="292608"/>
          </a:xfrm>
          <a:prstGeom prst="rect">
            <a:avLst/>
          </a:prstGeom>
        </p:spPr>
      </p:pic>
      <p:sp>
        <p:nvSpPr>
          <p:cNvPr id="24" name="Text 18"/>
          <p:cNvSpPr txBox="1"/>
          <p:nvPr/>
        </p:nvSpPr>
        <p:spPr>
          <a:xfrm>
            <a:off x="1645920" y="4325112"/>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dbutils.notebook</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p:cNvSpPr txBox="1"/>
          <p:nvPr/>
        </p:nvSpPr>
        <p:spPr>
          <a:xfrm>
            <a:off x="896112" y="4983480"/>
            <a:ext cx="30358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&amp; exit() to chain notebooks into workflows.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0"/>
          <p:cNvSpPr/>
          <p:nvPr/>
        </p:nvSpPr>
        <p:spPr>
          <a:xfrm>
            <a:off x="4311396"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1"/>
          <p:cNvSpPr/>
          <p:nvPr/>
        </p:nvSpPr>
        <p:spPr>
          <a:xfrm>
            <a:off x="4549140" y="4306824"/>
            <a:ext cx="603504" cy="603504"/>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4" descr="preencoded.png"/>
          <p:cNvPicPr>
            <a:picLocks noChangeAspect="1"/>
          </p:cNvPicPr>
          <p:nvPr/>
        </p:nvPicPr>
        <p:blipFill>
          <a:blip r:embed="rId7"/>
          <a:stretch>
            <a:fillRect/>
          </a:stretch>
        </p:blipFill>
        <p:spPr>
          <a:xfrm>
            <a:off x="4704588" y="4462272"/>
            <a:ext cx="292608" cy="292608"/>
          </a:xfrm>
          <a:prstGeom prst="rect">
            <a:avLst/>
          </a:prstGeom>
        </p:spPr>
      </p:pic>
      <p:sp>
        <p:nvSpPr>
          <p:cNvPr id="29" name="Text 22"/>
          <p:cNvSpPr txBox="1"/>
          <p:nvPr/>
        </p:nvSpPr>
        <p:spPr>
          <a:xfrm>
            <a:off x="5317236" y="4325112"/>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dbutils.library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3"/>
          <p:cNvSpPr txBox="1"/>
          <p:nvPr/>
        </p:nvSpPr>
        <p:spPr>
          <a:xfrm>
            <a:off x="4567428" y="4983480"/>
            <a:ext cx="30358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Manage session libraries programmatically.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4"/>
          <p:cNvSpPr/>
          <p:nvPr/>
        </p:nvSpPr>
        <p:spPr>
          <a:xfrm>
            <a:off x="7982712"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5"/>
          <p:cNvSpPr/>
          <p:nvPr/>
        </p:nvSpPr>
        <p:spPr>
          <a:xfrm>
            <a:off x="8220456" y="4306824"/>
            <a:ext cx="603504" cy="603504"/>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5" descr="preencoded.png"/>
          <p:cNvPicPr>
            <a:picLocks noChangeAspect="1"/>
          </p:cNvPicPr>
          <p:nvPr/>
        </p:nvPicPr>
        <p:blipFill>
          <a:blip r:embed="rId8"/>
          <a:stretch>
            <a:fillRect/>
          </a:stretch>
        </p:blipFill>
        <p:spPr>
          <a:xfrm>
            <a:off x="8375904" y="4462272"/>
            <a:ext cx="292608" cy="292608"/>
          </a:xfrm>
          <a:prstGeom prst="rect">
            <a:avLst/>
          </a:prstGeom>
        </p:spPr>
      </p:pic>
      <p:sp>
        <p:nvSpPr>
          <p:cNvPr id="34" name="Text 26"/>
          <p:cNvSpPr txBox="1"/>
          <p:nvPr/>
        </p:nvSpPr>
        <p:spPr>
          <a:xfrm>
            <a:off x="8988552" y="4325112"/>
            <a:ext cx="23500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dbutils.jobs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7"/>
          <p:cNvSpPr txBox="1"/>
          <p:nvPr/>
        </p:nvSpPr>
        <p:spPr>
          <a:xfrm>
            <a:off x="8238744" y="4983480"/>
            <a:ext cx="303580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Task values &amp; context for Databricks Workflows.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8"/>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9"/>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8</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BEST PRACTICES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Getting magic commands right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 handful of habits that prevent the most common notebook surprises.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77824" y="2587752"/>
            <a:ext cx="548640" cy="54864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014984" y="2724912"/>
            <a:ext cx="274320" cy="274320"/>
          </a:xfrm>
          <a:prstGeom prst="rect">
            <a:avLst/>
          </a:prstGeom>
        </p:spPr>
      </p:pic>
      <p:sp>
        <p:nvSpPr>
          <p:cNvPr id="9" name="Text 6"/>
          <p:cNvSpPr txBox="1"/>
          <p:nvPr/>
        </p:nvSpPr>
        <p:spPr>
          <a:xfrm>
            <a:off x="1572768"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Magic goes first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896112"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The % must be line 1 of the cell — no code or comments above it.</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311396"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549140" y="2587752"/>
            <a:ext cx="548640" cy="54864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4686300" y="2724912"/>
            <a:ext cx="274320" cy="274320"/>
          </a:xfrm>
          <a:prstGeom prst="rect">
            <a:avLst/>
          </a:prstGeom>
        </p:spPr>
      </p:pic>
      <p:sp>
        <p:nvSpPr>
          <p:cNvPr id="14" name="Text 10"/>
          <p:cNvSpPr txBox="1"/>
          <p:nvPr/>
        </p:nvSpPr>
        <p:spPr>
          <a:xfrm>
            <a:off x="5244084"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One language per cell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4567428"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Split work across cells instead of stacking language magics.</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7982712"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8220456" y="2587752"/>
            <a:ext cx="548640" cy="54864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357616" y="2724912"/>
            <a:ext cx="274320" cy="274320"/>
          </a:xfrm>
          <a:prstGeom prst="rect">
            <a:avLst/>
          </a:prstGeom>
        </p:spPr>
      </p:pic>
      <p:sp>
        <p:nvSpPr>
          <p:cNvPr id="19" name="Text 14"/>
          <p:cNvSpPr txBox="1"/>
          <p:nvPr/>
        </p:nvSpPr>
        <p:spPr>
          <a:xfrm>
            <a:off x="8915400"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%pip in the top cell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8238744"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Install before imports; expect a Python restart, so keep it early.</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640080"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877824" y="4306824"/>
            <a:ext cx="548640" cy="54864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1014984" y="4443984"/>
            <a:ext cx="274320" cy="274320"/>
          </a:xfrm>
          <a:prstGeom prst="rect">
            <a:avLst/>
          </a:prstGeom>
        </p:spPr>
      </p:pic>
      <p:sp>
        <p:nvSpPr>
          <p:cNvPr id="24" name="Text 18"/>
          <p:cNvSpPr txBox="1"/>
          <p:nvPr/>
        </p:nvSpPr>
        <p:spPr>
          <a:xfrm>
            <a:off x="1572768"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%fs vs dbutils.fs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p:cNvSpPr txBox="1"/>
          <p:nvPr/>
        </p:nvSpPr>
        <p:spPr>
          <a:xfrm>
            <a:off x="896112"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%fs is quick and interactive; dbutils.fs scripts inside real code.</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0"/>
          <p:cNvSpPr/>
          <p:nvPr/>
        </p:nvSpPr>
        <p:spPr>
          <a:xfrm>
            <a:off x="4311396"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1"/>
          <p:cNvSpPr/>
          <p:nvPr/>
        </p:nvSpPr>
        <p:spPr>
          <a:xfrm>
            <a:off x="4549140" y="4306824"/>
            <a:ext cx="548640" cy="54864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4" descr="preencoded.png"/>
          <p:cNvPicPr>
            <a:picLocks noChangeAspect="1"/>
          </p:cNvPicPr>
          <p:nvPr/>
        </p:nvPicPr>
        <p:blipFill>
          <a:blip r:embed="rId7"/>
          <a:stretch>
            <a:fillRect/>
          </a:stretch>
        </p:blipFill>
        <p:spPr>
          <a:xfrm>
            <a:off x="4686300" y="4443984"/>
            <a:ext cx="274320" cy="274320"/>
          </a:xfrm>
          <a:prstGeom prst="rect">
            <a:avLst/>
          </a:prstGeom>
        </p:spPr>
      </p:pic>
      <p:sp>
        <p:nvSpPr>
          <p:cNvPr id="29" name="Text 22"/>
          <p:cNvSpPr txBox="1"/>
          <p:nvPr/>
        </p:nvSpPr>
        <p:spPr>
          <a:xfrm>
            <a:off x="5244084"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%run vs Workflows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3"/>
          <p:cNvSpPr txBox="1"/>
          <p:nvPr/>
        </p:nvSpPr>
        <p:spPr>
          <a:xfrm>
            <a:off x="4567428"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for shared setup; Workflows / notebook.run() for real DAGs.</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4"/>
          <p:cNvSpPr/>
          <p:nvPr/>
        </p:nvSpPr>
        <p:spPr>
          <a:xfrm>
            <a:off x="7982712"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5"/>
          <p:cNvSpPr/>
          <p:nvPr/>
        </p:nvSpPr>
        <p:spPr>
          <a:xfrm>
            <a:off x="8220456" y="4306824"/>
            <a:ext cx="548640" cy="54864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5" descr="preencoded.png"/>
          <p:cNvPicPr>
            <a:picLocks noChangeAspect="1"/>
          </p:cNvPicPr>
          <p:nvPr/>
        </p:nvPicPr>
        <p:blipFill>
          <a:blip r:embed="rId8"/>
          <a:stretch>
            <a:fillRect/>
          </a:stretch>
        </p:blipFill>
        <p:spPr>
          <a:xfrm>
            <a:off x="8357616" y="4443984"/>
            <a:ext cx="274320" cy="274320"/>
          </a:xfrm>
          <a:prstGeom prst="rect">
            <a:avLst/>
          </a:prstGeom>
        </p:spPr>
      </p:pic>
      <p:sp>
        <p:nvSpPr>
          <p:cNvPr id="34" name="Text 26"/>
          <p:cNvSpPr txBox="1"/>
          <p:nvPr/>
        </p:nvSpPr>
        <p:spPr>
          <a:xfrm>
            <a:off x="8915400"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Prefer %pip over %conda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7"/>
          <p:cNvSpPr txBox="1"/>
          <p:nvPr/>
        </p:nvSpPr>
        <p:spPr>
          <a:xfrm>
            <a:off x="8238744"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%conda is legacy on most runtimes — standardize on %pip.</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8"/>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Magic Commands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9"/>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9</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REFERENCE · CHEAT SHEET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Databricks magic commands at a glance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Prefix a notebook cell with % to switch language or call a utility. One card per category.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40280"/>
            <a:ext cx="349300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41248" y="2423160"/>
            <a:ext cx="457200" cy="45720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946404" y="2528316"/>
            <a:ext cx="246888" cy="246888"/>
          </a:xfrm>
          <a:prstGeom prst="rect">
            <a:avLst/>
          </a:prstGeom>
        </p:spPr>
      </p:pic>
      <p:sp>
        <p:nvSpPr>
          <p:cNvPr id="9" name="Text 6"/>
          <p:cNvSpPr txBox="1"/>
          <p:nvPr/>
        </p:nvSpPr>
        <p:spPr>
          <a:xfrm>
            <a:off x="1417320" y="2423160"/>
            <a:ext cx="25786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Language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896112" y="2971800"/>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%python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Python cell (default)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896112" y="3172968"/>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t>
            </a:r>
            <a:r>
              <a:rPr kumimoji="0" lang="en-US" sz="1000" b="1" i="0" u="none" strike="noStrike" kern="1200" cap="none" spc="0" normalizeH="0" baseline="0" noProof="0" dirty="0" err="1">
                <a:ln>
                  <a:noFill/>
                </a:ln>
                <a:solidFill>
                  <a:srgbClr val="FF3621"/>
                </a:solidFill>
                <a:effectLst/>
                <a:uLnTx/>
                <a:uFillTx/>
                <a:latin typeface="Consolas" pitchFamily="34" charset="0"/>
                <a:ea typeface="Consolas" pitchFamily="34" charset="-122"/>
                <a:cs typeface="Consolas" pitchFamily="34" charset="-120"/>
              </a:rPr>
              <a:t>sql</a:t>
            </a: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SQL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896112" y="3374136"/>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%scala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Scala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896112" y="3575304"/>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334256" y="2240280"/>
            <a:ext cx="349300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35424" y="2423160"/>
            <a:ext cx="457200" cy="45720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1" descr="preencoded.png"/>
          <p:cNvPicPr>
            <a:picLocks noChangeAspect="1"/>
          </p:cNvPicPr>
          <p:nvPr/>
        </p:nvPicPr>
        <p:blipFill>
          <a:blip r:embed="rId4"/>
          <a:stretch>
            <a:fillRect/>
          </a:stretch>
        </p:blipFill>
        <p:spPr>
          <a:xfrm>
            <a:off x="4640580" y="2528316"/>
            <a:ext cx="246888" cy="246888"/>
          </a:xfrm>
          <a:prstGeom prst="rect">
            <a:avLst/>
          </a:prstGeom>
        </p:spPr>
      </p:pic>
      <p:sp>
        <p:nvSpPr>
          <p:cNvPr id="17" name="Text 13"/>
          <p:cNvSpPr txBox="1"/>
          <p:nvPr/>
        </p:nvSpPr>
        <p:spPr>
          <a:xfrm>
            <a:off x="5111496" y="2423160"/>
            <a:ext cx="25786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Documentation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txBox="1"/>
          <p:nvPr/>
        </p:nvSpPr>
        <p:spPr>
          <a:xfrm>
            <a:off x="4590288" y="2971800"/>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%md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Markdown notes &amp; headings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txBox="1"/>
          <p:nvPr/>
        </p:nvSpPr>
        <p:spPr>
          <a:xfrm>
            <a:off x="4590288" y="3172968"/>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%md-sandbox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legacy sandboxed md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6"/>
          <p:cNvSpPr/>
          <p:nvPr/>
        </p:nvSpPr>
        <p:spPr>
          <a:xfrm>
            <a:off x="8028432" y="2240280"/>
            <a:ext cx="349300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7"/>
          <p:cNvSpPr/>
          <p:nvPr/>
        </p:nvSpPr>
        <p:spPr>
          <a:xfrm>
            <a:off x="8229600" y="2423160"/>
            <a:ext cx="457200" cy="45720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 name="Image 2" descr="preencoded.png"/>
          <p:cNvPicPr>
            <a:picLocks noChangeAspect="1"/>
          </p:cNvPicPr>
          <p:nvPr/>
        </p:nvPicPr>
        <p:blipFill>
          <a:blip r:embed="rId5"/>
          <a:stretch>
            <a:fillRect/>
          </a:stretch>
        </p:blipFill>
        <p:spPr>
          <a:xfrm>
            <a:off x="8334756" y="2528316"/>
            <a:ext cx="246888" cy="246888"/>
          </a:xfrm>
          <a:prstGeom prst="rect">
            <a:avLst/>
          </a:prstGeom>
        </p:spPr>
      </p:pic>
      <p:sp>
        <p:nvSpPr>
          <p:cNvPr id="23" name="Text 18"/>
          <p:cNvSpPr txBox="1"/>
          <p:nvPr/>
        </p:nvSpPr>
        <p:spPr>
          <a:xfrm>
            <a:off x="8805672" y="2423160"/>
            <a:ext cx="25786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Shell</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9"/>
          <p:cNvSpPr txBox="1"/>
          <p:nvPr/>
        </p:nvSpPr>
        <p:spPr>
          <a:xfrm>
            <a:off x="8284464" y="2971800"/>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t>
            </a:r>
            <a:r>
              <a:rPr kumimoji="0" lang="en-US" sz="1000" b="1" i="0" u="none" strike="noStrike" kern="1200" cap="none" spc="0" normalizeH="0" baseline="0" noProof="0" dirty="0" err="1">
                <a:ln>
                  <a:noFill/>
                </a:ln>
                <a:solidFill>
                  <a:srgbClr val="FF3621"/>
                </a:solidFill>
                <a:effectLst/>
                <a:uLnTx/>
                <a:uFillTx/>
                <a:latin typeface="Consolas" pitchFamily="34" charset="0"/>
                <a:ea typeface="Consolas" pitchFamily="34" charset="-122"/>
                <a:cs typeface="Consolas" pitchFamily="34" charset="-120"/>
              </a:rPr>
              <a:t>sh</a:t>
            </a: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bash on the driver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0"/>
          <p:cNvSpPr txBox="1"/>
          <p:nvPr/>
        </p:nvSpPr>
        <p:spPr>
          <a:xfrm>
            <a:off x="8284464" y="3172968"/>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%sh ls -la /tmp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example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1"/>
          <p:cNvSpPr/>
          <p:nvPr/>
        </p:nvSpPr>
        <p:spPr>
          <a:xfrm>
            <a:off x="640080" y="3931920"/>
            <a:ext cx="349300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2"/>
          <p:cNvSpPr/>
          <p:nvPr/>
        </p:nvSpPr>
        <p:spPr>
          <a:xfrm>
            <a:off x="841248" y="4114800"/>
            <a:ext cx="457200" cy="45720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3" descr="preencoded.png"/>
          <p:cNvPicPr>
            <a:picLocks noChangeAspect="1"/>
          </p:cNvPicPr>
          <p:nvPr/>
        </p:nvPicPr>
        <p:blipFill>
          <a:blip r:embed="rId6"/>
          <a:stretch>
            <a:fillRect/>
          </a:stretch>
        </p:blipFill>
        <p:spPr>
          <a:xfrm>
            <a:off x="946404" y="4219956"/>
            <a:ext cx="246888" cy="246888"/>
          </a:xfrm>
          <a:prstGeom prst="rect">
            <a:avLst/>
          </a:prstGeom>
        </p:spPr>
      </p:pic>
      <p:sp>
        <p:nvSpPr>
          <p:cNvPr id="29" name="Text 23"/>
          <p:cNvSpPr txBox="1"/>
          <p:nvPr/>
        </p:nvSpPr>
        <p:spPr>
          <a:xfrm>
            <a:off x="1417320" y="4114800"/>
            <a:ext cx="25786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Filesystem</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4"/>
          <p:cNvSpPr txBox="1"/>
          <p:nvPr/>
        </p:nvSpPr>
        <p:spPr>
          <a:xfrm>
            <a:off x="896112" y="4663440"/>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%fs ls /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list paths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5"/>
          <p:cNvSpPr txBox="1"/>
          <p:nvPr/>
        </p:nvSpPr>
        <p:spPr>
          <a:xfrm>
            <a:off x="896112" y="4864608"/>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%fs head &lt;file&gt;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preview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6"/>
          <p:cNvSpPr txBox="1"/>
          <p:nvPr/>
        </p:nvSpPr>
        <p:spPr>
          <a:xfrm>
            <a:off x="896112" y="5065776"/>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%fs </a:t>
            </a:r>
            <a:r>
              <a:rPr kumimoji="0" lang="en-US" sz="1000" b="1" i="0" u="none" strike="noStrike" kern="1200" cap="none" spc="0" normalizeH="0" baseline="0" noProof="0" dirty="0" err="1">
                <a:ln>
                  <a:noFill/>
                </a:ln>
                <a:solidFill>
                  <a:srgbClr val="FF3621"/>
                </a:solidFill>
                <a:effectLst/>
                <a:uLnTx/>
                <a:uFillTx/>
                <a:latin typeface="Consolas" pitchFamily="34" charset="0"/>
                <a:ea typeface="Consolas" pitchFamily="34" charset="-122"/>
                <a:cs typeface="Consolas" pitchFamily="34" charset="-120"/>
              </a:rPr>
              <a:t>mkdirs|cp|rm</a:t>
            </a: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manage files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7"/>
          <p:cNvSpPr txBox="1"/>
          <p:nvPr/>
        </p:nvSpPr>
        <p:spPr>
          <a:xfrm>
            <a:off x="896112" y="5266944"/>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FF3621"/>
                </a:solidFill>
                <a:effectLst/>
                <a:uLnTx/>
                <a:uFillTx/>
                <a:latin typeface="Consolas" pitchFamily="34" charset="0"/>
                <a:ea typeface="Consolas" pitchFamily="34" charset="-122"/>
                <a:cs typeface="Consolas" pitchFamily="34" charset="-120"/>
              </a:rPr>
              <a:t>dbutils.fs</a:t>
            </a: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shorthand for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8"/>
          <p:cNvSpPr/>
          <p:nvPr/>
        </p:nvSpPr>
        <p:spPr>
          <a:xfrm>
            <a:off x="4334256" y="3931920"/>
            <a:ext cx="349300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29"/>
          <p:cNvSpPr/>
          <p:nvPr/>
        </p:nvSpPr>
        <p:spPr>
          <a:xfrm>
            <a:off x="4535424" y="4114800"/>
            <a:ext cx="457200" cy="45720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Image 4" descr="preencoded.png"/>
          <p:cNvPicPr>
            <a:picLocks noChangeAspect="1"/>
          </p:cNvPicPr>
          <p:nvPr/>
        </p:nvPicPr>
        <p:blipFill>
          <a:blip r:embed="rId7"/>
          <a:stretch>
            <a:fillRect/>
          </a:stretch>
        </p:blipFill>
        <p:spPr>
          <a:xfrm>
            <a:off x="4640580" y="4219956"/>
            <a:ext cx="246888" cy="246888"/>
          </a:xfrm>
          <a:prstGeom prst="rect">
            <a:avLst/>
          </a:prstGeom>
        </p:spPr>
      </p:pic>
      <p:sp>
        <p:nvSpPr>
          <p:cNvPr id="37" name="Text 30"/>
          <p:cNvSpPr txBox="1"/>
          <p:nvPr/>
        </p:nvSpPr>
        <p:spPr>
          <a:xfrm>
            <a:off x="5111496" y="4114800"/>
            <a:ext cx="25786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Packages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1"/>
          <p:cNvSpPr txBox="1"/>
          <p:nvPr/>
        </p:nvSpPr>
        <p:spPr>
          <a:xfrm>
            <a:off x="4590288" y="4663440"/>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%pip install &lt;pkg&gt;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notebook-scoped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2"/>
          <p:cNvSpPr txBox="1"/>
          <p:nvPr/>
        </p:nvSpPr>
        <p:spPr>
          <a:xfrm>
            <a:off x="4590288" y="4864608"/>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%pip freeze | list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inspect env</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3"/>
          <p:cNvSpPr txBox="1"/>
          <p:nvPr/>
        </p:nvSpPr>
        <p:spPr>
          <a:xfrm>
            <a:off x="4590288" y="5065776"/>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%conda …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legacy env mgmt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4"/>
          <p:cNvSpPr/>
          <p:nvPr/>
        </p:nvSpPr>
        <p:spPr>
          <a:xfrm>
            <a:off x="8028432" y="3931920"/>
            <a:ext cx="349300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5"/>
          <p:cNvSpPr/>
          <p:nvPr/>
        </p:nvSpPr>
        <p:spPr>
          <a:xfrm>
            <a:off x="8229600" y="4114800"/>
            <a:ext cx="457200" cy="45720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3" name="Image 5" descr="preencoded.png"/>
          <p:cNvPicPr>
            <a:picLocks noChangeAspect="1"/>
          </p:cNvPicPr>
          <p:nvPr/>
        </p:nvPicPr>
        <p:blipFill>
          <a:blip r:embed="rId8"/>
          <a:stretch>
            <a:fillRect/>
          </a:stretch>
        </p:blipFill>
        <p:spPr>
          <a:xfrm>
            <a:off x="8334756" y="4219956"/>
            <a:ext cx="246888" cy="246888"/>
          </a:xfrm>
          <a:prstGeom prst="rect">
            <a:avLst/>
          </a:prstGeom>
        </p:spPr>
      </p:pic>
      <p:sp>
        <p:nvSpPr>
          <p:cNvPr id="44" name="Text 36"/>
          <p:cNvSpPr txBox="1"/>
          <p:nvPr/>
        </p:nvSpPr>
        <p:spPr>
          <a:xfrm>
            <a:off x="8805672" y="4114800"/>
            <a:ext cx="2578608"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Orchestration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37"/>
          <p:cNvSpPr txBox="1"/>
          <p:nvPr/>
        </p:nvSpPr>
        <p:spPr>
          <a:xfrm>
            <a:off x="8284464" y="4663440"/>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%run ./setup   </a:t>
            </a:r>
            <a:r>
              <a:rPr kumimoji="0" lang="en-US" sz="10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a notebook inline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38"/>
          <p:cNvSpPr txBox="1"/>
          <p:nvPr/>
        </p:nvSpPr>
        <p:spPr>
          <a:xfrm>
            <a:off x="8284464" y="4864608"/>
            <a:ext cx="303580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imports its funcs &amp; vars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39"/>
          <p:cNvSpPr/>
          <p:nvPr/>
        </p:nvSpPr>
        <p:spPr>
          <a:xfrm>
            <a:off x="640080" y="5559552"/>
            <a:ext cx="10881360" cy="512064"/>
          </a:xfrm>
          <a:prstGeom prst="roundRect">
            <a:avLst>
              <a:gd name="adj" fmla="val 10714"/>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0"/>
          <p:cNvSpPr txBox="1"/>
          <p:nvPr/>
        </p:nvSpPr>
        <p:spPr>
          <a:xfrm>
            <a:off x="868680" y="5559552"/>
            <a:ext cx="10424160" cy="51206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Related utilities  </a:t>
            </a:r>
            <a:r>
              <a:rPr kumimoji="0" lang="en-US" sz="1050" b="0" i="0" u="none" strike="noStrike" kern="1200" cap="none" spc="0" normalizeH="0" baseline="0" noProof="0" dirty="0">
                <a:ln>
                  <a:noFill/>
                </a:ln>
                <a:solidFill>
                  <a:srgbClr val="38474F"/>
                </a:solidFill>
                <a:effectLst/>
                <a:uLnTx/>
                <a:uFillTx/>
                <a:latin typeface="Consolas" pitchFamily="34" charset="0"/>
                <a:ea typeface="Consolas" pitchFamily="34" charset="-122"/>
                <a:cs typeface="Consolas" pitchFamily="34" charset="-120"/>
              </a:rPr>
              <a:t>dbutils.fs · dbutils.widgets · dbutils.secrets · dbutils.notebook · dbutils.library · dbutils.jobs</a:t>
            </a:r>
            <a:r>
              <a:rPr kumimoji="0" lang="en-US" sz="105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   — callable from any language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1"/>
          <p:cNvSpPr/>
          <p:nvPr/>
        </p:nvSpPr>
        <p:spPr>
          <a:xfrm>
            <a:off x="640080" y="6181344"/>
            <a:ext cx="10881360" cy="530352"/>
          </a:xfrm>
          <a:prstGeom prst="roundRect">
            <a:avLst>
              <a:gd name="adj" fmla="val 10345"/>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0" name="Image 6" descr="preencoded.png"/>
          <p:cNvPicPr>
            <a:picLocks noChangeAspect="1"/>
          </p:cNvPicPr>
          <p:nvPr/>
        </p:nvPicPr>
        <p:blipFill>
          <a:blip r:embed="rId9"/>
          <a:stretch>
            <a:fillRect/>
          </a:stretch>
        </p:blipFill>
        <p:spPr>
          <a:xfrm>
            <a:off x="841248" y="6336792"/>
            <a:ext cx="219456" cy="219456"/>
          </a:xfrm>
          <a:prstGeom prst="rect">
            <a:avLst/>
          </a:prstGeom>
        </p:spPr>
      </p:pic>
      <p:sp>
        <p:nvSpPr>
          <p:cNvPr id="51" name="Text 42"/>
          <p:cNvSpPr txBox="1"/>
          <p:nvPr/>
        </p:nvSpPr>
        <p:spPr>
          <a:xfrm>
            <a:off x="1170432" y="6181344"/>
            <a:ext cx="10149840" cy="53035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3621"/>
                </a:solidFill>
                <a:effectLst/>
                <a:uLnTx/>
                <a:uFillTx/>
                <a:latin typeface="Calibri" pitchFamily="34" charset="0"/>
                <a:ea typeface="Calibri" pitchFamily="34" charset="-122"/>
                <a:cs typeface="Calibri" pitchFamily="34" charset="-120"/>
              </a:rPr>
              <a:t>Rules:  </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the magic must be the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first line</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of the cell  ·  one language magic per cell  ·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%pip / %conda restart the Python interpreter</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  %fs &amp; %sh act on the driver node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3242E"/>
        </a:solidFill>
        <a:effectLst/>
      </p:bgPr>
    </p:bg>
    <p:spTree>
      <p:nvGrpSpPr>
        <p:cNvPr id="1" name=""/>
        <p:cNvGrpSpPr/>
        <p:nvPr/>
      </p:nvGrpSpPr>
      <p:grpSpPr>
        <a:xfrm>
          <a:off x="0" y="0"/>
          <a:ext cx="0" cy="0"/>
          <a:chOff x="0" y="0"/>
          <a:chExt cx="0" cy="0"/>
        </a:xfrm>
      </p:grpSpPr>
      <p:sp>
        <p:nvSpPr>
          <p:cNvPr id="2" name="Shape 0"/>
          <p:cNvSpPr/>
          <p:nvPr/>
        </p:nvSpPr>
        <p:spPr>
          <a:xfrm>
            <a:off x="9326880" y="-1554480"/>
            <a:ext cx="4389120" cy="4389120"/>
          </a:xfrm>
          <a:prstGeom prst="ellipse">
            <a:avLst/>
          </a:prstGeom>
          <a:solidFill>
            <a:srgbClr val="FF3621">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789920" y="4480560"/>
            <a:ext cx="2743200" cy="2743200"/>
          </a:xfrm>
          <a:prstGeom prst="ellipse">
            <a:avLst/>
          </a:prstGeom>
          <a:solidFill>
            <a:srgbClr val="0E7C8B">
              <a:alpha val="18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22960" y="1234440"/>
            <a:ext cx="310896" cy="310896"/>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txBox="1"/>
          <p:nvPr/>
        </p:nvSpPr>
        <p:spPr>
          <a:xfrm>
            <a:off x="1234440" y="1170432"/>
            <a:ext cx="9144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300" normalizeH="0" baseline="0" noProof="0" dirty="0">
                <a:ln>
                  <a:noFill/>
                </a:ln>
                <a:solidFill>
                  <a:srgbClr val="FF3621"/>
                </a:solidFill>
                <a:effectLst/>
                <a:uLnTx/>
                <a:uFillTx/>
                <a:latin typeface="Consolas" pitchFamily="34" charset="0"/>
                <a:ea typeface="Consolas" pitchFamily="34" charset="-122"/>
                <a:cs typeface="Consolas" pitchFamily="34" charset="-120"/>
              </a:rPr>
              <a:t>DATABRICKS NOTEBOOKS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777240" y="1828800"/>
            <a:ext cx="1097280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Databricks Utilities</a:t>
            </a:r>
            <a:endParaRPr kumimoji="0" lang="en-US" sz="5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822960" y="2852928"/>
            <a:ext cx="100584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822960" y="3840480"/>
            <a:ext cx="950976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Files, parameters, secrets, notebook chaining and task values — the built-in toolkit every notebook already has.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841248" y="5120640"/>
            <a:ext cx="5394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txBox="1"/>
          <p:nvPr/>
        </p:nvSpPr>
        <p:spPr>
          <a:xfrm>
            <a:off x="841248" y="5120640"/>
            <a:ext cx="5394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fs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563624" y="5120640"/>
            <a:ext cx="120243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563624" y="5120640"/>
            <a:ext cx="120243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widgets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2948940" y="5120640"/>
            <a:ext cx="120243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2948940" y="5120640"/>
            <a:ext cx="120243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secrets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334256" y="5120640"/>
            <a:ext cx="1335024"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4334256" y="5120640"/>
            <a:ext cx="1335024"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notebook</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5852160" y="5120640"/>
            <a:ext cx="804672"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5852160" y="5120640"/>
            <a:ext cx="804672"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jobs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839712" y="5120640"/>
            <a:ext cx="120243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6839712" y="5120640"/>
            <a:ext cx="120243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library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8225028" y="5120640"/>
            <a:ext cx="804672"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8225028" y="5120640"/>
            <a:ext cx="804672"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data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9212580" y="5120640"/>
            <a:ext cx="804672"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9212580" y="5120640"/>
            <a:ext cx="804672"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help</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822960" y="6309360"/>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OVERVIEW</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What is dbutils?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 pre-imported object available in every notebook — no install, no import, works in Python, Scala and 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331720"/>
            <a:ext cx="3538728" cy="1371600"/>
          </a:xfrm>
          <a:prstGeom prst="roundRect">
            <a:avLst>
              <a:gd name="adj" fmla="val 400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77824" y="2715768"/>
            <a:ext cx="585216" cy="585216"/>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024128" y="2862072"/>
            <a:ext cx="292608" cy="292608"/>
          </a:xfrm>
          <a:prstGeom prst="rect">
            <a:avLst/>
          </a:prstGeom>
        </p:spPr>
      </p:pic>
      <p:sp>
        <p:nvSpPr>
          <p:cNvPr id="9" name="Text 6"/>
          <p:cNvSpPr txBox="1"/>
          <p:nvPr/>
        </p:nvSpPr>
        <p:spPr>
          <a:xfrm>
            <a:off x="1609344" y="2606040"/>
            <a:ext cx="2395728" cy="43891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Always available</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1609344" y="3044952"/>
            <a:ext cx="239572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Pre-imported in every notebook session — just call it.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311396" y="2331720"/>
            <a:ext cx="3538728" cy="1371600"/>
          </a:xfrm>
          <a:prstGeom prst="roundRect">
            <a:avLst>
              <a:gd name="adj" fmla="val 400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549140" y="2715768"/>
            <a:ext cx="585216" cy="585216"/>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4695444" y="2862072"/>
            <a:ext cx="292608" cy="292608"/>
          </a:xfrm>
          <a:prstGeom prst="rect">
            <a:avLst/>
          </a:prstGeom>
        </p:spPr>
      </p:pic>
      <p:sp>
        <p:nvSpPr>
          <p:cNvPr id="14" name="Text 10"/>
          <p:cNvSpPr txBox="1"/>
          <p:nvPr/>
        </p:nvSpPr>
        <p:spPr>
          <a:xfrm>
            <a:off x="5280660" y="2606040"/>
            <a:ext cx="2395728" cy="43891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Any language</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5280660" y="3044952"/>
            <a:ext cx="239572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Same modules from Python, Scala and R cells.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7982712" y="2331720"/>
            <a:ext cx="3538728" cy="1371600"/>
          </a:xfrm>
          <a:prstGeom prst="roundRect">
            <a:avLst>
              <a:gd name="adj" fmla="val 400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8220456" y="2715768"/>
            <a:ext cx="585216" cy="585216"/>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366760" y="2862072"/>
            <a:ext cx="292608" cy="292608"/>
          </a:xfrm>
          <a:prstGeom prst="rect">
            <a:avLst/>
          </a:prstGeom>
        </p:spPr>
      </p:pic>
      <p:sp>
        <p:nvSpPr>
          <p:cNvPr id="19" name="Text 14"/>
          <p:cNvSpPr txBox="1"/>
          <p:nvPr/>
        </p:nvSpPr>
        <p:spPr>
          <a:xfrm>
            <a:off x="8951976" y="2606040"/>
            <a:ext cx="2395728" cy="43891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Self-documenting</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8951976" y="3044952"/>
            <a:ext cx="239572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dbutils.help() lists modules and commands.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640080" y="3931920"/>
            <a:ext cx="10881360" cy="2103120"/>
          </a:xfrm>
          <a:prstGeom prst="roundRect">
            <a:avLst>
              <a:gd name="adj" fmla="val 4783"/>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40080" y="3931920"/>
            <a:ext cx="1088136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40080" y="4187952"/>
            <a:ext cx="1088136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859536" y="408736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0"/>
          <p:cNvSpPr/>
          <p:nvPr/>
        </p:nvSpPr>
        <p:spPr>
          <a:xfrm>
            <a:off x="1097280" y="408736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1"/>
          <p:cNvSpPr/>
          <p:nvPr/>
        </p:nvSpPr>
        <p:spPr>
          <a:xfrm>
            <a:off x="1335024" y="408736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2"/>
          <p:cNvSpPr txBox="1"/>
          <p:nvPr/>
        </p:nvSpPr>
        <p:spPr>
          <a:xfrm>
            <a:off x="1645920" y="3931920"/>
            <a:ext cx="886968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Notebook · discover what's available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3"/>
          <p:cNvSpPr/>
          <p:nvPr/>
        </p:nvSpPr>
        <p:spPr>
          <a:xfrm>
            <a:off x="10332720" y="457200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4"/>
          <p:cNvSpPr txBox="1"/>
          <p:nvPr/>
        </p:nvSpPr>
        <p:spPr>
          <a:xfrm>
            <a:off x="10332720" y="457200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5"/>
          <p:cNvSpPr txBox="1"/>
          <p:nvPr/>
        </p:nvSpPr>
        <p:spPr>
          <a:xfrm>
            <a:off x="932688" y="470001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dbutils.help()</a:t>
            </a: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list every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6"/>
          <p:cNvSpPr txBox="1"/>
          <p:nvPr/>
        </p:nvSpPr>
        <p:spPr>
          <a:xfrm>
            <a:off x="932688" y="506577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dbutils.fs.help()</a:t>
            </a: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commands inside a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7"/>
          <p:cNvSpPr txBox="1"/>
          <p:nvPr/>
        </p:nvSpPr>
        <p:spPr>
          <a:xfrm>
            <a:off x="932688" y="543153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dbutils.fs.help(</a:t>
            </a:r>
            <a:r>
              <a:rPr kumimoji="0" lang="en-US" sz="14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"ls"</a:t>
            </a:r>
            <a:r>
              <a:rPr kumimoji="0" lang="en-US" sz="14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help for one command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8"/>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29"/>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THE MODULES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Eight modules, one toolkit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What each module is for, at a glance.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2624328" cy="1783080"/>
          </a:xfrm>
          <a:prstGeom prst="roundRect">
            <a:avLst>
              <a:gd name="adj" fmla="val 3077"/>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650492" y="2505456"/>
            <a:ext cx="603504" cy="60350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805940" y="2660904"/>
            <a:ext cx="292608" cy="292608"/>
          </a:xfrm>
          <a:prstGeom prst="rect">
            <a:avLst/>
          </a:prstGeom>
        </p:spPr>
      </p:pic>
      <p:sp>
        <p:nvSpPr>
          <p:cNvPr id="9" name="Text 6"/>
          <p:cNvSpPr txBox="1"/>
          <p:nvPr/>
        </p:nvSpPr>
        <p:spPr>
          <a:xfrm>
            <a:off x="749808" y="3200400"/>
            <a:ext cx="2404872"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dbutils.fs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822960" y="3511296"/>
            <a:ext cx="2258568"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Files &amp; storage: list, copy, move, remove, mount.</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401568" y="2286000"/>
            <a:ext cx="2624328" cy="1783080"/>
          </a:xfrm>
          <a:prstGeom prst="roundRect">
            <a:avLst>
              <a:gd name="adj" fmla="val 3077"/>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411980" y="2505456"/>
            <a:ext cx="603504" cy="603504"/>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4567428" y="2660904"/>
            <a:ext cx="292608" cy="292608"/>
          </a:xfrm>
          <a:prstGeom prst="rect">
            <a:avLst/>
          </a:prstGeom>
        </p:spPr>
      </p:pic>
      <p:sp>
        <p:nvSpPr>
          <p:cNvPr id="14" name="Text 10"/>
          <p:cNvSpPr txBox="1"/>
          <p:nvPr/>
        </p:nvSpPr>
        <p:spPr>
          <a:xfrm>
            <a:off x="3511296" y="3200400"/>
            <a:ext cx="2404872"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dbutils.widgets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3584448" y="3511296"/>
            <a:ext cx="2258568"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Notebook parameters: text, dropdown, multiselect.</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163056" y="2286000"/>
            <a:ext cx="2624328" cy="1783080"/>
          </a:xfrm>
          <a:prstGeom prst="roundRect">
            <a:avLst>
              <a:gd name="adj" fmla="val 3077"/>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7173468" y="2505456"/>
            <a:ext cx="603504" cy="603504"/>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7328916" y="2660904"/>
            <a:ext cx="292608" cy="292608"/>
          </a:xfrm>
          <a:prstGeom prst="rect">
            <a:avLst/>
          </a:prstGeom>
        </p:spPr>
      </p:pic>
      <p:sp>
        <p:nvSpPr>
          <p:cNvPr id="19" name="Text 14"/>
          <p:cNvSpPr txBox="1"/>
          <p:nvPr/>
        </p:nvSpPr>
        <p:spPr>
          <a:xfrm>
            <a:off x="6272784" y="3200400"/>
            <a:ext cx="2404872"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dbutils.secrets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345936" y="3511296"/>
            <a:ext cx="2258568"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Read credentials from secret scopes, redacted.</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8924544" y="2286000"/>
            <a:ext cx="2624328" cy="1783080"/>
          </a:xfrm>
          <a:prstGeom prst="roundRect">
            <a:avLst>
              <a:gd name="adj" fmla="val 3077"/>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9934956" y="2505456"/>
            <a:ext cx="603504" cy="60350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10090404" y="2660904"/>
            <a:ext cx="292608" cy="292608"/>
          </a:xfrm>
          <a:prstGeom prst="rect">
            <a:avLst/>
          </a:prstGeom>
        </p:spPr>
      </p:pic>
      <p:sp>
        <p:nvSpPr>
          <p:cNvPr id="24" name="Text 18"/>
          <p:cNvSpPr txBox="1"/>
          <p:nvPr/>
        </p:nvSpPr>
        <p:spPr>
          <a:xfrm>
            <a:off x="9034272" y="3200400"/>
            <a:ext cx="2404872"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dbutils.notebook</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p:cNvSpPr txBox="1"/>
          <p:nvPr/>
        </p:nvSpPr>
        <p:spPr>
          <a:xfrm>
            <a:off x="9107424" y="3511296"/>
            <a:ext cx="2258568"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another notebook; exit() with a value.</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0"/>
          <p:cNvSpPr/>
          <p:nvPr/>
        </p:nvSpPr>
        <p:spPr>
          <a:xfrm>
            <a:off x="640080" y="4215384"/>
            <a:ext cx="2624328" cy="1783080"/>
          </a:xfrm>
          <a:prstGeom prst="roundRect">
            <a:avLst>
              <a:gd name="adj" fmla="val 3077"/>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1"/>
          <p:cNvSpPr/>
          <p:nvPr/>
        </p:nvSpPr>
        <p:spPr>
          <a:xfrm>
            <a:off x="1650492" y="4434840"/>
            <a:ext cx="603504" cy="603504"/>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4" descr="preencoded.png"/>
          <p:cNvPicPr>
            <a:picLocks noChangeAspect="1"/>
          </p:cNvPicPr>
          <p:nvPr/>
        </p:nvPicPr>
        <p:blipFill>
          <a:blip r:embed="rId7"/>
          <a:stretch>
            <a:fillRect/>
          </a:stretch>
        </p:blipFill>
        <p:spPr>
          <a:xfrm>
            <a:off x="1805940" y="4590288"/>
            <a:ext cx="292608" cy="292608"/>
          </a:xfrm>
          <a:prstGeom prst="rect">
            <a:avLst/>
          </a:prstGeom>
        </p:spPr>
      </p:pic>
      <p:sp>
        <p:nvSpPr>
          <p:cNvPr id="29" name="Text 22"/>
          <p:cNvSpPr txBox="1"/>
          <p:nvPr/>
        </p:nvSpPr>
        <p:spPr>
          <a:xfrm>
            <a:off x="749808" y="5129784"/>
            <a:ext cx="2404872"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dbutils.jobs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3"/>
          <p:cNvSpPr txBox="1"/>
          <p:nvPr/>
        </p:nvSpPr>
        <p:spPr>
          <a:xfrm>
            <a:off x="822960" y="5440680"/>
            <a:ext cx="2258568"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taskValues to pass data between Workflow tasks.</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4"/>
          <p:cNvSpPr/>
          <p:nvPr/>
        </p:nvSpPr>
        <p:spPr>
          <a:xfrm>
            <a:off x="3401568" y="4215384"/>
            <a:ext cx="2624328" cy="1783080"/>
          </a:xfrm>
          <a:prstGeom prst="roundRect">
            <a:avLst>
              <a:gd name="adj" fmla="val 3077"/>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5"/>
          <p:cNvSpPr/>
          <p:nvPr/>
        </p:nvSpPr>
        <p:spPr>
          <a:xfrm>
            <a:off x="4411980" y="4434840"/>
            <a:ext cx="603504" cy="603504"/>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5" descr="preencoded.png"/>
          <p:cNvPicPr>
            <a:picLocks noChangeAspect="1"/>
          </p:cNvPicPr>
          <p:nvPr/>
        </p:nvPicPr>
        <p:blipFill>
          <a:blip r:embed="rId8"/>
          <a:stretch>
            <a:fillRect/>
          </a:stretch>
        </p:blipFill>
        <p:spPr>
          <a:xfrm>
            <a:off x="4567428" y="4590288"/>
            <a:ext cx="292608" cy="292608"/>
          </a:xfrm>
          <a:prstGeom prst="rect">
            <a:avLst/>
          </a:prstGeom>
        </p:spPr>
      </p:pic>
      <p:sp>
        <p:nvSpPr>
          <p:cNvPr id="34" name="Text 26"/>
          <p:cNvSpPr txBox="1"/>
          <p:nvPr/>
        </p:nvSpPr>
        <p:spPr>
          <a:xfrm>
            <a:off x="3511296" y="5129784"/>
            <a:ext cx="2404872"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dbutils.library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7"/>
          <p:cNvSpPr txBox="1"/>
          <p:nvPr/>
        </p:nvSpPr>
        <p:spPr>
          <a:xfrm>
            <a:off x="3584448" y="5440680"/>
            <a:ext cx="2258568"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restartPython(); install helpers are legacy.</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28"/>
          <p:cNvSpPr/>
          <p:nvPr/>
        </p:nvSpPr>
        <p:spPr>
          <a:xfrm>
            <a:off x="6163056" y="4215384"/>
            <a:ext cx="2624328" cy="1783080"/>
          </a:xfrm>
          <a:prstGeom prst="roundRect">
            <a:avLst>
              <a:gd name="adj" fmla="val 3077"/>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29"/>
          <p:cNvSpPr/>
          <p:nvPr/>
        </p:nvSpPr>
        <p:spPr>
          <a:xfrm>
            <a:off x="7173468" y="4434840"/>
            <a:ext cx="603504" cy="60350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8" name="Image 6" descr="preencoded.png"/>
          <p:cNvPicPr>
            <a:picLocks noChangeAspect="1"/>
          </p:cNvPicPr>
          <p:nvPr/>
        </p:nvPicPr>
        <p:blipFill>
          <a:blip r:embed="rId9"/>
          <a:stretch>
            <a:fillRect/>
          </a:stretch>
        </p:blipFill>
        <p:spPr>
          <a:xfrm>
            <a:off x="7328916" y="4590288"/>
            <a:ext cx="292608" cy="292608"/>
          </a:xfrm>
          <a:prstGeom prst="rect">
            <a:avLst/>
          </a:prstGeom>
        </p:spPr>
      </p:pic>
      <p:sp>
        <p:nvSpPr>
          <p:cNvPr id="39" name="Text 30"/>
          <p:cNvSpPr txBox="1"/>
          <p:nvPr/>
        </p:nvSpPr>
        <p:spPr>
          <a:xfrm>
            <a:off x="6272784" y="5129784"/>
            <a:ext cx="2404872"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dbutils.data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1"/>
          <p:cNvSpPr txBox="1"/>
          <p:nvPr/>
        </p:nvSpPr>
        <p:spPr>
          <a:xfrm>
            <a:off x="6345936" y="5440680"/>
            <a:ext cx="2258568"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summarize() to profile a DataFrame fast.</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2"/>
          <p:cNvSpPr/>
          <p:nvPr/>
        </p:nvSpPr>
        <p:spPr>
          <a:xfrm>
            <a:off x="8924544" y="4215384"/>
            <a:ext cx="2624328" cy="1783080"/>
          </a:xfrm>
          <a:prstGeom prst="roundRect">
            <a:avLst>
              <a:gd name="adj" fmla="val 3077"/>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3"/>
          <p:cNvSpPr/>
          <p:nvPr/>
        </p:nvSpPr>
        <p:spPr>
          <a:xfrm>
            <a:off x="9934956" y="4434840"/>
            <a:ext cx="603504" cy="603504"/>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3" name="Image 7" descr="preencoded.png"/>
          <p:cNvPicPr>
            <a:picLocks noChangeAspect="1"/>
          </p:cNvPicPr>
          <p:nvPr/>
        </p:nvPicPr>
        <p:blipFill>
          <a:blip r:embed="rId10"/>
          <a:stretch>
            <a:fillRect/>
          </a:stretch>
        </p:blipFill>
        <p:spPr>
          <a:xfrm>
            <a:off x="10090404" y="4590288"/>
            <a:ext cx="292608" cy="292608"/>
          </a:xfrm>
          <a:prstGeom prst="rect">
            <a:avLst/>
          </a:prstGeom>
        </p:spPr>
      </p:pic>
      <p:sp>
        <p:nvSpPr>
          <p:cNvPr id="44" name="Text 34"/>
          <p:cNvSpPr txBox="1"/>
          <p:nvPr/>
        </p:nvSpPr>
        <p:spPr>
          <a:xfrm>
            <a:off x="9034272" y="5129784"/>
            <a:ext cx="2404872"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dbutils.credentials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35"/>
          <p:cNvSpPr txBox="1"/>
          <p:nvPr/>
        </p:nvSpPr>
        <p:spPr>
          <a:xfrm>
            <a:off x="9107424" y="5440680"/>
            <a:ext cx="2258568"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Credential passthrough / role assumption.</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36"/>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7"/>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FILES · dbutils.fs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dbutils.fs — work with files and storage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The programmatic form of %fs — use it inside real code, loops and functions.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6583680" cy="4069080"/>
          </a:xfrm>
          <a:prstGeom prst="roundRect">
            <a:avLst>
              <a:gd name="adj" fmla="val 2683"/>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658368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542032"/>
            <a:ext cx="658368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4414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4414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4414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86000"/>
            <a:ext cx="45720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Python · dbutils.fs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35040" y="292608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6035040" y="292608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5409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dbutils.fs.ls(</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"/Volumes/demo_cat/demo/landing"</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41985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dbutils.fs.head(</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"/Volumes/…/f.json"</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1024)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78561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dbutils.fs.mkdirs(</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"/Volumes/…/archive"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15137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dbutils.fs.cp(src, dst, recurse=</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True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51713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dbutils.fs.mv(src, dst)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932688" y="488289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dbutils.fs.rm(path, recurse=</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True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932688" y="524865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dbutils.fs.put(path, </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"hello"</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overwrite=</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True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932688" y="579729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returns FileInfo objects — loop, filter, build paths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7498080" y="2286000"/>
            <a:ext cx="4023360" cy="3749040"/>
          </a:xfrm>
          <a:prstGeom prst="roundRect">
            <a:avLst>
              <a:gd name="adj" fmla="val 1463"/>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7726680" y="2450592"/>
            <a:ext cx="35661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%fs vs dbutils.fs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Image 0" descr="preencoded.png"/>
          <p:cNvPicPr>
            <a:picLocks noChangeAspect="1"/>
          </p:cNvPicPr>
          <p:nvPr/>
        </p:nvPicPr>
        <p:blipFill>
          <a:blip r:embed="rId3"/>
          <a:stretch>
            <a:fillRect/>
          </a:stretch>
        </p:blipFill>
        <p:spPr>
          <a:xfrm>
            <a:off x="7772400" y="2944368"/>
            <a:ext cx="237744" cy="237744"/>
          </a:xfrm>
          <a:prstGeom prst="rect">
            <a:avLst/>
          </a:prstGeom>
        </p:spPr>
      </p:pic>
      <p:sp>
        <p:nvSpPr>
          <p:cNvPr id="26" name="Text 23"/>
          <p:cNvSpPr txBox="1"/>
          <p:nvPr/>
        </p:nvSpPr>
        <p:spPr>
          <a:xfrm>
            <a:off x="8119872" y="2889504"/>
            <a:ext cx="324612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%fs is quick &amp; interactive in a cell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Image 1" descr="preencoded.png"/>
          <p:cNvPicPr>
            <a:picLocks noChangeAspect="1"/>
          </p:cNvPicPr>
          <p:nvPr/>
        </p:nvPicPr>
        <p:blipFill>
          <a:blip r:embed="rId4"/>
          <a:stretch>
            <a:fillRect/>
          </a:stretch>
        </p:blipFill>
        <p:spPr>
          <a:xfrm>
            <a:off x="7772400" y="3675888"/>
            <a:ext cx="237744" cy="237744"/>
          </a:xfrm>
          <a:prstGeom prst="rect">
            <a:avLst/>
          </a:prstGeom>
        </p:spPr>
      </p:pic>
      <p:sp>
        <p:nvSpPr>
          <p:cNvPr id="28" name="Text 24"/>
          <p:cNvSpPr txBox="1"/>
          <p:nvPr/>
        </p:nvSpPr>
        <p:spPr>
          <a:xfrm>
            <a:off x="8119872" y="3621024"/>
            <a:ext cx="324612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dbutils.fs works inside functions &amp; loops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2" descr="preencoded.png"/>
          <p:cNvPicPr>
            <a:picLocks noChangeAspect="1"/>
          </p:cNvPicPr>
          <p:nvPr/>
        </p:nvPicPr>
        <p:blipFill>
          <a:blip r:embed="rId5"/>
          <a:stretch>
            <a:fillRect/>
          </a:stretch>
        </p:blipFill>
        <p:spPr>
          <a:xfrm>
            <a:off x="7772400" y="4407408"/>
            <a:ext cx="237744" cy="237744"/>
          </a:xfrm>
          <a:prstGeom prst="rect">
            <a:avLst/>
          </a:prstGeom>
        </p:spPr>
      </p:pic>
      <p:sp>
        <p:nvSpPr>
          <p:cNvPr id="30" name="Text 25"/>
          <p:cNvSpPr txBox="1"/>
          <p:nvPr/>
        </p:nvSpPr>
        <p:spPr>
          <a:xfrm>
            <a:off x="8119872" y="4352544"/>
            <a:ext cx="324612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Same operations, same paths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1" name="Image 3" descr="preencoded.png"/>
          <p:cNvPicPr>
            <a:picLocks noChangeAspect="1"/>
          </p:cNvPicPr>
          <p:nvPr/>
        </p:nvPicPr>
        <p:blipFill>
          <a:blip r:embed="rId6"/>
          <a:stretch>
            <a:fillRect/>
          </a:stretch>
        </p:blipFill>
        <p:spPr>
          <a:xfrm>
            <a:off x="7772400" y="5138928"/>
            <a:ext cx="237744" cy="237744"/>
          </a:xfrm>
          <a:prstGeom prst="rect">
            <a:avLst/>
          </a:prstGeom>
        </p:spPr>
      </p:pic>
      <p:sp>
        <p:nvSpPr>
          <p:cNvPr id="32" name="Text 26"/>
          <p:cNvSpPr txBox="1"/>
          <p:nvPr/>
        </p:nvSpPr>
        <p:spPr>
          <a:xfrm>
            <a:off x="8119872" y="5084064"/>
            <a:ext cx="324612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mount/unmount is legacy — prefer Unity Catalog Volumes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7"/>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28"/>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PARAMETERS · dbutils.widgets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dbutils.widgets — parameterize a notebook</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Turn hard-coded values into inputs, so one notebook serves many runs and jobs.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6583680" cy="3749040"/>
          </a:xfrm>
          <a:prstGeom prst="roundRect">
            <a:avLst>
              <a:gd name="adj" fmla="val 2683"/>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658368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542032"/>
            <a:ext cx="658368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4414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4414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4414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86000"/>
            <a:ext cx="45720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Python · dbutils.widgets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35040" y="292608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6035040" y="292608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5409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dbutils.widgets.text(</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"env"</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"dev"</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"Environment"</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41985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dbutils.widgets.dropdown(</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"region"</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"eu"</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"eu"</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"us"</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78561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dbutils.widgets.multiselect(</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"tables"</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33425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env</a:t>
            </a:r>
            <a:r>
              <a:rPr kumimoji="0" lang="en-US" sz="130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 </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dbutils.widgets.get(</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"env"</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70001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spark.sql(</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f"USE CATALOG {env}_cat"</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932688" y="524865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dbutils.widgets.removeAll()</a:t>
            </a:r>
            <a:r>
              <a:rPr kumimoji="0" lang="en-US" sz="13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clean up</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498080" y="2286000"/>
            <a:ext cx="4023360" cy="3749040"/>
          </a:xfrm>
          <a:prstGeom prst="roundRect">
            <a:avLst>
              <a:gd name="adj" fmla="val 1463"/>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7726680" y="2450592"/>
            <a:ext cx="35661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Four widget types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7772400" y="2944368"/>
            <a:ext cx="3566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text   </a:t>
            </a: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free-form value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7772400" y="3328416"/>
            <a:ext cx="3566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dropdown   </a:t>
            </a: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one of a fixed list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7772400" y="3712464"/>
            <a:ext cx="3566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combobox   </a:t>
            </a: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list + free text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7772400" y="4096512"/>
            <a:ext cx="3566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multiselect   </a:t>
            </a:r>
            <a:r>
              <a:rPr kumimoji="0" lang="en-US" sz="115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many of a list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7772400" y="4617720"/>
            <a:ext cx="3520440" cy="9144"/>
          </a:xfrm>
          <a:prstGeom prst="rect">
            <a:avLst/>
          </a:prstGeom>
          <a:solidFill>
            <a:srgbClr val="DDE4E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7772400" y="4754880"/>
            <a:ext cx="3566160" cy="10972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Jobs pass parameters straight into widgets — </a:t>
            </a:r>
            <a:r>
              <a:rPr kumimoji="0" lang="en-US" sz="1150" b="1" i="0" u="none" strike="noStrike" kern="1200" cap="none" spc="0" normalizeH="0" baseline="0" noProof="0" dirty="0">
                <a:ln>
                  <a:noFill/>
                </a:ln>
                <a:solidFill>
                  <a:srgbClr val="13242E"/>
                </a:solidFill>
                <a:effectLst/>
                <a:uLnTx/>
                <a:uFillTx/>
                <a:latin typeface="Calibri" pitchFamily="34" charset="0"/>
                <a:ea typeface="Calibri" pitchFamily="34" charset="-122"/>
                <a:cs typeface="Calibri" pitchFamily="34" charset="-120"/>
              </a:rPr>
              <a:t>the same notebook runs scheduled and interactive.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SECURITY · dbutils.secrets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dbutils.secrets — no hard-coded credentials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Read tokens and passwords from secret scopes; values are redacted in notebook output.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6583680" cy="3566160"/>
          </a:xfrm>
          <a:prstGeom prst="roundRect">
            <a:avLst>
              <a:gd name="adj" fmla="val 282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658368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542032"/>
            <a:ext cx="658368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44144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44144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44144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86000"/>
            <a:ext cx="45720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Python · dbutils.secrets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035040" y="292608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6035040" y="292608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5409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dbutils.secrets.listScopes()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41985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dbutils.secrets.list(</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"prod-scope"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96849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token</a:t>
            </a:r>
            <a:r>
              <a:rPr kumimoji="0" lang="en-US" sz="130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 </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dbutils.secrets.get(</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scope="prod-scope"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key="api_token"</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517136"/>
            <a:ext cx="5943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print(token)</a:t>
            </a:r>
            <a:r>
              <a:rPr kumimoji="0" lang="en-US" sz="13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 [REDACTED]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7498080" y="2286000"/>
            <a:ext cx="4023360" cy="3566160"/>
          </a:xfrm>
          <a:prstGeom prst="roundRect">
            <a:avLst>
              <a:gd name="adj" fmla="val 1538"/>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 name="Image 0" descr="preencoded.png"/>
          <p:cNvPicPr>
            <a:picLocks noChangeAspect="1"/>
          </p:cNvPicPr>
          <p:nvPr/>
        </p:nvPicPr>
        <p:blipFill>
          <a:blip r:embed="rId3"/>
          <a:stretch>
            <a:fillRect/>
          </a:stretch>
        </p:blipFill>
        <p:spPr>
          <a:xfrm>
            <a:off x="7726680" y="2468880"/>
            <a:ext cx="310896" cy="310896"/>
          </a:xfrm>
          <a:prstGeom prst="rect">
            <a:avLst/>
          </a:prstGeom>
        </p:spPr>
      </p:pic>
      <p:sp>
        <p:nvSpPr>
          <p:cNvPr id="21" name="Text 18"/>
          <p:cNvSpPr txBox="1"/>
          <p:nvPr/>
        </p:nvSpPr>
        <p:spPr>
          <a:xfrm>
            <a:off x="8138160" y="2450592"/>
            <a:ext cx="32004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3621"/>
                </a:solidFill>
                <a:effectLst/>
                <a:uLnTx/>
                <a:uFillTx/>
                <a:latin typeface="Trebuchet MS" pitchFamily="34" charset="0"/>
                <a:ea typeface="Trebuchet MS" pitchFamily="34" charset="-122"/>
                <a:cs typeface="Trebuchet MS" pitchFamily="34" charset="-120"/>
              </a:rPr>
              <a:t>Rules of the road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7772400" y="3090672"/>
            <a:ext cx="109728" cy="10972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8028432" y="2980944"/>
            <a:ext cx="3291840" cy="7132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Never hard-code credentials in a notebook.</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1"/>
          <p:cNvSpPr/>
          <p:nvPr/>
        </p:nvSpPr>
        <p:spPr>
          <a:xfrm>
            <a:off x="7772400" y="3785616"/>
            <a:ext cx="109728" cy="10972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txBox="1"/>
          <p:nvPr/>
        </p:nvSpPr>
        <p:spPr>
          <a:xfrm>
            <a:off x="8028432" y="3675888"/>
            <a:ext cx="3291840" cy="7132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Output is auto-redacted — don't defeat it by transforming the string.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7772400" y="4480560"/>
            <a:ext cx="109728" cy="10972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4"/>
          <p:cNvSpPr txBox="1"/>
          <p:nvPr/>
        </p:nvSpPr>
        <p:spPr>
          <a:xfrm>
            <a:off x="8028432" y="4370832"/>
            <a:ext cx="3291840" cy="7132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Access is controlled per scope by workspace admins.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5"/>
          <p:cNvSpPr/>
          <p:nvPr/>
        </p:nvSpPr>
        <p:spPr>
          <a:xfrm>
            <a:off x="7772400" y="5175504"/>
            <a:ext cx="109728" cy="10972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8028432" y="5065776"/>
            <a:ext cx="3291840" cy="7132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Back scopes with Databricks or Azure Key Vault.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ORCHESTRATION · notebook &amp; jobs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Chaining notebooks and passing values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and exit() compose notebooks; taskValues carry data between Workflow tasks.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194560"/>
            <a:ext cx="5349240" cy="3794760"/>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194560"/>
            <a:ext cx="53492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450592"/>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35000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35000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35000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194560"/>
            <a:ext cx="33375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dbutils.notebook</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800600" y="283464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4800600" y="283464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296265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result</a:t>
            </a:r>
            <a:r>
              <a:rPr kumimoji="0" lang="en-US" sz="12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 </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dbutils.notebook.run(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32841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"./ingest"</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69417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timeout_seconds=</a:t>
            </a:r>
            <a:r>
              <a:rPr kumimoji="0" lang="en-US" sz="12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600</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05993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arguments={</a:t>
            </a:r>
            <a:r>
              <a:rPr kumimoji="0" lang="en-US" sz="125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"env"</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25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"prod"</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60857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inside ./ingest: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932688" y="497433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dbutils.notebook.exit(</a:t>
            </a:r>
            <a:r>
              <a:rPr kumimoji="0" lang="en-US" sz="125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"1200 rows"</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932688" y="552297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separate session — not %run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6172200" y="2194560"/>
            <a:ext cx="5349240" cy="3794760"/>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6172200" y="2194560"/>
            <a:ext cx="53492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6172200" y="2450592"/>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391656" y="235000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6629400" y="235000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6867144" y="235000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7178040" y="2194560"/>
            <a:ext cx="33375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dbutils.jobs.taskValues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10332720" y="283464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10332720" y="283464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6464808" y="296265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task A — publish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txBox="1"/>
          <p:nvPr/>
        </p:nvSpPr>
        <p:spPr>
          <a:xfrm>
            <a:off x="6464808" y="332841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dbutils.jobs.taskValues.set(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txBox="1"/>
          <p:nvPr/>
        </p:nvSpPr>
        <p:spPr>
          <a:xfrm>
            <a:off x="6464808" y="369417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key="row_count"</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value=</a:t>
            </a:r>
            <a:r>
              <a:rPr kumimoji="0" lang="en-US" sz="12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1200</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txBox="1"/>
          <p:nvPr/>
        </p:nvSpPr>
        <p:spPr>
          <a:xfrm>
            <a:off x="6464808" y="424281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task B — consume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txBox="1"/>
          <p:nvPr/>
        </p:nvSpPr>
        <p:spPr>
          <a:xfrm>
            <a:off x="6464808" y="460857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n</a:t>
            </a:r>
            <a:r>
              <a:rPr kumimoji="0" lang="en-US" sz="12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 </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dbutils.jobs.taskValues.get(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txBox="1"/>
          <p:nvPr/>
        </p:nvSpPr>
        <p:spPr>
          <a:xfrm>
            <a:off x="6464808" y="497433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taskKey="task_A"</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25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key="row_count"</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txBox="1"/>
          <p:nvPr/>
        </p:nvSpPr>
        <p:spPr>
          <a:xfrm>
            <a:off x="6464808" y="5522976"/>
            <a:ext cx="47091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only inside a Databricks Job</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CHOOSING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%run vs dbutils.notebook.run vs Workflows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Three ways to compose notebooks — they are not interchangeable.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3538728" cy="3703320"/>
          </a:xfrm>
          <a:prstGeom prst="roundRect">
            <a:avLst>
              <a:gd name="adj" fmla="val 155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3538728" cy="841248"/>
          </a:xfrm>
          <a:prstGeom prst="roundRect">
            <a:avLst>
              <a:gd name="adj" fmla="val 6522"/>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926080"/>
            <a:ext cx="3538728" cy="201168"/>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txBox="1"/>
          <p:nvPr/>
        </p:nvSpPr>
        <p:spPr>
          <a:xfrm>
            <a:off x="822960" y="2377440"/>
            <a:ext cx="321868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%run ./other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txBox="1"/>
          <p:nvPr/>
        </p:nvSpPr>
        <p:spPr>
          <a:xfrm>
            <a:off x="822960" y="2761488"/>
            <a:ext cx="3218688"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magic command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txBox="1"/>
          <p:nvPr/>
        </p:nvSpPr>
        <p:spPr>
          <a:xfrm>
            <a:off x="859536" y="3310128"/>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SESSION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859536" y="3520440"/>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same session, inline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859536" y="3968496"/>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SCOPE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859536" y="4178808"/>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imports funcs &amp; vars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859536" y="4626864"/>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RETURNS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859536" y="4837176"/>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nothing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859536" y="5285232"/>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USE FOR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859536" y="5495544"/>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shared setup &amp; helpers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311396" y="2286000"/>
            <a:ext cx="3538728" cy="3703320"/>
          </a:xfrm>
          <a:prstGeom prst="roundRect">
            <a:avLst>
              <a:gd name="adj" fmla="val 155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4311396" y="2286000"/>
            <a:ext cx="3538728" cy="841248"/>
          </a:xfrm>
          <a:prstGeom prst="roundRect">
            <a:avLst>
              <a:gd name="adj" fmla="val 6522"/>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4311396" y="2926080"/>
            <a:ext cx="3538728"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4494276" y="2377440"/>
            <a:ext cx="321868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dbutils.notebook.run()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4494276" y="2761488"/>
            <a:ext cx="3218688"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utility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4530852" y="3310128"/>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SESSION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4530852" y="3520440"/>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new, isolated session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4530852" y="3968496"/>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SCOPE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txBox="1"/>
          <p:nvPr/>
        </p:nvSpPr>
        <p:spPr>
          <a:xfrm>
            <a:off x="4530852" y="4178808"/>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arguments in, value out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4530852" y="4626864"/>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RETURNS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4530852" y="4837176"/>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exit() string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4530852" y="5285232"/>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USE FOR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4530852" y="5495544"/>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dynamic chaining in code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7982712" y="2286000"/>
            <a:ext cx="3538728" cy="3703320"/>
          </a:xfrm>
          <a:prstGeom prst="roundRect">
            <a:avLst>
              <a:gd name="adj" fmla="val 1550"/>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7982712" y="2286000"/>
            <a:ext cx="3538728" cy="841248"/>
          </a:xfrm>
          <a:prstGeom prst="roundRect">
            <a:avLst>
              <a:gd name="adj" fmla="val 6522"/>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p:cNvSpPr/>
          <p:nvPr/>
        </p:nvSpPr>
        <p:spPr>
          <a:xfrm>
            <a:off x="7982712" y="2926080"/>
            <a:ext cx="3538728" cy="201168"/>
          </a:xfrm>
          <a:prstGeom prst="rect">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txBox="1"/>
          <p:nvPr/>
        </p:nvSpPr>
        <p:spPr>
          <a:xfrm>
            <a:off x="8165592" y="2377440"/>
            <a:ext cx="3218688"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Databricks Workflows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txBox="1"/>
          <p:nvPr/>
        </p:nvSpPr>
        <p:spPr>
          <a:xfrm>
            <a:off x="8165592" y="2761488"/>
            <a:ext cx="3218688"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platform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txBox="1"/>
          <p:nvPr/>
        </p:nvSpPr>
        <p:spPr>
          <a:xfrm>
            <a:off x="8202168" y="3310128"/>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SESSION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txBox="1"/>
          <p:nvPr/>
        </p:nvSpPr>
        <p:spPr>
          <a:xfrm>
            <a:off x="8202168" y="3520440"/>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per-task clusters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txBox="1"/>
          <p:nvPr/>
        </p:nvSpPr>
        <p:spPr>
          <a:xfrm>
            <a:off x="8202168" y="3968496"/>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SCOPE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txBox="1"/>
          <p:nvPr/>
        </p:nvSpPr>
        <p:spPr>
          <a:xfrm>
            <a:off x="8202168" y="4178808"/>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taskValues between tasks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txBox="1"/>
          <p:nvPr/>
        </p:nvSpPr>
        <p:spPr>
          <a:xfrm>
            <a:off x="8202168" y="4626864"/>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RETURNS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txBox="1"/>
          <p:nvPr/>
        </p:nvSpPr>
        <p:spPr>
          <a:xfrm>
            <a:off x="8202168" y="4837176"/>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task state &amp; lineage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txBox="1"/>
          <p:nvPr/>
        </p:nvSpPr>
        <p:spPr>
          <a:xfrm>
            <a:off x="8202168" y="5285232"/>
            <a:ext cx="308152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USE FOR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txBox="1"/>
          <p:nvPr/>
        </p:nvSpPr>
        <p:spPr>
          <a:xfrm>
            <a:off x="8202168" y="5495544"/>
            <a:ext cx="3081528" cy="4114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scheduled production DAGs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8</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THE REST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data, library, credentials &amp; help</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Smaller modules that still earn their place in a notebook.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331720"/>
            <a:ext cx="5349240" cy="1737360"/>
          </a:xfrm>
          <a:prstGeom prst="roundRect">
            <a:avLst>
              <a:gd name="adj" fmla="val 315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914400" y="2642616"/>
            <a:ext cx="694944" cy="69494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088136" y="2816352"/>
            <a:ext cx="347472" cy="347472"/>
          </a:xfrm>
          <a:prstGeom prst="rect">
            <a:avLst/>
          </a:prstGeom>
        </p:spPr>
      </p:pic>
      <p:sp>
        <p:nvSpPr>
          <p:cNvPr id="9" name="Text 6"/>
          <p:cNvSpPr txBox="1"/>
          <p:nvPr/>
        </p:nvSpPr>
        <p:spPr>
          <a:xfrm>
            <a:off x="1810512" y="2606040"/>
            <a:ext cx="39776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dbutils.data.summarize(df)</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1810512" y="3063240"/>
            <a:ext cx="397764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Instant DataFrame profile — distributions, nulls, distinct counts, quantiles. Fastest way to sanity-check data.</a:t>
            </a:r>
            <a:endParaRPr kumimoji="0" lang="en-US" sz="11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6172200" y="2331720"/>
            <a:ext cx="5349240" cy="1737360"/>
          </a:xfrm>
          <a:prstGeom prst="roundRect">
            <a:avLst>
              <a:gd name="adj" fmla="val 315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6446520" y="2642616"/>
            <a:ext cx="694944" cy="694944"/>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6620256" y="2816352"/>
            <a:ext cx="347472" cy="347472"/>
          </a:xfrm>
          <a:prstGeom prst="rect">
            <a:avLst/>
          </a:prstGeom>
        </p:spPr>
      </p:pic>
      <p:sp>
        <p:nvSpPr>
          <p:cNvPr id="14" name="Text 10"/>
          <p:cNvSpPr txBox="1"/>
          <p:nvPr/>
        </p:nvSpPr>
        <p:spPr>
          <a:xfrm>
            <a:off x="7342632" y="2606040"/>
            <a:ext cx="39776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dbutils.library.restartPython()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7342632" y="3063240"/>
            <a:ext cx="397764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Restart the interpreter after installs. The install/installPyPI helpers are legacy — use %pip instead.</a:t>
            </a:r>
            <a:endParaRPr kumimoji="0" lang="en-US" sz="11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40080" y="4251960"/>
            <a:ext cx="5349240" cy="1737360"/>
          </a:xfrm>
          <a:prstGeom prst="roundRect">
            <a:avLst>
              <a:gd name="adj" fmla="val 315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914400" y="4562856"/>
            <a:ext cx="694944" cy="694944"/>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1088136" y="4736592"/>
            <a:ext cx="347472" cy="347472"/>
          </a:xfrm>
          <a:prstGeom prst="rect">
            <a:avLst/>
          </a:prstGeom>
        </p:spPr>
      </p:pic>
      <p:sp>
        <p:nvSpPr>
          <p:cNvPr id="19" name="Text 14"/>
          <p:cNvSpPr txBox="1"/>
          <p:nvPr/>
        </p:nvSpPr>
        <p:spPr>
          <a:xfrm>
            <a:off x="1810512" y="4526280"/>
            <a:ext cx="39776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dbutils.credentials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1810512" y="4983480"/>
            <a:ext cx="397764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Credential passthrough &amp; role assumption (assumeRole, showRoles). Availability depends on workspace setup.</a:t>
            </a:r>
            <a:endParaRPr kumimoji="0" lang="en-US" sz="11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6172200" y="4251960"/>
            <a:ext cx="5349240" cy="1737360"/>
          </a:xfrm>
          <a:prstGeom prst="roundRect">
            <a:avLst>
              <a:gd name="adj" fmla="val 315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446520" y="4562856"/>
            <a:ext cx="694944" cy="694944"/>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6620256" y="4736592"/>
            <a:ext cx="347472" cy="347472"/>
          </a:xfrm>
          <a:prstGeom prst="rect">
            <a:avLst/>
          </a:prstGeom>
        </p:spPr>
      </p:pic>
      <p:sp>
        <p:nvSpPr>
          <p:cNvPr id="24" name="Text 18"/>
          <p:cNvSpPr txBox="1"/>
          <p:nvPr/>
        </p:nvSpPr>
        <p:spPr>
          <a:xfrm>
            <a:off x="7342632" y="4526280"/>
            <a:ext cx="39776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dbutils.help()</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p:cNvSpPr txBox="1"/>
          <p:nvPr/>
        </p:nvSpPr>
        <p:spPr>
          <a:xfrm>
            <a:off x="7342632" y="4983480"/>
            <a:ext cx="397764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The built-in reference: list modules, then &lt;module&gt;.help() and .help("command") for details.</a:t>
            </a:r>
            <a:endParaRPr kumimoji="0" lang="en-US" sz="11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0"/>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9</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BEST PRACTICES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Using dbutils well</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Habits that keep notebooks portable, secure and job-ready.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77824" y="2587752"/>
            <a:ext cx="548640" cy="54864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014984" y="2724912"/>
            <a:ext cx="274320" cy="274320"/>
          </a:xfrm>
          <a:prstGeom prst="rect">
            <a:avLst/>
          </a:prstGeom>
        </p:spPr>
      </p:pic>
      <p:sp>
        <p:nvSpPr>
          <p:cNvPr id="9" name="Text 6"/>
          <p:cNvSpPr txBox="1"/>
          <p:nvPr/>
        </p:nvSpPr>
        <p:spPr>
          <a:xfrm>
            <a:off x="1572768"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Never hard-code secrets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896112"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Always dbutils.secrets.get() from a scope — never a literal in code.</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311396"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549140" y="2587752"/>
            <a:ext cx="548640" cy="54864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4686300" y="2724912"/>
            <a:ext cx="274320" cy="274320"/>
          </a:xfrm>
          <a:prstGeom prst="rect">
            <a:avLst/>
          </a:prstGeom>
        </p:spPr>
      </p:pic>
      <p:sp>
        <p:nvSpPr>
          <p:cNvPr id="14" name="Text 10"/>
          <p:cNvSpPr txBox="1"/>
          <p:nvPr/>
        </p:nvSpPr>
        <p:spPr>
          <a:xfrm>
            <a:off x="5244084"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Parameterize early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4567428"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Widgets first, then jobs can drive the same notebook unchanged.</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7982712"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8220456" y="2587752"/>
            <a:ext cx="548640" cy="54864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357616" y="2724912"/>
            <a:ext cx="274320" cy="274320"/>
          </a:xfrm>
          <a:prstGeom prst="rect">
            <a:avLst/>
          </a:prstGeom>
        </p:spPr>
      </p:pic>
      <p:sp>
        <p:nvSpPr>
          <p:cNvPr id="19" name="Text 14"/>
          <p:cNvSpPr txBox="1"/>
          <p:nvPr/>
        </p:nvSpPr>
        <p:spPr>
          <a:xfrm>
            <a:off x="8915400"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dbutils.fs inside code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8238744"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Use %fs to explore; dbutils.fs when logic depends on the result.</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640080"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877824" y="4306824"/>
            <a:ext cx="548640" cy="54864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1014984" y="4443984"/>
            <a:ext cx="274320" cy="274320"/>
          </a:xfrm>
          <a:prstGeom prst="rect">
            <a:avLst/>
          </a:prstGeom>
        </p:spPr>
      </p:pic>
      <p:sp>
        <p:nvSpPr>
          <p:cNvPr id="24" name="Text 18"/>
          <p:cNvSpPr txBox="1"/>
          <p:nvPr/>
        </p:nvSpPr>
        <p:spPr>
          <a:xfrm>
            <a:off x="1572768"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Prefer Volumes to mounts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p:cNvSpPr txBox="1"/>
          <p:nvPr/>
        </p:nvSpPr>
        <p:spPr>
          <a:xfrm>
            <a:off x="896112"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Unity Catalog Volumes over legacy dbutils.fs.mount().</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0"/>
          <p:cNvSpPr/>
          <p:nvPr/>
        </p:nvSpPr>
        <p:spPr>
          <a:xfrm>
            <a:off x="4311396"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1"/>
          <p:cNvSpPr/>
          <p:nvPr/>
        </p:nvSpPr>
        <p:spPr>
          <a:xfrm>
            <a:off x="4549140" y="4306824"/>
            <a:ext cx="548640" cy="54864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4" descr="preencoded.png"/>
          <p:cNvPicPr>
            <a:picLocks noChangeAspect="1"/>
          </p:cNvPicPr>
          <p:nvPr/>
        </p:nvPicPr>
        <p:blipFill>
          <a:blip r:embed="rId7"/>
          <a:stretch>
            <a:fillRect/>
          </a:stretch>
        </p:blipFill>
        <p:spPr>
          <a:xfrm>
            <a:off x="4686300" y="4443984"/>
            <a:ext cx="274320" cy="274320"/>
          </a:xfrm>
          <a:prstGeom prst="rect">
            <a:avLst/>
          </a:prstGeom>
        </p:spPr>
      </p:pic>
      <p:sp>
        <p:nvSpPr>
          <p:cNvPr id="29" name="Text 22"/>
          <p:cNvSpPr txBox="1"/>
          <p:nvPr/>
        </p:nvSpPr>
        <p:spPr>
          <a:xfrm>
            <a:off x="5244084"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Right tool for chaining</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3"/>
          <p:cNvSpPr txBox="1"/>
          <p:nvPr/>
        </p:nvSpPr>
        <p:spPr>
          <a:xfrm>
            <a:off x="4567428"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for setup, notebook.run() in code, Workflows for production.</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4"/>
          <p:cNvSpPr/>
          <p:nvPr/>
        </p:nvSpPr>
        <p:spPr>
          <a:xfrm>
            <a:off x="7982712"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5"/>
          <p:cNvSpPr/>
          <p:nvPr/>
        </p:nvSpPr>
        <p:spPr>
          <a:xfrm>
            <a:off x="8220456" y="4306824"/>
            <a:ext cx="548640" cy="54864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5" descr="preencoded.png"/>
          <p:cNvPicPr>
            <a:picLocks noChangeAspect="1"/>
          </p:cNvPicPr>
          <p:nvPr/>
        </p:nvPicPr>
        <p:blipFill>
          <a:blip r:embed="rId8"/>
          <a:stretch>
            <a:fillRect/>
          </a:stretch>
        </p:blipFill>
        <p:spPr>
          <a:xfrm>
            <a:off x="8357616" y="4443984"/>
            <a:ext cx="274320" cy="274320"/>
          </a:xfrm>
          <a:prstGeom prst="rect">
            <a:avLst/>
          </a:prstGeom>
        </p:spPr>
      </p:pic>
      <p:sp>
        <p:nvSpPr>
          <p:cNvPr id="34" name="Text 26"/>
          <p:cNvSpPr txBox="1"/>
          <p:nvPr/>
        </p:nvSpPr>
        <p:spPr>
          <a:xfrm>
            <a:off x="8915400"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%pip over library installs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7"/>
          <p:cNvSpPr txBox="1"/>
          <p:nvPr/>
        </p:nvSpPr>
        <p:spPr>
          <a:xfrm>
            <a:off x="8238744"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dbutils.library install helpers are legacy; restartPython() still useful.</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8"/>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Notebooks  ·  Databricks Utilities (dbutils)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9"/>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REFERENCE · ALL UTILITIES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Databricks utilities (dbutils) at a glance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Programmatic helpers built into every notebook — callable from Python, Scala and R. One card per module.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12848"/>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22960" y="2359152"/>
            <a:ext cx="402336" cy="402336"/>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914400" y="2450592"/>
            <a:ext cx="219456" cy="219456"/>
          </a:xfrm>
          <a:prstGeom prst="rect">
            <a:avLst/>
          </a:prstGeom>
        </p:spPr>
      </p:pic>
      <p:sp>
        <p:nvSpPr>
          <p:cNvPr id="9" name="Text 6"/>
          <p:cNvSpPr txBox="1"/>
          <p:nvPr/>
        </p:nvSpPr>
        <p:spPr>
          <a:xfrm>
            <a:off x="1316736" y="2359152"/>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dbutils.fs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859536" y="2834640"/>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ls / head / cp / mv / rm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manage files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859536" y="3022092"/>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mkdirs / put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create dirs, write text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859536" y="3209544"/>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mount / unmount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legacy — prefer Volumes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4328160" y="2212848"/>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4511040" y="2359152"/>
            <a:ext cx="402336" cy="402336"/>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preencoded.png"/>
          <p:cNvPicPr>
            <a:picLocks noChangeAspect="1"/>
          </p:cNvPicPr>
          <p:nvPr/>
        </p:nvPicPr>
        <p:blipFill>
          <a:blip r:embed="rId4"/>
          <a:stretch>
            <a:fillRect/>
          </a:stretch>
        </p:blipFill>
        <p:spPr>
          <a:xfrm>
            <a:off x="4602480" y="2450592"/>
            <a:ext cx="219456" cy="219456"/>
          </a:xfrm>
          <a:prstGeom prst="rect">
            <a:avLst/>
          </a:prstGeom>
        </p:spPr>
      </p:pic>
      <p:sp>
        <p:nvSpPr>
          <p:cNvPr id="16" name="Text 12"/>
          <p:cNvSpPr txBox="1"/>
          <p:nvPr/>
        </p:nvSpPr>
        <p:spPr>
          <a:xfrm>
            <a:off x="5004816" y="2359152"/>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dbutils.widgets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txBox="1"/>
          <p:nvPr/>
        </p:nvSpPr>
        <p:spPr>
          <a:xfrm>
            <a:off x="4547616" y="2834640"/>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text / dropdown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create inputs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txBox="1"/>
          <p:nvPr/>
        </p:nvSpPr>
        <p:spPr>
          <a:xfrm>
            <a:off x="4547616" y="3022092"/>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combobox / multiselect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richer choices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txBox="1"/>
          <p:nvPr/>
        </p:nvSpPr>
        <p:spPr>
          <a:xfrm>
            <a:off x="4547616" y="3209544"/>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get / remove / removeAll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read &amp; clean up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6"/>
          <p:cNvSpPr/>
          <p:nvPr/>
        </p:nvSpPr>
        <p:spPr>
          <a:xfrm>
            <a:off x="8016240" y="2212848"/>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7"/>
          <p:cNvSpPr/>
          <p:nvPr/>
        </p:nvSpPr>
        <p:spPr>
          <a:xfrm>
            <a:off x="8199120" y="2359152"/>
            <a:ext cx="402336" cy="402336"/>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 name="Image 2" descr="preencoded.png"/>
          <p:cNvPicPr>
            <a:picLocks noChangeAspect="1"/>
          </p:cNvPicPr>
          <p:nvPr/>
        </p:nvPicPr>
        <p:blipFill>
          <a:blip r:embed="rId5"/>
          <a:stretch>
            <a:fillRect/>
          </a:stretch>
        </p:blipFill>
        <p:spPr>
          <a:xfrm>
            <a:off x="8290560" y="2450592"/>
            <a:ext cx="219456" cy="219456"/>
          </a:xfrm>
          <a:prstGeom prst="rect">
            <a:avLst/>
          </a:prstGeom>
        </p:spPr>
      </p:pic>
      <p:sp>
        <p:nvSpPr>
          <p:cNvPr id="23" name="Text 18"/>
          <p:cNvSpPr txBox="1"/>
          <p:nvPr/>
        </p:nvSpPr>
        <p:spPr>
          <a:xfrm>
            <a:off x="8692896" y="2359152"/>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dbutils.secrets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9"/>
          <p:cNvSpPr txBox="1"/>
          <p:nvPr/>
        </p:nvSpPr>
        <p:spPr>
          <a:xfrm>
            <a:off x="8235696" y="2834640"/>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get(scope, key)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read a secret (redacted)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0"/>
          <p:cNvSpPr txBox="1"/>
          <p:nvPr/>
        </p:nvSpPr>
        <p:spPr>
          <a:xfrm>
            <a:off x="8235696" y="3022092"/>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getBytes(scope, key)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binary secret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1"/>
          <p:cNvSpPr txBox="1"/>
          <p:nvPr/>
        </p:nvSpPr>
        <p:spPr>
          <a:xfrm>
            <a:off x="8235696" y="3209544"/>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list / listScopes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discover scopes &amp; keys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2"/>
          <p:cNvSpPr/>
          <p:nvPr/>
        </p:nvSpPr>
        <p:spPr>
          <a:xfrm>
            <a:off x="640080" y="3547872"/>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3"/>
          <p:cNvSpPr/>
          <p:nvPr/>
        </p:nvSpPr>
        <p:spPr>
          <a:xfrm>
            <a:off x="822960" y="3694176"/>
            <a:ext cx="402336" cy="402336"/>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 name="Image 3" descr="preencoded.png"/>
          <p:cNvPicPr>
            <a:picLocks noChangeAspect="1"/>
          </p:cNvPicPr>
          <p:nvPr/>
        </p:nvPicPr>
        <p:blipFill>
          <a:blip r:embed="rId6"/>
          <a:stretch>
            <a:fillRect/>
          </a:stretch>
        </p:blipFill>
        <p:spPr>
          <a:xfrm>
            <a:off x="914400" y="3785616"/>
            <a:ext cx="219456" cy="219456"/>
          </a:xfrm>
          <a:prstGeom prst="rect">
            <a:avLst/>
          </a:prstGeom>
        </p:spPr>
      </p:pic>
      <p:sp>
        <p:nvSpPr>
          <p:cNvPr id="30" name="Text 24"/>
          <p:cNvSpPr txBox="1"/>
          <p:nvPr/>
        </p:nvSpPr>
        <p:spPr>
          <a:xfrm>
            <a:off x="1316736" y="3694176"/>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dbutils.notebook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5"/>
          <p:cNvSpPr txBox="1"/>
          <p:nvPr/>
        </p:nvSpPr>
        <p:spPr>
          <a:xfrm>
            <a:off x="859536" y="4169664"/>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run(path, timeout, args)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run another notebook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6"/>
          <p:cNvSpPr txBox="1"/>
          <p:nvPr/>
        </p:nvSpPr>
        <p:spPr>
          <a:xfrm>
            <a:off x="859536" y="4357116"/>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exit(value)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return a value &amp; stop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7"/>
          <p:cNvSpPr txBox="1"/>
          <p:nvPr/>
        </p:nvSpPr>
        <p:spPr>
          <a:xfrm>
            <a:off x="859536" y="4544568"/>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getContext()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notebook/run context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8"/>
          <p:cNvSpPr/>
          <p:nvPr/>
        </p:nvSpPr>
        <p:spPr>
          <a:xfrm>
            <a:off x="4328160" y="3547872"/>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29"/>
          <p:cNvSpPr/>
          <p:nvPr/>
        </p:nvSpPr>
        <p:spPr>
          <a:xfrm>
            <a:off x="4511040" y="3694176"/>
            <a:ext cx="402336" cy="402336"/>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Image 4" descr="preencoded.png"/>
          <p:cNvPicPr>
            <a:picLocks noChangeAspect="1"/>
          </p:cNvPicPr>
          <p:nvPr/>
        </p:nvPicPr>
        <p:blipFill>
          <a:blip r:embed="rId7"/>
          <a:stretch>
            <a:fillRect/>
          </a:stretch>
        </p:blipFill>
        <p:spPr>
          <a:xfrm>
            <a:off x="4602480" y="3785616"/>
            <a:ext cx="219456" cy="219456"/>
          </a:xfrm>
          <a:prstGeom prst="rect">
            <a:avLst/>
          </a:prstGeom>
        </p:spPr>
      </p:pic>
      <p:sp>
        <p:nvSpPr>
          <p:cNvPr id="37" name="Text 30"/>
          <p:cNvSpPr txBox="1"/>
          <p:nvPr/>
        </p:nvSpPr>
        <p:spPr>
          <a:xfrm>
            <a:off x="5004816" y="3694176"/>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dbutils.jobs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1"/>
          <p:cNvSpPr txBox="1"/>
          <p:nvPr/>
        </p:nvSpPr>
        <p:spPr>
          <a:xfrm>
            <a:off x="4547616" y="4169664"/>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taskValues.set(key, value)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pass data downstream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2"/>
          <p:cNvSpPr txBox="1"/>
          <p:nvPr/>
        </p:nvSpPr>
        <p:spPr>
          <a:xfrm>
            <a:off x="4547616" y="4357116"/>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taskValues.get(task, key)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read upstream value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3"/>
          <p:cNvSpPr txBox="1"/>
          <p:nvPr/>
        </p:nvSpPr>
        <p:spPr>
          <a:xfrm>
            <a:off x="4547616" y="4544568"/>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for multi-task Workflows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4"/>
          <p:cNvSpPr/>
          <p:nvPr/>
        </p:nvSpPr>
        <p:spPr>
          <a:xfrm>
            <a:off x="8016240" y="3547872"/>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5"/>
          <p:cNvSpPr/>
          <p:nvPr/>
        </p:nvSpPr>
        <p:spPr>
          <a:xfrm>
            <a:off x="8199120" y="3694176"/>
            <a:ext cx="402336" cy="402336"/>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3" name="Image 5" descr="preencoded.png"/>
          <p:cNvPicPr>
            <a:picLocks noChangeAspect="1"/>
          </p:cNvPicPr>
          <p:nvPr/>
        </p:nvPicPr>
        <p:blipFill>
          <a:blip r:embed="rId8"/>
          <a:stretch>
            <a:fillRect/>
          </a:stretch>
        </p:blipFill>
        <p:spPr>
          <a:xfrm>
            <a:off x="8290560" y="3785616"/>
            <a:ext cx="219456" cy="219456"/>
          </a:xfrm>
          <a:prstGeom prst="rect">
            <a:avLst/>
          </a:prstGeom>
        </p:spPr>
      </p:pic>
      <p:sp>
        <p:nvSpPr>
          <p:cNvPr id="44" name="Text 36"/>
          <p:cNvSpPr txBox="1"/>
          <p:nvPr/>
        </p:nvSpPr>
        <p:spPr>
          <a:xfrm>
            <a:off x="8692896" y="3694176"/>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dbutils.library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37"/>
          <p:cNvSpPr txBox="1"/>
          <p:nvPr/>
        </p:nvSpPr>
        <p:spPr>
          <a:xfrm>
            <a:off x="8235696" y="4169664"/>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restartPython()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reload the interpreter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38"/>
          <p:cNvSpPr txBox="1"/>
          <p:nvPr/>
        </p:nvSpPr>
        <p:spPr>
          <a:xfrm>
            <a:off x="8235696" y="4357116"/>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install / installPyPI are legacy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9"/>
          <p:cNvSpPr txBox="1"/>
          <p:nvPr/>
        </p:nvSpPr>
        <p:spPr>
          <a:xfrm>
            <a:off x="8235696" y="4544568"/>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prefer %pip for libraries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0"/>
          <p:cNvSpPr/>
          <p:nvPr/>
        </p:nvSpPr>
        <p:spPr>
          <a:xfrm>
            <a:off x="640080" y="4882896"/>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1"/>
          <p:cNvSpPr/>
          <p:nvPr/>
        </p:nvSpPr>
        <p:spPr>
          <a:xfrm>
            <a:off x="822960" y="5029200"/>
            <a:ext cx="402336" cy="402336"/>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0" name="Image 6" descr="preencoded.png"/>
          <p:cNvPicPr>
            <a:picLocks noChangeAspect="1"/>
          </p:cNvPicPr>
          <p:nvPr/>
        </p:nvPicPr>
        <p:blipFill>
          <a:blip r:embed="rId9"/>
          <a:stretch>
            <a:fillRect/>
          </a:stretch>
        </p:blipFill>
        <p:spPr>
          <a:xfrm>
            <a:off x="914400" y="5120640"/>
            <a:ext cx="219456" cy="219456"/>
          </a:xfrm>
          <a:prstGeom prst="rect">
            <a:avLst/>
          </a:prstGeom>
        </p:spPr>
      </p:pic>
      <p:sp>
        <p:nvSpPr>
          <p:cNvPr id="51" name="Text 42"/>
          <p:cNvSpPr txBox="1"/>
          <p:nvPr/>
        </p:nvSpPr>
        <p:spPr>
          <a:xfrm>
            <a:off x="1316736" y="5029200"/>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dbutils.data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43"/>
          <p:cNvSpPr txBox="1"/>
          <p:nvPr/>
        </p:nvSpPr>
        <p:spPr>
          <a:xfrm>
            <a:off x="859536" y="5504688"/>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summarize(df)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profile a DataFrame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44"/>
          <p:cNvSpPr txBox="1"/>
          <p:nvPr/>
        </p:nvSpPr>
        <p:spPr>
          <a:xfrm>
            <a:off x="859536" y="5692140"/>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stats, distributions, nulls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45"/>
          <p:cNvSpPr/>
          <p:nvPr/>
        </p:nvSpPr>
        <p:spPr>
          <a:xfrm>
            <a:off x="4328160" y="4882896"/>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46"/>
          <p:cNvSpPr/>
          <p:nvPr/>
        </p:nvSpPr>
        <p:spPr>
          <a:xfrm>
            <a:off x="4511040" y="5029200"/>
            <a:ext cx="402336" cy="402336"/>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6" name="Image 7" descr="preencoded.png"/>
          <p:cNvPicPr>
            <a:picLocks noChangeAspect="1"/>
          </p:cNvPicPr>
          <p:nvPr/>
        </p:nvPicPr>
        <p:blipFill>
          <a:blip r:embed="rId10"/>
          <a:stretch>
            <a:fillRect/>
          </a:stretch>
        </p:blipFill>
        <p:spPr>
          <a:xfrm>
            <a:off x="4602480" y="5120640"/>
            <a:ext cx="219456" cy="219456"/>
          </a:xfrm>
          <a:prstGeom prst="rect">
            <a:avLst/>
          </a:prstGeom>
        </p:spPr>
      </p:pic>
      <p:sp>
        <p:nvSpPr>
          <p:cNvPr id="57" name="Text 47"/>
          <p:cNvSpPr txBox="1"/>
          <p:nvPr/>
        </p:nvSpPr>
        <p:spPr>
          <a:xfrm>
            <a:off x="5004816" y="5029200"/>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dbutils.credentials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48"/>
          <p:cNvSpPr txBox="1"/>
          <p:nvPr/>
        </p:nvSpPr>
        <p:spPr>
          <a:xfrm>
            <a:off x="4547616" y="5504688"/>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assumeRole / showRoles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credential passthrough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49"/>
          <p:cNvSpPr txBox="1"/>
          <p:nvPr/>
        </p:nvSpPr>
        <p:spPr>
          <a:xfrm>
            <a:off x="4547616" y="5692140"/>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availability varies by workspace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Shape 50"/>
          <p:cNvSpPr/>
          <p:nvPr/>
        </p:nvSpPr>
        <p:spPr>
          <a:xfrm>
            <a:off x="8016240" y="4882896"/>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1"/>
          <p:cNvSpPr/>
          <p:nvPr/>
        </p:nvSpPr>
        <p:spPr>
          <a:xfrm>
            <a:off x="8199120" y="5029200"/>
            <a:ext cx="402336" cy="402336"/>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2" name="Image 8" descr="preencoded.png"/>
          <p:cNvPicPr>
            <a:picLocks noChangeAspect="1"/>
          </p:cNvPicPr>
          <p:nvPr/>
        </p:nvPicPr>
        <p:blipFill>
          <a:blip r:embed="rId11"/>
          <a:stretch>
            <a:fillRect/>
          </a:stretch>
        </p:blipFill>
        <p:spPr>
          <a:xfrm>
            <a:off x="8290560" y="5120640"/>
            <a:ext cx="219456" cy="219456"/>
          </a:xfrm>
          <a:prstGeom prst="rect">
            <a:avLst/>
          </a:prstGeom>
        </p:spPr>
      </p:pic>
      <p:sp>
        <p:nvSpPr>
          <p:cNvPr id="63" name="Text 52"/>
          <p:cNvSpPr txBox="1"/>
          <p:nvPr/>
        </p:nvSpPr>
        <p:spPr>
          <a:xfrm>
            <a:off x="8692896" y="5029200"/>
            <a:ext cx="268224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dbutils.help()</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53"/>
          <p:cNvSpPr txBox="1"/>
          <p:nvPr/>
        </p:nvSpPr>
        <p:spPr>
          <a:xfrm>
            <a:off x="8235696" y="5504688"/>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dbutils.help()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list every module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Text 54"/>
          <p:cNvSpPr txBox="1"/>
          <p:nvPr/>
        </p:nvSpPr>
        <p:spPr>
          <a:xfrm>
            <a:off x="8235696" y="5692140"/>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dbutils.fs.help()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commands in a module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55"/>
          <p:cNvSpPr txBox="1"/>
          <p:nvPr/>
        </p:nvSpPr>
        <p:spPr>
          <a:xfrm>
            <a:off x="8235696" y="5879592"/>
            <a:ext cx="3102864" cy="1920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dbutils.fs.help("ls")  </a:t>
            </a:r>
            <a:r>
              <a:rPr kumimoji="0" lang="en-US" sz="9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help for one command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56"/>
          <p:cNvSpPr/>
          <p:nvPr/>
        </p:nvSpPr>
        <p:spPr>
          <a:xfrm>
            <a:off x="640080" y="6217920"/>
            <a:ext cx="10881360" cy="530352"/>
          </a:xfrm>
          <a:prstGeom prst="roundRect">
            <a:avLst>
              <a:gd name="adj" fmla="val 10345"/>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8" name="Image 9" descr="preencoded.png"/>
          <p:cNvPicPr>
            <a:picLocks noChangeAspect="1"/>
          </p:cNvPicPr>
          <p:nvPr/>
        </p:nvPicPr>
        <p:blipFill>
          <a:blip r:embed="rId12"/>
          <a:stretch>
            <a:fillRect/>
          </a:stretch>
        </p:blipFill>
        <p:spPr>
          <a:xfrm>
            <a:off x="841248" y="6373368"/>
            <a:ext cx="219456" cy="219456"/>
          </a:xfrm>
          <a:prstGeom prst="rect">
            <a:avLst/>
          </a:prstGeom>
        </p:spPr>
      </p:pic>
      <p:sp>
        <p:nvSpPr>
          <p:cNvPr id="69" name="Text 57"/>
          <p:cNvSpPr txBox="1"/>
          <p:nvPr/>
        </p:nvSpPr>
        <p:spPr>
          <a:xfrm>
            <a:off x="1170432" y="6217920"/>
            <a:ext cx="10149840" cy="53035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3621"/>
                </a:solidFill>
                <a:effectLst/>
                <a:uLnTx/>
                <a:uFillTx/>
                <a:latin typeface="Calibri" pitchFamily="34" charset="0"/>
                <a:ea typeface="Calibri" pitchFamily="34" charset="-122"/>
                <a:cs typeface="Calibri" pitchFamily="34" charset="-120"/>
              </a:rPr>
              <a:t>Good to know  </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callable from any language (no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prefix)  ·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%fs</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is shorthand for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dbutils.fs</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  secrets are auto-redacted in output  ·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dbutils.help()</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is the built-in reference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3242E"/>
        </a:solidFill>
        <a:effectLst/>
      </p:bgPr>
    </p:bg>
    <p:spTree>
      <p:nvGrpSpPr>
        <p:cNvPr id="1" name=""/>
        <p:cNvGrpSpPr/>
        <p:nvPr/>
      </p:nvGrpSpPr>
      <p:grpSpPr>
        <a:xfrm>
          <a:off x="0" y="0"/>
          <a:ext cx="0" cy="0"/>
          <a:chOff x="0" y="0"/>
          <a:chExt cx="0" cy="0"/>
        </a:xfrm>
      </p:grpSpPr>
      <p:sp>
        <p:nvSpPr>
          <p:cNvPr id="2" name="Shape 0"/>
          <p:cNvSpPr/>
          <p:nvPr/>
        </p:nvSpPr>
        <p:spPr>
          <a:xfrm>
            <a:off x="9326880" y="-1554480"/>
            <a:ext cx="4389120" cy="4389120"/>
          </a:xfrm>
          <a:prstGeom prst="ellipse">
            <a:avLst/>
          </a:prstGeom>
          <a:solidFill>
            <a:srgbClr val="FF3621">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789920" y="4480560"/>
            <a:ext cx="2743200" cy="2743200"/>
          </a:xfrm>
          <a:prstGeom prst="ellipse">
            <a:avLst/>
          </a:prstGeom>
          <a:solidFill>
            <a:srgbClr val="0E7C8B">
              <a:alpha val="18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22960" y="1234440"/>
            <a:ext cx="310896" cy="310896"/>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txBox="1"/>
          <p:nvPr/>
        </p:nvSpPr>
        <p:spPr>
          <a:xfrm>
            <a:off x="1234440" y="1170432"/>
            <a:ext cx="9144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300" normalizeH="0" baseline="0" noProof="0" dirty="0">
                <a:ln>
                  <a:noFill/>
                </a:ln>
                <a:solidFill>
                  <a:srgbClr val="FF3621"/>
                </a:solidFill>
                <a:effectLst/>
                <a:uLnTx/>
                <a:uFillTx/>
                <a:latin typeface="Consolas" pitchFamily="34" charset="0"/>
                <a:ea typeface="Consolas" pitchFamily="34" charset="-122"/>
                <a:cs typeface="Consolas" pitchFamily="34" charset="-120"/>
              </a:rPr>
              <a:t>DATABRICKS SQL · DELTA LAKE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777240" y="1828800"/>
            <a:ext cx="10972800" cy="10515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Creating &amp; Managing</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822960" y="2788920"/>
            <a:ext cx="10058400" cy="9601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FF3621"/>
                </a:solidFill>
                <a:effectLst/>
                <a:uLnTx/>
                <a:uFillTx/>
                <a:latin typeface="Trebuchet MS" pitchFamily="34" charset="0"/>
                <a:ea typeface="Trebuchet MS" pitchFamily="34" charset="-122"/>
                <a:cs typeface="Trebuchet MS" pitchFamily="34" charset="-120"/>
              </a:rPr>
              <a:t>Delta Tables</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822960" y="3886200"/>
            <a:ext cx="950976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Create, load, update, evolve, time-travel and optimize the default table format on the Lakehouse.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841248" y="5120640"/>
            <a:ext cx="9966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txBox="1"/>
          <p:nvPr/>
        </p:nvSpPr>
        <p:spPr>
          <a:xfrm>
            <a:off x="841248" y="5120640"/>
            <a:ext cx="9966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CREATE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020824" y="5120640"/>
            <a:ext cx="8823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2020824" y="5120640"/>
            <a:ext cx="8823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MERGE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086100" y="5120640"/>
            <a:ext cx="8823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3086100" y="5120640"/>
            <a:ext cx="8823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ALTER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151376" y="5120640"/>
            <a:ext cx="15681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4151376" y="5120640"/>
            <a:ext cx="15681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TIME TRAVEL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5902452" y="5120640"/>
            <a:ext cx="12252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5902452" y="5120640"/>
            <a:ext cx="12252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OPTIMIZE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7310628" y="5120640"/>
            <a:ext cx="996696" cy="512064"/>
          </a:xfrm>
          <a:prstGeom prst="roundRect">
            <a:avLst>
              <a:gd name="adj" fmla="val 14286"/>
            </a:avLst>
          </a:prstGeom>
          <a:solidFill>
            <a:srgbClr val="0E1B24"/>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7310628" y="5120640"/>
            <a:ext cx="996696" cy="51206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VACUUM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822960" y="6309360"/>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FOUNDATION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What a Delta table gives you</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Parquet data files plus a transaction log — that log is what makes a data lake behave like a database.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5029200" cy="1371600"/>
          </a:xfrm>
          <a:prstGeom prst="roundRect">
            <a:avLst>
              <a:gd name="adj" fmla="val 4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914400" y="2697480"/>
            <a:ext cx="548640" cy="548640"/>
          </a:xfrm>
          <a:prstGeom prst="rect">
            <a:avLst/>
          </a:prstGeom>
        </p:spPr>
      </p:pic>
      <p:sp>
        <p:nvSpPr>
          <p:cNvPr id="8" name="Text 5"/>
          <p:cNvSpPr txBox="1"/>
          <p:nvPr/>
        </p:nvSpPr>
        <p:spPr>
          <a:xfrm>
            <a:off x="1691640" y="2450592"/>
            <a:ext cx="3657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Delta table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1691640" y="2889504"/>
            <a:ext cx="365760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Parquet files  +  _delta_log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172200" y="2286000"/>
            <a:ext cx="5349240" cy="859536"/>
          </a:xfrm>
          <a:prstGeom prst="roundRect">
            <a:avLst>
              <a:gd name="adj" fmla="val 6383"/>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6373368" y="2487168"/>
            <a:ext cx="457200" cy="45720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6478524" y="2592324"/>
            <a:ext cx="246888" cy="246888"/>
          </a:xfrm>
          <a:prstGeom prst="rect">
            <a:avLst/>
          </a:prstGeom>
        </p:spPr>
      </p:pic>
      <p:sp>
        <p:nvSpPr>
          <p:cNvPr id="13" name="Text 9"/>
          <p:cNvSpPr txBox="1"/>
          <p:nvPr/>
        </p:nvSpPr>
        <p:spPr>
          <a:xfrm>
            <a:off x="6958584" y="2395728"/>
            <a:ext cx="43891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ACID transactions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6958584" y="2715768"/>
            <a:ext cx="438912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Writes commit atomically — no half-loaded tables.</a:t>
            </a:r>
            <a:endParaRPr kumimoji="0" lang="en-US" sz="10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6172200" y="3264408"/>
            <a:ext cx="5349240" cy="859536"/>
          </a:xfrm>
          <a:prstGeom prst="roundRect">
            <a:avLst>
              <a:gd name="adj" fmla="val 6383"/>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373368" y="3465576"/>
            <a:ext cx="457200" cy="45720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6478524" y="3570732"/>
            <a:ext cx="246888" cy="246888"/>
          </a:xfrm>
          <a:prstGeom prst="rect">
            <a:avLst/>
          </a:prstGeom>
        </p:spPr>
      </p:pic>
      <p:sp>
        <p:nvSpPr>
          <p:cNvPr id="18" name="Text 13"/>
          <p:cNvSpPr txBox="1"/>
          <p:nvPr/>
        </p:nvSpPr>
        <p:spPr>
          <a:xfrm>
            <a:off x="6958584" y="3374136"/>
            <a:ext cx="43891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Time travel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txBox="1"/>
          <p:nvPr/>
        </p:nvSpPr>
        <p:spPr>
          <a:xfrm>
            <a:off x="6958584" y="3694176"/>
            <a:ext cx="438912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Query or restore any earlier version.</a:t>
            </a:r>
            <a:endParaRPr kumimoji="0" lang="en-US" sz="10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5"/>
          <p:cNvSpPr/>
          <p:nvPr/>
        </p:nvSpPr>
        <p:spPr>
          <a:xfrm>
            <a:off x="6172200" y="4242816"/>
            <a:ext cx="5349240" cy="859536"/>
          </a:xfrm>
          <a:prstGeom prst="roundRect">
            <a:avLst>
              <a:gd name="adj" fmla="val 6383"/>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6"/>
          <p:cNvSpPr/>
          <p:nvPr/>
        </p:nvSpPr>
        <p:spPr>
          <a:xfrm>
            <a:off x="6373368" y="4443984"/>
            <a:ext cx="457200" cy="45720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 name="Image 3" descr="preencoded.png"/>
          <p:cNvPicPr>
            <a:picLocks noChangeAspect="1"/>
          </p:cNvPicPr>
          <p:nvPr/>
        </p:nvPicPr>
        <p:blipFill>
          <a:blip r:embed="rId6"/>
          <a:stretch>
            <a:fillRect/>
          </a:stretch>
        </p:blipFill>
        <p:spPr>
          <a:xfrm>
            <a:off x="6478524" y="4549140"/>
            <a:ext cx="246888" cy="246888"/>
          </a:xfrm>
          <a:prstGeom prst="rect">
            <a:avLst/>
          </a:prstGeom>
        </p:spPr>
      </p:pic>
      <p:sp>
        <p:nvSpPr>
          <p:cNvPr id="23" name="Text 17"/>
          <p:cNvSpPr txBox="1"/>
          <p:nvPr/>
        </p:nvSpPr>
        <p:spPr>
          <a:xfrm>
            <a:off x="6958584" y="4352544"/>
            <a:ext cx="43891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Schema enforcement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p:cNvSpPr txBox="1"/>
          <p:nvPr/>
        </p:nvSpPr>
        <p:spPr>
          <a:xfrm>
            <a:off x="6958584" y="4672584"/>
            <a:ext cx="438912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Bad-shape data is rejected; evolution is explicit.</a:t>
            </a:r>
            <a:endParaRPr kumimoji="0" lang="en-US" sz="10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19"/>
          <p:cNvSpPr/>
          <p:nvPr/>
        </p:nvSpPr>
        <p:spPr>
          <a:xfrm>
            <a:off x="6172200" y="5221224"/>
            <a:ext cx="5349240" cy="859536"/>
          </a:xfrm>
          <a:prstGeom prst="roundRect">
            <a:avLst>
              <a:gd name="adj" fmla="val 6383"/>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0"/>
          <p:cNvSpPr/>
          <p:nvPr/>
        </p:nvSpPr>
        <p:spPr>
          <a:xfrm>
            <a:off x="6373368" y="5422392"/>
            <a:ext cx="457200" cy="45720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Image 4" descr="preencoded.png"/>
          <p:cNvPicPr>
            <a:picLocks noChangeAspect="1"/>
          </p:cNvPicPr>
          <p:nvPr/>
        </p:nvPicPr>
        <p:blipFill>
          <a:blip r:embed="rId7"/>
          <a:stretch>
            <a:fillRect/>
          </a:stretch>
        </p:blipFill>
        <p:spPr>
          <a:xfrm>
            <a:off x="6478524" y="5527548"/>
            <a:ext cx="246888" cy="246888"/>
          </a:xfrm>
          <a:prstGeom prst="rect">
            <a:avLst/>
          </a:prstGeom>
        </p:spPr>
      </p:pic>
      <p:sp>
        <p:nvSpPr>
          <p:cNvPr id="28" name="Text 21"/>
          <p:cNvSpPr txBox="1"/>
          <p:nvPr/>
        </p:nvSpPr>
        <p:spPr>
          <a:xfrm>
            <a:off x="6958584" y="5330952"/>
            <a:ext cx="43891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Batch + streaming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2"/>
          <p:cNvSpPr txBox="1"/>
          <p:nvPr/>
        </p:nvSpPr>
        <p:spPr>
          <a:xfrm>
            <a:off x="6958584" y="5650992"/>
            <a:ext cx="438912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One table serves both, with no extra plumbing.</a:t>
            </a:r>
            <a:endParaRPr kumimoji="0" lang="en-US" sz="10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3"/>
          <p:cNvSpPr/>
          <p:nvPr/>
        </p:nvSpPr>
        <p:spPr>
          <a:xfrm>
            <a:off x="640080" y="3840480"/>
            <a:ext cx="5029200" cy="2194560"/>
          </a:xfrm>
          <a:prstGeom prst="roundRect">
            <a:avLst>
              <a:gd name="adj" fmla="val 2500"/>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4"/>
          <p:cNvSpPr txBox="1"/>
          <p:nvPr/>
        </p:nvSpPr>
        <p:spPr>
          <a:xfrm>
            <a:off x="868680" y="3986784"/>
            <a:ext cx="45720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Three-level namespace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5"/>
          <p:cNvSpPr txBox="1"/>
          <p:nvPr/>
        </p:nvSpPr>
        <p:spPr>
          <a:xfrm>
            <a:off x="868680" y="4370832"/>
            <a:ext cx="45720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catalog.schema.table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txBox="1"/>
          <p:nvPr/>
        </p:nvSpPr>
        <p:spPr>
          <a:xfrm>
            <a:off x="868680" y="4828032"/>
            <a:ext cx="4663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catalog  </a:t>
            </a:r>
            <a:r>
              <a:rPr kumimoji="0" lang="en-US" sz="110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top-level container (Unity Catalog)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868680" y="5175504"/>
            <a:ext cx="4663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schema  </a:t>
            </a:r>
            <a:r>
              <a:rPr kumimoji="0" lang="en-US" sz="110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a database inside the catalog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868680" y="5522976"/>
            <a:ext cx="4663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table  </a:t>
            </a:r>
            <a:r>
              <a:rPr kumimoji="0" lang="en-US" sz="110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the Delta table itself</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9"/>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0"/>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CREATE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Four ways to create a Delta table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Every table is Delta by default — no USING clause needed.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40280"/>
            <a:ext cx="10881360" cy="3794760"/>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40280"/>
            <a:ext cx="1088136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496312"/>
            <a:ext cx="1088136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39572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39572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39572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40280"/>
            <a:ext cx="886968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Databricks SQL · Query Editor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10332720" y="288036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10332720" y="288036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0837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-- 1. managed table (Databricks owns the files)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37413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TABLE IF NOT EXISTS</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demo_cat.demo.events (id </a:t>
            </a:r>
            <a:r>
              <a:rPr kumimoji="0" lang="en-US" sz="1400" b="1"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BIGINT</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country </a:t>
            </a:r>
            <a:r>
              <a:rPr kumimoji="0" lang="en-US" sz="1400" b="1"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STRING</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ts </a:t>
            </a:r>
            <a:r>
              <a:rPr kumimoji="0" lang="en-US" sz="1400" b="1"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TIMESTAMP</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92277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-- 2. CTAS — create from a query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28853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OR REPLACE TABLE</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demo_cat.demo.events_eu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65429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SELECT</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FROM</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demo_cat.demo.events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WHERE</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country = </a:t>
            </a:r>
            <a:r>
              <a:rPr kumimoji="0" lang="en-US" sz="14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'EU'</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932688" y="520293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-- 3. external table — you keep the files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932688" y="556869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TABLE</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demo_cat.demo.raw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LOCATION</a:t>
            </a:r>
            <a:r>
              <a:rPr kumimoji="0" lang="en-US" sz="14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'/Volumes/demo_cat/demo/raw'</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932688" y="611733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Delta is the default format — USING DELTA is optional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CREATE · CHOICE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Managed vs external tables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The difference is who owns the files — and what DROP TABLE does.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5349240" cy="3200400"/>
          </a:xfrm>
          <a:prstGeom prst="roundRect">
            <a:avLst>
              <a:gd name="adj" fmla="val 1714"/>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86000"/>
            <a:ext cx="5349240" cy="841248"/>
          </a:xfrm>
          <a:prstGeom prst="roundRect">
            <a:avLst>
              <a:gd name="adj" fmla="val 6522"/>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926080"/>
            <a:ext cx="5349240" cy="201168"/>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txBox="1"/>
          <p:nvPr/>
        </p:nvSpPr>
        <p:spPr>
          <a:xfrm>
            <a:off x="859536" y="2377440"/>
            <a:ext cx="493776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Managed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txBox="1"/>
          <p:nvPr/>
        </p:nvSpPr>
        <p:spPr>
          <a:xfrm>
            <a:off x="859536" y="2779776"/>
            <a:ext cx="49377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default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txBox="1"/>
          <p:nvPr/>
        </p:nvSpPr>
        <p:spPr>
          <a:xfrm>
            <a:off x="896112" y="3310128"/>
            <a:ext cx="1554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STORAGE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2560320" y="3310128"/>
            <a:ext cx="31546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Databricks-managed location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896112" y="3840480"/>
            <a:ext cx="1554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DEFINITION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2560320" y="3840480"/>
            <a:ext cx="31546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no LOCATION clause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896112" y="4370832"/>
            <a:ext cx="1554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DROP TABLE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2560320" y="4370832"/>
            <a:ext cx="31546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metadata AND data deleted</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896112" y="4901184"/>
            <a:ext cx="1554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BEST FOR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2560320" y="4901184"/>
            <a:ext cx="31546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most tables — simpler lifecycle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172200" y="2286000"/>
            <a:ext cx="5349240" cy="3200400"/>
          </a:xfrm>
          <a:prstGeom prst="roundRect">
            <a:avLst>
              <a:gd name="adj" fmla="val 1714"/>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6172200" y="2286000"/>
            <a:ext cx="5349240" cy="841248"/>
          </a:xfrm>
          <a:prstGeom prst="roundRect">
            <a:avLst>
              <a:gd name="adj" fmla="val 6522"/>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6172200" y="2926080"/>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6391656" y="2377440"/>
            <a:ext cx="4937760" cy="40233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External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6391656" y="2779776"/>
            <a:ext cx="49377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 own the path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6428232" y="3310128"/>
            <a:ext cx="1554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STORAGE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8092440" y="3310128"/>
            <a:ext cx="31546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your LOCATION / Volume path</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6428232" y="3840480"/>
            <a:ext cx="1554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DEFINITION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txBox="1"/>
          <p:nvPr/>
        </p:nvSpPr>
        <p:spPr>
          <a:xfrm>
            <a:off x="8092440" y="3840480"/>
            <a:ext cx="31546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LOCATION '…' required</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6428232" y="4370832"/>
            <a:ext cx="1554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DROP TABLE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8092440" y="4370832"/>
            <a:ext cx="31546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metadata only — files remain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6428232" y="4901184"/>
            <a:ext cx="15544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3621"/>
                </a:solidFill>
                <a:effectLst/>
                <a:uLnTx/>
                <a:uFillTx/>
                <a:latin typeface="Consolas" pitchFamily="34" charset="0"/>
                <a:ea typeface="Consolas" pitchFamily="34" charset="-122"/>
                <a:cs typeface="Consolas" pitchFamily="34" charset="-120"/>
              </a:rPr>
              <a:t>BEST FOR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8092440" y="4901184"/>
            <a:ext cx="315468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shared or pre-existing data</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640080" y="5623560"/>
            <a:ext cx="10881360" cy="548640"/>
          </a:xfrm>
          <a:prstGeom prst="roundRect">
            <a:avLst>
              <a:gd name="adj" fmla="val 10000"/>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txBox="1"/>
          <p:nvPr/>
        </p:nvSpPr>
        <p:spPr>
          <a:xfrm>
            <a:off x="868680" y="5623560"/>
            <a:ext cx="1042416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Rule of thumb:  </a:t>
            </a:r>
            <a:r>
              <a:rPr kumimoji="0" lang="en-US" sz="1200" b="0" i="0" u="none" strike="noStrike" kern="1200" cap="none" spc="0" normalizeH="0" baseline="0" noProof="0" dirty="0">
                <a:ln>
                  <a:noFill/>
                </a:ln>
                <a:solidFill>
                  <a:srgbClr val="38474F"/>
                </a:solidFill>
                <a:effectLst/>
                <a:uLnTx/>
                <a:uFillTx/>
                <a:latin typeface="Calibri" pitchFamily="34" charset="0"/>
                <a:ea typeface="Calibri" pitchFamily="34" charset="-122"/>
                <a:cs typeface="Calibri" pitchFamily="34" charset="-120"/>
              </a:rPr>
              <a:t>default to managed tables; choose external only when another system also needs the files at a known path.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WRITE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Getting data into the table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INSERT for SQL, COPY INTO for files, saveAsTable() from a DataFrame.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40280"/>
            <a:ext cx="5349240" cy="4050792"/>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40280"/>
            <a:ext cx="53492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496312"/>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39572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39572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39572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40280"/>
            <a:ext cx="33375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SQL · insert &amp; load</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800600" y="288036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4800600" y="288036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0837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INSERT INTO</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355848"/>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VALUES</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(1, </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'EU'</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current_timestamp</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87705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INSERT OVERWRITE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demo.events_eu</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224528"/>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SELECT</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 </a:t>
            </a: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FROM</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74573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idempotent file ingest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932688" y="5093208"/>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COPY INTO</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932688" y="5440680"/>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FROM</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'/Volumes/demo_cat/demo/landing'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932688" y="5788152"/>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FILEFORMAT</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 JSON;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6172200" y="2240280"/>
            <a:ext cx="5349240" cy="4050792"/>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6172200" y="2240280"/>
            <a:ext cx="53492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172200" y="2496312"/>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6391656" y="239572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6629400" y="239572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6867144" y="239572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7178040" y="2240280"/>
            <a:ext cx="33375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Python · DataFrame write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10332720" y="288036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10332720" y="288036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txBox="1"/>
          <p:nvPr/>
        </p:nvSpPr>
        <p:spPr>
          <a:xfrm>
            <a:off x="6464808" y="300837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(df.write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txBox="1"/>
          <p:nvPr/>
        </p:nvSpPr>
        <p:spPr>
          <a:xfrm>
            <a:off x="6464808" y="3355848"/>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.mode(</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"append"</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txBox="1"/>
          <p:nvPr/>
        </p:nvSpPr>
        <p:spPr>
          <a:xfrm>
            <a:off x="6464808" y="3703320"/>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.saveAsTable(</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"demo_cat.demo.events"</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txBox="1"/>
          <p:nvPr/>
        </p:nvSpPr>
        <p:spPr>
          <a:xfrm>
            <a:off x="6464808" y="4224528"/>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overwrite + evolve the schema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txBox="1"/>
          <p:nvPr/>
        </p:nvSpPr>
        <p:spPr>
          <a:xfrm>
            <a:off x="6464808" y="4572000"/>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(df.write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txBox="1"/>
          <p:nvPr/>
        </p:nvSpPr>
        <p:spPr>
          <a:xfrm>
            <a:off x="6464808" y="4919472"/>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.mode(</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"overwrite"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txBox="1"/>
          <p:nvPr/>
        </p:nvSpPr>
        <p:spPr>
          <a:xfrm>
            <a:off x="6464808" y="5266944"/>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.option(</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"mergeSchema"</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"true"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txBox="1"/>
          <p:nvPr/>
        </p:nvSpPr>
        <p:spPr>
          <a:xfrm>
            <a:off x="6464808" y="561441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.saveAsTable(</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"demo_cat.demo.events"</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txBox="1"/>
          <p:nvPr/>
        </p:nvSpPr>
        <p:spPr>
          <a:xfrm>
            <a:off x="6464808" y="6135624"/>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COPY INTO skips files already loaded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UPDATE · MERGE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MERGE INTO — upserts in one statement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The workhorse for CDC and slowly-changing dimensions: insert, update and delete atomically.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40280"/>
            <a:ext cx="6949440" cy="3794760"/>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40280"/>
            <a:ext cx="69494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496312"/>
            <a:ext cx="69494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39572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39572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39572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40280"/>
            <a:ext cx="49377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Databricks SQL · MERGE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0" y="288036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6400800" y="288036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08376"/>
            <a:ext cx="63093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MERGE INTO</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AS</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392424"/>
            <a:ext cx="63093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USING</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demo.events_updates </a:t>
            </a: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AS</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776472"/>
            <a:ext cx="63093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ON</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t.id = s.id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160520"/>
            <a:ext cx="63093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WHEN MATCHED AND</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s.deleted </a:t>
            </a: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THEN DELETE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544568"/>
            <a:ext cx="63093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WHEN MATCHED THEN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932688" y="4928616"/>
            <a:ext cx="63093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UPDATE SET</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t.country = s.country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932688" y="5312664"/>
            <a:ext cx="63093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WHEN NOT MATCHED THEN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932688" y="5696712"/>
            <a:ext cx="63093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INSERT *</a:t>
            </a:r>
            <a:r>
              <a:rPr kumimoji="0" lang="en-US" sz="125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7818120" y="2240280"/>
            <a:ext cx="3703320" cy="3794760"/>
          </a:xfrm>
          <a:prstGeom prst="roundRect">
            <a:avLst>
              <a:gd name="adj" fmla="val 1481"/>
            </a:avLst>
          </a:prstGeom>
          <a:solidFill>
            <a:srgbClr val="F2F5F6"/>
          </a:solidFill>
          <a:ln w="12700">
            <a:solidFill>
              <a:srgbClr val="DDE4E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8046720" y="2395728"/>
            <a:ext cx="32918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Also available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8046720" y="2852928"/>
            <a:ext cx="32918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UPDATE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8046720" y="3118104"/>
            <a:ext cx="32918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8474F"/>
                </a:solidFill>
                <a:effectLst/>
                <a:uLnTx/>
                <a:uFillTx/>
                <a:latin typeface="Consolas" pitchFamily="34" charset="0"/>
                <a:ea typeface="Consolas" pitchFamily="34" charset="-122"/>
                <a:cs typeface="Consolas" pitchFamily="34" charset="-120"/>
              </a:rPr>
              <a:t>demo.events SET country='EU' WHERE id=1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txBox="1"/>
          <p:nvPr/>
        </p:nvSpPr>
        <p:spPr>
          <a:xfrm>
            <a:off x="8046720" y="3694176"/>
            <a:ext cx="32918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DELETE FROM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8046720" y="3959352"/>
            <a:ext cx="32918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8474F"/>
                </a:solidFill>
                <a:effectLst/>
                <a:uLnTx/>
                <a:uFillTx/>
                <a:latin typeface="Consolas" pitchFamily="34" charset="0"/>
                <a:ea typeface="Consolas" pitchFamily="34" charset="-122"/>
                <a:cs typeface="Consolas" pitchFamily="34" charset="-120"/>
              </a:rPr>
              <a:t>demo.events WHERE ts &lt; '2024-01-01'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8046720" y="4535424"/>
            <a:ext cx="32918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TRUNCATE TABLE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8046720" y="4800600"/>
            <a:ext cx="32918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8474F"/>
                </a:solidFill>
                <a:effectLst/>
                <a:uLnTx/>
                <a:uFillTx/>
                <a:latin typeface="Consolas" pitchFamily="34" charset="0"/>
                <a:ea typeface="Consolas" pitchFamily="34" charset="-122"/>
                <a:cs typeface="Consolas" pitchFamily="34" charset="-120"/>
              </a:rPr>
              <a:t>demo.events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8046720" y="5376672"/>
            <a:ext cx="3246120" cy="9144"/>
          </a:xfrm>
          <a:prstGeom prst="rect">
            <a:avLst/>
          </a:prstGeom>
          <a:solidFill>
            <a:srgbClr val="DDE4E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txBox="1"/>
          <p:nvPr/>
        </p:nvSpPr>
        <p:spPr>
          <a:xfrm>
            <a:off x="8046720" y="5486400"/>
            <a:ext cx="32918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All are ACID — concurrent readers never see a partial result.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SCHEMA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Evolving the schema safely</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Delta enforces the schema by default; you opt in to change it.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40280"/>
            <a:ext cx="6949440" cy="3794760"/>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40280"/>
            <a:ext cx="69494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496312"/>
            <a:ext cx="69494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39572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39572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39572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40280"/>
            <a:ext cx="49377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SQL · ALTER TABLE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0" y="288036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6400800" y="288036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0837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ALTER TABLE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ADD COLUMN</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source </a:t>
            </a:r>
            <a:r>
              <a:rPr kumimoji="0" lang="en-US" sz="1300" b="1"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STRING</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37413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ALTER TABLE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RENAME COLUMN</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ts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TO</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event_ts;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73989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ALTER TABLE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DROP COLUMN</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source;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28853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enable rename/drop (column mapping)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65429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ALTER TABLE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SET TBLPROPERTIES</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932688" y="502005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'delta.columnMapping.mode' = 'name'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932688" y="556869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auto-evolve on write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932688" y="593445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.option(</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"mergeSchema"</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a:t>
            </a:r>
            <a:r>
              <a:rPr kumimoji="0" lang="en-US" sz="13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"true"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r>
              <a:rPr kumimoji="0" lang="en-US" sz="13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DataFrame writes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7818120" y="2240280"/>
            <a:ext cx="3703320" cy="3794760"/>
          </a:xfrm>
          <a:prstGeom prst="roundRect">
            <a:avLst>
              <a:gd name="adj" fmla="val 1481"/>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0" descr="preencoded.png"/>
          <p:cNvPicPr>
            <a:picLocks noChangeAspect="1"/>
          </p:cNvPicPr>
          <p:nvPr/>
        </p:nvPicPr>
        <p:blipFill>
          <a:blip r:embed="rId3"/>
          <a:stretch>
            <a:fillRect/>
          </a:stretch>
        </p:blipFill>
        <p:spPr>
          <a:xfrm>
            <a:off x="8046720" y="2432304"/>
            <a:ext cx="292608" cy="292608"/>
          </a:xfrm>
          <a:prstGeom prst="rect">
            <a:avLst/>
          </a:prstGeom>
        </p:spPr>
      </p:pic>
      <p:sp>
        <p:nvSpPr>
          <p:cNvPr id="25" name="Text 22"/>
          <p:cNvSpPr txBox="1"/>
          <p:nvPr/>
        </p:nvSpPr>
        <p:spPr>
          <a:xfrm>
            <a:off x="8430768" y="2395728"/>
            <a:ext cx="29260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Trebuchet MS" pitchFamily="34" charset="0"/>
                <a:ea typeface="Trebuchet MS" pitchFamily="34" charset="-122"/>
                <a:cs typeface="Trebuchet MS" pitchFamily="34" charset="-120"/>
              </a:rPr>
              <a:t>Why enforcement helps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8083296" y="3017520"/>
            <a:ext cx="109728" cy="10972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4"/>
          <p:cNvSpPr txBox="1"/>
          <p:nvPr/>
        </p:nvSpPr>
        <p:spPr>
          <a:xfrm>
            <a:off x="8339328" y="2907792"/>
            <a:ext cx="3017520" cy="7315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Bad-shape writes fail fast instead of corrupting the table.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5"/>
          <p:cNvSpPr/>
          <p:nvPr/>
        </p:nvSpPr>
        <p:spPr>
          <a:xfrm>
            <a:off x="8083296" y="3749040"/>
            <a:ext cx="109728" cy="10972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8339328" y="3639312"/>
            <a:ext cx="3017520" cy="7315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Schema changes become explicit, reviewable decisions.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8083296" y="4480560"/>
            <a:ext cx="109728" cy="10972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8339328" y="4370832"/>
            <a:ext cx="3017520" cy="7315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mergeSchema is opt-in — per write, not global.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9"/>
          <p:cNvSpPr/>
          <p:nvPr/>
        </p:nvSpPr>
        <p:spPr>
          <a:xfrm>
            <a:off x="8083296" y="5212080"/>
            <a:ext cx="109728" cy="10972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0"/>
          <p:cNvSpPr txBox="1"/>
          <p:nvPr/>
        </p:nvSpPr>
        <p:spPr>
          <a:xfrm>
            <a:off x="8339328" y="5102352"/>
            <a:ext cx="3017520" cy="7315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Column rename/drop needs column mapping enabled.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1"/>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TIME TRAVEL</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Query the past — and roll back</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Every write creates a version. The transaction log lets you read or restore any of them.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86000"/>
            <a:ext cx="1965960" cy="786384"/>
          </a:xfrm>
          <a:prstGeom prst="roundRect">
            <a:avLst>
              <a:gd name="adj" fmla="val 6977"/>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txBox="1"/>
          <p:nvPr/>
        </p:nvSpPr>
        <p:spPr>
          <a:xfrm>
            <a:off x="640080" y="2340864"/>
            <a:ext cx="19659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v0</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640080" y="2688336"/>
            <a:ext cx="196596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CREATE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Image 0" descr="preencoded.png"/>
          <p:cNvPicPr>
            <a:picLocks noChangeAspect="1"/>
          </p:cNvPicPr>
          <p:nvPr/>
        </p:nvPicPr>
        <p:blipFill>
          <a:blip r:embed="rId3"/>
          <a:stretch>
            <a:fillRect/>
          </a:stretch>
        </p:blipFill>
        <p:spPr>
          <a:xfrm>
            <a:off x="2673477" y="2578608"/>
            <a:ext cx="128016" cy="128016"/>
          </a:xfrm>
          <a:prstGeom prst="rect">
            <a:avLst/>
          </a:prstGeom>
        </p:spPr>
      </p:pic>
      <p:sp>
        <p:nvSpPr>
          <p:cNvPr id="10" name="Shape 7"/>
          <p:cNvSpPr/>
          <p:nvPr/>
        </p:nvSpPr>
        <p:spPr>
          <a:xfrm>
            <a:off x="2868930" y="2286000"/>
            <a:ext cx="1965960" cy="786384"/>
          </a:xfrm>
          <a:prstGeom prst="roundRect">
            <a:avLst>
              <a:gd name="adj" fmla="val 6977"/>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txBox="1"/>
          <p:nvPr/>
        </p:nvSpPr>
        <p:spPr>
          <a:xfrm>
            <a:off x="2868930" y="2340864"/>
            <a:ext cx="19659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v1</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2868930" y="2688336"/>
            <a:ext cx="196596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INSERT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3"/>
          <a:stretch>
            <a:fillRect/>
          </a:stretch>
        </p:blipFill>
        <p:spPr>
          <a:xfrm>
            <a:off x="4902327" y="2578608"/>
            <a:ext cx="128016" cy="128016"/>
          </a:xfrm>
          <a:prstGeom prst="rect">
            <a:avLst/>
          </a:prstGeom>
        </p:spPr>
      </p:pic>
      <p:sp>
        <p:nvSpPr>
          <p:cNvPr id="14" name="Shape 10"/>
          <p:cNvSpPr/>
          <p:nvPr/>
        </p:nvSpPr>
        <p:spPr>
          <a:xfrm>
            <a:off x="5097780" y="2286000"/>
            <a:ext cx="1965960" cy="786384"/>
          </a:xfrm>
          <a:prstGeom prst="roundRect">
            <a:avLst>
              <a:gd name="adj" fmla="val 6977"/>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5097780" y="2340864"/>
            <a:ext cx="19659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v2</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txBox="1"/>
          <p:nvPr/>
        </p:nvSpPr>
        <p:spPr>
          <a:xfrm>
            <a:off x="5097780" y="2688336"/>
            <a:ext cx="196596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MERGE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3"/>
          <a:stretch>
            <a:fillRect/>
          </a:stretch>
        </p:blipFill>
        <p:spPr>
          <a:xfrm>
            <a:off x="7131177" y="2578608"/>
            <a:ext cx="128016" cy="128016"/>
          </a:xfrm>
          <a:prstGeom prst="rect">
            <a:avLst/>
          </a:prstGeom>
        </p:spPr>
      </p:pic>
      <p:sp>
        <p:nvSpPr>
          <p:cNvPr id="18" name="Shape 13"/>
          <p:cNvSpPr/>
          <p:nvPr/>
        </p:nvSpPr>
        <p:spPr>
          <a:xfrm>
            <a:off x="7326630" y="2286000"/>
            <a:ext cx="1965960" cy="786384"/>
          </a:xfrm>
          <a:prstGeom prst="roundRect">
            <a:avLst>
              <a:gd name="adj" fmla="val 6977"/>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4"/>
          <p:cNvSpPr txBox="1"/>
          <p:nvPr/>
        </p:nvSpPr>
        <p:spPr>
          <a:xfrm>
            <a:off x="7326630" y="2340864"/>
            <a:ext cx="19659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v3</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7326630" y="2688336"/>
            <a:ext cx="196596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DELETE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1" name="Image 3" descr="preencoded.png"/>
          <p:cNvPicPr>
            <a:picLocks noChangeAspect="1"/>
          </p:cNvPicPr>
          <p:nvPr/>
        </p:nvPicPr>
        <p:blipFill>
          <a:blip r:embed="rId3"/>
          <a:stretch>
            <a:fillRect/>
          </a:stretch>
        </p:blipFill>
        <p:spPr>
          <a:xfrm>
            <a:off x="9360027" y="2578608"/>
            <a:ext cx="128016" cy="128016"/>
          </a:xfrm>
          <a:prstGeom prst="rect">
            <a:avLst/>
          </a:prstGeom>
        </p:spPr>
      </p:pic>
      <p:sp>
        <p:nvSpPr>
          <p:cNvPr id="22" name="Shape 16"/>
          <p:cNvSpPr/>
          <p:nvPr/>
        </p:nvSpPr>
        <p:spPr>
          <a:xfrm>
            <a:off x="9555480" y="2286000"/>
            <a:ext cx="1965960" cy="786384"/>
          </a:xfrm>
          <a:prstGeom prst="roundRect">
            <a:avLst>
              <a:gd name="adj" fmla="val 6977"/>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17"/>
          <p:cNvSpPr txBox="1"/>
          <p:nvPr/>
        </p:nvSpPr>
        <p:spPr>
          <a:xfrm>
            <a:off x="9555480" y="2340864"/>
            <a:ext cx="19659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v4</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p:cNvSpPr txBox="1"/>
          <p:nvPr/>
        </p:nvSpPr>
        <p:spPr>
          <a:xfrm>
            <a:off x="9555480" y="2688336"/>
            <a:ext cx="196596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current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19"/>
          <p:cNvSpPr/>
          <p:nvPr/>
        </p:nvSpPr>
        <p:spPr>
          <a:xfrm>
            <a:off x="640080" y="3291840"/>
            <a:ext cx="10881360" cy="2743200"/>
          </a:xfrm>
          <a:prstGeom prst="roundRect">
            <a:avLst>
              <a:gd name="adj" fmla="val 3667"/>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0"/>
          <p:cNvSpPr/>
          <p:nvPr/>
        </p:nvSpPr>
        <p:spPr>
          <a:xfrm>
            <a:off x="640080" y="3291840"/>
            <a:ext cx="1088136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1"/>
          <p:cNvSpPr/>
          <p:nvPr/>
        </p:nvSpPr>
        <p:spPr>
          <a:xfrm>
            <a:off x="640080" y="3547872"/>
            <a:ext cx="1088136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2"/>
          <p:cNvSpPr/>
          <p:nvPr/>
        </p:nvSpPr>
        <p:spPr>
          <a:xfrm>
            <a:off x="859536" y="344728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1097280" y="344728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1335024" y="344728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5"/>
          <p:cNvSpPr txBox="1"/>
          <p:nvPr/>
        </p:nvSpPr>
        <p:spPr>
          <a:xfrm>
            <a:off x="1645920" y="3291840"/>
            <a:ext cx="886968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Databricks SQL · time travel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6"/>
          <p:cNvSpPr/>
          <p:nvPr/>
        </p:nvSpPr>
        <p:spPr>
          <a:xfrm>
            <a:off x="10332720" y="393192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27"/>
          <p:cNvSpPr txBox="1"/>
          <p:nvPr/>
        </p:nvSpPr>
        <p:spPr>
          <a:xfrm>
            <a:off x="10332720" y="393192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28"/>
          <p:cNvSpPr txBox="1"/>
          <p:nvPr/>
        </p:nvSpPr>
        <p:spPr>
          <a:xfrm>
            <a:off x="932688" y="405993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SELECT</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FROM</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VERSION AS OF</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9"/>
          <p:cNvSpPr txBox="1"/>
          <p:nvPr/>
        </p:nvSpPr>
        <p:spPr>
          <a:xfrm>
            <a:off x="932688" y="442569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SELECT</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FROM</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TIMESTAMP AS OF</a:t>
            </a:r>
            <a:r>
              <a:rPr kumimoji="0" lang="en-US" sz="14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'2026-09-01T00:00:00'</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0"/>
          <p:cNvSpPr txBox="1"/>
          <p:nvPr/>
        </p:nvSpPr>
        <p:spPr>
          <a:xfrm>
            <a:off x="932688" y="497433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DESCRIBE HISTORY</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who changed what, when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1"/>
          <p:cNvSpPr txBox="1"/>
          <p:nvPr/>
        </p:nvSpPr>
        <p:spPr>
          <a:xfrm>
            <a:off x="932688" y="5340096"/>
            <a:ext cx="102412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RESTORE TABLE</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4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TO VERSION AS OF</a:t>
            </a:r>
            <a:r>
              <a:rPr kumimoji="0" lang="en-US" sz="14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2;</a:t>
            </a:r>
            <a:r>
              <a:rPr kumimoji="0" lang="en-US" sz="14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roll back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2"/>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3"/>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8</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MAINTAIN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OPTIMIZE, Z-ORDER and VACUUM</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Three maintenance commands that keep queries fast and storage tidy.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40280"/>
            <a:ext cx="6949440" cy="3200400"/>
          </a:xfrm>
          <a:prstGeom prst="roundRect">
            <a:avLst>
              <a:gd name="adj" fmla="val 3143"/>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40280"/>
            <a:ext cx="69494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496312"/>
            <a:ext cx="69494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39572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39572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39572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40280"/>
            <a:ext cx="49377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SQL · maintenance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0" y="288036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6400800" y="288036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0837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OPTIMIZE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r>
              <a:rPr kumimoji="0" lang="en-US" sz="13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compact small files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55701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OPTIMIZE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ZORDER BY</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(country, event_ts);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410565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VACUUM</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RETAIN</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168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HOURS</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654296"/>
            <a:ext cx="6309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ANALYZE TABLE</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3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COMPUTE STATISTICS</a:t>
            </a:r>
            <a:r>
              <a:rPr kumimoji="0" lang="en-US" sz="13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7818120" y="2240280"/>
            <a:ext cx="3703320" cy="1005840"/>
          </a:xfrm>
          <a:prstGeom prst="roundRect">
            <a:avLst>
              <a:gd name="adj" fmla="val 5455"/>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8028432" y="2414016"/>
            <a:ext cx="457200" cy="45720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 name="Image 0" descr="preencoded.png"/>
          <p:cNvPicPr>
            <a:picLocks noChangeAspect="1"/>
          </p:cNvPicPr>
          <p:nvPr/>
        </p:nvPicPr>
        <p:blipFill>
          <a:blip r:embed="rId3"/>
          <a:stretch>
            <a:fillRect/>
          </a:stretch>
        </p:blipFill>
        <p:spPr>
          <a:xfrm>
            <a:off x="8133588" y="2519172"/>
            <a:ext cx="246888" cy="246888"/>
          </a:xfrm>
          <a:prstGeom prst="rect">
            <a:avLst/>
          </a:prstGeom>
        </p:spPr>
      </p:pic>
      <p:sp>
        <p:nvSpPr>
          <p:cNvPr id="22" name="Text 19"/>
          <p:cNvSpPr txBox="1"/>
          <p:nvPr/>
        </p:nvSpPr>
        <p:spPr>
          <a:xfrm>
            <a:off x="8613648" y="2368296"/>
            <a:ext cx="274320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OPTIMIZE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8046720" y="2743200"/>
            <a:ext cx="32918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Rewrites many small files into fewer large ones — fixes the small-file problem.</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1"/>
          <p:cNvSpPr/>
          <p:nvPr/>
        </p:nvSpPr>
        <p:spPr>
          <a:xfrm>
            <a:off x="7818120" y="3337560"/>
            <a:ext cx="3703320" cy="1005840"/>
          </a:xfrm>
          <a:prstGeom prst="roundRect">
            <a:avLst>
              <a:gd name="adj" fmla="val 5455"/>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2"/>
          <p:cNvSpPr/>
          <p:nvPr/>
        </p:nvSpPr>
        <p:spPr>
          <a:xfrm>
            <a:off x="8028432" y="3511296"/>
            <a:ext cx="457200" cy="45720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6" name="Image 1" descr="preencoded.png"/>
          <p:cNvPicPr>
            <a:picLocks noChangeAspect="1"/>
          </p:cNvPicPr>
          <p:nvPr/>
        </p:nvPicPr>
        <p:blipFill>
          <a:blip r:embed="rId4"/>
          <a:stretch>
            <a:fillRect/>
          </a:stretch>
        </p:blipFill>
        <p:spPr>
          <a:xfrm>
            <a:off x="8133588" y="3616452"/>
            <a:ext cx="246888" cy="246888"/>
          </a:xfrm>
          <a:prstGeom prst="rect">
            <a:avLst/>
          </a:prstGeom>
        </p:spPr>
      </p:pic>
      <p:sp>
        <p:nvSpPr>
          <p:cNvPr id="27" name="Text 23"/>
          <p:cNvSpPr txBox="1"/>
          <p:nvPr/>
        </p:nvSpPr>
        <p:spPr>
          <a:xfrm>
            <a:off x="8613648" y="3465576"/>
            <a:ext cx="274320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ZORDER BY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txBox="1"/>
          <p:nvPr/>
        </p:nvSpPr>
        <p:spPr>
          <a:xfrm>
            <a:off x="8046720" y="3840480"/>
            <a:ext cx="32918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Co-locates related values so filters skip more files.</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5"/>
          <p:cNvSpPr/>
          <p:nvPr/>
        </p:nvSpPr>
        <p:spPr>
          <a:xfrm>
            <a:off x="7818120" y="4434840"/>
            <a:ext cx="3703320" cy="1005840"/>
          </a:xfrm>
          <a:prstGeom prst="roundRect">
            <a:avLst>
              <a:gd name="adj" fmla="val 5455"/>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6"/>
          <p:cNvSpPr/>
          <p:nvPr/>
        </p:nvSpPr>
        <p:spPr>
          <a:xfrm>
            <a:off x="8028432" y="4608576"/>
            <a:ext cx="457200" cy="45720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1" name="Image 2" descr="preencoded.png"/>
          <p:cNvPicPr>
            <a:picLocks noChangeAspect="1"/>
          </p:cNvPicPr>
          <p:nvPr/>
        </p:nvPicPr>
        <p:blipFill>
          <a:blip r:embed="rId5"/>
          <a:stretch>
            <a:fillRect/>
          </a:stretch>
        </p:blipFill>
        <p:spPr>
          <a:xfrm>
            <a:off x="8133588" y="4713732"/>
            <a:ext cx="246888" cy="246888"/>
          </a:xfrm>
          <a:prstGeom prst="rect">
            <a:avLst/>
          </a:prstGeom>
        </p:spPr>
      </p:pic>
      <p:sp>
        <p:nvSpPr>
          <p:cNvPr id="32" name="Text 27"/>
          <p:cNvSpPr txBox="1"/>
          <p:nvPr/>
        </p:nvSpPr>
        <p:spPr>
          <a:xfrm>
            <a:off x="8613648" y="4562856"/>
            <a:ext cx="274320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VACUUM</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8"/>
          <p:cNvSpPr txBox="1"/>
          <p:nvPr/>
        </p:nvSpPr>
        <p:spPr>
          <a:xfrm>
            <a:off x="8046720" y="4937760"/>
            <a:ext cx="32918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Deletes files no longer referenced, past the retention window.</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9"/>
          <p:cNvSpPr/>
          <p:nvPr/>
        </p:nvSpPr>
        <p:spPr>
          <a:xfrm>
            <a:off x="640080" y="5577840"/>
            <a:ext cx="6949440" cy="566928"/>
          </a:xfrm>
          <a:prstGeom prst="roundRect">
            <a:avLst>
              <a:gd name="adj" fmla="val 9677"/>
            </a:avLst>
          </a:prstGeom>
          <a:solidFill>
            <a:srgbClr val="FFF1EE"/>
          </a:solidFill>
          <a:ln w="12700">
            <a:solidFill>
              <a:srgbClr val="FF36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5" name="Image 3" descr="preencoded.png"/>
          <p:cNvPicPr>
            <a:picLocks noChangeAspect="1"/>
          </p:cNvPicPr>
          <p:nvPr/>
        </p:nvPicPr>
        <p:blipFill>
          <a:blip r:embed="rId6"/>
          <a:stretch>
            <a:fillRect/>
          </a:stretch>
        </p:blipFill>
        <p:spPr>
          <a:xfrm>
            <a:off x="841248" y="5724144"/>
            <a:ext cx="237744" cy="237744"/>
          </a:xfrm>
          <a:prstGeom prst="rect">
            <a:avLst/>
          </a:prstGeom>
        </p:spPr>
      </p:pic>
      <p:sp>
        <p:nvSpPr>
          <p:cNvPr id="36" name="Text 30"/>
          <p:cNvSpPr txBox="1"/>
          <p:nvPr/>
        </p:nvSpPr>
        <p:spPr>
          <a:xfrm>
            <a:off x="1188720" y="5577840"/>
            <a:ext cx="6309360"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B3261E"/>
                </a:solidFill>
                <a:effectLst/>
                <a:uLnTx/>
                <a:uFillTx/>
                <a:latin typeface="Calibri" pitchFamily="34" charset="0"/>
                <a:ea typeface="Calibri" pitchFamily="34" charset="-122"/>
                <a:cs typeface="Calibri" pitchFamily="34" charset="-120"/>
              </a:rPr>
              <a:t>VACUUM is permanent:  </a:t>
            </a:r>
            <a:r>
              <a:rPr kumimoji="0" lang="en-US" sz="1150" b="0" i="0" u="none" strike="noStrike" kern="1200" cap="none" spc="0" normalizeH="0" baseline="0" noProof="0" dirty="0">
                <a:ln>
                  <a:noFill/>
                </a:ln>
                <a:solidFill>
                  <a:srgbClr val="13242E"/>
                </a:solidFill>
                <a:effectLst/>
                <a:uLnTx/>
                <a:uFillTx/>
                <a:latin typeface="Calibri" pitchFamily="34" charset="0"/>
                <a:ea typeface="Calibri" pitchFamily="34" charset="-122"/>
                <a:cs typeface="Calibri" pitchFamily="34" charset="-120"/>
              </a:rPr>
              <a:t>it removes the old files time travel depends 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1"/>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2"/>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9</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INSPECT &amp; GOVERN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Understanding and securing a table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Metadata commands for troubleshooting, and Unity Catalog for access.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40280"/>
            <a:ext cx="5349240" cy="3794760"/>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240280"/>
            <a:ext cx="53492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496312"/>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59536" y="239572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097280" y="239572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335024" y="239572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1645920" y="2240280"/>
            <a:ext cx="33375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SQL · inspect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800600" y="288036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4800600" y="288036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932688" y="300837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DESCRIBE DETAIL</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932688" y="3355848"/>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format, location, numFiles, sizeInBytes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932688" y="387705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DESCRIBE EXTENDED</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932688" y="4224528"/>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DESCRIBE HISTORY</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32688" y="474573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SHOW TABLES IN</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demo_cat.demo;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932688" y="5093208"/>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SHOW COLUMNS IN</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932688" y="5614416"/>
            <a:ext cx="470916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SHOW TBLPROPERTIES</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6172200" y="2240280"/>
            <a:ext cx="5349240" cy="3794760"/>
          </a:xfrm>
          <a:prstGeom prst="roundRect">
            <a:avLst>
              <a:gd name="adj" fmla="val 2651"/>
            </a:avLst>
          </a:prstGeom>
          <a:solidFill>
            <a:srgbClr val="F8FAFB"/>
          </a:solidFill>
          <a:ln w="12700">
            <a:solidFill>
              <a:srgbClr val="DDE4E7"/>
            </a:solidFill>
            <a:prstDash val="solid"/>
          </a:ln>
          <a:effectLst>
            <a:outerShdw blurRad="127000" dist="38100" dir="5400000" algn="bl" rotWithShape="0">
              <a:srgbClr val="9FB0B8">
                <a:alpha val="2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6172200" y="2240280"/>
            <a:ext cx="5349240" cy="457200"/>
          </a:xfrm>
          <a:prstGeom prst="roundRect">
            <a:avLst>
              <a:gd name="adj" fmla="val 22000"/>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6172200" y="2496312"/>
            <a:ext cx="5349240" cy="201168"/>
          </a:xfrm>
          <a:prstGeom prst="rect">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391656" y="2395728"/>
            <a:ext cx="146304" cy="146304"/>
          </a:xfrm>
          <a:prstGeom prst="ellipse">
            <a:avLst/>
          </a:prstGeom>
          <a:solidFill>
            <a:srgbClr val="FF5F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6629400" y="2395728"/>
            <a:ext cx="146304" cy="146304"/>
          </a:xfrm>
          <a:prstGeom prst="ellipse">
            <a:avLst/>
          </a:prstGeom>
          <a:solidFill>
            <a:srgbClr val="FFBD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6867144" y="2395728"/>
            <a:ext cx="146304" cy="146304"/>
          </a:xfrm>
          <a:prstGeom prst="ellipse">
            <a:avLst/>
          </a:prstGeom>
          <a:solidFill>
            <a:srgbClr val="27C9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7178040" y="2240280"/>
            <a:ext cx="333756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4D0D4"/>
                </a:solidFill>
                <a:effectLst/>
                <a:uLnTx/>
                <a:uFillTx/>
                <a:latin typeface="Consolas" pitchFamily="34" charset="0"/>
                <a:ea typeface="Consolas" pitchFamily="34" charset="-122"/>
                <a:cs typeface="Consolas" pitchFamily="34" charset="-120"/>
              </a:rPr>
              <a:t>SQL · govern &amp; clone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10332720" y="2880360"/>
            <a:ext cx="932688" cy="420624"/>
          </a:xfrm>
          <a:prstGeom prst="roundRect">
            <a:avLst>
              <a:gd name="adj" fmla="val 19565"/>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10332720" y="2880360"/>
            <a:ext cx="932688"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Run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6464808" y="3008376"/>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GRANT SELECT ON TABLE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txBox="1"/>
          <p:nvPr/>
        </p:nvSpPr>
        <p:spPr>
          <a:xfrm>
            <a:off x="6464808" y="3323844"/>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TO</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`analysts`;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txBox="1"/>
          <p:nvPr/>
        </p:nvSpPr>
        <p:spPr>
          <a:xfrm>
            <a:off x="6464808" y="3639312"/>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REVOKE MODIFY ON TABLE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FROM</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`temp`;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txBox="1"/>
          <p:nvPr/>
        </p:nvSpPr>
        <p:spPr>
          <a:xfrm>
            <a:off x="6464808" y="3954780"/>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COMMENT ON TABLE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 </a:t>
            </a: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IS</a:t>
            </a:r>
            <a:r>
              <a:rPr kumimoji="0" lang="en-US" sz="1200" b="0" i="0" u="none" strike="noStrike" kern="1200" cap="none" spc="0" normalizeH="0" baseline="0" noProof="0" dirty="0">
                <a:ln>
                  <a:noFill/>
                </a:ln>
                <a:solidFill>
                  <a:srgbClr val="0E7C8B"/>
                </a:solidFill>
                <a:effectLst/>
                <a:uLnTx/>
                <a:uFillTx/>
                <a:latin typeface="Consolas" pitchFamily="34" charset="0"/>
                <a:ea typeface="Consolas" pitchFamily="34" charset="-122"/>
                <a:cs typeface="Consolas" pitchFamily="34" charset="-120"/>
              </a:rPr>
              <a:t> 'Raw events'</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txBox="1"/>
          <p:nvPr/>
        </p:nvSpPr>
        <p:spPr>
          <a:xfrm>
            <a:off x="6464808" y="4427982"/>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copies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txBox="1"/>
          <p:nvPr/>
        </p:nvSpPr>
        <p:spPr>
          <a:xfrm>
            <a:off x="6464808" y="4743450"/>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TABLE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demo.events_test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txBox="1"/>
          <p:nvPr/>
        </p:nvSpPr>
        <p:spPr>
          <a:xfrm>
            <a:off x="6464808" y="5058918"/>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SHALLOW CLONE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r>
              <a:rPr kumimoji="0" lang="en-US" sz="12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metadata only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txBox="1"/>
          <p:nvPr/>
        </p:nvSpPr>
        <p:spPr>
          <a:xfrm>
            <a:off x="6464808" y="5374386"/>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TABLE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demo.events_bkp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txBox="1"/>
          <p:nvPr/>
        </p:nvSpPr>
        <p:spPr>
          <a:xfrm>
            <a:off x="6464808" y="5689854"/>
            <a:ext cx="4709160" cy="3154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  DEEP CLONE</a:t>
            </a:r>
            <a:r>
              <a:rPr kumimoji="0" lang="en-US" sz="1200" b="0" i="0" u="none" strike="noStrike" kern="1200" cap="none" spc="0" normalizeH="0" baseline="0" noProof="0" dirty="0">
                <a:ln>
                  <a:noFill/>
                </a:ln>
                <a:solidFill>
                  <a:srgbClr val="13242E"/>
                </a:solidFill>
                <a:effectLst/>
                <a:uLnTx/>
                <a:uFillTx/>
                <a:latin typeface="Consolas" pitchFamily="34" charset="0"/>
                <a:ea typeface="Consolas" pitchFamily="34" charset="-122"/>
                <a:cs typeface="Consolas" pitchFamily="34" charset="-120"/>
              </a:rPr>
              <a:t> demo.events;</a:t>
            </a:r>
            <a:r>
              <a:rPr kumimoji="0" lang="en-US" sz="1200" b="0" i="1" u="none" strike="noStrike" kern="1200" cap="none" spc="0" normalizeH="0" baseline="0" noProof="0" dirty="0">
                <a:ln>
                  <a:noFill/>
                </a:ln>
                <a:solidFill>
                  <a:srgbClr val="2E7D32"/>
                </a:solidFill>
                <a:effectLst/>
                <a:uLnTx/>
                <a:uFillTx/>
                <a:latin typeface="Consolas" pitchFamily="34" charset="0"/>
                <a:ea typeface="Consolas" pitchFamily="34" charset="-122"/>
                <a:cs typeface="Consolas" pitchFamily="34" charset="-120"/>
              </a:rPr>
              <a:t>      # full copy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BEST PRACTICES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Managing Delta tables well</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Habits that keep tables fast, cheap and recoverable.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77824" y="2587752"/>
            <a:ext cx="548640" cy="54864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1014984" y="2724912"/>
            <a:ext cx="274320" cy="274320"/>
          </a:xfrm>
          <a:prstGeom prst="rect">
            <a:avLst/>
          </a:prstGeom>
        </p:spPr>
      </p:pic>
      <p:sp>
        <p:nvSpPr>
          <p:cNvPr id="9" name="Text 6"/>
          <p:cNvSpPr txBox="1"/>
          <p:nvPr/>
        </p:nvSpPr>
        <p:spPr>
          <a:xfrm>
            <a:off x="1572768"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Use the 3-level name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896112"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Always catalog.schema.table — avoids ambiguity across environments.</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311396"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4549140" y="2587752"/>
            <a:ext cx="548640" cy="54864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4686300" y="2724912"/>
            <a:ext cx="274320" cy="274320"/>
          </a:xfrm>
          <a:prstGeom prst="rect">
            <a:avLst/>
          </a:prstGeom>
        </p:spPr>
      </p:pic>
      <p:sp>
        <p:nvSpPr>
          <p:cNvPr id="14" name="Text 10"/>
          <p:cNvSpPr txBox="1"/>
          <p:nvPr/>
        </p:nvSpPr>
        <p:spPr>
          <a:xfrm>
            <a:off x="5244084"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Prefer managed tables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txBox="1"/>
          <p:nvPr/>
        </p:nvSpPr>
        <p:spPr>
          <a:xfrm>
            <a:off x="4567428"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Simpler lifecycle; go external only when others need the path.</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7982712" y="2331720"/>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8220456" y="2587752"/>
            <a:ext cx="548640" cy="54864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357616" y="2724912"/>
            <a:ext cx="274320" cy="274320"/>
          </a:xfrm>
          <a:prstGeom prst="rect">
            <a:avLst/>
          </a:prstGeom>
        </p:spPr>
      </p:pic>
      <p:sp>
        <p:nvSpPr>
          <p:cNvPr id="19" name="Text 14"/>
          <p:cNvSpPr txBox="1"/>
          <p:nvPr/>
        </p:nvSpPr>
        <p:spPr>
          <a:xfrm>
            <a:off x="8915400" y="2587752"/>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MERGE over delete+insert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8238744" y="3246120"/>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One atomic statement; no window where the table is half-updated.</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6"/>
          <p:cNvSpPr/>
          <p:nvPr/>
        </p:nvSpPr>
        <p:spPr>
          <a:xfrm>
            <a:off x="640080"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877824" y="4306824"/>
            <a:ext cx="548640" cy="548640"/>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1014984" y="4443984"/>
            <a:ext cx="274320" cy="274320"/>
          </a:xfrm>
          <a:prstGeom prst="rect">
            <a:avLst/>
          </a:prstGeom>
        </p:spPr>
      </p:pic>
      <p:sp>
        <p:nvSpPr>
          <p:cNvPr id="24" name="Text 18"/>
          <p:cNvSpPr txBox="1"/>
          <p:nvPr/>
        </p:nvSpPr>
        <p:spPr>
          <a:xfrm>
            <a:off x="1572768"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Don't over-partition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9"/>
          <p:cNvSpPr txBox="1"/>
          <p:nvPr/>
        </p:nvSpPr>
        <p:spPr>
          <a:xfrm>
            <a:off x="896112"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Skip partitioning under ~1 TB; use Z-ORDER / liquid clustering instead.</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0"/>
          <p:cNvSpPr/>
          <p:nvPr/>
        </p:nvSpPr>
        <p:spPr>
          <a:xfrm>
            <a:off x="4311396"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1"/>
          <p:cNvSpPr/>
          <p:nvPr/>
        </p:nvSpPr>
        <p:spPr>
          <a:xfrm>
            <a:off x="4549140" y="4306824"/>
            <a:ext cx="548640" cy="548640"/>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Image 4" descr="preencoded.png"/>
          <p:cNvPicPr>
            <a:picLocks noChangeAspect="1"/>
          </p:cNvPicPr>
          <p:nvPr/>
        </p:nvPicPr>
        <p:blipFill>
          <a:blip r:embed="rId7"/>
          <a:stretch>
            <a:fillRect/>
          </a:stretch>
        </p:blipFill>
        <p:spPr>
          <a:xfrm>
            <a:off x="4686300" y="4443984"/>
            <a:ext cx="274320" cy="274320"/>
          </a:xfrm>
          <a:prstGeom prst="rect">
            <a:avLst/>
          </a:prstGeom>
        </p:spPr>
      </p:pic>
      <p:sp>
        <p:nvSpPr>
          <p:cNvPr id="29" name="Text 22"/>
          <p:cNvSpPr txBox="1"/>
          <p:nvPr/>
        </p:nvSpPr>
        <p:spPr>
          <a:xfrm>
            <a:off x="5244084"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Schedule OPTIMIZE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3"/>
          <p:cNvSpPr txBox="1"/>
          <p:nvPr/>
        </p:nvSpPr>
        <p:spPr>
          <a:xfrm>
            <a:off x="4567428"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Compact regularly on streaming or high-write tables.</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4"/>
          <p:cNvSpPr/>
          <p:nvPr/>
        </p:nvSpPr>
        <p:spPr>
          <a:xfrm>
            <a:off x="7982712" y="4050792"/>
            <a:ext cx="3538728" cy="1572768"/>
          </a:xfrm>
          <a:prstGeom prst="roundRect">
            <a:avLst>
              <a:gd name="adj" fmla="val 348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25"/>
          <p:cNvSpPr/>
          <p:nvPr/>
        </p:nvSpPr>
        <p:spPr>
          <a:xfrm>
            <a:off x="8220456" y="4306824"/>
            <a:ext cx="548640" cy="548640"/>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5" descr="preencoded.png"/>
          <p:cNvPicPr>
            <a:picLocks noChangeAspect="1"/>
          </p:cNvPicPr>
          <p:nvPr/>
        </p:nvPicPr>
        <p:blipFill>
          <a:blip r:embed="rId8"/>
          <a:stretch>
            <a:fillRect/>
          </a:stretch>
        </p:blipFill>
        <p:spPr>
          <a:xfrm>
            <a:off x="8357616" y="4443984"/>
            <a:ext cx="274320" cy="274320"/>
          </a:xfrm>
          <a:prstGeom prst="rect">
            <a:avLst/>
          </a:prstGeom>
        </p:spPr>
      </p:pic>
      <p:sp>
        <p:nvSpPr>
          <p:cNvPr id="34" name="Text 26"/>
          <p:cNvSpPr txBox="1"/>
          <p:nvPr/>
        </p:nvSpPr>
        <p:spPr>
          <a:xfrm>
            <a:off x="8915400" y="4306824"/>
            <a:ext cx="2441448"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Set retention before VACUUM</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7"/>
          <p:cNvSpPr txBox="1"/>
          <p:nvPr/>
        </p:nvSpPr>
        <p:spPr>
          <a:xfrm>
            <a:off x="8238744" y="4965192"/>
            <a:ext cx="3035808" cy="56692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Match RETAIN to your recovery needs — it caps time travel.</a:t>
            </a:r>
            <a:endParaRPr kumimoji="0" lang="en-US" sz="10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28"/>
          <p:cNvSpPr txBox="1"/>
          <p:nvPr/>
        </p:nvSpPr>
        <p:spPr>
          <a:xfrm>
            <a:off x="548640" y="651052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Databricks SQL  ·  Creating &amp; Managing Delta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9"/>
          <p:cNvSpPr txBox="1"/>
          <p:nvPr/>
        </p:nvSpPr>
        <p:spPr>
          <a:xfrm>
            <a:off x="11155680" y="6510528"/>
            <a:ext cx="54864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9AA7AE"/>
                </a:solidFill>
                <a:effectLst/>
                <a:uLnTx/>
                <a:uFillTx/>
                <a:latin typeface="Calibri" pitchFamily="34" charset="0"/>
                <a:ea typeface="Calibri" pitchFamily="34" charset="-122"/>
                <a:cs typeface="Calibri" pitchFamily="34" charset="-120"/>
              </a:rPr>
              <a:t>11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256032" cy="256032"/>
          </a:xfrm>
          <a:prstGeom prst="rect">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txBox="1"/>
          <p:nvPr/>
        </p:nvSpPr>
        <p:spPr>
          <a:xfrm>
            <a:off x="896112" y="502920"/>
            <a:ext cx="105156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0" cap="none" spc="200" normalizeH="0" baseline="0" noProof="0" dirty="0">
                <a:ln>
                  <a:noFill/>
                </a:ln>
                <a:solidFill>
                  <a:srgbClr val="FF3621"/>
                </a:solidFill>
                <a:effectLst/>
                <a:uLnTx/>
                <a:uFillTx/>
                <a:latin typeface="Consolas" pitchFamily="34" charset="0"/>
                <a:ea typeface="Consolas" pitchFamily="34" charset="-122"/>
                <a:cs typeface="Consolas" pitchFamily="34" charset="-120"/>
              </a:rPr>
              <a:t>REFERENCE · DELTA TABLES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530352" y="932688"/>
            <a:ext cx="111556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Creating &amp; managing Delta tables at a glance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566928" y="1755648"/>
            <a:ext cx="110642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Every core command, grouped by lifecycle stage. Delta Lake is the default table format on Databricks.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2212848"/>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22960" y="2340864"/>
            <a:ext cx="384048" cy="38404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909828" y="2427732"/>
            <a:ext cx="210312" cy="210312"/>
          </a:xfrm>
          <a:prstGeom prst="rect">
            <a:avLst/>
          </a:prstGeom>
        </p:spPr>
      </p:pic>
      <p:sp>
        <p:nvSpPr>
          <p:cNvPr id="9" name="Text 6"/>
          <p:cNvSpPr txBox="1"/>
          <p:nvPr/>
        </p:nvSpPr>
        <p:spPr>
          <a:xfrm>
            <a:off x="1298448" y="2340864"/>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Create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859536" y="2788920"/>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TABLE …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managed (default)</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859536" y="2940710"/>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TABLE … LOCATION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external</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859536" y="3092501"/>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TABLE … AS SELECT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CTAS from a query</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859536" y="3244291"/>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CREATE OR REPLACE TABLE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overwrite definition</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328160" y="2212848"/>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11040" y="2340864"/>
            <a:ext cx="384048" cy="384048"/>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1" descr="preencoded.png"/>
          <p:cNvPicPr>
            <a:picLocks noChangeAspect="1"/>
          </p:cNvPicPr>
          <p:nvPr/>
        </p:nvPicPr>
        <p:blipFill>
          <a:blip r:embed="rId4"/>
          <a:stretch>
            <a:fillRect/>
          </a:stretch>
        </p:blipFill>
        <p:spPr>
          <a:xfrm>
            <a:off x="4597908" y="2427732"/>
            <a:ext cx="210312" cy="210312"/>
          </a:xfrm>
          <a:prstGeom prst="rect">
            <a:avLst/>
          </a:prstGeom>
        </p:spPr>
      </p:pic>
      <p:sp>
        <p:nvSpPr>
          <p:cNvPr id="17" name="Text 13"/>
          <p:cNvSpPr txBox="1"/>
          <p:nvPr/>
        </p:nvSpPr>
        <p:spPr>
          <a:xfrm>
            <a:off x="4986528" y="2340864"/>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Write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txBox="1"/>
          <p:nvPr/>
        </p:nvSpPr>
        <p:spPr>
          <a:xfrm>
            <a:off x="4547616" y="2788920"/>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INSERT INTO / OVERWRITE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append or replace</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txBox="1"/>
          <p:nvPr/>
        </p:nvSpPr>
        <p:spPr>
          <a:xfrm>
            <a:off x="4547616" y="2940710"/>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COPY INTO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idempotent file load</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txBox="1"/>
          <p:nvPr/>
        </p:nvSpPr>
        <p:spPr>
          <a:xfrm>
            <a:off x="4547616" y="3092501"/>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df.write.saveAsTable()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from DataFrame</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txBox="1"/>
          <p:nvPr/>
        </p:nvSpPr>
        <p:spPr>
          <a:xfrm>
            <a:off x="4547616" y="3244291"/>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mode("append"|"overwrite")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Python write mode</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8"/>
          <p:cNvSpPr/>
          <p:nvPr/>
        </p:nvSpPr>
        <p:spPr>
          <a:xfrm>
            <a:off x="8016240" y="2212848"/>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9"/>
          <p:cNvSpPr/>
          <p:nvPr/>
        </p:nvSpPr>
        <p:spPr>
          <a:xfrm>
            <a:off x="8199120" y="2340864"/>
            <a:ext cx="384048" cy="384048"/>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2" descr="preencoded.png"/>
          <p:cNvPicPr>
            <a:picLocks noChangeAspect="1"/>
          </p:cNvPicPr>
          <p:nvPr/>
        </p:nvPicPr>
        <p:blipFill>
          <a:blip r:embed="rId5"/>
          <a:stretch>
            <a:fillRect/>
          </a:stretch>
        </p:blipFill>
        <p:spPr>
          <a:xfrm>
            <a:off x="8285988" y="2427732"/>
            <a:ext cx="210312" cy="210312"/>
          </a:xfrm>
          <a:prstGeom prst="rect">
            <a:avLst/>
          </a:prstGeom>
        </p:spPr>
      </p:pic>
      <p:sp>
        <p:nvSpPr>
          <p:cNvPr id="25" name="Text 20"/>
          <p:cNvSpPr txBox="1"/>
          <p:nvPr/>
        </p:nvSpPr>
        <p:spPr>
          <a:xfrm>
            <a:off x="8674608" y="2340864"/>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Update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1"/>
          <p:cNvSpPr txBox="1"/>
          <p:nvPr/>
        </p:nvSpPr>
        <p:spPr>
          <a:xfrm>
            <a:off x="8235696" y="2788920"/>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MERGE INTO … WHEN MATCHED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upsert / SCD</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2"/>
          <p:cNvSpPr txBox="1"/>
          <p:nvPr/>
        </p:nvSpPr>
        <p:spPr>
          <a:xfrm>
            <a:off x="8235696" y="2940710"/>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UPDATE … SET … WHERE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in-place edit</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3"/>
          <p:cNvSpPr txBox="1"/>
          <p:nvPr/>
        </p:nvSpPr>
        <p:spPr>
          <a:xfrm>
            <a:off x="8235696" y="3092501"/>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DELETE FROM … WHERE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row deletes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4"/>
          <p:cNvSpPr txBox="1"/>
          <p:nvPr/>
        </p:nvSpPr>
        <p:spPr>
          <a:xfrm>
            <a:off x="8235696" y="3244291"/>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1"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all ACID transactions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5"/>
          <p:cNvSpPr/>
          <p:nvPr/>
        </p:nvSpPr>
        <p:spPr>
          <a:xfrm>
            <a:off x="640080" y="3547872"/>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6"/>
          <p:cNvSpPr/>
          <p:nvPr/>
        </p:nvSpPr>
        <p:spPr>
          <a:xfrm>
            <a:off x="822960" y="3675888"/>
            <a:ext cx="384048" cy="38404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3" descr="preencoded.png"/>
          <p:cNvPicPr>
            <a:picLocks noChangeAspect="1"/>
          </p:cNvPicPr>
          <p:nvPr/>
        </p:nvPicPr>
        <p:blipFill>
          <a:blip r:embed="rId6"/>
          <a:stretch>
            <a:fillRect/>
          </a:stretch>
        </p:blipFill>
        <p:spPr>
          <a:xfrm>
            <a:off x="909828" y="3762756"/>
            <a:ext cx="210312" cy="210312"/>
          </a:xfrm>
          <a:prstGeom prst="rect">
            <a:avLst/>
          </a:prstGeom>
        </p:spPr>
      </p:pic>
      <p:sp>
        <p:nvSpPr>
          <p:cNvPr id="33" name="Text 27"/>
          <p:cNvSpPr txBox="1"/>
          <p:nvPr/>
        </p:nvSpPr>
        <p:spPr>
          <a:xfrm>
            <a:off x="1298448" y="3675888"/>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Schema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28"/>
          <p:cNvSpPr txBox="1"/>
          <p:nvPr/>
        </p:nvSpPr>
        <p:spPr>
          <a:xfrm>
            <a:off x="859536" y="4123944"/>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ALTER TABLE … ADD COLUMN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add fields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29"/>
          <p:cNvSpPr txBox="1"/>
          <p:nvPr/>
        </p:nvSpPr>
        <p:spPr>
          <a:xfrm>
            <a:off x="859536" y="4275734"/>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ALTER TABLE … RENAME / DROP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change fields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0"/>
          <p:cNvSpPr txBox="1"/>
          <p:nvPr/>
        </p:nvSpPr>
        <p:spPr>
          <a:xfrm>
            <a:off x="859536" y="4427525"/>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mergeSchema = true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schema evolution</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1"/>
          <p:cNvSpPr txBox="1"/>
          <p:nvPr/>
        </p:nvSpPr>
        <p:spPr>
          <a:xfrm>
            <a:off x="859536" y="4579315"/>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ALTER TABLE … SET TBLPROPERTIES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table config</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2"/>
          <p:cNvSpPr/>
          <p:nvPr/>
        </p:nvSpPr>
        <p:spPr>
          <a:xfrm>
            <a:off x="4328160" y="3547872"/>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3"/>
          <p:cNvSpPr/>
          <p:nvPr/>
        </p:nvSpPr>
        <p:spPr>
          <a:xfrm>
            <a:off x="4511040" y="3675888"/>
            <a:ext cx="384048" cy="384048"/>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 name="Image 4" descr="preencoded.png"/>
          <p:cNvPicPr>
            <a:picLocks noChangeAspect="1"/>
          </p:cNvPicPr>
          <p:nvPr/>
        </p:nvPicPr>
        <p:blipFill>
          <a:blip r:embed="rId7"/>
          <a:stretch>
            <a:fillRect/>
          </a:stretch>
        </p:blipFill>
        <p:spPr>
          <a:xfrm>
            <a:off x="4597908" y="3762756"/>
            <a:ext cx="210312" cy="210312"/>
          </a:xfrm>
          <a:prstGeom prst="rect">
            <a:avLst/>
          </a:prstGeom>
        </p:spPr>
      </p:pic>
      <p:sp>
        <p:nvSpPr>
          <p:cNvPr id="41" name="Text 34"/>
          <p:cNvSpPr txBox="1"/>
          <p:nvPr/>
        </p:nvSpPr>
        <p:spPr>
          <a:xfrm>
            <a:off x="4986528" y="3675888"/>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Time travel</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5"/>
          <p:cNvSpPr txBox="1"/>
          <p:nvPr/>
        </p:nvSpPr>
        <p:spPr>
          <a:xfrm>
            <a:off x="4547616" y="4123944"/>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SELECT … VERSION AS OF n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query old version</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36"/>
          <p:cNvSpPr txBox="1"/>
          <p:nvPr/>
        </p:nvSpPr>
        <p:spPr>
          <a:xfrm>
            <a:off x="4547616" y="4275734"/>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SELECT … TIMESTAMP AS OF t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query a point in time</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7"/>
          <p:cNvSpPr txBox="1"/>
          <p:nvPr/>
        </p:nvSpPr>
        <p:spPr>
          <a:xfrm>
            <a:off x="4547616" y="4427525"/>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DESCRIBE HISTORY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audit the changes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38"/>
          <p:cNvSpPr txBox="1"/>
          <p:nvPr/>
        </p:nvSpPr>
        <p:spPr>
          <a:xfrm>
            <a:off x="4547616" y="4579315"/>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RESTORE TABLE … TO VERSION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roll back</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39"/>
          <p:cNvSpPr/>
          <p:nvPr/>
        </p:nvSpPr>
        <p:spPr>
          <a:xfrm>
            <a:off x="8016240" y="3547872"/>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0"/>
          <p:cNvSpPr/>
          <p:nvPr/>
        </p:nvSpPr>
        <p:spPr>
          <a:xfrm>
            <a:off x="8199120" y="3675888"/>
            <a:ext cx="384048" cy="384048"/>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Image 5" descr="preencoded.png"/>
          <p:cNvPicPr>
            <a:picLocks noChangeAspect="1"/>
          </p:cNvPicPr>
          <p:nvPr/>
        </p:nvPicPr>
        <p:blipFill>
          <a:blip r:embed="rId8"/>
          <a:stretch>
            <a:fillRect/>
          </a:stretch>
        </p:blipFill>
        <p:spPr>
          <a:xfrm>
            <a:off x="8285988" y="3762756"/>
            <a:ext cx="210312" cy="210312"/>
          </a:xfrm>
          <a:prstGeom prst="rect">
            <a:avLst/>
          </a:prstGeom>
        </p:spPr>
      </p:pic>
      <p:sp>
        <p:nvSpPr>
          <p:cNvPr id="49" name="Text 41"/>
          <p:cNvSpPr txBox="1"/>
          <p:nvPr/>
        </p:nvSpPr>
        <p:spPr>
          <a:xfrm>
            <a:off x="8674608" y="3675888"/>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Optimize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2"/>
          <p:cNvSpPr txBox="1"/>
          <p:nvPr/>
        </p:nvSpPr>
        <p:spPr>
          <a:xfrm>
            <a:off x="8235696" y="4123944"/>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OPTIMIZE tbl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compact small files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3"/>
          <p:cNvSpPr txBox="1"/>
          <p:nvPr/>
        </p:nvSpPr>
        <p:spPr>
          <a:xfrm>
            <a:off x="8235696" y="4275734"/>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OPTIMIZE … ZORDER BY (col)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co-locate data</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44"/>
          <p:cNvSpPr txBox="1"/>
          <p:nvPr/>
        </p:nvSpPr>
        <p:spPr>
          <a:xfrm>
            <a:off x="8235696" y="4427525"/>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VACUUM tbl RETAIN n HOURS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remove old files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45"/>
          <p:cNvSpPr txBox="1"/>
          <p:nvPr/>
        </p:nvSpPr>
        <p:spPr>
          <a:xfrm>
            <a:off x="8235696" y="4579315"/>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ANALYZE TABLE … COMPUTE STATISTICS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refresh stats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46"/>
          <p:cNvSpPr/>
          <p:nvPr/>
        </p:nvSpPr>
        <p:spPr>
          <a:xfrm>
            <a:off x="640080" y="4882896"/>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47"/>
          <p:cNvSpPr/>
          <p:nvPr/>
        </p:nvSpPr>
        <p:spPr>
          <a:xfrm>
            <a:off x="822960" y="5010912"/>
            <a:ext cx="384048" cy="384048"/>
          </a:xfrm>
          <a:prstGeom prst="ellipse">
            <a:avLst/>
          </a:prstGeom>
          <a:solidFill>
            <a:srgbClr val="FF362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6" name="Image 6" descr="preencoded.png"/>
          <p:cNvPicPr>
            <a:picLocks noChangeAspect="1"/>
          </p:cNvPicPr>
          <p:nvPr/>
        </p:nvPicPr>
        <p:blipFill>
          <a:blip r:embed="rId9"/>
          <a:stretch>
            <a:fillRect/>
          </a:stretch>
        </p:blipFill>
        <p:spPr>
          <a:xfrm>
            <a:off x="909828" y="5097780"/>
            <a:ext cx="210312" cy="210312"/>
          </a:xfrm>
          <a:prstGeom prst="rect">
            <a:avLst/>
          </a:prstGeom>
        </p:spPr>
      </p:pic>
      <p:sp>
        <p:nvSpPr>
          <p:cNvPr id="57" name="Text 48"/>
          <p:cNvSpPr txBox="1"/>
          <p:nvPr/>
        </p:nvSpPr>
        <p:spPr>
          <a:xfrm>
            <a:off x="1298448" y="5010912"/>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Inspect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49"/>
          <p:cNvSpPr txBox="1"/>
          <p:nvPr/>
        </p:nvSpPr>
        <p:spPr>
          <a:xfrm>
            <a:off x="859536" y="5458968"/>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DESCRIBE DETAIL / EXTENDED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metadata &amp; location</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0"/>
          <p:cNvSpPr txBox="1"/>
          <p:nvPr/>
        </p:nvSpPr>
        <p:spPr>
          <a:xfrm>
            <a:off x="859536" y="5610758"/>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SHOW TABLES / SHOW COLUMNS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discover</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1"/>
          <p:cNvSpPr txBox="1"/>
          <p:nvPr/>
        </p:nvSpPr>
        <p:spPr>
          <a:xfrm>
            <a:off x="859536" y="5762549"/>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DESCRIBE HISTORY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operation log</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2"/>
          <p:cNvSpPr/>
          <p:nvPr/>
        </p:nvSpPr>
        <p:spPr>
          <a:xfrm>
            <a:off x="4328160" y="4882896"/>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53"/>
          <p:cNvSpPr/>
          <p:nvPr/>
        </p:nvSpPr>
        <p:spPr>
          <a:xfrm>
            <a:off x="4511040" y="5010912"/>
            <a:ext cx="384048" cy="384048"/>
          </a:xfrm>
          <a:prstGeom prst="ellipse">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3" name="Image 7" descr="preencoded.png"/>
          <p:cNvPicPr>
            <a:picLocks noChangeAspect="1"/>
          </p:cNvPicPr>
          <p:nvPr/>
        </p:nvPicPr>
        <p:blipFill>
          <a:blip r:embed="rId10"/>
          <a:stretch>
            <a:fillRect/>
          </a:stretch>
        </p:blipFill>
        <p:spPr>
          <a:xfrm>
            <a:off x="4597908" y="5097780"/>
            <a:ext cx="210312" cy="210312"/>
          </a:xfrm>
          <a:prstGeom prst="rect">
            <a:avLst/>
          </a:prstGeom>
        </p:spPr>
      </p:pic>
      <p:sp>
        <p:nvSpPr>
          <p:cNvPr id="64" name="Text 54"/>
          <p:cNvSpPr txBox="1"/>
          <p:nvPr/>
        </p:nvSpPr>
        <p:spPr>
          <a:xfrm>
            <a:off x="4986528" y="5010912"/>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Govern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Text 55"/>
          <p:cNvSpPr txBox="1"/>
          <p:nvPr/>
        </p:nvSpPr>
        <p:spPr>
          <a:xfrm>
            <a:off x="4547616" y="5458968"/>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GRANT / REVOKE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Unity Catalog perms</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56"/>
          <p:cNvSpPr txBox="1"/>
          <p:nvPr/>
        </p:nvSpPr>
        <p:spPr>
          <a:xfrm>
            <a:off x="4547616" y="5610758"/>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catalog.schema.table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3-level namespace</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57"/>
          <p:cNvSpPr txBox="1"/>
          <p:nvPr/>
        </p:nvSpPr>
        <p:spPr>
          <a:xfrm>
            <a:off x="4547616" y="5762549"/>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COMMENT ON / tags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documentation</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58"/>
          <p:cNvSpPr/>
          <p:nvPr/>
        </p:nvSpPr>
        <p:spPr>
          <a:xfrm>
            <a:off x="8016240" y="4882896"/>
            <a:ext cx="3505200" cy="1225296"/>
          </a:xfrm>
          <a:prstGeom prst="roundRect">
            <a:avLst>
              <a:gd name="adj" fmla="val 4478"/>
            </a:avLst>
          </a:prstGeom>
          <a:solidFill>
            <a:srgbClr val="FFFFFF"/>
          </a:solidFill>
          <a:ln w="12700">
            <a:solidFill>
              <a:srgbClr val="DDE4E7"/>
            </a:solidFill>
            <a:prstDash val="solid"/>
          </a:ln>
          <a:effectLst>
            <a:outerShdw blurRad="88900" dist="25400" dir="5400000" algn="bl" rotWithShape="0">
              <a:srgbClr val="AEBCC4">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59"/>
          <p:cNvSpPr/>
          <p:nvPr/>
        </p:nvSpPr>
        <p:spPr>
          <a:xfrm>
            <a:off x="8199120" y="5010912"/>
            <a:ext cx="384048" cy="384048"/>
          </a:xfrm>
          <a:prstGeom prst="ellipse">
            <a:avLst/>
          </a:prstGeom>
          <a:solidFill>
            <a:srgbClr val="0E7C8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0" name="Image 8" descr="preencoded.png"/>
          <p:cNvPicPr>
            <a:picLocks noChangeAspect="1"/>
          </p:cNvPicPr>
          <p:nvPr/>
        </p:nvPicPr>
        <p:blipFill>
          <a:blip r:embed="rId11"/>
          <a:stretch>
            <a:fillRect/>
          </a:stretch>
        </p:blipFill>
        <p:spPr>
          <a:xfrm>
            <a:off x="8285988" y="5097780"/>
            <a:ext cx="210312" cy="210312"/>
          </a:xfrm>
          <a:prstGeom prst="rect">
            <a:avLst/>
          </a:prstGeom>
        </p:spPr>
      </p:pic>
      <p:sp>
        <p:nvSpPr>
          <p:cNvPr id="71" name="Text 60"/>
          <p:cNvSpPr txBox="1"/>
          <p:nvPr/>
        </p:nvSpPr>
        <p:spPr>
          <a:xfrm>
            <a:off x="8674608" y="5010912"/>
            <a:ext cx="2700528"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3242E"/>
                </a:solidFill>
                <a:effectLst/>
                <a:uLnTx/>
                <a:uFillTx/>
                <a:latin typeface="Trebuchet MS" pitchFamily="34" charset="0"/>
                <a:ea typeface="Trebuchet MS" pitchFamily="34" charset="-122"/>
                <a:cs typeface="Trebuchet MS" pitchFamily="34" charset="-120"/>
              </a:rPr>
              <a:t>Drop &amp; clone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 61"/>
          <p:cNvSpPr txBox="1"/>
          <p:nvPr/>
        </p:nvSpPr>
        <p:spPr>
          <a:xfrm>
            <a:off x="8235696" y="5458968"/>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DROP TABLE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managed = data deleted</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62"/>
          <p:cNvSpPr txBox="1"/>
          <p:nvPr/>
        </p:nvSpPr>
        <p:spPr>
          <a:xfrm>
            <a:off x="8235696" y="5610758"/>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SHALLOW CLONE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metadata-only copy</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Text 63"/>
          <p:cNvSpPr txBox="1"/>
          <p:nvPr/>
        </p:nvSpPr>
        <p:spPr>
          <a:xfrm>
            <a:off x="8235696" y="5762549"/>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DEEP CLONE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full data copy</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Text 64"/>
          <p:cNvSpPr txBox="1"/>
          <p:nvPr/>
        </p:nvSpPr>
        <p:spPr>
          <a:xfrm>
            <a:off x="8235696" y="5914339"/>
            <a:ext cx="3121152"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1" i="0" u="none" strike="noStrike" kern="1200" cap="none" spc="0" normalizeH="0" baseline="0" noProof="0" dirty="0">
                <a:ln>
                  <a:noFill/>
                </a:ln>
                <a:solidFill>
                  <a:srgbClr val="FF3621"/>
                </a:solidFill>
                <a:effectLst/>
                <a:uLnTx/>
                <a:uFillTx/>
                <a:latin typeface="Consolas" pitchFamily="34" charset="0"/>
                <a:ea typeface="Consolas" pitchFamily="34" charset="-122"/>
                <a:cs typeface="Consolas" pitchFamily="34" charset="-120"/>
              </a:rPr>
              <a:t>UNDROP TABLE  </a:t>
            </a:r>
            <a:r>
              <a:rPr kumimoji="0" lang="en-US" sz="820" b="0" i="0" u="none" strike="noStrike" kern="1200" cap="none" spc="0" normalizeH="0" baseline="0" noProof="0" dirty="0">
                <a:ln>
                  <a:noFill/>
                </a:ln>
                <a:solidFill>
                  <a:srgbClr val="7C8A91"/>
                </a:solidFill>
                <a:effectLst/>
                <a:uLnTx/>
                <a:uFillTx/>
                <a:latin typeface="Calibri" pitchFamily="34" charset="0"/>
                <a:ea typeface="Calibri" pitchFamily="34" charset="-122"/>
                <a:cs typeface="Calibri" pitchFamily="34" charset="-120"/>
              </a:rPr>
              <a:t>recover recent drop</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Shape 65"/>
          <p:cNvSpPr/>
          <p:nvPr/>
        </p:nvSpPr>
        <p:spPr>
          <a:xfrm>
            <a:off x="640080" y="6217920"/>
            <a:ext cx="10881360" cy="530352"/>
          </a:xfrm>
          <a:prstGeom prst="roundRect">
            <a:avLst>
              <a:gd name="adj" fmla="val 10345"/>
            </a:avLst>
          </a:prstGeom>
          <a:solidFill>
            <a:srgbClr val="13242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7" name="Image 9" descr="preencoded.png"/>
          <p:cNvPicPr>
            <a:picLocks noChangeAspect="1"/>
          </p:cNvPicPr>
          <p:nvPr/>
        </p:nvPicPr>
        <p:blipFill>
          <a:blip r:embed="rId12"/>
          <a:stretch>
            <a:fillRect/>
          </a:stretch>
        </p:blipFill>
        <p:spPr>
          <a:xfrm>
            <a:off x="841248" y="6373368"/>
            <a:ext cx="219456" cy="219456"/>
          </a:xfrm>
          <a:prstGeom prst="rect">
            <a:avLst/>
          </a:prstGeom>
        </p:spPr>
      </p:pic>
      <p:sp>
        <p:nvSpPr>
          <p:cNvPr id="78" name="Text 66"/>
          <p:cNvSpPr txBox="1"/>
          <p:nvPr/>
        </p:nvSpPr>
        <p:spPr>
          <a:xfrm>
            <a:off x="1170432" y="6217920"/>
            <a:ext cx="10149840" cy="53035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3621"/>
                </a:solidFill>
                <a:effectLst/>
                <a:uLnTx/>
                <a:uFillTx/>
                <a:latin typeface="Calibri" pitchFamily="34" charset="0"/>
                <a:ea typeface="Calibri" pitchFamily="34" charset="-122"/>
                <a:cs typeface="Calibri" pitchFamily="34" charset="-120"/>
              </a:rPr>
              <a:t>Good to know:  </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every table is Delta by default  ·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managed</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tables let Databricks own the files;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external</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keep them at your LOCATION  ·  </a:t>
            </a: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VACUUM</a:t>
            </a:r>
            <a:r>
              <a:rPr kumimoji="0" lang="en-US" sz="1050" b="0" i="0" u="none" strike="noStrike" kern="1200" cap="none" spc="0" normalizeH="0" baseline="0" noProof="0" dirty="0">
                <a:ln>
                  <a:noFill/>
                </a:ln>
                <a:solidFill>
                  <a:srgbClr val="C4D0D4"/>
                </a:solidFill>
                <a:effectLst/>
                <a:uLnTx/>
                <a:uFillTx/>
                <a:latin typeface="Calibri" pitchFamily="34" charset="0"/>
                <a:ea typeface="Calibri" pitchFamily="34" charset="-122"/>
                <a:cs typeface="Calibri" pitchFamily="34" charset="-120"/>
              </a:rPr>
              <a:t> permanently limits time travel</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1B3139"/>
              </a:gs>
              <a:gs pos="100000">
                <a:srgbClr val="0E1C21"/>
              </a:gs>
            </a:gsLst>
            <a:lin ang="144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566928" y="2011680"/>
            <a:ext cx="82296" cy="13716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41247" y="1920240"/>
            <a:ext cx="9144000" cy="1005840"/>
          </a:xfrm>
          <a:prstGeom prst="rect">
            <a:avLst/>
          </a:prstGeom>
          <a:noFill/>
        </p:spPr>
        <p:txBody>
          <a:bodyPr wrap="square" lIns="0" tIns="0" rIns="0" bIns="0" anchor="t">
            <a:spAutoFit/>
          </a:bodyPr>
          <a:lstStyle/>
          <a:p>
            <a:pPr algn="l">
              <a:lnSpc>
                <a:spcPct val="100000"/>
              </a:lnSpc>
              <a:spcBef>
                <a:spcPts val="0"/>
              </a:spcBef>
              <a:spcAft>
                <a:spcPts val="200"/>
              </a:spcAft>
            </a:pPr>
            <a:r>
              <a:rPr sz="5400" b="1" i="0">
                <a:solidFill>
                  <a:srgbClr val="FFFFFF"/>
                </a:solidFill>
                <a:latin typeface="Segoe UI"/>
              </a:rPr>
              <a:t>Thank You</a:t>
            </a:r>
          </a:p>
        </p:txBody>
      </p:sp>
      <p:sp>
        <p:nvSpPr>
          <p:cNvPr id="10" name="TextBox 9"/>
          <p:cNvSpPr txBox="1"/>
          <p:nvPr/>
        </p:nvSpPr>
        <p:spPr>
          <a:xfrm>
            <a:off x="859536" y="3017520"/>
            <a:ext cx="9601200" cy="548640"/>
          </a:xfrm>
          <a:prstGeom prst="rect">
            <a:avLst/>
          </a:prstGeom>
          <a:noFill/>
        </p:spPr>
        <p:txBody>
          <a:bodyPr wrap="square" lIns="0" tIns="0" rIns="0" bIns="0" anchor="t">
            <a:spAutoFit/>
          </a:bodyPr>
          <a:lstStyle/>
          <a:p>
            <a:pPr algn="l">
              <a:lnSpc>
                <a:spcPct val="120000"/>
              </a:lnSpc>
              <a:spcBef>
                <a:spcPts val="0"/>
              </a:spcBef>
              <a:spcAft>
                <a:spcPts val="200"/>
              </a:spcAft>
            </a:pPr>
            <a:r>
              <a:rPr sz="1500" b="0" i="0">
                <a:solidFill>
                  <a:srgbClr val="C4D0D4"/>
                </a:solidFill>
                <a:latin typeface="Segoe UI"/>
              </a:rPr>
              <a:t>You now have the full picture — from Big Data fundamentals to the Databricks Lakehouse architecture.</a:t>
            </a:r>
          </a:p>
        </p:txBody>
      </p:sp>
      <p:sp>
        <p:nvSpPr>
          <p:cNvPr id="11" name="TextBox 10"/>
          <p:cNvSpPr txBox="1"/>
          <p:nvPr/>
        </p:nvSpPr>
        <p:spPr>
          <a:xfrm>
            <a:off x="859536" y="3886200"/>
            <a:ext cx="7315200" cy="274320"/>
          </a:xfrm>
          <a:prstGeom prst="rect">
            <a:avLst/>
          </a:prstGeom>
          <a:noFill/>
        </p:spPr>
        <p:txBody>
          <a:bodyPr wrap="square" lIns="0" tIns="0" rIns="0" bIns="0" anchor="t">
            <a:spAutoFit/>
          </a:bodyPr>
          <a:lstStyle/>
          <a:p>
            <a:pPr algn="l">
              <a:lnSpc>
                <a:spcPct val="100000"/>
              </a:lnSpc>
              <a:spcBef>
                <a:spcPts val="0"/>
              </a:spcBef>
              <a:spcAft>
                <a:spcPts val="200"/>
              </a:spcAft>
            </a:pPr>
            <a:r>
              <a:rPr sz="1150" b="1" i="0">
                <a:solidFill>
                  <a:srgbClr val="FF6B57"/>
                </a:solidFill>
                <a:latin typeface="Segoe UI Semibold"/>
              </a:rPr>
              <a:t>KEEP LEARNING</a:t>
            </a:r>
          </a:p>
        </p:txBody>
      </p:sp>
      <p:sp>
        <p:nvSpPr>
          <p:cNvPr id="12" name="Rounded Rectangle 11"/>
          <p:cNvSpPr/>
          <p:nvPr/>
        </p:nvSpPr>
        <p:spPr>
          <a:xfrm>
            <a:off x="859536" y="4224528"/>
            <a:ext cx="2116836"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1">
                <a:solidFill>
                  <a:srgbClr val="FFFFFF"/>
                </a:solidFill>
                <a:latin typeface="Segoe UI Semibold"/>
              </a:rPr>
              <a:t>docs.databricks.com</a:t>
            </a:r>
          </a:p>
        </p:txBody>
      </p:sp>
      <p:sp>
        <p:nvSpPr>
          <p:cNvPr id="13" name="Rounded Rectangle 12"/>
          <p:cNvSpPr/>
          <p:nvPr/>
        </p:nvSpPr>
        <p:spPr>
          <a:xfrm>
            <a:off x="3177540" y="4224528"/>
            <a:ext cx="202082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1">
                <a:solidFill>
                  <a:srgbClr val="FFFFFF"/>
                </a:solidFill>
                <a:latin typeface="Segoe UI Semibold"/>
              </a:rPr>
              <a:t>Databricks Academy</a:t>
            </a:r>
          </a:p>
        </p:txBody>
      </p:sp>
      <p:sp>
        <p:nvSpPr>
          <p:cNvPr id="15" name="Rounded Rectangle 14"/>
          <p:cNvSpPr/>
          <p:nvPr/>
        </p:nvSpPr>
        <p:spPr>
          <a:xfrm>
            <a:off x="5582412" y="4224528"/>
            <a:ext cx="250088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100" b="1" dirty="0">
                <a:solidFill>
                  <a:srgbClr val="FFFFFF"/>
                </a:solidFill>
                <a:latin typeface="Segoe UI Semibold"/>
              </a:rPr>
              <a:t>Delta Lake &amp; Spark docs</a:t>
            </a:r>
          </a:p>
        </p:txBody>
      </p:sp>
      <p:sp>
        <p:nvSpPr>
          <p:cNvPr id="16" name="Oval 15"/>
          <p:cNvSpPr/>
          <p:nvPr/>
        </p:nvSpPr>
        <p:spPr>
          <a:xfrm>
            <a:off x="868679" y="4992624"/>
            <a:ext cx="713232" cy="713232"/>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Can 16"/>
          <p:cNvSpPr/>
          <p:nvPr/>
        </p:nvSpPr>
        <p:spPr>
          <a:xfrm>
            <a:off x="1090780" y="5185196"/>
            <a:ext cx="269031" cy="328086"/>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768096"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Big Data</a:t>
            </a:r>
          </a:p>
        </p:txBody>
      </p:sp>
      <p:sp>
        <p:nvSpPr>
          <p:cNvPr id="19" name="Oval 18"/>
          <p:cNvSpPr/>
          <p:nvPr/>
        </p:nvSpPr>
        <p:spPr>
          <a:xfrm>
            <a:off x="1920239" y="4992624"/>
            <a:ext cx="713232" cy="713232"/>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Isosceles Triangle 19"/>
          <p:cNvSpPr/>
          <p:nvPr/>
        </p:nvSpPr>
        <p:spPr>
          <a:xfrm>
            <a:off x="2112812" y="5201600"/>
            <a:ext cx="328086" cy="29527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819655"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Lakehouse</a:t>
            </a:r>
          </a:p>
        </p:txBody>
      </p:sp>
      <p:sp>
        <p:nvSpPr>
          <p:cNvPr id="22" name="Oval 21"/>
          <p:cNvSpPr/>
          <p:nvPr/>
        </p:nvSpPr>
        <p:spPr>
          <a:xfrm>
            <a:off x="2971799" y="4992624"/>
            <a:ext cx="713232" cy="713232"/>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Lightning Bolt 22"/>
          <p:cNvSpPr/>
          <p:nvPr/>
        </p:nvSpPr>
        <p:spPr>
          <a:xfrm>
            <a:off x="3213585" y="5185196"/>
            <a:ext cx="229660" cy="32808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2871215"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Spark</a:t>
            </a:r>
          </a:p>
        </p:txBody>
      </p:sp>
      <p:sp>
        <p:nvSpPr>
          <p:cNvPr id="25" name="Oval 24"/>
          <p:cNvSpPr/>
          <p:nvPr/>
        </p:nvSpPr>
        <p:spPr>
          <a:xfrm>
            <a:off x="4023360" y="4992624"/>
            <a:ext cx="713232" cy="713232"/>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ounded Rectangle 25"/>
          <p:cNvSpPr/>
          <p:nvPr/>
        </p:nvSpPr>
        <p:spPr>
          <a:xfrm rot="2700000">
            <a:off x="4288111" y="5355801"/>
            <a:ext cx="98426" cy="524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ounded Rectangle 26"/>
          <p:cNvSpPr/>
          <p:nvPr/>
        </p:nvSpPr>
        <p:spPr>
          <a:xfrm rot="18480000">
            <a:off x="4360290" y="5283622"/>
            <a:ext cx="190290" cy="524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3922776"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Delta</a:t>
            </a:r>
          </a:p>
        </p:txBody>
      </p:sp>
      <p:sp>
        <p:nvSpPr>
          <p:cNvPr id="32" name="Oval 31"/>
          <p:cNvSpPr/>
          <p:nvPr/>
        </p:nvSpPr>
        <p:spPr>
          <a:xfrm>
            <a:off x="5154930" y="4992624"/>
            <a:ext cx="713232" cy="713232"/>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ounded Rectangle 32"/>
          <p:cNvSpPr/>
          <p:nvPr/>
        </p:nvSpPr>
        <p:spPr>
          <a:xfrm>
            <a:off x="5399996" y="5332835"/>
            <a:ext cx="223098" cy="164043"/>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Block Arc 33"/>
          <p:cNvSpPr/>
          <p:nvPr/>
        </p:nvSpPr>
        <p:spPr>
          <a:xfrm>
            <a:off x="6404355" y="5185196"/>
            <a:ext cx="157481" cy="164043"/>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5054346" y="5797296"/>
            <a:ext cx="914400" cy="365760"/>
          </a:xfrm>
          <a:prstGeom prst="rect">
            <a:avLst/>
          </a:prstGeom>
          <a:noFill/>
        </p:spPr>
        <p:txBody>
          <a:bodyPr wrap="square" lIns="0" tIns="0" rIns="0" bIns="0" anchor="t">
            <a:spAutoFit/>
          </a:bodyPr>
          <a:lstStyle/>
          <a:p>
            <a:pPr algn="ctr">
              <a:lnSpc>
                <a:spcPct val="90000"/>
              </a:lnSpc>
              <a:spcBef>
                <a:spcPts val="0"/>
              </a:spcBef>
              <a:spcAft>
                <a:spcPts val="200"/>
              </a:spcAft>
            </a:pPr>
            <a:r>
              <a:rPr sz="950" b="0" i="0">
                <a:solidFill>
                  <a:srgbClr val="C4D0D4"/>
                </a:solidFill>
                <a:latin typeface="Segoe UI"/>
              </a:rPr>
              <a:t>Unity Catalog</a:t>
            </a:r>
          </a:p>
        </p:txBody>
      </p:sp>
      <p:sp>
        <p:nvSpPr>
          <p:cNvPr id="36" name="TextBox 35"/>
          <p:cNvSpPr txBox="1"/>
          <p:nvPr/>
        </p:nvSpPr>
        <p:spPr>
          <a:xfrm>
            <a:off x="7955279" y="5989320"/>
            <a:ext cx="3669487" cy="274320"/>
          </a:xfrm>
          <a:prstGeom prst="rect">
            <a:avLst/>
          </a:prstGeom>
          <a:noFill/>
        </p:spPr>
        <p:txBody>
          <a:bodyPr wrap="square" lIns="0" tIns="0" rIns="0" bIns="0" anchor="t">
            <a:spAutoFit/>
          </a:bodyPr>
          <a:lstStyle/>
          <a:p>
            <a:pPr algn="r">
              <a:lnSpc>
                <a:spcPct val="100000"/>
              </a:lnSpc>
              <a:spcBef>
                <a:spcPts val="0"/>
              </a:spcBef>
              <a:spcAft>
                <a:spcPts val="200"/>
              </a:spcAft>
            </a:pPr>
            <a:r>
              <a:rPr sz="1200" b="0" i="1">
                <a:solidFill>
                  <a:srgbClr val="9AA6AB"/>
                </a:solidFill>
                <a:latin typeface="Segoe UI"/>
              </a:rPr>
              <a:t>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667</TotalTime>
  <Words>9281</Words>
  <Application>Microsoft Office PowerPoint</Application>
  <PresentationFormat>Widescreen</PresentationFormat>
  <Paragraphs>1211</Paragraphs>
  <Slides>60</Slides>
  <Notes>60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Aptos</vt:lpstr>
      <vt:lpstr>Arial</vt:lpstr>
      <vt:lpstr>Calibri</vt:lpstr>
      <vt:lpstr>Consolas</vt:lpstr>
      <vt:lpstr>Georgia</vt:lpstr>
      <vt:lpstr>Segoe UI</vt:lpstr>
      <vt:lpstr>Segoe UI Semibold</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&amp; the Databricks Lakehouse</dc:title>
  <dc:subject>PptxGenJS Presentation</dc:subject>
  <dc:creator>Enterprise Data Training</dc:creator>
  <cp:lastModifiedBy>Raja, Senthilnathan</cp:lastModifiedBy>
  <cp:revision>14</cp:revision>
  <dcterms:created xsi:type="dcterms:W3CDTF">2026-06-08T07:16:53Z</dcterms:created>
  <dcterms:modified xsi:type="dcterms:W3CDTF">2026-09-08T07:21:49Z</dcterms:modified>
</cp:coreProperties>
</file>